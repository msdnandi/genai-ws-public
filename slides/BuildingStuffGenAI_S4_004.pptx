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Lst>
  <p:notesMasterIdLst>
    <p:notesMasterId r:id="rId10"/>
  </p:notesMasterIdLst>
  <p:handoutMasterIdLst>
    <p:handoutMasterId r:id="rId11"/>
  </p:handoutMasterIdLst>
  <p:sldIdLst>
    <p:sldId id="256" r:id="rId9"/>
    <p:sldId id="257" r:id="rId8"/>
    <p:sldId id="258" r:id="rId7"/>
    <p:sldId id="259" r:id="rId6"/>
    <p:sldId id="260" r:id="rId3"/>
    <p:sldId id="261" r:id="rId2"/>
    <p:sldId id="262" r:id="rId1"/>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BBF796B-7134-4C95-8028-19E99B4F2D71}">
          <p14:sldIdLst>
            <p14:sldId id="256"/>
            <p14:sldId id="257"/>
            <p14:sldId id="258"/>
          </p14:sldIdLst>
        </p14:section>
        <p14:section name="Segment 4 — Local AI, media &amp; beyond the West" id="{E7DAD755-54B4-4870-A4B8-2E2687830DF7}">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Lst>
        </p14:section>
        <p14:section name="Close" id="{44D67035-7D19-42D1-A203-696B87849EEB}">
          <p14:sldIdLst>
            <p14:sldId id="307"/>
            <p14:sldId id="308"/>
            <p14:sldId id="309"/>
            <p14:sldId id="310"/>
          </p14:sldIdLst>
        </p14:section>
        <p14:section name="Appendix" id="{C22593A8-A9B7-4666-8A04-F03E8CEC163C}">
          <p14:sldIdLst>
            <p14:sldId id="311"/>
            <p14:sldId id="312"/>
            <p14:sldId id="313"/>
            <p14:sldId id="31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FF"/>
    <a:srgbClr val="060702"/>
    <a:srgbClr val="0078D4"/>
    <a:srgbClr val="D7D2CB"/>
    <a:srgbClr val="E8E6DF"/>
    <a:srgbClr val="E1D3C7"/>
    <a:srgbClr val="4EFFFE"/>
    <a:srgbClr val="9BF00E"/>
    <a:srgbClr val="D59DFF"/>
    <a:srgbClr val="7F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20" autoAdjust="0"/>
    <p:restoredTop sz="94660"/>
  </p:normalViewPr>
  <p:slideViewPr>
    <p:cSldViewPr snapToGrid="0">
      <p:cViewPr varScale="1">
        <p:scale>
          <a:sx n="100" d="100"/>
          <a:sy n="100" d="100"/>
        </p:scale>
        <p:origin x="48" y="104"/>
      </p:cViewPr>
      <p:guideLst/>
    </p:cSldViewPr>
  </p:slideViewPr>
  <p:notesTextViewPr>
    <p:cViewPr>
      <p:scale>
        <a:sx n="1" d="1"/>
        <a:sy n="1" d="1"/>
      </p:scale>
      <p:origin x="0" y="0"/>
    </p:cViewPr>
  </p:notesTextViewPr>
  <p:notesViewPr>
    <p:cSldViewPr snapToGrid="0">
      <p:cViewPr>
        <p:scale>
          <a:sx n="1" d="2"/>
          <a:sy n="1" d="2"/>
        </p:scale>
        <p:origin x="3668" y="10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6/28/2026 10:25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2" name="Slide Number Placeholder 1">
            <a:extLst>
              <a:ext uri="{FF2B5EF4-FFF2-40B4-BE49-F238E27FC236}">
                <a16:creationId xmlns:a16="http://schemas.microsoft.com/office/drawing/2014/main" id="{FD78DAAD-3934-518B-F62A-B32024044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6BE5CB-6A38-415E-A601-C5DE328E214A}" type="slidenum">
              <a:rPr lang="de-DE" smtClean="0"/>
              <a:t>‹#›</a:t>
            </a:fld>
            <a:endParaRPr lang="de-DE"/>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6/28/2026 10:24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[F-01-S4]</a:t>
            </a:r>
          </a:p>
          <a:p>
            <a:r>
              <a:t>Segment deck 4 of 4 of Building Stuff with GenAI — Local AI, media &amp; beyond the West — local AI, media generation, and AI beyond the Western corporate world.</a:t>
            </a:r>
          </a:p>
          <a:p>
            <a:r>
              <a:t>Motto of the segment: Slot machine → instrument. Planned: 90 min · talk 35′ · demos 25′ · Lab 4 25′.</a:t>
            </a:r>
          </a:p>
          <a:p>
            <a:r>
              <a:t>The day deck (BuildingStuffGenAI_001) carries the full opening; this deck repeats only where we are in the day and the key card.</a:t>
            </a:r>
          </a:p>
          <a:p>
            <a:r>
              <a:t>VERIFY: event, date, speaker — not decided yet (00_Workshop_Plan.md §8 Q1).</a:t>
            </a:r>
          </a:p>
          <a:p>
            <a:r>
              <a:t>Sources: Workshop plan v001 — 00_Workshop_Plan.md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[F-04-S4]</a:t>
            </a:r>
          </a:p>
          <a:p>
            <a:r>
              <a:t>Segment 4: Local AI, media &amp; beyond the West — local AI, media generation, and AI beyond the Western corporate world — 90 min · talk 35′ · demos 25′ · Lab 4 25′.</a:t>
            </a:r>
          </a:p>
          <a:p>
            <a:r>
              <a:t>The lab of this segment is Lab 4 — Local &amp; multimodal, the craft lab (labs/04-local-media); its core takes 15 minutes and everyone finishes it, the stretch goals are for the fast ones.</a:t>
            </a:r>
          </a:p>
          <a:p>
            <a:r>
              <a:t>Times are placeholders until the event date is fixed. VERIFY: final times (00_Workshop_Plan.md §8 Q2).</a:t>
            </a:r>
          </a:p>
          <a:p>
            <a:r>
              <a:t>Sources: Workshop plan v001 — 00_Workshop_Plan.md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[F-05-S4]</a:t>
            </a:r>
          </a:p>
          <a:p>
            <a:r>
              <a:t>Copy labs/.env.example to labs/.env and paste the four lines from your handout card: the gateway URL (ends in /openai/v1), your personal key, the header name api-key, and the default model gpt-5-mini. GENAI_MODEL_2 (default DeepSeek-V3.2) is a second vendor on the same endpoint and key.</a:t>
            </a:r>
          </a:p>
          <a:p>
            <a:r>
              <a:t>The key always travels in an "api-key" header — the gateway requires it (Ollama ignores it). 401 = key missing or mistyped; 403 = your daily token quota is used up; 429 = your per-minute token budget is spent — wait a minute. The gateway policy defines 429 for the rate and 403 for the quota; SETUP.md’s troubleshooting table still lumps both into 429.</a:t>
            </a:r>
          </a:p>
          <a:p>
            <a:r>
              <a:t>No network: the same code runs on Ollama (localhost:11434/v1, qwen3.5:4b, GENAI_REASONING_EFFORT=none) or against the instructor’s offline mock (answers are echoes, every script runs).</a:t>
            </a:r>
          </a:p>
          <a:p>
            <a:r>
              <a:t>VERIFY: gateway URL and key format (handout card still open — nothing provisioned), the QR code to labs/00-setup (repo URL not decided), and the 403-vs-429 wording in SETUP.md (align it with the policy).</a:t>
            </a:r>
          </a:p>
          <a:p>
            <a:r>
              <a:t>Sources: labs/.env.example · labs/00-setup/SETUP.md · Gateway policy attendee-policy.xml — infra/policies/attendee-policy.xml · APIM llm-token-limit policy — https://learn.microsoft.com/en-us/azure/api-management/llm-token-limit-policy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[S4-00]</a:t>
            </a:r>
          </a:p>
          <a:p>
            <a:r>
              <a:t>Segment 4 — 90 minutes: talk 35′, demos 25′, Lab 4 25′. Thesis: slot machine → instrument. The blocks from the morning stay the same; now they run on your own machine and they make pictures, voices and video too.</a:t>
            </a:r>
          </a:p>
          <a:p>
            <a:r>
              <a:t>Order of demos = order of safety: the reliable local LLM demos first, the GPU media demos later.</a:t>
            </a:r>
          </a:p>
          <a:p>
            <a:r>
              <a:t>Sources: 06_Narrative_Plan_v001.md §5; 00_Workshop_Plan.md §3 (S4).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[S4-01]</a:t>
            </a:r>
          </a:p>
          <a:p>
            <a:r>
              <a:t>Callback to the spine from Segment 1: the same eight blocks, lit segment by segment. Segment 4 lights the last one — the media pipeline — and moves the whole spine onto the laptop: the chat blocks through Ollama, LM Studio or Foundry Local, the media blocks through ComfyUI.</a:t>
            </a:r>
          </a:p>
          <a:p>
            <a:r>
              <a:t>Walk the five movements in one breath: why local and how (runners, hardware, quantization) · how an image is made (five stages, four knobs) · taking control (LoRA, ControlNet, IP-Adapter, inpainting) · the zoo beyond the big clouds · the pipeline as the magic sauce. ~30 seconds.</a:t>
            </a:r>
          </a:p>
          <a:p>
            <a:r>
              <a:t>Sources: 06_Narrative_Plan_v001.md §0 (the spine) and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[S4-02]</a:t>
            </a:r>
          </a:p>
          <a:p>
            <a:r>
              <a:t>The thesis of the segment, borrowed from “Beyond the Slop”. Most people stop at “nice”: pull the lever, burn credits, hope. The three cards are the symptoms of prompt &amp; pray — no seed, no control inputs, no pipeline.</a:t>
            </a:r>
          </a:p>
          <a:p>
            <a:r>
              <a:t>Today we turn the slot machine into a synthesizer: the knobs (seed, steps, CFG, denoise), the adapters (LoRA, ControlNet, IP-Adapter, inpainting) and a machine you own. Same idea as the whole workshop: the blocks are stable, the models rotate. ~1 minute.</a:t>
            </a:r>
          </a:p>
          <a:p>
            <a:r>
              <a:t>Image: meme_instrument.png (AI-generated, Beyond the Slop). Sources: Beyond the Slop slides 2 and 5 (research/beyond_the_slop/).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[S4-03]</a:t>
            </a:r>
          </a:p>
          <a:p>
            <a:r>
              <a:t>Four reasons, one example each. Rug pull: OpenAI switched off the Sora app on 2026-04-26 and the Sora API on 2026-09-24 — every workflow built on it died with it (Foundry still lists sora-2; that listing is stale). Privacy: client faces, unreleased products, a voice. Cost: iteration — a creative loop is hundreds of calls. Control: every knob of the next 20 minutes, and the licence — GLM-5.3 moved off MIT to a custom licence, Kimi K3 has a branding clause; MIT/Apache weights (DeepSeek, gpt-oss, Gemma 4, Qwen3.8-27B) are yours to run.</a:t>
            </a:r>
          </a:p>
          <a:p>
            <a:r>
              <a:t>Honest counterpoint from LLM 101 (slide 134): APIs still win most production workloads — local is the hedge and the lab bench, not a religion. ~1 minute.</a:t>
            </a:r>
          </a:p>
          <a:p>
            <a:r>
              <a:t>Image: meme_rugpull_safe.png (the logo-free variant of meme_rugpull — no vendor logos in a cemetery).</a:t>
            </a:r>
          </a:p>
          <a:p>
            <a:r>
              <a:t>Sources: 05_Model_Catalog §7/§11 (Sora dates, confirmed via the OpenAI Help Center per research/2026-09-19_beyond-the-slop-integration.md §2); Beyond the Slop slide 33; LLM 101 slide 131.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[S4-04]</a:t>
            </a:r>
          </a:p>
          <a:p>
            <a:r>
              <a:t>Six runners, one contract. Ollama is the lowest-friction start (and can run a cloud model with the same CLI when the laptop is too small). LM Studio is the GUI with a model browser and doubles as an MCP host; its Bionic app adds local agents. Foundry Local is Microsoft’s answer for managed Windows fleets — no Azure subscription; it picks the best execution provider by itself (GPU or NPU when available, CPU as the fallback). llama.cpp is the engine under Ollama and LM Studio; vLLM and SGLang serve many users from a GPU server; Docker Model Runner (GA, no version in our catalog) ships models as OCI artifacts next to your containers.</a:t>
            </a:r>
          </a:p>
          <a:p>
            <a:r>
              <a:t>The point for developers: every one of them exposes an OpenAI-compatible endpoint. Use the Chat Completions client for local runtimes (Ollama 0.34 also serves /v1/responses). Foundry Local picks its port at start-up — `foundry service status`. ~1 minute.</a:t>
            </a:r>
          </a:p>
          <a:p>
            <a:r>
              <a:t>VERIFY: MCP-host support of the other runners is not in our sources — only LM Studio is claimed as an MCP host.</a:t>
            </a:r>
          </a:p>
          <a:p>
            <a:r>
              <a:t>Sources: 05_Model_Catalog §0/§10 (versions); research/2026-09-19_local-ai-media-beyond-west.md §1; https://learn.microsoft.com/en-us/azure/foundry-local/what-is-foundry-local (“selects the best execution provider … accelerates inference on GPUs and NPUs when available and falls back to CPU”, web-checked 2026-09-23 per the fact-check); https://github.com/ollama/ollama/releases · https://lmstudio.ai/docs/app · https://github.com/ggml-org/llama.cpp/releases · https://github.com/vllm-project/vllm/releases · https://github.com/sgl-project/sglang/releases · https://www.docker.com/products/model-runner/ ; research/2026-09-22_framework-snippet-verification.md §3.1 and §6.4; labs/.env.example; labs/04-local-media/README.md.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[S4-05]</a:t>
            </a:r>
          </a:p>
          <a:p>
            <a:r>
              <a:t>The recurring proof of the day: the same file, one env block changed. Left: the handout card values for the workshop gateway. Right: the same four variables pointing at Ollama on the laptop (the setup guide’s test-at-home block). The code reads GENAI_BASE_URL, GENAI_API_KEY and GENAI_MODEL and passes reasoning_effort through when GENAI_REASONING_EFFORT is set.</a:t>
            </a:r>
          </a:p>
          <a:p>
            <a:r>
              <a:t>The measurement that matters on a laptop: a local thinking model spends most of its time thinking. qwen3:1.7b on 2 vCPUs without a GPU needed 41 s and 336 tokens for a one-liner with thinking on, 5.6 s and 46 tokens with reasoning_effort "none" (Ollama honours it on /v1; a think:false body field is ignored). When Ollama is the second model next to the workshop endpoint (Lab 1 step 5, Lab 4), the same switch is OLLAMA_REASONING_EFFORT=none in labs/.env.</a:t>
            </a:r>
          </a:p>
          <a:p>
            <a:r>
              <a:t>Attendee default from the setup guide: qwen3.5:4b (3.4 GB) plus bge-m3 (1.2 GB); gemma4:e4b is a 9.6 GB download. Click path: show labs/.env, run `python 01_hello.py` once against each block if time allows. ~1.5 minutes.</a:t>
            </a:r>
          </a:p>
          <a:p>
            <a:r>
              <a:t>Sources: research/2026-09-22_framework-snippet-verification.md §7; labs/00-setup/SETUP.md §5–6; labs/.env.example; labs/01-hello-model/python/solution/01_hello.py.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[S4-D1]</a:t>
            </a:r>
          </a:p>
          <a:p>
            <a:r>
              <a:t>Two minutes. Qwen3.8-27B is the strongest 27B dense open model in the catalog (Apache-2.0, ~17 GB at Q4). Pre-pull and pre-warm it before the session — the first call includes loading the model.</a:t>
            </a:r>
          </a:p>
          <a:p>
            <a:r>
              <a:t>What to say while it runs: this is Lab 1 step 4, file unchanged; the checkpoint is an answer that mentions 19 °C and the Fahrenheit value. Local models sometimes guess parallel tool calls (the second argument invented before the first result exists) — if it happens, point it out: that is what the tool-call guards in Segments 2 and 3 are for.</a:t>
            </a:r>
          </a:p>
          <a:p>
            <a:r>
              <a:t>Fallback files: demos/S4-D1/fallback/ (recorded terminal run).</a:t>
            </a:r>
          </a:p>
          <a:p>
            <a:r>
              <a:t>VERIFY: the exact Ollama tag for Qwen3.8-27B; ~17 GB at Q4 does not fit a 16 GB laptop GPU completely — the hardware note sizes the UD-IQ4_XS GGUF at 14 GB (fully in VRAM, est. 25–35 tok/s), otherwise Ollama offloads layers to the CPU and it gets slower.</a:t>
            </a:r>
          </a:p>
          <a:p>
            <a:r>
              <a:t>Sources: 05_Model_Catalog §3; https://huggingface.co/Qwen/Qwen3.8-27B; research/2026-09-21_local-hardware-sizing-chinese-models.md; labs/01-hello-model/python/solution/04_tool_loop.py.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[S4-D2]</a:t>
            </a:r>
          </a:p>
          <a:p>
            <a:r>
              <a:t>Two minutes. Foundry Local (2.0.1 in the catalog) runs on Windows, macOS on Apple silicon and Linux, needs no Azure subscription and serves an OpenAI-compatible endpoint (incl. the Responses API format). Microsoft’s docs: it “selects the best execution provider” — it accelerates on GPUs and NPUs when available and falls back to CPU. It picks its port at start-up — `foundry service status` shows it.</a:t>
            </a:r>
          </a:p>
          <a:p>
            <a:r>
              <a:t>Lab 4 step 1 (01_local_models.py) measures time to first token, tokens per second and whether a tool call works — run it against Ollama and Foundry Local side by side. Message: the NPU is for always-on, low-power work; it is not where image generation happens (next slides).</a:t>
            </a:r>
          </a:p>
          <a:p>
            <a:r>
              <a:t>Fallback files: demos/S4-D2/fallback/ (screenshots of the terminal and Task Manager).</a:t>
            </a:r>
          </a:p>
          <a:p>
            <a:r>
              <a:t>VERIFY: the NPU run needs a Copilot+ laptop with an NPU — the instructor laptop (i9-13900HX) has none, so on that machine the demo shows the GPU path (say so); which catalog model has an NPU build (`foundry model list`); the exact CLI syntax on 2.0.1.</a:t>
            </a:r>
          </a:p>
          <a:p>
            <a:r>
              <a:t>Sources: https://learn.microsoft.com/en-us/azure/foundry-local/what-is-foundry-local (updated 2026-08-04); 05_Model_Catalog §3/§10; labs/04-local-media/README.md (step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[S4-06]</a:t>
            </a:r>
          </a:p>
          <a:p>
            <a:r>
              <a:t>The one rule: decode speed ≈ memory bandwidth ÷ bytes read per token. Capacity decides whether a model loads; bandwidth decides whether it is usable. That is why a 128 GB unified-memory box (DGX Spark, Strix/Gorgon Halo) loads big MoE models but is bandwidth-bound, while a 32 GB RTX 5090 is fast up to ~30B at Q4. Mac Studio M5 (announced 2026-08-25, shipping since 2026-09-22) is the best capacity per dollar: M5 Max up to 128 GB at 614 GB/s from $2,499, M5 Ultra up to 512 GB at 1.2 TB/s from $5,499 — the 512 GB option ships late October.</a:t>
            </a:r>
          </a:p>
          <a:p>
            <a:r>
              <a:t>The DRAM crunch: contract DRAM +90–95 % in Q1 2026 and another +58–63 % in Q3 (a 15-year high); memory is ~35 % of a PC build (HP); SK hynix expects the shortage through 2030 as capacity moves to HBM. If you plan to buy, buy memory early. For scale: the instructor laptop is an RTX 4090 Laptop (16 GB, ~576 GB/s); a desktop RTX 4090 has 24 GB at ~1,008 GB/s. ~1 minute.</a:t>
            </a:r>
          </a:p>
          <a:p>
            <a:r>
              <a:t>VERIFY: bandwidth figures for RTX 5090, RTX PRO 6000, DGX Spark and Strix/Gorgon Halo (not in our sources, so the table says “GDDR7” / “bandwidth-bound”); a Strix/Gorgon Halo street price (research note: “roughly half the Spark price”, unverified — prices move weekly).</a:t>
            </a:r>
          </a:p>
          <a:p>
            <a:r>
              <a:t>Sources: 05_Model_Catalog §3 (hardware rule); research/2026-09-19_local-ai-media-beyond-west.md §3; https://www.apple.com/newsroom/2026/08/apple-introduces-new-mac-studio-with-m5-max-and-m5-ultra/ ; https://www.tomshardware.com/pc-components/dram/amds-gorgon-halo-pushes-on-device-ai-memory-to-192gb-as-dram-prices-hit-15-year-high ; research/2026-09-21_local-hardware-sizing-chinese-models.md; LLM 101 slide 132 (GDDR7).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[S4-07]</a:t>
            </a:r>
          </a:p>
          <a:p>
            <a:r>
              <a:t>Rule of thumb: weights ≈ parameters × bits ÷ 8. A 27B model is ~54 GB at FP16, ~27 GB at FP8 and ~14 GB at 4 bit; real files are a bit bigger (Qwen3.8-27B is ~17 GB at Q4 in the catalog, 14 GB as an IQ4_XS GGUF). A 120B class model needs ~64 GB even at 4 bit (Mistral Small 4) — that is the 128 GB-box territory from the last slide.</a:t>
            </a:r>
          </a:p>
          <a:p>
            <a:r>
              <a:t>Then the part people forget: the KV cache grows with the context. LLM 101 measured a 9B model at Q4 as ~5 GB of weights plus 4–5 GB of KV cache at 128K tokens — about 9–10 GB together. On a 16 GB GPU a 14 GB model leaves ~2 GB for context.</a:t>
            </a:r>
          </a:p>
          <a:p>
            <a:r>
              <a:t>NPU honesty: NPUs are for always-on, low-power work (transcription, background blur, small assistants). Foundry Local accelerates LLMs on an NPU (or a GPU) when one is available — it picks the best execution provider itself; for image and video generation a discrete GPU still wins. Beyond the Slop measured mid-2026: Ryzen AI NPU ~70 s per SD image vs ~30 s on the iGPU of the same chip — VERIFY before quoting these numbers (not re-measured; the meme shows the 70 s joke). ~1 minute.</a:t>
            </a:r>
          </a:p>
          <a:p>
            <a:r>
              <a:t>Sources: 05_Model_Catalog §3; research/2026-09-21_local-hardware-sizing-chinese-models.md; labs/00-setup/SETUP.md; LLM 101 slide 133 (KV cache); Beyond the Slop slides 37–39; https://learn.microsoft.com/en-us/azure/foundry-local/what-is-foundry-local ; research/2026-09-19_beyond-the-slop-integration.md §2 (NPU).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[S4-08]</a:t>
            </a:r>
          </a:p>
          <a:p>
            <a:r>
              <a:t>Same brain, fewer bits. Four formats you will meet: GGUF is llama.cpp’s container with Q8/Q4/IQ2 variants — what Ollama and LM Studio run. MXFP4 is a 4-bit float with shared scales; gpt-oss ships in it (the 20b is ~12 GB) and Kimi K3 was trained for 4 bit (quantization-aware), so its 4-bit form is near-native. NVFP4 is NVIDIA’s 4-bit float for Blackwell cards — FLUX.2 [klein] offers FP8 and NVFP4 builds. NF4 is the 4-bit “normal float” QLoRA fine-tunes on.</a:t>
            </a:r>
          </a:p>
          <a:p>
            <a:r>
              <a:t>Quality: FP16 → FP8 is the default move with near-zero loss; Q4 costs a little crispness; 2-bit lets a 229B MoE (MiniMax-M2.7, 61 GB) load on a laptop with 64 GB RAM + 16 GB VRAM, but its quality must be measured on your tasks. Rule of thumb for the lab: Q4 is fine until it isn’t — test tool-call JSON and long-context recall first, not the vibes. ~1 minute.</a:t>
            </a:r>
          </a:p>
          <a:p>
            <a:r>
              <a:t>Sources: Beyond the Slop slide 38; 05_Model_Catalog §3 (gpt-oss-20b MXFP4); research/2026-09-21_local-hardware-sizing-chinese-models.md (Kimi K3 MXFP4 QAT, 2-bit sizing); research/2026-09-19_local-ai-media-beyond-west.md §4 (FLUX.2 klein FP8/NVFP4).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[S4-09]</a:t>
            </a:r>
          </a:p>
          <a:p>
            <a:r>
              <a:t>The local shelf, straight from catalog §3 (checked 2026-09-21; re-verify the week before). Gemma 4 is the all-rounder with audio input on E2B/E4B/12B; Qwen3.8-27B the strongest 27B (Apache-2.0, 262K–1M context, honours reasoning_effort); Muse Glimmer 30B is Meta’s open agentic/multimodal model; Mistral Small 4 is a 119B MoE with only 6B active — laptop-class compute, workstation-class memory; gpt-oss-20b is OpenAI’s open model in MXFP4.</a:t>
            </a:r>
          </a:p>
          <a:p>
            <a:r>
              <a:t>Last row = the 2026 pattern “big weights, small compute”: MoE models with tiny active sets — Nemotron 3.5 Lightning (30B/3B, ~18 GB) fits a 24 GB card, GLM-5.3-Flash (320B/18B) and DeepSeek V4.1 Flash (552B, 8B–16B active) want 128 GB-class boxes. “Most rows”, not all: llama.cpp master does not run DeepSeek V4.1 Flash yet (new architecture) and GLM-5.3-Flash needs a PR build (hardware note), so their Ollama tags may lag. Green dot = permissive licence (Apache-2.0 / MIT / OpenMDW). ~1 minute.</a:t>
            </a:r>
          </a:p>
          <a:p>
            <a:r>
              <a:t>VERIFY: the Ollama tags for GLM-5.3-Flash and DeepSeek V4.1 Flash the week before the event.</a:t>
            </a:r>
          </a:p>
          <a:p>
            <a:r>
              <a:t>Sources: 05_Model_Catalog §3; research/2026-09-21_local-hardware-sizing-chinese-models.md (llama.cpp support); https://ai.google.dev/gemma/docs/core/model_card_4 ; https://huggingface.co/Qwen/Qwen3.8-27B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[S4-D3]</a:t>
            </a:r>
          </a:p>
          <a:p>
            <a:r>
              <a:t>Two minutes — the first cut when the segment runs 75 minutes. Gemma 4 E2B, E4B and 12B take audio in (speech recognition and speech translation) besides text and images, under Apache-2.0. The point: multimodal input no longer needs a separate speech-to-text service.</a:t>
            </a:r>
          </a:p>
          <a:p>
            <a:r>
              <a:t>Fallback files: demos/S4-D3/fallback/ (recorded clip + answer).</a:t>
            </a:r>
          </a:p>
          <a:p>
            <a:r>
              <a:t>VERIFY: which runtime passes audio to gemma4:e4b on the demo machine (Ollama’s API, LM Studio or a transformers script) — none of our verified snippets covers audio input; test it in the dry run and record the fallback.</a:t>
            </a:r>
          </a:p>
          <a:p>
            <a:r>
              <a:t>Sources: 05_Model_Catalog §3; https://ai.google.dev/gemma/docs/core/model_card_4 ; research/2026-09-22_framework-snippet-verification.md §7 (download size).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[S4-10]</a:t>
            </a:r>
          </a:p>
          <a:p>
            <a:r>
              <a:t>“Prompt in, image out” is a useful lie — inside is a chain of swappable blocks. The text encoder turns the prompt into embeddings (CLIP, T5, and since 2025/26 a full LLM/VLM: FLUX.2 uses a Mistral model, Qwen-Image a Qwen-VL). The image is packed into a latent ~48× smaller than its pixels (16 channels in modern models) — the suitcase. The denoiser (UNet or a transformer) removes noise step by step, the sampler plans the steps (and applies CFG), and the VAE — the customs office — unpacks the latent into pixels at the end; the denoiser never sees a pixel.</a:t>
            </a:r>
          </a:p>
          <a:p>
            <a:r>
              <a:t>Every block is swappable and every block is a docking point for control — that is the rest of the segment. ~1.5 minutes.</a:t>
            </a:r>
          </a:p>
          <a:p>
            <a:r>
              <a:t>Diagram: Beyond the Slop diagram 01 (signal loop), redrawn natively. Images: meme_suitcase.png, meme_customs.png (AI-generated memes from Beyond the Slop).</a:t>
            </a:r>
          </a:p>
          <a:p>
            <a:r>
              <a:t>Sources: Beyond the Slop slides 7–11 (research/beyond_the_slop/); fact sheet KND_RESEARCH_FACTSHEET_de.md §0.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[S4-11]</a:t>
            </a:r>
          </a:p>
          <a:p>
            <a:r>
              <a:t>Two upgrades explain the 2026 generation. Architecture: the UNet era (SDXL) injects the text by cross-attention — the image patches listen but never answer. MMDiT (FLUX, SD3.5, Qwen-Image) puts text and image tokens into one attention space — everyone talks to everyone, which is why prompt fidelity and text rendering got so much better. Video DiTs do the same across space and time.</a:t>
            </a:r>
          </a:p>
          <a:p>
            <a:r>
              <a:t>Engine: classic diffusion wanders noisily to the image in 20–50 steps; rectified flow / flow matching walks a nearly straight line — same mental model, better motor, fewer steps. Distilled turbo models go further: 1–8 steps (Z-Image-Turbo uses 8). Consequence for you: the steps knob means something different per model. ~1 minute.</a:t>
            </a:r>
          </a:p>
          <a:p>
            <a:r>
              <a:t>Diagrams: Beyond the Slop diagrams 12 (cross-attention vs MMDiT) and 10 (flow trajectories), redrawn natively.</a:t>
            </a:r>
          </a:p>
          <a:p>
            <a:r>
              <a:t>Sources: Beyond the Slop slides 12–13; 05_Model_Catalog §6 (Z-Image-Turbo 8 steps).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[S4-12]</a:t>
            </a:r>
          </a:p>
          <a:p>
            <a:r>
              <a:t>Four knobs, four nicknames. Seed = the starting noise: same seed + same settings = the same image — your reproducibility anchor, so log it. Steps: too few gives mush, beyond ~30 you mostly pay for nothing; turbo models need 1–8. CFG = how hard the model follows the prompt: 2 barely listens and looks washed out, 7 is the sweet spot, 15 is deep-fried (the strip). Denoise = img2img strength: 0.3 restyles gently, 0.9 is almost from scratch — the inpainting dial.</a:t>
            </a:r>
          </a:p>
          <a:p>
            <a:r>
              <a:t>Sampler, scheduler and resolution are the rest of the console — they go to the Lab 4 README. This is the “which room?” slide from Segment 1: these are inference knobs, free and instant; training knobs cost an evening. Next: the live demo. ~1 minute.</a:t>
            </a:r>
          </a:p>
          <a:p>
            <a:r>
              <a:t>Sources: Beyond the Slop slides 14–16; handout 01_txt2img_sdxl.json (seed 42, 25 steps, cfg 6.5, denoise 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[S4-D4]</a:t>
            </a:r>
          </a:p>
          <a:p>
            <a:r>
              <a:t>Three minutes. Z-Image-Turbo (Alibaba Tongyi-MAI, 6B, Apache-2.0, ~16 GB, 8 steps) is the best quality per GB in the catalog. It is distilled and runs without CFG — so the CFG sweep runs on the SDXL handout 01, where CFG visibly matters (2 washed out, 7 fine, 15 deep-fried). ComfyUI 0.37.0 per the catalog.</a:t>
            </a:r>
          </a:p>
          <a:p>
            <a:r>
              <a:t>Click path: ComfyUI → load the Z-Image-Turbo graph → set the seed to fixed → Queue twice (identical) → change the seed → Queue. Then load 01_txt2img_sdxl.json → set CFG 2, 7, 15 → Queue each. Finish with Lab 4 step 2: `python 02_comfy_run.py ../comfyui_workflows/01_txt2img_sdxl.json --seed 42` writes a .json with the settings next to every image — craft principle #1.</a:t>
            </a:r>
          </a:p>
          <a:p>
            <a:r>
              <a:t>Fallback files: demos/S4-D4/fallback/ (contact sheets); the stand-in is labs/_tools/comfy_mock.py (flat images that print the knobs they received).</a:t>
            </a:r>
          </a:p>
          <a:p>
            <a:r>
              <a:t>VERIFY: a Z-Image-Turbo graph in API format is not among the handouts yet (export it, pin the model file names); re-test the handouts on ComfyUI v0.37.</a:t>
            </a:r>
          </a:p>
          <a:p>
            <a:r>
              <a:t>Sources: 05_Model_Catalog §6; https://huggingface.co/Tongyi-MAI/Z-Image-Turbo ; research/2026-09-19_local-ai-media-beyond-west.md §4 (no CFG); labs/04-local-media/README.md; labs/04-local-media/comfyui_workflows/README_EN.md.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[S4-13]</a:t>
            </a:r>
          </a:p>
          <a:p>
            <a:r>
              <a:t>The map for the next five slides. Dock, don’t rebuild: every adapter grabs the same loop at a different place. ControlNet injects structure into the denoiser (where), a LoRA is a small weight update inside its attention blocks (who or which style), IP-Adapter feeds a reference image through its own attention channel (like this), inpainting works on masked latents (fix). The prompt still says what.</a:t>
            </a:r>
          </a:p>
          <a:p>
            <a:r>
              <a:t>Bottom row: one image, five interventions — LoRA locks the character, ControlNet the pose, IP-Adapter the style, inpaint fixes the hand, outpaint widens the shot. They compose, and because each step is a node, the whole stack fits into one reproducible ComfyUI graph. ~1 minute.</a:t>
            </a:r>
          </a:p>
          <a:p>
            <a:r>
              <a:t>Diagram: Beyond the Slop diagram 02 (adapter dock), redrawn natively.</a:t>
            </a:r>
          </a:p>
          <a:p>
            <a:r>
              <a:t>Sources: Beyond the Slop slides 19 and 31.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[S4-14]</a:t>
            </a:r>
          </a:p>
          <a:p>
            <a:r>
              <a:t>Callback to the LoRA slide in Segment 1: LoRA freezes the base weights W and trains a low-rank correction ΔW = B·A next to them (rank ≈ 4–128). For image models the adapters sit in the attention layers of the UNet or the DiT blocks. The result is a few-MB .safetensors file that whispers “draw it THIS way”; trainable on a consumer GPU, stackable (style + character), with a strength dial from 0.0 to 1.2.</a:t>
            </a:r>
          </a:p>
          <a:p>
            <a:r>
              <a:t>Civitai is the LoRA bazaar — hundreds of thousands of them (July 2026). The licence question it raises: a LoRA is useless without its base model, so the base model’s licence applies to what you ship — FLUX.2 [dev] and klein-9B are non-commercial, FLUX.2 [klein] 4B and Z-Image are Apache-2.0. Also ask where the training images came from. The LoRA family tree (QLoRA, DoRA, PiSSA, LyCORIS …) is in the appendix (A-03). ~1 minute.</a:t>
            </a:r>
          </a:p>
          <a:p>
            <a:r>
              <a:t>Image: meme_stickynote.png (AI-generated, Beyond the Slop).</a:t>
            </a:r>
          </a:p>
          <a:p>
            <a:r>
              <a:t>Sources: Beyond the Slop slides 20–22 and 42; 05_Model_Catalog §6/§11.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[S4-15]</a:t>
            </a:r>
          </a:p>
          <a:p>
            <a:r>
              <a:t>The recipe: 15–50 curated images of the subject — vary pose, light and background; caption each one (a vision-language model does that for you) and put a unique trigger word into every caption; train rank 16–32 for roughly 1–3k steps on a 12–16 GB GPU with kohya_ss, ai-toolkit or OneTrainer; the output is a few-MB character.safetensors.</a:t>
            </a:r>
          </a:p>
          <a:p>
            <a:r>
              <a:t>The four classic failures are all data or schedule problems, not model problems. And the honest guide from the LoRA family research: the variant matters less than your dataset and learning rate. In Lab 4 this is a stretch goal — attendees use a ready-made Civitai LoRA in handout 02 instead. ~1 minute.</a:t>
            </a:r>
          </a:p>
          <a:p>
            <a:r>
              <a:t>Sources: Beyond the Slop slides 22–23; labs/04-local-media/README.md (handout 02 uses character.safetensors).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[S4-16]</a:t>
            </a:r>
          </a:p>
          <a:p>
            <a:r>
              <a:t>ControlNet is the puppeteer: you hand the model a structure image — edges (Canny), a depth map or a pose skeleton — and it must follow that structure while the prompt decides style and content. Under the hood a trainable half-copy of the denoiser injects the hint at every step through zero-convolutions (they start at 0, so the copy disturbs nothing at first).</a:t>
            </a:r>
          </a:p>
          <a:p>
            <a:r>
              <a:t>DWPose reads body, hand and face keypoints from any photo; the coloured skeleton feeds a pose ControlNet: same skeleton + three prompts = the knight, the robot and the ballerina. The leash rule: the higher the weight, the more structure survives and the less the prompt can breathe — 0.6–0.8 is a good start. Union models do 10+ modes in one file; T2I-Adapter is the light option. Demo next. ~1 minute.</a:t>
            </a:r>
          </a:p>
          <a:p>
            <a:r>
              <a:t>Images: ex_pose_trio.png, meme_puppeteer.png (AI-generated, Beyond the Slop).</a:t>
            </a:r>
          </a:p>
          <a:p>
            <a:r>
              <a:t>Sources: Beyond the Slop slides 24–27; https://arxiv.org/abs/2302.05543 ; handout 02_pose_lora_sdxl.json.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[S4-D5]</a:t>
            </a:r>
          </a:p>
          <a:p>
            <a:r>
              <a:t>Three minutes. Handout 02_pose_lora_sdxl.json: SDXL checkpoint → LoRA loader (character.safetensors, strength 0.8) → DWPreprocessor on pose_ref.png → OpenPose ControlNet (strength 1.0) → KSampler (seed 123, 30 steps, cfg 6.0) at 832×1216. Needs the comfyui_controlnet_aux custom nodes.</a:t>
            </a:r>
          </a:p>
          <a:p>
            <a:r>
              <a:t>Click path: open the graph, show the skeleton preview, queue the knight, swap the prompt twice, then drop the ControlNet strength to 0.6 and show the pose loosening. If the LoRA file is not present, bypass the LoRA node.</a:t>
            </a:r>
          </a:p>
          <a:p>
            <a:r>
              <a:t>Fallback files: demos/S4-D5/fallback/ (the Beyond the Slop pose trio, ex_pose_trio.png, + a graph screenshot).</a:t>
            </a:r>
          </a:p>
          <a:p>
            <a:r>
              <a:t>VERIFY: re-test handout 02 on ComfyUI v0.37 with comfyui_controlnet_aux; pin the model file names (controlnet-openpose-sdxl-1.0, sd_xl_base_1.0) and put pose_ref.png into ComfyUI’s input/ folder.</a:t>
            </a:r>
          </a:p>
          <a:p>
            <a:r>
              <a:t>Sources: labs/04-local-media/comfyui_workflows/README_EN.md and 02_pose_lora_sdxl.json; Beyond the Slop slide 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[S4-17]</a:t>
            </a:r>
          </a:p>
          <a:p>
            <a:r>
              <a:t>IP-Adapter: an image is worth a thousand prompt words. The reference image is encoded (CLIP image encoder) and fed through its own, decoupled cross-attention channel next to the text. Style transfer without training anything: a ~100 MB adapter that works instantly.</a:t>
            </a:r>
          </a:p>
          <a:p>
            <a:r>
              <a:t>For faces there is a specialist family — FaceID (an ArcFace identity embedding), InstantID, PuLID: zero-shot identity. Where it beats a LoRA: speed, no dataset, a handful of images. Where it loses: over many shots the identity drifts — for a whole film or a campaign, train a character LoRA (previous slides). ~1 minute.</a:t>
            </a:r>
          </a:p>
          <a:p>
            <a:r>
              <a:t>Image: ip_adapter_pair_en.png (AI-generated, Beyond the Slop).</a:t>
            </a:r>
          </a:p>
          <a:p>
            <a:r>
              <a:t>Sources: Beyond the Slop slide 28; https://arxiv.org/abs/2308.06721 ; BTS fact sheet (FaceID = IP-Adapter + LoRA on an ArcFace embedding).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[S4-18]</a:t>
            </a:r>
          </a:p>
          <a:p>
            <a:r>
              <a:t>Inpainting is surgery instead of re-rolling: only the masked region is re-noised and regenerated — every other pixel stays untouched (check the mountains). Denoise is the dial: handout 03_inpaint.json uses 0.9 with VAEEncodeForInpaint and grow_mask_by = 6, so the seam blends; differential diffusion (a soft grey mask) or FLUX Fill give softer edges.</a:t>
            </a:r>
          </a:p>
          <a:p>
            <a:r>
              <a:t>Outpainting is the same trick with the mask pointing outward: extend the canvas, keep the original pixels, let the model fill the new area — portrait → 16:9. The craft rule: fix one detail and keep the seed, don’t roll the whole image again. That closes “taking control”; next part: the model zoo. ~1 minute.</a:t>
            </a:r>
          </a:p>
          <a:p>
            <a:r>
              <a:t>Images: ex_inpaint_before832 / mask_vis / after_real, ex_outpaint_before / after_real (AI-generated, Beyond the Slop).</a:t>
            </a:r>
          </a:p>
          <a:p>
            <a:r>
              <a:t>Sources: Beyond the Slop slides 29–30; handout 03_inpaint.json (denoise 0.9, grow_mask_by 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[S4-19]</a:t>
            </a:r>
          </a:p>
          <a:p>
            <a:r>
              <a:t>≈ 1 min. Read the dots, not the rows: green you can ship, amber you read first, red you can demo but not sell. Z-Image-Turbo is the best quality per GB (6B, ~16 GB, 8 steps); FLUX.2 [klein] 4B is the laptop pick (Apache, ~13 GB, sub-second). The Qwen-Image line is the licence-gradient example: 2512 is Apache, 2.1 (weights released 2026-09-20) is research-only — commercial licence on request, “Built with Qwen” attribution — and 2.0/3.0 are API-only (next slide). Beyond the Slop (July) said “Qwen-Image 2.0 · Apache 2.0” — corrected here. Ideogram 4.0 did go open, but non-commercial.</a:t>
            </a:r>
          </a:p>
          <a:p>
            <a:r>
              <a:t>Sources: 05_Model_Catalog_2026-09.md §6 + §11 (checked 2026-09-21); research/2026-09-19_beyond-the-slop-integration.md §2; https://huggingface.co/Tongyi-MAI/Z-Image-Turbo · https://bfl.ai/blog/flux2-klein-towards-interactive-visual-intelligence · https://github.com/QwenLM/Qwen-Image · https://github.com/Tencent-Hunyuan/HunyuanImage-3.0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[S4-19b]</a:t>
            </a:r>
          </a:p>
          <a:p>
            <a:r>
              <a:t>[trim] ≈ 45 s — skip it in the 75-minute cut. Krea 2 is commercial only below $1M revenue, and the licence is revocable. SDXL is old but still the LoRA/ControlNet ecosystem king; Stability shipped no new image model in 2026. The closed tier leads the arena (GPT-Image-2.5 Flare/Sunburst #1/#2, MAI-Image-2.6 #4), and the Foundry Direct-from-Azure rows are credit-eligible — that is Lab 4’s no-GPU path (04_cloud_image.py with GENAI_IMAGE_MODEL). FLUX 3 is in early access; BFL says weights “later in 2026”.</a:t>
            </a:r>
          </a:p>
          <a:p>
            <a:r>
              <a:t>Sources: catalog §6, §10, §11 (checked 2026-09-21); https://artificialanalysis.ai/image/leaderboard/text-to-image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[S4-20]</a:t>
            </a:r>
          </a:p>
          <a:p>
            <a:r>
              <a:t>≈ 1 min. Video is where the open/closed line is sharpest: Alibaba’s last open Wan base is 2.2 — 2.5 to 3.0 are API-only, and the “Wan 2.7 open source” pages are SEO fabrications. HunyuanVideo 1.5 is the laptop model (8.3B, 14 GB with offload); LTX-2.5 adds synced audio but is free only below $10M revenue. MiniMax-H3 is the best open text-to-video with audio, but its licence excludes the EU, the UK, South Korea and the USA — so we mention it and do not demo it. Sora’s API ends 2026-09-24; Foundry’s sora-2 listing is stale.</a:t>
            </a:r>
          </a:p>
          <a:p>
            <a:r>
              <a:t>Sources: catalog §7 + §11 (checked 2026-09-21); research/2026-09-19_local-ai-media-beyond-west.md §4; https://github.com/Wan-Video/Wan2.2 · https://github.com/Tencent-Hunyuan/HunyuanVideo-1.5 · https://huggingface.co/Lightricks/LTX-2.5 · https://huggingface.co/MiniMaxAI/MiniMax-H3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[S4-21]</a:t>
            </a:r>
          </a:p>
          <a:p>
            <a:r>
              <a:t>≈ 1 min, then straight into the demo (S4-D6). Speech is the greenest shelf: Qwen3-TTS clones a voice from 3 seconds and designs voices from a text description (Apache, 10 languages); Tencent AuK (MIT, 09-09) also edits and cleans speech; Parakeet v3 transcribes 25 languages at RTFx ~3,300 — that is the live-caption demo. RVC/Applio convert timbre; they are not TTS. The closed row adds Gemini 3.8 Live and ElevenLabs v3. Say it once: clone only voices you have consent for.</a:t>
            </a:r>
          </a:p>
          <a:p>
            <a:r>
              <a:t>VERIFY: IndexTTS-2.5 sits in the catalog row with licence “mixed” — left off the slide until its licence is checked; Fish Audio S2 Pro is research-only (red in §11).</a:t>
            </a:r>
          </a:p>
          <a:p>
            <a:r>
              <a:t>Sources: catalog §8 + §11 (checked 2026-09-21); https://github.com/QwenLM/Qwen3-TTS · https://huggingface.co/tencent/AuK · https://huggingface.co/nvidia/parakeet-tdt-0.6b-v3 · https://huggingface.co/blog/open-asr-leaderboard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[S4-D6]</a:t>
            </a:r>
          </a:p>
          <a:p>
            <a:r>
              <a:t>5 minutes, instructor laptop, all local. Qwen3-TTS (0.6B or 1.7B) clones a voice from a 3-second sample; the VoiceDesign variant makes a voice from a text description (“a calm radio host, slightly amused”). Use your own voice — never clone an attendee’s voice on stage, and delete the sample afterwards. Then start Parakeet-TDT-0.6B-v3 on the room microphone: 25 languages, RTFx ~3,300, so captions keep up with speech. Pre-load both models before the segment (the first call includes loading). VERIFY in the dry run: how Parakeet handles a language switch mid-stream. Fallback files: demos/S4-D6/fallback/. Sources: catalog §8; https://github.com/QwenLM/Qwen3-TTS · https://simonwillison.net/2026/Jan/22/qwen3-tts/ · https://huggingface.co/nvidia/parakeet-tdt-0.6b-v3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[S4-21b]</a:t>
            </a:r>
          </a:p>
          <a:p>
            <a:r>
              <a:t>≈ 45 s. ACE-Step 1.5 (MIT) turns lyrics into a full song with vocals in under 4 GB of VRAM — under 10 s per song on a 3090 — on CUDA, MLX or ROCm; it is this segment’s closer. Beyond the Slop said “Apache 2.0”; the catalog says MIT (corrected). YuE2-3B claims to beat Suno on WildSongBench, but it is CC-BY-NC and needs 24 GB. Suno v6 now trains on a licensed catalogue (WMG/BMG/Believe) and retired v4–5.5; Udio is a walled garden. Wan 2.2 S2V is the open lipsync block of the music-video chain (S4-29).</a:t>
            </a:r>
          </a:p>
          <a:p>
            <a:r>
              <a:t>VERIFY: InfiniteTalk and LatentSync (lipsync, BTS slide 36) are not in the September catalog — left off.</a:t>
            </a:r>
          </a:p>
          <a:p>
            <a:r>
              <a:t>Sources: catalog §7, §8, §11 (checked 2026-09-21); research/2026-09-19_beyond-the-slop-integration.md §2; https://github.com/ace-step/ACE-Step-1.5 · https://huggingface.co/m-a-p/YuE2-3B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[S4-22]</a:t>
            </a:r>
          </a:p>
          <a:p>
            <a:r>
              <a:t>[trim] ≈ 45 s. Two warnings, that is the slide. One: Hunyuan3D 2.1 is open, but its licence excludes the EU, the UK and South Korea (and needs approval above 1M MAU) — for a European customer use TRELLIS.2-4B (MIT). Two: a world model is “video with a controller” — state plus an action gives the next frame, and that frame becomes the new state. Today that means Project Genie (Genie 3, subscription), Decart Oasis 3 (API), World Labs Atlas (closed) or Runway GWM Worlds 2 (preview); Matrix-Game 3.0 (Apache) is the open one to try, and H3-World inherits the H3 licence.</a:t>
            </a:r>
          </a:p>
          <a:p>
            <a:r>
              <a:t>The diagram is a native redraw of Beyond the Slop diagram 08 — its footer (“Open: Oasis”) is outdated: Oasis 3 is API-only.</a:t>
            </a:r>
          </a:p>
          <a:p>
            <a:r>
              <a:t>Sources: catalog §9 + §11 (checked 2026-09-21); Beyond the Slop slide 50 / diagram 08.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[S4-23]</a:t>
            </a:r>
          </a:p>
          <a:p>
            <a:r>
              <a:t>≈ 1 min. Four ways to get a model: Foundry, the open-model APIs, the Hugging Face router — or the weights themselves. On the sponsored Azure subscription only the Direct-from-Azure rows are paid by credits (first-party meters). Fireworks on Foundry is Azure-billed pay-per-token in the US data zone — probably credit-eligible, verify on the real subscription — and it sits outside the EU Data Boundary, worth saying to EU customers. Marketplace models such as Claude are never paid by credits: with a card on file Azure charges the card, silently. Everything else here is a base_url plus a key for the same client.</a:t>
            </a:r>
          </a:p>
          <a:p>
            <a:r>
              <a:t>VERIFY: Fireworks pay-per-token credit eligibility on the real sponsored subscription (deploy one model, watch the meter).</a:t>
            </a:r>
          </a:p>
          <a:p>
            <a:r>
              <a:t>Sources: catalog preamble, §1, §10 (checked 2026-09-21); research/2026-09-19_foundry-access-for-workshop.md; https://learn.microsoft.com/en-us/azure/ai-foundry/foundry-models/concepts/models-sold-directly-by-azure · https://learn.microsoft.com/en-us/azure/foundry/how-to/fireworks/enable-fireworks-models · https://huggingface.co/docs/inference-providers/en/index · https://openrouter.ai/rankings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[S4-24]</a:t>
            </a:r>
          </a:p>
          <a:p>
            <a:r>
              <a:t>≈ 1 min. Start with the number: on OpenRouter (2026-09-18) seven of the ten most-used models by tokens come from Chinese labs — DeepSeek V4.1 Flash #2, Tencent Hy4 preview #3, GLM-5.3-Flash #4, Xiaomi MiMo-V2.5 #6. Then the pattern per lab: DeepSeek and Xiaomi are MIT all the way; Alibaba and Tencent ship Apache open lines and keep flagships closed; Moonshot, Z.ai and MiniMax moved to their own licences at the frontier. Credit-eligible on Foundry: DeepSeek (V4-Pro, V4-Flash, V3.2) and Kimi (K2.6, K2.7-Code), Direct from Azure.</a:t>
            </a:r>
          </a:p>
          <a:p>
            <a:r>
              <a:t>GLM-5.3 shares the top open score on the AA index (45) with Qwen3.8 Max. StepFun’s Step-3.7-Flash is in catalog §2 since the 2026-09-23 fact-check: Apache-2.0, ≈200B total (198B per the model card) with ~11B active. ByteDance Seed is closed on our shelves (Seedance 2.5; the research note still says 2.0). Dots follow catalog §11 (StepFun: the §2 row).</a:t>
            </a:r>
          </a:p>
          <a:p>
            <a:r>
              <a:t>Sources: catalog §1, §2, §6–§11 (checked 2026-09-21; Step-3.7-Flash row 2026-09-23); research/2026-09-19_local-ai-media-beyond-west.md §5; https://openrouter.ai/rankings · https://huggingface.co/stepfun-ai/Step-3.7-Flash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[S4-25]</a:t>
            </a:r>
          </a:p>
          <a:p>
            <a:r>
              <a:t>≈ 1 min. Direction one: the frontier labs added fences — GLM-5.3 left MIT for its own licence (MaaS providers above $10B revenue need a Z.ai security review), Kimi K3 wants an agreement above $20M MaaS revenue and attribution above 100M MAU, Qwen3.8 Max needs a licence above $50M, and Mistral Medium 3.5 grants no rights above $20M a month. These clauses target the clouds that resell the model — but read them. Direction two: open-trailing, closed-flagship — Wan stops at 2.2, Qwen-Image goes Apache → non-commercial → API, Meta’s Muse Glimmer is open while Muse Spark is closed with weights “promised”. Open weights are a market-entry tool, not a standing commitment.</a:t>
            </a:r>
          </a:p>
          <a:p>
            <a:r>
              <a:t>Sources: catalog §1, §2, §3, §6, §7, §11 (checked 2026-09-21); research/2026-09-19_local-ai-media-beyond-west.md §5; https://thenewstack.io/zai-glm-weights-license/ · https://huggingface.co/moonshotai/Kimi-K3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[S4-26]</a:t>
            </a:r>
          </a:p>
          <a:p>
            <a:r>
              <a:t>[trim] ≈ 30 s. The non-US, non-Chinese shelf that shipped weights: Mistral (FR) Large 3 and Small 4 under Apache — Small 4 is a 119B MoE with only 6B active, so it computes like a small model but needs a ~64 GB box (as on the local shelf) — and Medium 3.5 carries a revenue clause; Sarvam (IN) 30B / 105B, built on Indian-language data; Swiss AI’s Apertus, fully open including data and recipe; Cohere Command A+ (CA), Apache and credit-eligible on Foundry. The EU angle without the politics: sovereignty in practice is an Apache model you run in your own region.</a:t>
            </a:r>
          </a:p>
          <a:p>
            <a:r>
              <a:t>VERIFY before adding: TII (Falcon, UAE), AI21 (IL) and EuroLLM — named in the 2026-09-19 research note, but not in the September catalog (no current model or licence). IBM Granite 4.2 and Yandex AliceAI are on the same catalog row; left off (US / not needed).</a:t>
            </a:r>
          </a:p>
          <a:p>
            <a:r>
              <a:t>Sources: catalog §2 + §11 (checked 2026-09-21); research/2026-09-19_local-ai-media-beyond-west.md §5; https://docs.mistral.ai/getting-started/models/models_overview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[S4-27]</a:t>
            </a:r>
          </a:p>
          <a:p>
            <a:r>
              <a:t>≈ 45 s. The traffic light every zoo row used today, straight from catalog §11. Green = Apache, MIT, OpenMDW or CC-BY: ship it and keep the licence file. Amber = read it first: hyperscaler clauses, revenue caps (LTX-2.5 below $10M, Krea 2 below $1M), region exclusions (MiniMax-H3 and Hunyuan3D both exclude the EU). Red = non-commercial, closed or gone — fine for a demo, not for client work. And check every LoRA’s base model before it reaches a client.</a:t>
            </a:r>
          </a:p>
          <a:p>
            <a:r>
              <a:t>Sources: catalog §11 (checked 2026-09-21); Beyond the Slop slide 42 (July 2026, refreshed per research/2026-09-19_beyond-the-slop-integration.md). The meme is AI-generated (Beyond the Slop assets).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[S4-28]</a:t>
            </a:r>
          </a:p>
          <a:p>
            <a:r>
              <a:t>[trim] ≈ 30 s. One line: under the EU AI Act, open-source general-purpose models are exempt from most GPAI obligations — not from the copyright policy and the training-data summary, and not if they carry systemic risk (above 10^25 FLOP of training compute). The dates in the table come from the enforcement page and LLM 101 (Digital Omnibus delay). In the US, the “No DeepSeek on Government Devices” bills (H.R.1121 / S.765) are proposed or state-level — about the hosted app, not MIT weights on your own hardware. Read in this order: model card, licence, law.</a:t>
            </a:r>
          </a:p>
          <a:p>
            <a:r>
              <a:t>Digital Omnibus (last table row, from LLM 101, June 2026): provisional political agreement on 2026-05-06, confirmed 2026-05-13 — Annex III high-risk obligations move to 2 Dec 2027, Annex I to 2 Aug 2028 (https://www.gibsondunn.com/eu-ai-act-omnibus-agreement-postponed-high-risk-deadlines-and-other-key-changes/, web-checked 2026-09-23 in the deck fact-check). Publication in the Official Journal was “expected in the coming weeks”.</a:t>
            </a:r>
          </a:p>
          <a:p>
            <a:r>
              <a:t>VERIFY: that the Omnibus text is published in the Official Journal before presenting these dates as law. VERIFY: the enactment status of H.R.1121 / S.765 (research note: not verified — keep saying “proposed / state-level”); add a link to the GPAI Code of Practice if you want it on the slide (not in our sources).</a:t>
            </a:r>
          </a:p>
          <a:p>
            <a:r>
              <a:t>Sources: https://artificialintelligenceact.eu/enforcement-of-chapter-v-under-the-eu-ai-act/ · research/2026-09-19_local-ai-media-beyond-west.md §5 · LLM 101 (Day of Data 2026) slide 139 · https://www.gibsondunn.com/eu-ai-act-omnibus-agreement-postponed-high-risk-deadlines-and-other-key-changes/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[S4-29]</a:t>
            </a:r>
          </a:p>
          <a:p>
            <a:r>
              <a:t>≈ 1.5 min — Act IV of Beyond the Slop, now the workshop’s idea for media. Walk the chain left to right: an LLM writes tagged lyrics, ACE-Step 1.5 sings them, FLUX or SDXL makes the avatar, a character LoRA locks the identity, Wan 2.2 turns the image into a clip and S2V makes it sing. Every block reads the previous block’s file — that is why any block can be swapped (grey line). Corrections to the July talk: ACE-Step is MIT, not Apache; LTX-2.5 replaced LTX 2.3; YuE2 is non-commercial.</a:t>
            </a:r>
          </a:p>
          <a:p>
            <a:r>
              <a:t>Drawn natively instead of BTS diagram 07, which still says “Apache 2.0” for ACE-Step and “LTX 2.3”.</a:t>
            </a:r>
          </a:p>
          <a:p>
            <a:r>
              <a:t>Sources: Beyond the Slop slides 43–46 (July 2026); catalog §6–§8 (checked 2026-09-21); research/2026-09-19_beyond-the-slop-integration.md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[S4-30]</a:t>
            </a:r>
          </a:p>
          <a:p>
            <a:r>
              <a:t>HIDDEN until cleared (00_Workshop_Plan §8 Q10: may the DWX “Vier Tage Sommer” music-video pipeline be shown?). If cleared: ≈ 1.5 min, block by block — avatar (FLUX + FaceID), character sheet → character LoRA, new scenes with the same face, Wan 2.2 S2V lipsync; the soundtrack from LLM lyrics through ACE-Step 1.5.</a:t>
            </a:r>
          </a:p>
          <a:p>
            <a:r>
              <a:t>VERIFY: stage times and GPU costs of the DWX production — none are in our sources; add them as labelled pairs (d.pair) only once the DWX team confirms them. The stills are the Beyond the Slop proof-of-concept images (AI-generated, labelled); confirm they are the DWX character before calling them “the DWX chain”.</a:t>
            </a:r>
          </a:p>
          <a:p>
            <a:r>
              <a:t>Sources: Beyond the Slop slides 44–46 (July 2026); assets/from_beyond_the_slop/images/char_*.png; research/2026-09-19_beyond-the-slop-integration.md §1 and §4.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[S4-D7]</a:t>
            </a:r>
          </a:p>
          <a:p>
            <a:r>
              <a:t>[trim] 4 minutes, pre-rendered — no live video generation on stage (Wan 2.2 TI2V-5B needs minutes per 5-second clip even on a 4090). Play the stages in order from the artifact folder, then switch to Wan2GP (12.61): show the model list (Wan 2.2, HunyuanVideo 1.5, LTX) and queue one image-to-video job to show the knobs, cancel it. If S4-30 is not cleared, present the stills as the Beyond the Slop proof of concept, not as the DWX production. Fallback stills: assets/from_beyond_the_slop/images/char_*.png. Sources: Beyond the Slop slides 44–46; catalog §7 + §10; https://github.com/deepbeepmeep/Wan2GP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[S4-31]</a:t>
            </a:r>
          </a:p>
          <a:p>
            <a:r>
              <a:t>≈ 1 min. Same chain, no GPU: the cloud row replaces every local block with a Foundry or Hugging Face endpoint, and the client stays the OpenAI one. The code is Lab 4 step 5 (05_tts.py): with TTS_BASE_URL set it talks to a local OpenAI-compatible TTS server (e.g. Qwen3-TTS or Kokoro), otherwise to GENAI_TTS_MODEL on the workshop endpoint — only base_url, key and model name change. The stretch goal 06_chain.py does the same for the image block: with --workflow the image comes from ComfyUI, without it from GENAI_IMAGE_MODEL in the cloud. No sora-2: its API ends 2026-09-24, so cloud video goes through fal or Replicate on the Hugging Face router.</a:t>
            </a:r>
          </a:p>
          <a:p>
            <a:r>
              <a:t>Sources: catalog §3, §8, §10 (checked 2026-09-21); labs/04-local-media/python/solution/05_tts.py and 06_chain.py (solutions tested against the offline mock and comfy_mock, 2026-09-23).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[S4-32]</a:t>
            </a:r>
          </a:p>
          <a:p>
            <a:r>
              <a:t>≈ 1 min. Walk the graph left to right: the checkpoint feeds MODEL to the sampler and CLIP to the two prompt encoders, the empty latent is the canvas, the KSampler holds the knobs (steps, CFG, sampler, seed), the VAE decodes to pixels. ComfyUI is the graph editor for exactly this: every block of the loop is a node you can see and rewire, and a workflow is a JSON file — export it in API format and code can run it (Lab 4 posts it to /prompt). v0.37 (2026-09-21) brought day-0 Qwen-Image-2.1; blueprints, subgraphs and partner API nodes came with the 0.36 line. Wan2GP is the cockpit “for the GPU poor”: one UI for Wan 2.2, HunyuanVideo 1.5, LTX, Z-Image, Qwen3-TTS and ACE-Step, tuned for small VRAM. The five handout workflows (labs/04-local-media/comfyui_workflows: 01 txt2img, 02 pose + LoRA, 03 inpaint, 04 upscale, 05 image → 3D) come from Beyond the Slop and ship with Lab 4.</a:t>
            </a:r>
          </a:p>
          <a:p>
            <a:r>
              <a:t>The graph is a native redraw of Beyond the Slop diagram 04 (the picture’s MODEL wire crossed the header of the negative-prompt node).</a:t>
            </a:r>
          </a:p>
          <a:p>
            <a:r>
              <a:t>Sources: catalog §0 + §10 (checked 2026-09-21); research/2026-09-19_local-ai-media-beyond-west.md §4; https://docs.comfy.org/changelog · https://github.com/deepbeepmeep/Wan2GP · labs/04-local-media/comfyui_workflows/README_EN.md · Beyond the Slop slides 40–41 (diagram 04).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[S4-L4]</a:t>
            </a:r>
          </a:p>
          <a:p>
            <a:r>
              <a:t>25 minutes, core 15. Everyone does step 1 — the Lab 1 code on Ollama, LM Studio or Foundry Local, measuring time to first token and tokens per second (first call includes loading; OLLAMA_REASONING_EFFORT=none switches thinking off). With a GPU: steps 2–3 in ComfyUI; without: steps 4–5 on the workshop endpoint. The two craft checkpoints: a seed in every .json, one knob per contact sheet. Fallbacks: comfy_mock.py renders flat images that print the knobs they received; pre-rendered contact sheets and audio on screen. Source: labs/04-local-media/README.md (verified 2026-09-23 against the mocks and Ollama; not yet on a real GPU — do that in the dry run).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[S4-33]</a:t>
            </a:r>
          </a:p>
          <a:p>
            <a:r>
              <a:t>≈ 1 min. Four ways it still breaks, each with its fix: anatomy (hands, teeth, text) → inpaint + FaceDetailer, DWPose with hand keypoints; drift of identity and style → character LoRA, fixed seeds, reference frames; coherence of long videos (in July motion fell apart beyond ~10–20 s) → keyframe chains, VACE control, cuts; compute → quantization, low-res drafts, upscale the winner. The fifth is the licence — you cannot inpaint your way out of a non-commercial base model. What to tell the customer: slop is not a model property, it is what shipping the first roll looks like.</a:t>
            </a:r>
          </a:p>
          <a:p>
            <a:r>
              <a:t>Sources: Beyond the Slop slides 42 and 47 (July 2026). The hand is AI-generated (Beyond the Slop assets).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[S4-34]</a:t>
            </a:r>
          </a:p>
          <a:p>
            <a:r>
              <a:t>≈ 45 s. Five principles — tape them to the monitor. Log the seed: reproducibility is the difference between craft and gambling. Change one knob: seed fixed, one change, compare. Control before prompt: a pose skeleton or a reference image says more than fifty adjectives. Fix, don’t regenerate: inpaint the detail, keep the seed. Keep the pipeline, swap the model. Lab 4 checks the first two — every image gets a .json with its seed, and 03_one_knob.py builds a one-knob contact sheet.</a:t>
            </a:r>
          </a:p>
          <a:p>
            <a:r>
              <a:t>Sources: Beyond the Slop slide 48 (July 2026), adapted to the plan’s five (06_Narrative_Plan S4-34); labs/04-local-media/README.md.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[S4-35]</a:t>
            </a:r>
          </a:p>
          <a:p>
            <a:r>
              <a:t>≈ 45 s — the segment’s thesis (dark, like its opening thesis S4-02). Models rotate every quarter; encoder → latent → denoiser → VAE has been stable for years. Adapters — LoRA, ControlNet, IP-Adapter — survive model generations, so your skills transfer. Open weights can’t be discontinued, and in 2026 they are genuinely good. Pipelines are the moat: anyone can prompt, few can build the chain. It is the same bet as the whole day: the blocks stay, the models rotate.</a:t>
            </a:r>
          </a:p>
          <a:p>
            <a:r>
              <a:t>Source: Beyond the Slop slide 54 (July 2026).</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[S4-36]</a:t>
            </a:r>
          </a:p>
          <a:p>
            <a:r>
              <a:t>≈ 1 min. The pattern from LLM 101: introduce flat-rate or “unlimited”, reach saturation, then meter the agent users — Anthropic’s weekly limits on Claude Pro/Max (Aug 2025), GitHub Copilot’s switch to token-based AI Credits (2026-06-01; agentic users report 10–50× cost jumps), ChatGPT Plus caps tightened several times, and “unlimited” tiers at Cursor, Windsurf and Replit that became “fair use”, then explicit caps. Why: reasoning and agents cost 5–50× more than 2024 chat, and the subsidy era is ending. The hedge is architecture: route cheap first and escalate, keep a base_url and a model catalog you own, and keep an open-weight fallback on your own hardware for predictable cost.</a:t>
            </a:r>
          </a:p>
          <a:p>
            <a:r>
              <a:t>The table is LLM 101 slide 137 (June 2026), hence the pill. Newer evidence for the same point, if asked: GitHub Models was retired on 2026-07-30 (https://github.blog/changelog/2026-07-30-github-models-is-now-retired/) and the Sora API ends on 2026-09-24 (catalog §7).</a:t>
            </a:r>
          </a:p>
          <a:p>
            <a:r>
              <a:t>Sources: LLM 101 (Day of Data 2026) slides 136–139; research/2026-09-19_foundry-access-for-workshop.md §6; catalog §7.</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[S4-D8]</a:t>
            </a:r>
          </a:p>
          <a:p>
            <a:r>
              <a:t>3 minutes, the last thing before the close. Try it live, with the dry-run song as backup: the chat model turns the agenda into tagged lyrics ([verse] / [chorus]) with structured output, exactly like Lab 1; ACE-Step 1.5 renders the song (&lt;4 GB VRAM, under 10 s on a 3090; MLX on a Mac). Log the seed next to the WAV — craft principle #1. In the 75-minute cut this becomes the break music. Fallback file: demos/S4-D8/fallback/. Sources: catalog §8; https://github.com/ace-step/ACE-Step-1.5</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a:t>
            </a:r>
          </a:p>
          <a:p>
            <a:r>
              <a:t>The spine from S1-02 once more, complete: tokens → chat API → structured output → tools → MCP/skills → agent loop → workflow → media pipeline. Under each block, the knob you touched today: vocabulary, temperature, JSON schema, tool list, server/SKILL.md, session and budget, orchestration, seed and CFG.</a:t>
            </a:r>
          </a:p>
          <a:p>
            <a:r>
              <a:t>The bars show where each segment and lab worked on the spine (Segments 1 and 2 overlap on structured output and tools).</a:t>
            </a:r>
          </a:p>
          <a:p>
            <a:r>
              <a:t>Message: none of these knobs belongs to one vendor — the same settings work on Foundry, DeepSeek, Kimi or Ollama. Timing: one minute.</a:t>
            </a:r>
          </a:p>
          <a:p>
            <a:r>
              <a:t>Sources: Narrative plan v001 — 06_Narrative_Plan_v001.md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a:t>
            </a:r>
          </a:p>
          <a:p>
            <a:r>
              <a:t>The six outcomes from the opening (F-03), ticked. Go through them quickly and name the lab or demo where each one happened: Segment 1 talk; Lab 1; Lab 2; Lab 3 plus the hosted-agent demo; Lab 4 plus the Segment 4 demos; and the source lines all day.</a:t>
            </a:r>
          </a:p>
          <a:p>
            <a:r>
              <a:t>Ask for one hand per outcome that feels shaky — that is the list for the take-home slide.</a:t>
            </a:r>
          </a:p>
          <a:p>
            <a:r>
              <a:t>Every lab folder has python/, csharp/ and typescript/ starters plus solution/, and every script runs against Ollama or the offline mock.</a:t>
            </a:r>
          </a:p>
          <a:p>
            <a:r>
              <a:t>Sources: Workshop plan v001 — 00_Workshop_Plan.md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a:t>
            </a:r>
          </a:p>
          <a:p>
            <a:r>
              <a:t>Three things to take home. The labs: four labs, three languages, starters plus solutions, one settings file; they keep working after today on Ollama or the offline mock (the workshop keys are switched off after the event).</a:t>
            </a:r>
          </a:p>
          <a:p>
            <a:r>
              <a:t>The model catalog: every model, price and licence on today’s slides came from it; it was checked on 2026-09-21 and ages in weeks — treat it as a dated snapshot.</a:t>
            </a:r>
          </a:p>
          <a:p>
            <a:r>
              <a:t>The recipe (skill genai-landscape-research): pkg_versions.py for framework versions, the Azure retail prices API for prices, the Foundry "sold by Azure" page for credit eligibility, model cards for licences — and a date next to every fact.</a:t>
            </a:r>
          </a:p>
          <a:p>
            <a:r>
              <a:t>VERIFY: repository URL (SETUP.md still says &lt;repository-url-from-the-invitation&gt;), the feedback QR code, and whether the catalog is handed out as a PDF.</a:t>
            </a:r>
          </a:p>
          <a:p>
            <a:r>
              <a:t>Sources: labs/README.md · Model catalog §0 (checked 2026-09-21) — 05_Model_Catalog_2026-09.md · genai-landscape-research skill — skills/genai-landscape-research/SKILL.md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[E-04]</a:t>
            </a:r>
          </a:p>
          <a:p>
            <a:r>
              <a:t>Thank you. Point to the references appendix (A-01): every fact slide of the day is listed there with its URL and the date it was checked.</a:t>
            </a:r>
          </a:p>
          <a:p>
            <a:r>
              <a:t>Remind people that the workshop keys are switched off after the event; the labs keep running on Ollama or the offline mock.</a:t>
            </a:r>
          </a:p>
          <a:p>
            <a:r>
              <a:t>VERIFY: contact / QR — speaker name, e-mail and QR code are not in the sources yet (LLM 101 slide 141 has the contact pattern to reuse).</a:t>
            </a:r>
          </a:p>
          <a:p>
            <a:r>
              <a:t>Sources: Narrative plan v001 — 06_Narrative_Plan_v001.md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a:t>
            </a:r>
          </a:p>
          <a:p>
            <a:r>
              <a:t>Appendix: reference slides for after the day, not presented.</a:t>
            </a:r>
          </a:p>
          <a:p>
            <a:r>
              <a:t>A-01 lists every source cited in this deck (generated from refs.py; only the keys this deck actually cites). The catalog tables are generated from 05_Model_Catalog_2026-09.md at build time — numbers are never typed into the deck.</a:t>
            </a:r>
          </a:p>
          <a:p>
            <a:r>
              <a:t>Sources: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[A-01a]</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Workshop plan v001 — 00_Workshop_Plan.md · labs/.env.example · labs/00-setup/SETUP.md · Gateway policy attendee-policy.xml — infra/policies/attendee-policy.xml · Beyond the Slop (daenet, Jul 2026) — research/beyond_the_slop/Beyond_the_Slop_GenAI_2026_slide_text.txt · Model catalog §7 (checked 2026-09-21) — 05_Model_Catalog_2026-09.md · Model catalog §11 (checked 2026-09-21) — 05_Model_Catalog_2026-09.md · LLM 101 (Day of Data 2026) slide 131 — DayOfData2026/LLM_101/LLM_101_100.pptx · Model catalog §0 (checked 2026-09-21) — 05_Model_Catalog_2026-09.md · Model catalog §10 (checked 2026-09-21) — 05_Model_Catalog_2026-09.md · Research: local AI, media &amp; beyond the West, 2026-09-19 — research/2026-09-19_local-ai-media-beyond-west.md · Foundry Local docs — https://learn.microsoft.com/en-us/azure/foundry-local/what-is-foundry-local · Framework verification 2026-09-22 §7 — research/2026-09-22_framework-snippet-verification.md · Lab 1 01_hello.py (tested) — labs/01-hello-model/python/solution/01_hello.py · Model catalog §3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[A-01b]</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Qwen3.8-27B model card — https://huggingface.co/Qwen/Qwen3.8-27B · Research: hardware sizing &amp; Chinese models, 2026-09-21 — research/2026-09-21_local-hardware-sizing-chinese-models.md · Lab 4 README — labs/04-local-media/README.md · Apple Newsroom 2026-08-25 (Mac Studio M5) — https://www.apple.com/newsroom/2026/08/apple-introduces-new-mac-studio-with-m5-max-and-m5-ultra/ · Tom's Hardware: DRAM at a 15-year high — https://www.tomshardware.com/pc-components/dram/amds-gorgon-halo-pushes-on-device-ai-memory-to-192gb-as-dram-prices-hit-15-year-high · Gemma 4 model card — https://ai.google.dev/gemma/docs/core/model_card_4 · Model catalog §6 (checked 2026-09-21) — 05_Model_Catalog_2026-09.md · Lab 4 ComfyUI handouts — labs/04-local-media/comfyui_workflows/README_EN.md · Z-Image-Turbo model card — https://huggingface.co/Tongyi-MAI/Z-Image-Turbo · Zhang &amp; Agrawala 2023, ControlNet — https://arxiv.org/abs/2302.05543 · Ye et al. 2023, IP-Adapter — https://arxiv.org/abs/2308.06721 · Research: Beyond the Slop integration — research/2026-09-19_beyond-the-slop-integration.md · Model catalog §8 (checked 2026-09-21) — 05_Model_Catalog_2026-09.md · Qwen3-TTS (GitHub) — https://github.com/QwenLM/Qwen3-TTS · Parakeet TDT 0.6B v3 (HF) — https://huggingface.co/nvidia/parakeet-tdt-0.6b-v3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[A-01c]</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Model catalog §9 (checked 2026-09-21) — 05_Model_Catalog_2026-09.md · Foundry access research 2026-09-19 — research/2026-09-19_foundry-access-for-workshop.md · Foundry Models sold by Azure — https://learn.microsoft.com/en-us/azure/ai-foundry/foundry-models/concepts/models-sold-directly-by-azure · HF Inference Providers docs — https://huggingface.co/docs/inference-providers/en/index · Model catalog §2 (checked 2026-09-21) — 05_Model_Catalog_2026-09.md · OpenRouter rankings 2026-09-18 — https://openrouter.ai/rankings · EU AI Act: enforcement of Chapter V — https://artificialintelligenceact.eu/enforcement-of-chapter-v-under-the-eu-ai-act/ · LLM 101 (Day of Data 2026) slides 136–139 — DayOfData2026/LLM_101 deck, slides 136–139 · Wan2GP (GitHub) — https://github.com/deepbeepmeep/Wan2GP · Lab 4 05_tts.py (tested vs mock) — labs/04-local-media/python/solution/05_tts.py · ACE-Step 1.5 (GitHub) — https://github.com/ace-step/ACE-Step-1.5 · Narrative plan v001 — 06_Narrative_Plan_v001.md · labs/README.md · genai-landscape-research skill — skills/genai-landscape-research/SKILL.md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g"/><Relationship Id="rId3" Type="http://schemas.openxmlformats.org/officeDocument/2006/relationships/image" Target="../media/image3.png"/><Relationship Id="rId4" Type="http://schemas.openxmlformats.org/officeDocument/2006/relationships/image" Target="../media/image3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g"/><Relationship Id="rId3" Type="http://schemas.openxmlformats.org/officeDocument/2006/relationships/image" Target="../media/image3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B2CB-E17F-657B-15B3-DB0E98286C8C}"/>
              </a:ext>
            </a:extLst>
          </p:cNvPr>
          <p:cNvSpPr>
            <a:spLocks noGrp="1"/>
          </p:cNvSpPr>
          <p:nvPr>
            <p:ph type="title" hasCustomPrompt="1"/>
          </p:nvPr>
        </p:nvSpPr>
        <p:spPr bwMode="white">
          <a:xfrm>
            <a:off x="544922" y="1948409"/>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3" name="Text Placeholder 4">
            <a:extLst>
              <a:ext uri="{FF2B5EF4-FFF2-40B4-BE49-F238E27FC236}">
                <a16:creationId xmlns:a16="http://schemas.microsoft.com/office/drawing/2014/main" id="{2D1683EB-8052-DD8D-9241-2E790290F054}"/>
              </a:ext>
            </a:extLst>
          </p:cNvPr>
          <p:cNvSpPr>
            <a:spLocks noGrp="1"/>
          </p:cNvSpPr>
          <p:nvPr>
            <p:ph type="body" sz="quarter" idx="12" hasCustomPrompt="1"/>
          </p:nvPr>
        </p:nvSpPr>
        <p:spPr bwMode="white">
          <a:xfrm>
            <a:off x="544921" y="3485028"/>
            <a:ext cx="5577839"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6" name="Picture 5">
            <a:extLst>
              <a:ext uri="{FF2B5EF4-FFF2-40B4-BE49-F238E27FC236}">
                <a16:creationId xmlns:a16="http://schemas.microsoft.com/office/drawing/2014/main" id="{F249874B-A7F6-D873-41D3-03DCB02A2170}"/>
              </a:ext>
            </a:extLst>
          </p:cNvPr>
          <p:cNvPicPr>
            <a:picLocks noChangeAspect="1"/>
          </p:cNvPicPr>
          <p:nvPr userDrawn="1"/>
        </p:nvPicPr>
        <p:blipFill>
          <a:blip r:embed="rId3"/>
          <a:stretch>
            <a:fillRect/>
          </a:stretch>
        </p:blipFill>
        <p:spPr>
          <a:xfrm>
            <a:off x="544921" y="152120"/>
            <a:ext cx="1307016" cy="777986"/>
          </a:xfrm>
          <a:prstGeom prst="rect">
            <a:avLst/>
          </a:prstGeom>
        </p:spPr>
      </p:pic>
    </p:spTree>
    <p:extLst>
      <p:ext uri="{BB962C8B-B14F-4D97-AF65-F5344CB8AC3E}">
        <p14:creationId xmlns:p14="http://schemas.microsoft.com/office/powerpoint/2010/main" val="717829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bg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199" y="3962399"/>
            <a:ext cx="557783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4" name="Picture 3">
            <a:extLst>
              <a:ext uri="{FF2B5EF4-FFF2-40B4-BE49-F238E27FC236}">
                <a16:creationId xmlns:a16="http://schemas.microsoft.com/office/drawing/2014/main" id="{E0168319-9987-2C60-6DCC-D542B8BDECF9}"/>
              </a:ext>
            </a:extLst>
          </p:cNvPr>
          <p:cNvPicPr>
            <a:picLocks noChangeAspect="1"/>
          </p:cNvPicPr>
          <p:nvPr userDrawn="1"/>
        </p:nvPicPr>
        <p:blipFill>
          <a:blip r:embed="rId3"/>
          <a:stretch>
            <a:fillRect/>
          </a:stretch>
        </p:blipFill>
        <p:spPr>
          <a:xfrm>
            <a:off x="584199" y="318281"/>
            <a:ext cx="1307016" cy="777986"/>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4" name="Picture 3">
            <a:extLst>
              <a:ext uri="{FF2B5EF4-FFF2-40B4-BE49-F238E27FC236}">
                <a16:creationId xmlns:a16="http://schemas.microsoft.com/office/drawing/2014/main" id="{7BA40C98-8BA3-8FE1-8D1D-CD52B65611CC}"/>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3F7C16A-CB57-4B52-16F1-46EC9146B997}"/>
              </a:ext>
            </a:extLst>
          </p:cNvPr>
          <p:cNvPicPr>
            <a:picLocks noChangeAspect="1"/>
          </p:cNvPicPr>
          <p:nvPr userDrawn="1"/>
        </p:nvPicPr>
        <p:blipFill>
          <a:blip r:embed="rId3"/>
          <a:stretch>
            <a:fillRect/>
          </a:stretch>
        </p:blipFill>
        <p:spPr>
          <a:xfrm>
            <a:off x="9051445" y="6011807"/>
            <a:ext cx="1307016" cy="777986"/>
          </a:xfrm>
          <a:prstGeom prst="rect">
            <a:avLst/>
          </a:prstGeom>
        </p:spPr>
      </p:pic>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62A1E400-7BEA-5DAA-C9FD-6AB535DFD135}"/>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BC815E9D-1B9A-F9D6-AAFD-87240CDC5928}"/>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0F0E3A-8E11-B9E6-77DA-936F67762C0E}"/>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13BDD84-7211-1C60-C033-22B94D883080}"/>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FD929F23-BA9E-B0CC-0E0B-57A879219BA6}"/>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59B869F-282F-B18A-F8BC-B8285FB6D964}"/>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DB69B6A-11F3-C1B6-1EDA-3135281B3EEF}"/>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8C23ABDE-B02A-3F1E-AA58-463ED4C21B39}"/>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318741BF-D9C2-1181-68EA-8EDB6ACA62A3}"/>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36D453B-3073-58F7-694F-9512BD804CC1}"/>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E1D3C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7792B67C-E6F5-5E0B-D0DD-351EF9355C5A}"/>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D7D2C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Section title</a:t>
            </a:r>
          </a:p>
        </p:txBody>
      </p:sp>
      <p:pic>
        <p:nvPicPr>
          <p:cNvPr id="4" name="Picture 3">
            <a:extLst>
              <a:ext uri="{FF2B5EF4-FFF2-40B4-BE49-F238E27FC236}">
                <a16:creationId xmlns:a16="http://schemas.microsoft.com/office/drawing/2014/main" id="{76F9DBEA-5037-3989-110D-63F3EC5C9735}"/>
              </a:ext>
            </a:extLst>
          </p:cNvPr>
          <p:cNvPicPr>
            <a:picLocks noChangeAspect="1"/>
          </p:cNvPicPr>
          <p:nvPr userDrawn="1"/>
        </p:nvPicPr>
        <p:blipFill>
          <a:blip r:embed="rId3"/>
          <a:stretch>
            <a:fillRect/>
          </a:stretch>
        </p:blipFill>
        <p:spPr>
          <a:xfrm>
            <a:off x="585216" y="273912"/>
            <a:ext cx="1307016" cy="777986"/>
          </a:xfrm>
          <a:prstGeom prst="rect">
            <a:avLst/>
          </a:prstGeom>
        </p:spPr>
      </p:pic>
    </p:spTree>
    <p:extLst>
      <p:ext uri="{BB962C8B-B14F-4D97-AF65-F5344CB8AC3E}">
        <p14:creationId xmlns:p14="http://schemas.microsoft.com/office/powerpoint/2010/main" val="97555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B811E0-B33A-BBFB-1572-0865CD9739FE}"/>
              </a:ext>
            </a:extLst>
          </p:cNvPr>
          <p:cNvSpPr>
            <a:spLocks noGrp="1"/>
          </p:cNvSpPr>
          <p:nvPr>
            <p:ph type="title" hasCustomPrompt="1"/>
          </p:nvPr>
        </p:nvSpPr>
        <p:spPr bwMode="white">
          <a:xfrm>
            <a:off x="584200" y="1746705"/>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4" name="Text Placeholder 4">
            <a:extLst>
              <a:ext uri="{FF2B5EF4-FFF2-40B4-BE49-F238E27FC236}">
                <a16:creationId xmlns:a16="http://schemas.microsoft.com/office/drawing/2014/main" id="{E5239529-9FBA-2DF5-0EC8-B9A8A03AB753}"/>
              </a:ext>
            </a:extLst>
          </p:cNvPr>
          <p:cNvSpPr>
            <a:spLocks noGrp="1"/>
          </p:cNvSpPr>
          <p:nvPr>
            <p:ph type="body" sz="quarter" idx="12" hasCustomPrompt="1"/>
          </p:nvPr>
        </p:nvSpPr>
        <p:spPr bwMode="white">
          <a:xfrm>
            <a:off x="584200" y="3283323"/>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5" name="Picture 4">
            <a:extLst>
              <a:ext uri="{FF2B5EF4-FFF2-40B4-BE49-F238E27FC236}">
                <a16:creationId xmlns:a16="http://schemas.microsoft.com/office/drawing/2014/main" id="{0F1BE55F-45EA-0EF1-794A-A0D4F6E518DA}"/>
              </a:ext>
            </a:extLst>
          </p:cNvPr>
          <p:cNvPicPr>
            <a:picLocks noChangeAspect="1"/>
          </p:cNvPicPr>
          <p:nvPr userDrawn="1"/>
        </p:nvPicPr>
        <p:blipFill>
          <a:blip r:embed="rId3"/>
          <a:stretch>
            <a:fillRect/>
          </a:stretch>
        </p:blipFill>
        <p:spPr>
          <a:xfrm>
            <a:off x="9074692" y="6019257"/>
            <a:ext cx="1307016" cy="777986"/>
          </a:xfrm>
          <a:prstGeom prst="rect">
            <a:avLst/>
          </a:prstGeom>
        </p:spPr>
      </p:pic>
      <p:pic>
        <p:nvPicPr>
          <p:cNvPr id="8" name="Picture 7">
            <a:extLst>
              <a:ext uri="{FF2B5EF4-FFF2-40B4-BE49-F238E27FC236}">
                <a16:creationId xmlns:a16="http://schemas.microsoft.com/office/drawing/2014/main" id="{C9DE24C2-C0E0-7ABB-6D28-04A86D3AB6B8}"/>
              </a:ext>
            </a:extLst>
          </p:cNvPr>
          <p:cNvPicPr>
            <a:picLocks noChangeAspect="1"/>
          </p:cNvPicPr>
          <p:nvPr userDrawn="1"/>
        </p:nvPicPr>
        <p:blipFill>
          <a:blip r:embed="rId4"/>
          <a:stretch>
            <a:fillRect/>
          </a:stretch>
        </p:blipFill>
        <p:spPr>
          <a:xfrm>
            <a:off x="584200" y="311903"/>
            <a:ext cx="1366950" cy="813661"/>
          </a:xfrm>
          <a:prstGeom prst="rect">
            <a:avLst/>
          </a:prstGeom>
        </p:spPr>
      </p:pic>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7" name="Picture 6">
            <a:extLst>
              <a:ext uri="{FF2B5EF4-FFF2-40B4-BE49-F238E27FC236}">
                <a16:creationId xmlns:a16="http://schemas.microsoft.com/office/drawing/2014/main" id="{58F581CD-B69D-FD84-E4CE-B6199EF90778}"/>
              </a:ext>
            </a:extLst>
          </p:cNvPr>
          <p:cNvPicPr>
            <a:picLocks noChangeAspect="1"/>
          </p:cNvPicPr>
          <p:nvPr userDrawn="1"/>
        </p:nvPicPr>
        <p:blipFill>
          <a:blip r:embed="rId3"/>
          <a:stretch>
            <a:fillRect/>
          </a:stretch>
        </p:blipFill>
        <p:spPr>
          <a:xfrm>
            <a:off x="584200" y="247973"/>
            <a:ext cx="1366950" cy="813661"/>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4" name="Picture 3">
            <a:extLst>
              <a:ext uri="{FF2B5EF4-FFF2-40B4-BE49-F238E27FC236}">
                <a16:creationId xmlns:a16="http://schemas.microsoft.com/office/drawing/2014/main" id="{479490CC-4FE3-700D-548F-33BAEEB487BD}"/>
              </a:ext>
            </a:extLst>
          </p:cNvPr>
          <p:cNvPicPr>
            <a:picLocks noChangeAspect="1"/>
          </p:cNvPicPr>
          <p:nvPr userDrawn="1"/>
        </p:nvPicPr>
        <p:blipFill>
          <a:blip r:embed="rId3"/>
          <a:stretch>
            <a:fillRect/>
          </a:stretch>
        </p:blipFill>
        <p:spPr>
          <a:xfrm>
            <a:off x="584200" y="480447"/>
            <a:ext cx="1366950" cy="813661"/>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7F882783-BC42-5658-D5AE-BED6E67358C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407A47C-950A-D08C-7CA1-B83467EF7BBE}"/>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CA5088EA-BB6B-9CF1-E8C9-8C708AD28046}"/>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9DD17DB-4DD6-812E-8402-8C84B933F6F2}"/>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C465A37A-89E1-05D3-BA84-39C314D9EBE9}"/>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D015C-464B-083D-FE44-A80C4C7E9F4A}"/>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E95FE20-5D0F-5148-33CD-21E54ECBC0C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A73EB6C2-2784-3909-1112-A4CB02FD5E1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07BC75CB-C95D-E17E-E33C-9C75ADB8407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03D8A81E-1AFE-CB99-6564-E7EEDE9AAF7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ACA4C18-717E-1E62-CFF9-A4ED2F889F6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B7F1AE2D-0727-6228-C84F-7ADA770D4ACE}"/>
              </a:ext>
            </a:extLst>
          </p:cNvPr>
          <p:cNvPicPr>
            <a:picLocks noChangeAspect="1"/>
          </p:cNvPicPr>
          <p:nvPr userDrawn="1"/>
        </p:nvPicPr>
        <p:blipFill>
          <a:blip r:embed="rId3"/>
          <a:stretch>
            <a:fillRect/>
          </a:stretch>
        </p:blipFill>
        <p:spPr>
          <a:xfrm>
            <a:off x="439120" y="178230"/>
            <a:ext cx="1366950" cy="813661"/>
          </a:xfrm>
          <a:prstGeom prst="rect">
            <a:avLst/>
          </a:prstGeom>
        </p:spPr>
      </p:pic>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Section title</a:t>
            </a:r>
          </a:p>
        </p:txBody>
      </p:sp>
      <p:pic>
        <p:nvPicPr>
          <p:cNvPr id="6" name="Picture 5">
            <a:extLst>
              <a:ext uri="{FF2B5EF4-FFF2-40B4-BE49-F238E27FC236}">
                <a16:creationId xmlns:a16="http://schemas.microsoft.com/office/drawing/2014/main" id="{52511A24-B0D0-EA80-E49A-CDCA025B390D}"/>
              </a:ext>
            </a:extLst>
          </p:cNvPr>
          <p:cNvPicPr>
            <a:picLocks noChangeAspect="1"/>
          </p:cNvPicPr>
          <p:nvPr userDrawn="1"/>
        </p:nvPicPr>
        <p:blipFill>
          <a:blip r:embed="rId3"/>
          <a:stretch>
            <a:fillRect/>
          </a:stretch>
        </p:blipFill>
        <p:spPr>
          <a:xfrm>
            <a:off x="585216" y="178230"/>
            <a:ext cx="1366950" cy="813661"/>
          </a:xfrm>
          <a:prstGeom prst="rect">
            <a:avLst/>
          </a:prstGeom>
        </p:spPr>
      </p:pic>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slideLayout" Target="../slideLayouts/slideLayout57.xml"/><Relationship Id="rId15" Type="http://schemas.openxmlformats.org/officeDocument/2006/relationships/slideLayout" Target="../slideLayouts/slideLayout58.xml"/><Relationship Id="rId16" Type="http://schemas.openxmlformats.org/officeDocument/2006/relationships/slideLayout" Target="../slideLayouts/slideLayout59.xml"/><Relationship Id="rId17" Type="http://schemas.openxmlformats.org/officeDocument/2006/relationships/slideLayout" Target="../slideLayouts/slideLayout60.xml"/><Relationship Id="rId18" Type="http://schemas.openxmlformats.org/officeDocument/2006/relationships/slideLayout" Target="../slideLayouts/slideLayout61.xml"/><Relationship Id="rId19" Type="http://schemas.openxmlformats.org/officeDocument/2006/relationships/slideLayout" Target="../slideLayouts/slideLayout62.xml"/><Relationship Id="rId20" Type="http://schemas.openxmlformats.org/officeDocument/2006/relationships/slideLayout" Target="../slideLayouts/slideLayout63.xml"/><Relationship Id="rId21" Type="http://schemas.openxmlformats.org/officeDocument/2006/relationships/slideLayout" Target="../slideLayouts/slideLayout64.xml"/><Relationship Id="rId22" Type="http://schemas.openxmlformats.org/officeDocument/2006/relationships/slideLayout" Target="../slideLayouts/slideLayout65.xml"/><Relationship Id="rId23" Type="http://schemas.openxmlformats.org/officeDocument/2006/relationships/slideLayout" Target="../slideLayouts/slideLayout66.xml"/><Relationship Id="rId24" Type="http://schemas.openxmlformats.org/officeDocument/2006/relationships/slideLayout" Target="../slideLayouts/slideLayout67.xml"/><Relationship Id="rId25" Type="http://schemas.openxmlformats.org/officeDocument/2006/relationships/slideLayout" Target="../slideLayouts/slideLayout68.xml"/><Relationship Id="rId26" Type="http://schemas.openxmlformats.org/officeDocument/2006/relationships/slideLayout" Target="../slideLayouts/slideLayout69.xml"/><Relationship Id="rId27" Type="http://schemas.openxmlformats.org/officeDocument/2006/relationships/slideLayout" Target="../slideLayouts/slideLayout70.xml"/><Relationship Id="rId28" Type="http://schemas.openxmlformats.org/officeDocument/2006/relationships/slideLayout" Target="../slideLayouts/slideLayout71.xml"/><Relationship Id="rId29" Type="http://schemas.openxmlformats.org/officeDocument/2006/relationships/slideLayout" Target="../slideLayouts/slideLayout72.xml"/><Relationship Id="rId30" Type="http://schemas.openxmlformats.org/officeDocument/2006/relationships/slideLayout" Target="../slideLayouts/slideLayout73.xml"/><Relationship Id="rId31" Type="http://schemas.openxmlformats.org/officeDocument/2006/relationships/slideLayout" Target="../slideLayouts/slideLayout74.xml"/><Relationship Id="rId32" Type="http://schemas.openxmlformats.org/officeDocument/2006/relationships/slideLayout" Target="../slideLayouts/slideLayout75.xml"/><Relationship Id="rId33" Type="http://schemas.openxmlformats.org/officeDocument/2006/relationships/slideLayout" Target="../slideLayouts/slideLayout76.xml"/><Relationship Id="rId34" Type="http://schemas.openxmlformats.org/officeDocument/2006/relationships/slideLayout" Target="../slideLayouts/slideLayout77.xml"/><Relationship Id="rId35" Type="http://schemas.openxmlformats.org/officeDocument/2006/relationships/slideLayout" Target="../slideLayouts/slideLayout78.xml"/><Relationship Id="rId36" Type="http://schemas.openxmlformats.org/officeDocument/2006/relationships/slideLayout" Target="../slideLayouts/slideLayout79.xml"/><Relationship Id="rId37" Type="http://schemas.openxmlformats.org/officeDocument/2006/relationships/slideLayout" Target="../slideLayouts/slideLayout80.xml"/><Relationship Id="rId38" Type="http://schemas.openxmlformats.org/officeDocument/2006/relationships/slideLayout" Target="../slideLayouts/slideLayout81.xml"/><Relationship Id="rId39" Type="http://schemas.openxmlformats.org/officeDocument/2006/relationships/slideLayout" Target="../slideLayouts/slideLayout82.xml"/><Relationship Id="rId40" Type="http://schemas.openxmlformats.org/officeDocument/2006/relationships/slideLayout" Target="../slideLayouts/slideLayout83.xml"/><Relationship Id="rId41" Type="http://schemas.openxmlformats.org/officeDocument/2006/relationships/slideLayout" Target="../slideLayouts/slideLayout84.xml"/><Relationship Id="rId42" Type="http://schemas.openxmlformats.org/officeDocument/2006/relationships/slideLayout" Target="../slideLayouts/slideLayout85.xml"/><Relationship Id="rId43" Type="http://schemas.openxmlformats.org/officeDocument/2006/relationships/slideLayout" Target="../slideLayouts/slideLayout86.xml"/><Relationship Id="rId44" Type="http://schemas.openxmlformats.org/officeDocument/2006/relationships/slideLayout" Target="../slideLayouts/slideLayout87.xml"/><Relationship Id="rId45" Type="http://schemas.openxmlformats.org/officeDocument/2006/relationships/slideLayout" Target="../slideLayouts/slideLayout88.xml"/><Relationship Id="rId46" Type="http://schemas.openxmlformats.org/officeDocument/2006/relationships/slideLayout" Target="../slideLayouts/slideLayout89.xml"/><Relationship Id="rId47" Type="http://schemas.openxmlformats.org/officeDocument/2006/relationships/slideLayout" Target="../slideLayouts/slideLayout90.xml"/><Relationship Id="rId48" Type="http://schemas.openxmlformats.org/officeDocument/2006/relationships/slideLayout" Target="../slideLayouts/slideLayout91.xml"/><Relationship Id="rId49" Type="http://schemas.openxmlformats.org/officeDocument/2006/relationships/theme" Target="../theme/theme2.xml"/><Relationship Id="rId5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607" r:id="rId1"/>
    <p:sldLayoutId id="2147485450" r:id="rId2"/>
    <p:sldLayoutId id="2147485451" r:id="rId3"/>
    <p:sldLayoutId id="2147485452" r:id="rId4"/>
    <p:sldLayoutId id="2147485453" r:id="rId5"/>
    <p:sldLayoutId id="2147485455" r:id="rId6"/>
    <p:sldLayoutId id="2147485456" r:id="rId7"/>
    <p:sldLayoutId id="2147485457" r:id="rId8"/>
    <p:sldLayoutId id="2147485458" r:id="rId9"/>
    <p:sldLayoutId id="2147485459" r:id="rId10"/>
    <p:sldLayoutId id="2147485460" r:id="rId11"/>
    <p:sldLayoutId id="2147485461" r:id="rId12"/>
    <p:sldLayoutId id="2147485462" r:id="rId13"/>
    <p:sldLayoutId id="2147485463" r:id="rId14"/>
    <p:sldLayoutId id="2147485464" r:id="rId15"/>
    <p:sldLayoutId id="2147485465" r:id="rId16"/>
    <p:sldLayoutId id="2147485466" r:id="rId17"/>
    <p:sldLayoutId id="2147485470" r:id="rId18"/>
    <p:sldLayoutId id="2147485471" r:id="rId19"/>
    <p:sldLayoutId id="2147485472" r:id="rId20"/>
    <p:sldLayoutId id="2147485473" r:id="rId21"/>
    <p:sldLayoutId id="2147485474" r:id="rId22"/>
    <p:sldLayoutId id="2147485475" r:id="rId23"/>
    <p:sldLayoutId id="2147485476" r:id="rId24"/>
    <p:sldLayoutId id="2147485477" r:id="rId25"/>
    <p:sldLayoutId id="2147485478" r:id="rId26"/>
    <p:sldLayoutId id="2147485479" r:id="rId27"/>
    <p:sldLayoutId id="2147485480" r:id="rId28"/>
    <p:sldLayoutId id="2147485481" r:id="rId29"/>
    <p:sldLayoutId id="2147485484" r:id="rId30"/>
    <p:sldLayoutId id="2147485485" r:id="rId31"/>
    <p:sldLayoutId id="2147485486" r:id="rId32"/>
    <p:sldLayoutId id="2147485487" r:id="rId33"/>
    <p:sldLayoutId id="2147485488" r:id="rId34"/>
    <p:sldLayoutId id="2147485489" r:id="rId35"/>
    <p:sldLayoutId id="2147485490" r:id="rId36"/>
    <p:sldLayoutId id="2147485491" r:id="rId37"/>
    <p:sldLayoutId id="2147485492" r:id="rId38"/>
    <p:sldLayoutId id="2147485493" r:id="rId39"/>
    <p:sldLayoutId id="2147485494" r:id="rId40"/>
    <p:sldLayoutId id="2147485495" r:id="rId41"/>
    <p:sldLayoutId id="2147485496" r:id="rId42"/>
    <p:sldLayoutId id="2147485603" r:id="rId4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9" r:id="rId6"/>
    <p:sldLayoutId id="2147485560" r:id="rId7"/>
    <p:sldLayoutId id="2147485561" r:id="rId8"/>
    <p:sldLayoutId id="2147485562" r:id="rId9"/>
    <p:sldLayoutId id="2147485563" r:id="rId10"/>
    <p:sldLayoutId id="2147485564" r:id="rId11"/>
    <p:sldLayoutId id="2147485565" r:id="rId12"/>
    <p:sldLayoutId id="2147485566" r:id="rId13"/>
    <p:sldLayoutId id="2147485567" r:id="rId14"/>
    <p:sldLayoutId id="2147485568" r:id="rId15"/>
    <p:sldLayoutId id="2147485569" r:id="rId16"/>
    <p:sldLayoutId id="2147485570" r:id="rId17"/>
    <p:sldLayoutId id="2147485571" r:id="rId18"/>
    <p:sldLayoutId id="2147485572" r:id="rId19"/>
    <p:sldLayoutId id="2147485573" r:id="rId20"/>
    <p:sldLayoutId id="2147485574" r:id="rId21"/>
    <p:sldLayoutId id="2147485575" r:id="rId22"/>
    <p:sldLayoutId id="2147485576" r:id="rId23"/>
    <p:sldLayoutId id="2147485577" r:id="rId24"/>
    <p:sldLayoutId id="2147485578" r:id="rId25"/>
    <p:sldLayoutId id="2147485579" r:id="rId26"/>
    <p:sldLayoutId id="2147485580" r:id="rId27"/>
    <p:sldLayoutId id="2147485581" r:id="rId28"/>
    <p:sldLayoutId id="2147485582" r:id="rId29"/>
    <p:sldLayoutId id="2147485583" r:id="rId30"/>
    <p:sldLayoutId id="2147485584" r:id="rId31"/>
    <p:sldLayoutId id="2147485585" r:id="rId32"/>
    <p:sldLayoutId id="2147485586" r:id="rId33"/>
    <p:sldLayoutId id="2147485587" r:id="rId34"/>
    <p:sldLayoutId id="2147485588" r:id="rId35"/>
    <p:sldLayoutId id="2147485589" r:id="rId36"/>
    <p:sldLayoutId id="2147485590" r:id="rId37"/>
    <p:sldLayoutId id="2147485591" r:id="rId38"/>
    <p:sldLayoutId id="2147485592" r:id="rId39"/>
    <p:sldLayoutId id="2147485593" r:id="rId40"/>
    <p:sldLayoutId id="2147485594" r:id="rId41"/>
    <p:sldLayoutId id="2147485595" r:id="rId42"/>
    <p:sldLayoutId id="2147485596" r:id="rId43"/>
    <p:sldLayoutId id="2147485597" r:id="rId44"/>
    <p:sldLayoutId id="2147485598" r:id="rId45"/>
    <p:sldLayoutId id="2147485599" r:id="rId46"/>
    <p:sldLayoutId id="2147485600" r:id="rId47"/>
    <p:sldLayoutId id="2147485602" r:id="rId4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3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 Id="rId3" Type="http://schemas.openxmlformats.org/officeDocument/2006/relationships/image" Target="../media/image3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xml"/><Relationship Id="rId3" Type="http://schemas.openxmlformats.org/officeDocument/2006/relationships/image" Target="../media/image4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5.jpg"/><Relationship Id="rId4" Type="http://schemas.openxmlformats.org/officeDocument/2006/relationships/image" Target="../media/image4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7.jpg"/><Relationship Id="rId4" Type="http://schemas.openxmlformats.org/officeDocument/2006/relationships/image" Target="../media/image4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50.jpg"/><Relationship Id="rId4" Type="http://schemas.openxmlformats.org/officeDocument/2006/relationships/image" Target="../media/image5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5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59.jpg"/><Relationship Id="rId4" Type="http://schemas.openxmlformats.org/officeDocument/2006/relationships/image" Target="../media/image60.jpg"/><Relationship Id="rId5" Type="http://schemas.openxmlformats.org/officeDocument/2006/relationships/image" Target="../media/image61.jpg"/><Relationship Id="rId6" Type="http://schemas.openxmlformats.org/officeDocument/2006/relationships/image" Target="../media/image6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6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6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6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5.xml"/><Relationship Id="rId3" Type="http://schemas.openxmlformats.org/officeDocument/2006/relationships/image" Target="../media/image3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hyperlink" Target="https://learn.microsoft.com/en-us/azure/foundry-local/what-is-foundry-loca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hyperlink" Target="https://huggingface.co/Qwen/Qwen3.8-27B" TargetMode="External"/><Relationship Id="rId4" Type="http://schemas.openxmlformats.org/officeDocument/2006/relationships/hyperlink" Target="https://www.apple.com/newsroom/2026/08/apple-introduces-new-mac-studio-with-m5-max-and-m5-ultra/" TargetMode="External"/><Relationship Id="rId5" Type="http://schemas.openxmlformats.org/officeDocument/2006/relationships/hyperlink" Target="https://www.tomshardware.com/pc-components/dram/amds-gorgon-halo-pushes-on-device-ai-memory-to-192gb-as-dram-prices-hit-15-year-high" TargetMode="External"/><Relationship Id="rId6" Type="http://schemas.openxmlformats.org/officeDocument/2006/relationships/hyperlink" Target="https://ai.google.dev/gemma/docs/core/model_card_4" TargetMode="External"/><Relationship Id="rId7" Type="http://schemas.openxmlformats.org/officeDocument/2006/relationships/hyperlink" Target="https://huggingface.co/Tongyi-MAI/Z-Image-Turbo" TargetMode="External"/><Relationship Id="rId8" Type="http://schemas.openxmlformats.org/officeDocument/2006/relationships/hyperlink" Target="https://arxiv.org/abs/2302.05543" TargetMode="External"/><Relationship Id="rId9" Type="http://schemas.openxmlformats.org/officeDocument/2006/relationships/hyperlink" Target="https://arxiv.org/abs/2308.06721" TargetMode="External"/><Relationship Id="rId10" Type="http://schemas.openxmlformats.org/officeDocument/2006/relationships/hyperlink" Target="https://github.com/QwenLM/Qwen3-TTS" TargetMode="External"/><Relationship Id="rId11" Type="http://schemas.openxmlformats.org/officeDocument/2006/relationships/hyperlink" Target="https://huggingface.co/nvidia/parakeet-tdt-0.6b-v3"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hyperlink" Target="https://learn.microsoft.com/en-us/azure/ai-foundry/foundry-models/concepts/models-sold-directly-by-azure" TargetMode="External"/><Relationship Id="rId4" Type="http://schemas.openxmlformats.org/officeDocument/2006/relationships/hyperlink" Target="https://huggingface.co/docs/inference-providers/en/index" TargetMode="External"/><Relationship Id="rId5" Type="http://schemas.openxmlformats.org/officeDocument/2006/relationships/hyperlink" Target="https://openrouter.ai/rankings" TargetMode="External"/><Relationship Id="rId6" Type="http://schemas.openxmlformats.org/officeDocument/2006/relationships/hyperlink" Target="https://artificialintelligenceact.eu/enforcement-of-chapter-v-under-the-eu-ai-act/" TargetMode="External"/><Relationship Id="rId7" Type="http://schemas.openxmlformats.org/officeDocument/2006/relationships/hyperlink" Target="https://github.com/deepbeepmeep/Wan2GP" TargetMode="External"/><Relationship Id="rId8" Type="http://schemas.openxmlformats.org/officeDocument/2006/relationships/hyperlink" Target="https://github.com/ace-step/ACE-Step-1.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Building Stuff</a:t>
            </a:r>
            <a:br/>
            <a:r>
              <a:rPr sz="3600" b="1">
                <a:solidFill>
                  <a:srgbClr val="FFFFFF"/>
                </a:solidFill>
              </a:rPr>
              <a:t>with GenAI</a:t>
            </a:r>
          </a:p>
        </p:txBody>
      </p:sp>
      <p:sp>
        <p:nvSpPr>
          <p:cNvPr id="3" name="Text Placeholder 2"/>
          <p:cNvSpPr>
            <a:spLocks noGrp="1"/>
          </p:cNvSpPr>
          <p:nvPr>
            <p:ph type="body" idx="12" sz="quarter"/>
          </p:nvPr>
        </p:nvSpPr>
        <p:spPr/>
        <p:txBody>
          <a:bodyPr/>
          <a:lstStyle/>
          <a:p>
            <a:r>
              <a:rPr sz="1800">
                <a:solidFill>
                  <a:srgbClr val="C8D0E8"/>
                </a:solidFill>
              </a:rPr>
              <a:t>Segment 4 — Local AI, media &amp; beyond the West</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500" b="0" i="0">
                <a:solidFill>
                  <a:srgbClr val="FFFFFF"/>
                </a:solidFill>
              </a:rPr>
              <a:t>Slot machine → instrument</a:t>
            </a:r>
          </a:p>
          <a:p>
            <a:pPr algn="l">
              <a:spcAft>
                <a:spcPts val="600"/>
              </a:spcAft>
            </a:pPr>
            <a:r>
              <a:rPr sz="1200" b="0" i="0">
                <a:solidFill>
                  <a:srgbClr val="9AA6C2"/>
                </a:solidFill>
              </a:rPr>
              <a:t>daenet — an ACP Digital company · 2026</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Where we are in the day: Segment 4 of 4</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78308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Keys</a:t>
            </a:r>
          </a:p>
          <a:p>
            <a:pPr algn="ctr"/>
            <a:r>
              <a:rPr sz="1000" b="1" i="0">
                <a:solidFill>
                  <a:srgbClr val="6B6B6B"/>
                </a:solidFill>
              </a:rPr>
              <a:t>+ setup</a:t>
            </a:r>
          </a:p>
          <a:p>
            <a:pPr algn="ctr"/>
            <a:r>
              <a:rPr sz="1000" b="1" i="0">
                <a:solidFill>
                  <a:srgbClr val="6B6B6B"/>
                </a:solidFill>
              </a:rPr>
              <a:t>clinic</a:t>
            </a:r>
          </a:p>
        </p:txBody>
      </p:sp>
      <p:sp>
        <p:nvSpPr>
          <p:cNvPr id="5" name="Rounded Rectangle 4"/>
          <p:cNvSpPr/>
          <p:nvPr/>
        </p:nvSpPr>
        <p:spPr>
          <a:xfrm>
            <a:off x="1481328" y="1783080"/>
            <a:ext cx="1595627"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6B6B6B"/>
                </a:solidFill>
              </a:rPr>
              <a:t>SEGMENT 1</a:t>
            </a:r>
          </a:p>
          <a:p>
            <a:pPr algn="ctr"/>
            <a:r>
              <a:rPr sz="1200" b="1" i="0">
                <a:solidFill>
                  <a:srgbClr val="6B6B6B"/>
                </a:solidFill>
              </a:rPr>
              <a:t>Foundations</a:t>
            </a:r>
          </a:p>
        </p:txBody>
      </p:sp>
      <p:sp>
        <p:nvSpPr>
          <p:cNvPr id="6" name="Rounded Rectangle 5"/>
          <p:cNvSpPr/>
          <p:nvPr/>
        </p:nvSpPr>
        <p:spPr>
          <a:xfrm>
            <a:off x="1481328" y="2852928"/>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talk</a:t>
            </a:r>
          </a:p>
        </p:txBody>
      </p:sp>
      <p:sp>
        <p:nvSpPr>
          <p:cNvPr id="7" name="Rounded Rectangle 6"/>
          <p:cNvSpPr/>
          <p:nvPr/>
        </p:nvSpPr>
        <p:spPr>
          <a:xfrm>
            <a:off x="1481328" y="3282696"/>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live demos</a:t>
            </a:r>
          </a:p>
        </p:txBody>
      </p:sp>
      <p:sp>
        <p:nvSpPr>
          <p:cNvPr id="8" name="Rounded Rectangle 7"/>
          <p:cNvSpPr/>
          <p:nvPr/>
        </p:nvSpPr>
        <p:spPr>
          <a:xfrm>
            <a:off x="1481328" y="3712463"/>
            <a:ext cx="1595627" cy="356615"/>
          </a:xfrm>
          <a:prstGeom prst="roundRect">
            <a:avLst>
              <a:gd name="adj" fmla="val 12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Lab 1 · hands-on</a:t>
            </a:r>
          </a:p>
        </p:txBody>
      </p:sp>
      <p:sp>
        <p:nvSpPr>
          <p:cNvPr id="9" name="Rounded Rectangle 8"/>
          <p:cNvSpPr/>
          <p:nvPr/>
        </p:nvSpPr>
        <p:spPr>
          <a:xfrm>
            <a:off x="3150108" y="178308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10" name="Rounded Rectangle 9"/>
          <p:cNvSpPr/>
          <p:nvPr/>
        </p:nvSpPr>
        <p:spPr>
          <a:xfrm>
            <a:off x="3534156" y="1783080"/>
            <a:ext cx="1595627"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6B6B6B"/>
                </a:solidFill>
              </a:rPr>
              <a:t>SEGMENT 2</a:t>
            </a:r>
          </a:p>
          <a:p>
            <a:pPr algn="ctr"/>
            <a:r>
              <a:rPr sz="1200" b="1" i="0">
                <a:solidFill>
                  <a:srgbClr val="6B6B6B"/>
                </a:solidFill>
              </a:rPr>
              <a:t>Integrating AI</a:t>
            </a:r>
          </a:p>
        </p:txBody>
      </p:sp>
      <p:sp>
        <p:nvSpPr>
          <p:cNvPr id="11" name="Rounded Rectangle 10"/>
          <p:cNvSpPr/>
          <p:nvPr/>
        </p:nvSpPr>
        <p:spPr>
          <a:xfrm>
            <a:off x="3534156" y="2852928"/>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talk</a:t>
            </a:r>
          </a:p>
        </p:txBody>
      </p:sp>
      <p:sp>
        <p:nvSpPr>
          <p:cNvPr id="12" name="Rounded Rectangle 11"/>
          <p:cNvSpPr/>
          <p:nvPr/>
        </p:nvSpPr>
        <p:spPr>
          <a:xfrm>
            <a:off x="3534156" y="3282696"/>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live demos</a:t>
            </a:r>
          </a:p>
        </p:txBody>
      </p:sp>
      <p:sp>
        <p:nvSpPr>
          <p:cNvPr id="13" name="Rounded Rectangle 12"/>
          <p:cNvSpPr/>
          <p:nvPr/>
        </p:nvSpPr>
        <p:spPr>
          <a:xfrm>
            <a:off x="3534156" y="3712463"/>
            <a:ext cx="1595627" cy="356615"/>
          </a:xfrm>
          <a:prstGeom prst="roundRect">
            <a:avLst>
              <a:gd name="adj" fmla="val 12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Lab 2 · hands-on</a:t>
            </a:r>
          </a:p>
        </p:txBody>
      </p:sp>
      <p:sp>
        <p:nvSpPr>
          <p:cNvPr id="14" name="Rounded Rectangle 13"/>
          <p:cNvSpPr/>
          <p:nvPr/>
        </p:nvSpPr>
        <p:spPr>
          <a:xfrm>
            <a:off x="5202936" y="1783080"/>
            <a:ext cx="420624"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lunch</a:t>
            </a:r>
          </a:p>
        </p:txBody>
      </p:sp>
      <p:sp>
        <p:nvSpPr>
          <p:cNvPr id="15" name="Rounded Rectangle 14"/>
          <p:cNvSpPr/>
          <p:nvPr/>
        </p:nvSpPr>
        <p:spPr>
          <a:xfrm>
            <a:off x="5696712" y="1783080"/>
            <a:ext cx="1595627"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6B6B6B"/>
                </a:solidFill>
              </a:rPr>
              <a:t>SEGMENT 3</a:t>
            </a:r>
          </a:p>
          <a:p>
            <a:pPr algn="ctr"/>
            <a:r>
              <a:rPr sz="1200" b="1" i="0">
                <a:solidFill>
                  <a:srgbClr val="6B6B6B"/>
                </a:solidFill>
              </a:rPr>
              <a:t>The world of agents</a:t>
            </a:r>
          </a:p>
        </p:txBody>
      </p:sp>
      <p:sp>
        <p:nvSpPr>
          <p:cNvPr id="16" name="Rounded Rectangle 15"/>
          <p:cNvSpPr/>
          <p:nvPr/>
        </p:nvSpPr>
        <p:spPr>
          <a:xfrm>
            <a:off x="5696712" y="2852928"/>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talk</a:t>
            </a:r>
          </a:p>
        </p:txBody>
      </p:sp>
      <p:sp>
        <p:nvSpPr>
          <p:cNvPr id="17" name="Rounded Rectangle 16"/>
          <p:cNvSpPr/>
          <p:nvPr/>
        </p:nvSpPr>
        <p:spPr>
          <a:xfrm>
            <a:off x="5696712" y="3282696"/>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live demos</a:t>
            </a:r>
          </a:p>
        </p:txBody>
      </p:sp>
      <p:sp>
        <p:nvSpPr>
          <p:cNvPr id="18" name="Rounded Rectangle 17"/>
          <p:cNvSpPr/>
          <p:nvPr/>
        </p:nvSpPr>
        <p:spPr>
          <a:xfrm>
            <a:off x="5696712" y="3712463"/>
            <a:ext cx="1595627" cy="356615"/>
          </a:xfrm>
          <a:prstGeom prst="roundRect">
            <a:avLst>
              <a:gd name="adj" fmla="val 12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Lab 3 · hands-on</a:t>
            </a:r>
          </a:p>
        </p:txBody>
      </p:sp>
      <p:sp>
        <p:nvSpPr>
          <p:cNvPr id="19" name="Rounded Rectangle 18"/>
          <p:cNvSpPr/>
          <p:nvPr/>
        </p:nvSpPr>
        <p:spPr>
          <a:xfrm>
            <a:off x="7365492" y="178308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20" name="Rounded Rectangle 19"/>
          <p:cNvSpPr/>
          <p:nvPr/>
        </p:nvSpPr>
        <p:spPr>
          <a:xfrm>
            <a:off x="7749540" y="1783080"/>
            <a:ext cx="1595627" cy="960120"/>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4</a:t>
            </a:r>
          </a:p>
          <a:p>
            <a:pPr algn="ctr"/>
            <a:r>
              <a:rPr sz="1200" b="1" i="0">
                <a:solidFill>
                  <a:srgbClr val="FFFFFF"/>
                </a:solidFill>
              </a:rPr>
              <a:t>Local AI, media &amp; beyond the West</a:t>
            </a:r>
          </a:p>
        </p:txBody>
      </p:sp>
      <p:sp>
        <p:nvSpPr>
          <p:cNvPr id="21" name="Rounded Rectangle 20"/>
          <p:cNvSpPr/>
          <p:nvPr/>
        </p:nvSpPr>
        <p:spPr>
          <a:xfrm>
            <a:off x="7749540" y="285292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22" name="Rounded Rectangle 21"/>
          <p:cNvSpPr/>
          <p:nvPr/>
        </p:nvSpPr>
        <p:spPr>
          <a:xfrm>
            <a:off x="7749540" y="328269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23" name="Rounded Rectangle 22"/>
          <p:cNvSpPr/>
          <p:nvPr/>
        </p:nvSpPr>
        <p:spPr>
          <a:xfrm>
            <a:off x="7749540" y="3712463"/>
            <a:ext cx="1595627" cy="356615"/>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4 · hands-on</a:t>
            </a:r>
          </a:p>
        </p:txBody>
      </p:sp>
      <p:sp>
        <p:nvSpPr>
          <p:cNvPr id="24" name="Rounded Rectangle 23"/>
          <p:cNvSpPr/>
          <p:nvPr/>
        </p:nvSpPr>
        <p:spPr>
          <a:xfrm>
            <a:off x="7952994" y="1444752"/>
            <a:ext cx="1188720" cy="246888"/>
          </a:xfrm>
          <a:prstGeom prst="roundRect">
            <a:avLst>
              <a:gd name="adj" fmla="val 5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YOU ARE HERE</a:t>
            </a:r>
          </a:p>
        </p:txBody>
      </p:sp>
      <p:sp>
        <p:nvSpPr>
          <p:cNvPr id="25" name="Rounded Rectangle 24"/>
          <p:cNvSpPr/>
          <p:nvPr/>
        </p:nvSpPr>
        <p:spPr>
          <a:xfrm>
            <a:off x="9418319" y="178308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Close</a:t>
            </a:r>
          </a:p>
          <a:p>
            <a:pPr algn="ctr"/>
            <a:r>
              <a:rPr sz="1000" b="1" i="0">
                <a:solidFill>
                  <a:srgbClr val="6B6B6B"/>
                </a:solidFill>
              </a:rPr>
              <a:t>+ recap</a:t>
            </a:r>
          </a:p>
        </p:txBody>
      </p:sp>
      <p:sp>
        <p:nvSpPr>
          <p:cNvPr id="26" name="Rounded Rectangle 25"/>
          <p:cNvSpPr/>
          <p:nvPr/>
        </p:nvSpPr>
        <p:spPr>
          <a:xfrm>
            <a:off x="585216" y="4462272"/>
            <a:ext cx="484632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86384" y="4626864"/>
            <a:ext cx="4443983" cy="411480"/>
          </a:xfrm>
          <a:prstGeom prst="rect">
            <a:avLst/>
          </a:prstGeom>
          <a:noFill/>
        </p:spPr>
        <p:txBody>
          <a:bodyPr wrap="square" lIns="0" rIns="0" tIns="0" bIns="0" anchor="t">
            <a:spAutoFit/>
          </a:bodyPr>
          <a:lstStyle/>
          <a:p>
            <a:pPr algn="l">
              <a:spcAft>
                <a:spcPts val="0"/>
              </a:spcAft>
            </a:pPr>
            <a:r>
              <a:rPr sz="1200" b="1" i="0">
                <a:solidFill>
                  <a:srgbClr val="E86A10"/>
                </a:solidFill>
              </a:rPr>
              <a:t>TODAY’S LAB · CORE + STRETCH</a:t>
            </a:r>
          </a:p>
        </p:txBody>
      </p:sp>
      <p:sp>
        <p:nvSpPr>
          <p:cNvPr id="28" name="TextBox 27"/>
          <p:cNvSpPr txBox="1"/>
          <p:nvPr/>
        </p:nvSpPr>
        <p:spPr>
          <a:xfrm>
            <a:off x="786384" y="5084064"/>
            <a:ext cx="4443983" cy="457200"/>
          </a:xfrm>
          <a:prstGeom prst="rect">
            <a:avLst/>
          </a:prstGeom>
          <a:noFill/>
        </p:spPr>
        <p:txBody>
          <a:bodyPr wrap="square" lIns="0" rIns="0" tIns="0" bIns="0" anchor="t">
            <a:spAutoFit/>
          </a:bodyPr>
          <a:lstStyle/>
          <a:p>
            <a:pPr algn="l">
              <a:spcAft>
                <a:spcPts val="300"/>
              </a:spcAft>
            </a:pPr>
            <a:r>
              <a:rPr sz="1500" b="1" i="0">
                <a:solidFill>
                  <a:srgbClr val="2A446F"/>
                </a:solidFill>
              </a:rPr>
              <a:t>Lab 4 — Local &amp; multimodal, the craft lab</a:t>
            </a:r>
          </a:p>
          <a:p>
            <a:pPr algn="l">
              <a:spcAft>
                <a:spcPts val="600"/>
              </a:spcAft>
            </a:pPr>
            <a:r>
              <a:rPr sz="1300" b="0" i="0">
                <a:solidFill>
                  <a:srgbClr val="6B6B6B"/>
                </a:solidFill>
              </a:rPr>
              <a:t>labs/04-local-media</a:t>
            </a:r>
          </a:p>
        </p:txBody>
      </p:sp>
      <p:sp>
        <p:nvSpPr>
          <p:cNvPr id="29" name="Rounded Rectangle 28"/>
          <p:cNvSpPr/>
          <p:nvPr/>
        </p:nvSpPr>
        <p:spPr>
          <a:xfrm>
            <a:off x="5669280" y="4544568"/>
            <a:ext cx="1143000" cy="38404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CORE</a:t>
            </a:r>
          </a:p>
        </p:txBody>
      </p:sp>
      <p:sp>
        <p:nvSpPr>
          <p:cNvPr id="30" name="Rounded Rectangle 29"/>
          <p:cNvSpPr/>
          <p:nvPr/>
        </p:nvSpPr>
        <p:spPr>
          <a:xfrm>
            <a:off x="5669280" y="4992624"/>
            <a:ext cx="1143000" cy="34747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STRETCH</a:t>
            </a:r>
          </a:p>
        </p:txBody>
      </p:sp>
      <p:sp>
        <p:nvSpPr>
          <p:cNvPr id="31" name="TextBox 30"/>
          <p:cNvSpPr txBox="1"/>
          <p:nvPr/>
        </p:nvSpPr>
        <p:spPr>
          <a:xfrm>
            <a:off x="6949440" y="4617720"/>
            <a:ext cx="3291839" cy="868680"/>
          </a:xfrm>
          <a:prstGeom prst="rect">
            <a:avLst/>
          </a:prstGeom>
          <a:noFill/>
        </p:spPr>
        <p:txBody>
          <a:bodyPr wrap="square" lIns="0" rIns="0" tIns="0" bIns="0" anchor="t">
            <a:spAutoFit/>
          </a:bodyPr>
          <a:lstStyle/>
          <a:p>
            <a:pPr algn="l">
              <a:spcAft>
                <a:spcPts val="300"/>
              </a:spcAft>
            </a:pPr>
            <a:r>
              <a:rPr sz="1500" b="1" i="0">
                <a:solidFill>
                  <a:srgbClr val="2A446F"/>
                </a:solidFill>
              </a:rPr>
              <a:t>Core lab</a:t>
            </a:r>
            <a:r>
              <a:rPr sz="1500" b="0" i="0">
                <a:solidFill>
                  <a:srgbClr val="2A446F"/>
                </a:solidFill>
              </a:rPr>
              <a:t> — the part everyone finishes</a:t>
            </a:r>
          </a:p>
          <a:p>
            <a:pPr algn="l">
              <a:spcAft>
                <a:spcPts val="600"/>
              </a:spcAft>
            </a:pPr>
            <a:r>
              <a:rPr sz="1300" b="0" i="0">
                <a:solidFill>
                  <a:srgbClr val="6B6B6B"/>
                </a:solidFill>
              </a:rPr>
              <a:t>stretch goals keep the fast ones busy</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Reminder: your key, your endpoint, your fallback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71600"/>
            <a:ext cx="5760720" cy="274320"/>
          </a:xfrm>
          <a:prstGeom prst="rect">
            <a:avLst/>
          </a:prstGeom>
          <a:noFill/>
        </p:spPr>
        <p:txBody>
          <a:bodyPr wrap="square" lIns="0" rIns="0" tIns="0" bIns="0" anchor="t">
            <a:spAutoFit/>
          </a:bodyPr>
          <a:lstStyle/>
          <a:p>
            <a:pPr algn="l">
              <a:spcAft>
                <a:spcPts val="0"/>
              </a:spcAft>
            </a:pPr>
            <a:r>
              <a:rPr sz="1000" b="1" i="0">
                <a:solidFill>
                  <a:srgbClr val="6B6B6B"/>
                </a:solidFill>
              </a:rPr>
              <a:t>labs/.env — FROM YOUR HANDOUT CARD</a:t>
            </a:r>
          </a:p>
        </p:txBody>
      </p:sp>
      <p:sp>
        <p:nvSpPr>
          <p:cNvPr id="5" name="Rounded Rectangle 4"/>
          <p:cNvSpPr/>
          <p:nvPr/>
        </p:nvSpPr>
        <p:spPr>
          <a:xfrm>
            <a:off x="585216" y="1645920"/>
            <a:ext cx="5760720" cy="15544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157216"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labs/.env</a:t>
            </a:r>
          </a:p>
        </p:txBody>
      </p:sp>
      <p:sp>
        <p:nvSpPr>
          <p:cNvPr id="7" name="TextBox 6"/>
          <p:cNvSpPr txBox="1"/>
          <p:nvPr/>
        </p:nvSpPr>
        <p:spPr>
          <a:xfrm>
            <a:off x="768096" y="2029968"/>
            <a:ext cx="5394959" cy="1051560"/>
          </a:xfrm>
          <a:prstGeom prst="rect">
            <a:avLst/>
          </a:prstGeom>
          <a:noFill/>
        </p:spPr>
        <p:txBody>
          <a:bodyPr wrap="square" lIns="0" rIns="0" tIns="0" bIns="0">
            <a:spAutoFit/>
          </a:bodyPr>
          <a:lstStyle/>
          <a:p>
            <a:pPr>
              <a:spcAft>
                <a:spcPts val="0"/>
              </a:spcAft>
            </a:pPr>
            <a:r>
              <a:rPr sz="1200">
                <a:solidFill>
                  <a:srgbClr val="E8EEF7"/>
                </a:solidFill>
                <a:latin typeface="Consolas"/>
              </a:rPr>
              <a:t>GENAI_BASE_URL=https://&lt;gateway-from-your-card&gt;/openai/v1</a:t>
            </a:r>
          </a:p>
          <a:p>
            <a:pPr>
              <a:spcAft>
                <a:spcPts val="0"/>
              </a:spcAft>
            </a:pPr>
            <a:r>
              <a:rPr sz="1200">
                <a:solidFill>
                  <a:srgbClr val="E8EEF7"/>
                </a:solidFill>
                <a:latin typeface="Consolas"/>
              </a:rPr>
              <a:t>GENAI_API_KEY=&lt;your-personal-key&gt;</a:t>
            </a:r>
          </a:p>
          <a:p>
            <a:pPr>
              <a:spcAft>
                <a:spcPts val="0"/>
              </a:spcAft>
            </a:pPr>
            <a:r>
              <a:rPr sz="1200">
                <a:solidFill>
                  <a:srgbClr val="E8EEF7"/>
                </a:solidFill>
                <a:latin typeface="Consolas"/>
              </a:rPr>
              <a:t>GENAI_KEY_HEADER=api-key</a:t>
            </a:r>
          </a:p>
          <a:p>
            <a:pPr>
              <a:spcAft>
                <a:spcPts val="0"/>
              </a:spcAft>
            </a:pPr>
            <a:r>
              <a:rPr sz="1200">
                <a:solidFill>
                  <a:srgbClr val="E8EEF7"/>
                </a:solidFill>
                <a:latin typeface="Consolas"/>
              </a:rPr>
              <a:t>GENAI_MODEL=gpt-5-mini</a:t>
            </a:r>
          </a:p>
        </p:txBody>
      </p:sp>
      <p:sp>
        <p:nvSpPr>
          <p:cNvPr id="8" name="Rounded Rectangle 7"/>
          <p:cNvSpPr/>
          <p:nvPr/>
        </p:nvSpPr>
        <p:spPr>
          <a:xfrm>
            <a:off x="6583680" y="1645920"/>
            <a:ext cx="3657599" cy="15544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84848" y="1810512"/>
            <a:ext cx="3255263" cy="411480"/>
          </a:xfrm>
          <a:prstGeom prst="rect">
            <a:avLst/>
          </a:prstGeom>
          <a:noFill/>
        </p:spPr>
        <p:txBody>
          <a:bodyPr wrap="square" lIns="0" rIns="0" tIns="0" bIns="0" anchor="t">
            <a:spAutoFit/>
          </a:bodyPr>
          <a:lstStyle/>
          <a:p>
            <a:pPr algn="l">
              <a:spcAft>
                <a:spcPts val="0"/>
              </a:spcAft>
            </a:pPr>
            <a:r>
              <a:rPr sz="1200" b="1" i="0">
                <a:solidFill>
                  <a:srgbClr val="2A7F5C"/>
                </a:solidFill>
              </a:rPr>
              <a:t>NO NETWORK? SAME CODE</a:t>
            </a:r>
          </a:p>
        </p:txBody>
      </p:sp>
      <p:sp>
        <p:nvSpPr>
          <p:cNvPr id="10" name="TextBox 9"/>
          <p:cNvSpPr txBox="1"/>
          <p:nvPr/>
        </p:nvSpPr>
        <p:spPr>
          <a:xfrm>
            <a:off x="6784848" y="2267712"/>
            <a:ext cx="3255263" cy="777240"/>
          </a:xfrm>
          <a:prstGeom prst="rect">
            <a:avLst/>
          </a:prstGeom>
          <a:noFill/>
        </p:spPr>
        <p:txBody>
          <a:bodyPr wrap="square" lIns="0" rIns="0" tIns="0" bIns="0" anchor="t">
            <a:spAutoFit/>
          </a:bodyPr>
          <a:lstStyle/>
          <a:p>
            <a:pPr algn="l">
              <a:spcAft>
                <a:spcPts val="200"/>
              </a:spcAft>
            </a:pPr>
            <a:r>
              <a:rPr sz="1200" b="0" i="0">
                <a:solidFill>
                  <a:srgbClr val="1F1F1F"/>
                </a:solidFill>
              </a:rPr>
              <a:t>Ollama, model qwen3.5:4b:</a:t>
            </a:r>
          </a:p>
          <a:p>
            <a:pPr algn="l">
              <a:spcAft>
                <a:spcPts val="200"/>
              </a:spcAft>
            </a:pPr>
            <a:r>
              <a:rPr sz="1050" b="0" i="0">
                <a:solidFill>
                  <a:srgbClr val="1F1F1F"/>
                </a:solidFill>
                <a:latin typeface="Consolas"/>
              </a:rPr>
              <a:t>GENAI_BASE_URL=http://localhost:11434/v1</a:t>
            </a:r>
          </a:p>
          <a:p>
            <a:pPr algn="l">
              <a:spcAft>
                <a:spcPts val="600"/>
              </a:spcAft>
            </a:pPr>
            <a:r>
              <a:rPr sz="1200" b="0" i="0">
                <a:solidFill>
                  <a:srgbClr val="1F1F1F"/>
                </a:solidFill>
              </a:rPr>
              <a:t>— or the instructor’s offline mock.</a:t>
            </a:r>
          </a:p>
        </p:txBody>
      </p:sp>
      <p:sp>
        <p:nvSpPr>
          <p:cNvPr id="11" name="Rounded Rectangle 10"/>
          <p:cNvSpPr/>
          <p:nvPr/>
        </p:nvSpPr>
        <p:spPr>
          <a:xfrm>
            <a:off x="585216" y="3474720"/>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3639312"/>
            <a:ext cx="2694431" cy="411480"/>
          </a:xfrm>
          <a:prstGeom prst="rect">
            <a:avLst/>
          </a:prstGeom>
          <a:noFill/>
        </p:spPr>
        <p:txBody>
          <a:bodyPr wrap="square" lIns="0" rIns="0" tIns="0" bIns="0" anchor="t">
            <a:spAutoFit/>
          </a:bodyPr>
          <a:lstStyle/>
          <a:p>
            <a:pPr algn="l">
              <a:spcAft>
                <a:spcPts val="0"/>
              </a:spcAft>
            </a:pPr>
            <a:r>
              <a:rPr sz="1300" b="1" i="0">
                <a:solidFill>
                  <a:srgbClr val="C52B2B"/>
                </a:solidFill>
              </a:rPr>
              <a:t>401 · KEY</a:t>
            </a:r>
          </a:p>
        </p:txBody>
      </p:sp>
      <p:sp>
        <p:nvSpPr>
          <p:cNvPr id="13" name="TextBox 12"/>
          <p:cNvSpPr txBox="1"/>
          <p:nvPr/>
        </p:nvSpPr>
        <p:spPr>
          <a:xfrm>
            <a:off x="786384" y="4096511"/>
            <a:ext cx="2694431" cy="365760"/>
          </a:xfrm>
          <a:prstGeom prst="rect">
            <a:avLst/>
          </a:prstGeom>
          <a:noFill/>
        </p:spPr>
        <p:txBody>
          <a:bodyPr wrap="square" lIns="0" rIns="0" tIns="0" bIns="0" anchor="t">
            <a:spAutoFit/>
          </a:bodyPr>
          <a:lstStyle/>
          <a:p>
            <a:pPr algn="l">
              <a:spcAft>
                <a:spcPts val="0"/>
              </a:spcAft>
            </a:pPr>
            <a:r>
              <a:rPr sz="1200" b="0" i="0">
                <a:solidFill>
                  <a:srgbClr val="1F1F1F"/>
                </a:solidFill>
              </a:rPr>
              <a:t>Key missing or wrong — check labs/.env</a:t>
            </a:r>
          </a:p>
        </p:txBody>
      </p:sp>
      <p:sp>
        <p:nvSpPr>
          <p:cNvPr id="14" name="Rounded Rectangle 13"/>
          <p:cNvSpPr/>
          <p:nvPr/>
        </p:nvSpPr>
        <p:spPr>
          <a:xfrm>
            <a:off x="3864864" y="3474720"/>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6031" y="3639312"/>
            <a:ext cx="2694431" cy="411480"/>
          </a:xfrm>
          <a:prstGeom prst="rect">
            <a:avLst/>
          </a:prstGeom>
          <a:noFill/>
        </p:spPr>
        <p:txBody>
          <a:bodyPr wrap="square" lIns="0" rIns="0" tIns="0" bIns="0" anchor="t">
            <a:spAutoFit/>
          </a:bodyPr>
          <a:lstStyle/>
          <a:p>
            <a:pPr algn="l">
              <a:spcAft>
                <a:spcPts val="0"/>
              </a:spcAft>
            </a:pPr>
            <a:r>
              <a:rPr sz="1300" b="1" i="0">
                <a:solidFill>
                  <a:srgbClr val="E86A10"/>
                </a:solidFill>
              </a:rPr>
              <a:t>403 · QUOTA</a:t>
            </a:r>
          </a:p>
        </p:txBody>
      </p:sp>
      <p:sp>
        <p:nvSpPr>
          <p:cNvPr id="16" name="TextBox 15"/>
          <p:cNvSpPr txBox="1"/>
          <p:nvPr/>
        </p:nvSpPr>
        <p:spPr>
          <a:xfrm>
            <a:off x="4066031" y="4096511"/>
            <a:ext cx="2694431" cy="365760"/>
          </a:xfrm>
          <a:prstGeom prst="rect">
            <a:avLst/>
          </a:prstGeom>
          <a:noFill/>
        </p:spPr>
        <p:txBody>
          <a:bodyPr wrap="square" lIns="0" rIns="0" tIns="0" bIns="0" anchor="t">
            <a:spAutoFit/>
          </a:bodyPr>
          <a:lstStyle/>
          <a:p>
            <a:pPr algn="l">
              <a:spcAft>
                <a:spcPts val="0"/>
              </a:spcAft>
            </a:pPr>
            <a:r>
              <a:rPr sz="1200" b="0" i="0">
                <a:solidFill>
                  <a:srgbClr val="1F1F1F"/>
                </a:solidFill>
              </a:rPr>
              <a:t>Today’s quota is used up — ask us</a:t>
            </a:r>
          </a:p>
        </p:txBody>
      </p:sp>
      <p:sp>
        <p:nvSpPr>
          <p:cNvPr id="17" name="Rounded Rectangle 16"/>
          <p:cNvSpPr/>
          <p:nvPr/>
        </p:nvSpPr>
        <p:spPr>
          <a:xfrm>
            <a:off x="7144511" y="3474720"/>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45680" y="3639312"/>
            <a:ext cx="2694431" cy="411480"/>
          </a:xfrm>
          <a:prstGeom prst="rect">
            <a:avLst/>
          </a:prstGeom>
          <a:noFill/>
        </p:spPr>
        <p:txBody>
          <a:bodyPr wrap="square" lIns="0" rIns="0" tIns="0" bIns="0" anchor="t">
            <a:spAutoFit/>
          </a:bodyPr>
          <a:lstStyle/>
          <a:p>
            <a:pPr algn="l">
              <a:spcAft>
                <a:spcPts val="0"/>
              </a:spcAft>
            </a:pPr>
            <a:r>
              <a:rPr sz="1300" b="1" i="0">
                <a:solidFill>
                  <a:srgbClr val="0078D4"/>
                </a:solidFill>
              </a:rPr>
              <a:t>429 · TOO FAST</a:t>
            </a:r>
          </a:p>
        </p:txBody>
      </p:sp>
      <p:sp>
        <p:nvSpPr>
          <p:cNvPr id="19" name="TextBox 18"/>
          <p:cNvSpPr txBox="1"/>
          <p:nvPr/>
        </p:nvSpPr>
        <p:spPr>
          <a:xfrm>
            <a:off x="7345680" y="4096511"/>
            <a:ext cx="2694431" cy="365760"/>
          </a:xfrm>
          <a:prstGeom prst="rect">
            <a:avLst/>
          </a:prstGeom>
          <a:noFill/>
        </p:spPr>
        <p:txBody>
          <a:bodyPr wrap="square" lIns="0" rIns="0" tIns="0" bIns="0" anchor="t">
            <a:spAutoFit/>
          </a:bodyPr>
          <a:lstStyle/>
          <a:p>
            <a:pPr algn="l">
              <a:spcAft>
                <a:spcPts val="0"/>
              </a:spcAft>
            </a:pPr>
            <a:r>
              <a:rPr sz="1200" b="0" i="0">
                <a:solidFill>
                  <a:srgbClr val="1F1F1F"/>
                </a:solidFill>
              </a:rPr>
              <a:t>Tokens per minute used up — wait, it resets</a:t>
            </a:r>
          </a:p>
        </p:txBody>
      </p:sp>
      <p:sp>
        <p:nvSpPr>
          <p:cNvPr id="20" name="TextBox 19"/>
          <p:cNvSpPr txBox="1"/>
          <p:nvPr/>
        </p:nvSpPr>
        <p:spPr>
          <a:xfrm>
            <a:off x="585216" y="4983480"/>
            <a:ext cx="9656063" cy="457200"/>
          </a:xfrm>
          <a:prstGeom prst="rect">
            <a:avLst/>
          </a:prstGeom>
          <a:noFill/>
        </p:spPr>
        <p:txBody>
          <a:bodyPr wrap="square" lIns="0" rIns="0" tIns="0" bIns="0" anchor="t">
            <a:spAutoFit/>
          </a:bodyPr>
          <a:lstStyle/>
          <a:p>
            <a:pPr algn="l">
              <a:spcAft>
                <a:spcPts val="0"/>
              </a:spcAft>
            </a:pPr>
            <a:r>
              <a:rPr sz="1600" b="1" i="0">
                <a:solidFill>
                  <a:srgbClr val="E86A10"/>
                </a:solidFill>
              </a:rPr>
              <a:t>Everything in labs/04-local-media reads these settings — nothing else to configure.</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labs/.env.example · labs/00-setup/SETUP.md · Gateway policy attendee-policy.xml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b="1">
                <a:solidFill>
                  <a:srgbClr val="FFFFFF"/>
                </a:solidFill>
              </a:rPr>
              <a:t>Local AI, media &amp; beyond the West</a:t>
            </a:r>
          </a:p>
        </p:txBody>
      </p:sp>
      <p:sp>
        <p:nvSpPr>
          <p:cNvPr id="3" name="Text Placeholder 2"/>
          <p:cNvSpPr>
            <a:spLocks noGrp="1"/>
          </p:cNvSpPr>
          <p:nvPr>
            <p:ph type="body" idx="12" sz="quarter"/>
          </p:nvPr>
        </p:nvSpPr>
        <p:spPr/>
        <p:txBody>
          <a:bodyPr/>
          <a:lstStyle/>
          <a:p>
            <a:r>
              <a:rPr sz="1800">
                <a:solidFill>
                  <a:srgbClr val="C8D0E8"/>
                </a:solidFill>
              </a:rPr>
              <a:t>Slot machine → instrument</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4</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local AI, media generation, and AI beyond the Western corporate world</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4</a:t>
            </a:r>
          </a:p>
        </p:txBody>
      </p:sp>
      <p:pic>
        <p:nvPicPr>
          <p:cNvPr id="7" name="Picture 6" descr="div_s4.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spine, last pass: the media pipeline — on your machine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9656063" cy="548640"/>
          </a:xfrm>
          <a:prstGeom prst="rect">
            <a:avLst/>
          </a:prstGeom>
          <a:noFill/>
        </p:spPr>
        <p:txBody>
          <a:bodyPr wrap="square" lIns="0" rIns="0" tIns="0" bIns="0" anchor="t">
            <a:spAutoFit/>
          </a:bodyPr>
          <a:lstStyle/>
          <a:p>
            <a:pPr algn="l">
              <a:spcAft>
                <a:spcPts val="0"/>
              </a:spcAft>
            </a:pPr>
            <a:r>
              <a:rPr sz="1800" b="0" i="0">
                <a:solidFill>
                  <a:srgbClr val="2A446F"/>
                </a:solidFill>
              </a:rPr>
              <a:t>One block left — the media pipeline — and it all runs on your machine.</a:t>
            </a:r>
          </a:p>
        </p:txBody>
      </p:sp>
      <p:sp>
        <p:nvSpPr>
          <p:cNvPr id="5" name="Rounded Rectangle 4"/>
          <p:cNvSpPr/>
          <p:nvPr/>
        </p:nvSpPr>
        <p:spPr>
          <a:xfrm>
            <a:off x="585216"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tokens</a:t>
            </a:r>
          </a:p>
        </p:txBody>
      </p:sp>
      <p:cxnSp>
        <p:nvCxnSpPr>
          <p:cNvPr id="6" name="Connector 5"/>
          <p:cNvCxnSpPr/>
          <p:nvPr/>
        </p:nvCxnSpPr>
        <p:spPr>
          <a:xfrm>
            <a:off x="1668779"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chat API</a:t>
            </a:r>
          </a:p>
        </p:txBody>
      </p:sp>
      <p:cxnSp>
        <p:nvCxnSpPr>
          <p:cNvPr id="8" name="Connector 7"/>
          <p:cNvCxnSpPr/>
          <p:nvPr/>
        </p:nvCxnSpPr>
        <p:spPr>
          <a:xfrm>
            <a:off x="2898648"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structured output</a:t>
            </a:r>
          </a:p>
        </p:txBody>
      </p:sp>
      <p:cxnSp>
        <p:nvCxnSpPr>
          <p:cNvPr id="10" name="Connector 9"/>
          <p:cNvCxnSpPr/>
          <p:nvPr/>
        </p:nvCxnSpPr>
        <p:spPr>
          <a:xfrm>
            <a:off x="4128515" y="256032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tools</a:t>
            </a:r>
          </a:p>
        </p:txBody>
      </p:sp>
      <p:cxnSp>
        <p:nvCxnSpPr>
          <p:cNvPr id="12" name="Connector 11"/>
          <p:cNvCxnSpPr/>
          <p:nvPr/>
        </p:nvCxnSpPr>
        <p:spPr>
          <a:xfrm>
            <a:off x="5358383"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MCP / skills</a:t>
            </a:r>
          </a:p>
        </p:txBody>
      </p:sp>
      <p:cxnSp>
        <p:nvCxnSpPr>
          <p:cNvPr id="14" name="Connector 13"/>
          <p:cNvCxnSpPr/>
          <p:nvPr/>
        </p:nvCxnSpPr>
        <p:spPr>
          <a:xfrm>
            <a:off x="6588251"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agent loop</a:t>
            </a:r>
          </a:p>
        </p:txBody>
      </p:sp>
      <p:cxnSp>
        <p:nvCxnSpPr>
          <p:cNvPr id="16" name="Connector 15"/>
          <p:cNvCxnSpPr/>
          <p:nvPr/>
        </p:nvCxnSpPr>
        <p:spPr>
          <a:xfrm>
            <a:off x="7818119"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workflow</a:t>
            </a:r>
          </a:p>
        </p:txBody>
      </p:sp>
      <p:cxnSp>
        <p:nvCxnSpPr>
          <p:cNvPr id="18" name="Connector 17"/>
          <p:cNvCxnSpPr/>
          <p:nvPr/>
        </p:nvCxnSpPr>
        <p:spPr>
          <a:xfrm>
            <a:off x="9047987"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210312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media pipeline</a:t>
            </a:r>
          </a:p>
        </p:txBody>
      </p:sp>
      <p:sp>
        <p:nvSpPr>
          <p:cNvPr id="20" name="Rounded Rectangle 19"/>
          <p:cNvSpPr/>
          <p:nvPr/>
        </p:nvSpPr>
        <p:spPr>
          <a:xfrm>
            <a:off x="585216" y="3200400"/>
            <a:ext cx="9656063" cy="5029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YOUR MACHINE</a:t>
            </a:r>
            <a:r>
              <a:rPr sz="1300" b="0" i="0">
                <a:solidFill>
                  <a:srgbClr val="2A446F"/>
                </a:solidFill>
              </a:rPr>
              <a:t> — Ollama · LM Studio · Foundry Local serve the text blocks, ComfyUI runs the media pipeline</a:t>
            </a:r>
          </a:p>
        </p:txBody>
      </p:sp>
      <p:sp>
        <p:nvSpPr>
          <p:cNvPr id="21" name="TextBox 20"/>
          <p:cNvSpPr txBox="1"/>
          <p:nvPr/>
        </p:nvSpPr>
        <p:spPr>
          <a:xfrm>
            <a:off x="585216" y="4023360"/>
            <a:ext cx="4572000" cy="274320"/>
          </a:xfrm>
          <a:prstGeom prst="rect">
            <a:avLst/>
          </a:prstGeom>
          <a:noFill/>
        </p:spPr>
        <p:txBody>
          <a:bodyPr wrap="square" lIns="0" rIns="0" tIns="0" bIns="0" anchor="t">
            <a:spAutoFit/>
          </a:bodyPr>
          <a:lstStyle/>
          <a:p>
            <a:pPr algn="l">
              <a:spcAft>
                <a:spcPts val="0"/>
              </a:spcAft>
            </a:pPr>
            <a:r>
              <a:rPr sz="1100" b="1" i="0">
                <a:solidFill>
                  <a:srgbClr val="E86A10"/>
                </a:solidFill>
              </a:rPr>
              <a:t>THIS SEGMENT</a:t>
            </a:r>
          </a:p>
        </p:txBody>
      </p:sp>
      <p:sp>
        <p:nvSpPr>
          <p:cNvPr id="22" name="Rounded Rectangle 21"/>
          <p:cNvSpPr/>
          <p:nvPr/>
        </p:nvSpPr>
        <p:spPr>
          <a:xfrm>
            <a:off x="585216"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why local</a:t>
            </a:r>
          </a:p>
          <a:p>
            <a:pPr algn="ctr"/>
            <a:r>
              <a:rPr sz="1300" b="1" i="0">
                <a:solidFill>
                  <a:srgbClr val="2A446F"/>
                </a:solidFill>
              </a:rPr>
              <a:t>&amp; how</a:t>
            </a:r>
          </a:p>
        </p:txBody>
      </p:sp>
      <p:cxnSp>
        <p:nvCxnSpPr>
          <p:cNvPr id="23" name="Connector 22"/>
          <p:cNvCxnSpPr/>
          <p:nvPr/>
        </p:nvCxnSpPr>
        <p:spPr>
          <a:xfrm>
            <a:off x="2296972"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580436"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how media</a:t>
            </a:r>
          </a:p>
          <a:p>
            <a:pPr algn="ctr"/>
            <a:r>
              <a:rPr sz="1300" b="1" i="0">
                <a:solidFill>
                  <a:srgbClr val="2A446F"/>
                </a:solidFill>
              </a:rPr>
              <a:t>is made</a:t>
            </a:r>
          </a:p>
        </p:txBody>
      </p:sp>
      <p:cxnSp>
        <p:nvCxnSpPr>
          <p:cNvPr id="25" name="Connector 24"/>
          <p:cNvCxnSpPr/>
          <p:nvPr/>
        </p:nvCxnSpPr>
        <p:spPr>
          <a:xfrm>
            <a:off x="4292193"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75657"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taking</a:t>
            </a:r>
          </a:p>
          <a:p>
            <a:pPr algn="ctr"/>
            <a:r>
              <a:rPr sz="1300" b="1" i="0">
                <a:solidFill>
                  <a:srgbClr val="2A446F"/>
                </a:solidFill>
              </a:rPr>
              <a:t>control</a:t>
            </a:r>
          </a:p>
        </p:txBody>
      </p:sp>
      <p:cxnSp>
        <p:nvCxnSpPr>
          <p:cNvPr id="27" name="Connector 26"/>
          <p:cNvCxnSpPr/>
          <p:nvPr/>
        </p:nvCxnSpPr>
        <p:spPr>
          <a:xfrm>
            <a:off x="6287414"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570878"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the zoo beyond</a:t>
            </a:r>
          </a:p>
          <a:p>
            <a:pPr algn="ctr"/>
            <a:r>
              <a:rPr sz="1300" b="1" i="0">
                <a:solidFill>
                  <a:srgbClr val="2A446F"/>
                </a:solidFill>
              </a:rPr>
              <a:t>the big clouds</a:t>
            </a:r>
          </a:p>
        </p:txBody>
      </p:sp>
      <p:cxnSp>
        <p:nvCxnSpPr>
          <p:cNvPr id="29" name="Connector 28"/>
          <p:cNvCxnSpPr/>
          <p:nvPr/>
        </p:nvCxnSpPr>
        <p:spPr>
          <a:xfrm>
            <a:off x="8282635"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66099"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the pipeline</a:t>
            </a:r>
          </a:p>
          <a:p>
            <a:pPr algn="ctr"/>
            <a:r>
              <a:rPr sz="1300" b="1" i="0">
                <a:solidFill>
                  <a:srgbClr val="2A446F"/>
                </a:solidFill>
              </a:rPr>
              <a:t>is the sauce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Slot machine or instrument?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4 · LOCAL AI, MEDIA &amp; BEYOND THE WEST</a:t>
            </a:r>
          </a:p>
        </p:txBody>
      </p:sp>
      <p:sp>
        <p:nvSpPr>
          <p:cNvPr id="4" name="TextBox 3"/>
          <p:cNvSpPr txBox="1"/>
          <p:nvPr/>
        </p:nvSpPr>
        <p:spPr>
          <a:xfrm>
            <a:off x="585216" y="1417320"/>
            <a:ext cx="5120640" cy="1828800"/>
          </a:xfrm>
          <a:prstGeom prst="rect">
            <a:avLst/>
          </a:prstGeom>
          <a:noFill/>
        </p:spPr>
        <p:txBody>
          <a:bodyPr wrap="square" lIns="0" rIns="0" tIns="0" bIns="0" anchor="t">
            <a:spAutoFit/>
          </a:bodyPr>
          <a:lstStyle/>
          <a:p>
            <a:pPr algn="l">
              <a:spcAft>
                <a:spcPts val="0"/>
              </a:spcAft>
            </a:pPr>
            <a:r>
              <a:rPr sz="2200" b="0" i="1">
                <a:solidFill>
                  <a:srgbClr val="FFFFFF"/>
                </a:solidFill>
              </a:rPr>
              <a:t>“Treat a generator like a slot machine and you get slop. Treat it like an instrument — pipeline, knobs, adapters — and you get craft.”</a:t>
            </a:r>
          </a:p>
        </p:txBody>
      </p:sp>
      <p:sp>
        <p:nvSpPr>
          <p:cNvPr id="5" name="TextBox 4"/>
          <p:cNvSpPr txBox="1"/>
          <p:nvPr/>
        </p:nvSpPr>
        <p:spPr>
          <a:xfrm>
            <a:off x="585216" y="3291839"/>
            <a:ext cx="5120640" cy="365760"/>
          </a:xfrm>
          <a:prstGeom prst="rect">
            <a:avLst/>
          </a:prstGeom>
          <a:noFill/>
        </p:spPr>
        <p:txBody>
          <a:bodyPr wrap="square" lIns="0" rIns="0" tIns="0" bIns="0" anchor="t">
            <a:spAutoFit/>
          </a:bodyPr>
          <a:lstStyle/>
          <a:p>
            <a:pPr algn="l">
              <a:spcAft>
                <a:spcPts val="0"/>
              </a:spcAft>
            </a:pPr>
            <a:r>
              <a:rPr sz="1300" b="0" i="0">
                <a:solidFill>
                  <a:srgbClr val="9AA6C2"/>
                </a:solidFill>
              </a:rPr>
              <a:t>— Andreas Erben, “Beyond the Slop” (2026)</a:t>
            </a:r>
          </a:p>
        </p:txBody>
      </p:sp>
      <p:pic>
        <p:nvPicPr>
          <p:cNvPr id="6" name="Picture 5" descr="meme_instrument_ad6ee786f354.jpg"/>
          <p:cNvPicPr>
            <a:picLocks noChangeAspect="1"/>
          </p:cNvPicPr>
          <p:nvPr/>
        </p:nvPicPr>
        <p:blipFill>
          <a:blip r:embed="rId3"/>
          <a:stretch>
            <a:fillRect/>
          </a:stretch>
        </p:blipFill>
        <p:spPr>
          <a:xfrm>
            <a:off x="6035040" y="1417320"/>
            <a:ext cx="4206240" cy="2294312"/>
          </a:xfrm>
          <a:prstGeom prst="roundRect">
            <a:avLst>
              <a:gd name="adj" fmla="val 4000"/>
            </a:avLst>
          </a:prstGeom>
        </p:spPr>
      </p:pic>
      <p:sp>
        <p:nvSpPr>
          <p:cNvPr id="7" name="Rounded Rectangle 6"/>
          <p:cNvSpPr/>
          <p:nvPr/>
        </p:nvSpPr>
        <p:spPr>
          <a:xfrm>
            <a:off x="585216" y="4069080"/>
            <a:ext cx="3096767" cy="11887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4233672"/>
            <a:ext cx="2694431" cy="411480"/>
          </a:xfrm>
          <a:prstGeom prst="rect">
            <a:avLst/>
          </a:prstGeom>
          <a:noFill/>
        </p:spPr>
        <p:txBody>
          <a:bodyPr wrap="square" lIns="0" rIns="0" tIns="0" bIns="0" anchor="t">
            <a:spAutoFit/>
          </a:bodyPr>
          <a:lstStyle/>
          <a:p>
            <a:pPr algn="l">
              <a:spcAft>
                <a:spcPts val="0"/>
              </a:spcAft>
            </a:pPr>
            <a:r>
              <a:rPr sz="1300" b="1" i="0">
                <a:solidFill>
                  <a:srgbClr val="FFB900"/>
                </a:solidFill>
              </a:rPr>
              <a:t>NO SEED</a:t>
            </a:r>
          </a:p>
        </p:txBody>
      </p:sp>
      <p:sp>
        <p:nvSpPr>
          <p:cNvPr id="9" name="TextBox 8"/>
          <p:cNvSpPr txBox="1"/>
          <p:nvPr/>
        </p:nvSpPr>
        <p:spPr>
          <a:xfrm>
            <a:off x="786384" y="4690872"/>
            <a:ext cx="2694431" cy="411480"/>
          </a:xfrm>
          <a:prstGeom prst="rect">
            <a:avLst/>
          </a:prstGeom>
          <a:noFill/>
        </p:spPr>
        <p:txBody>
          <a:bodyPr wrap="square" lIns="0" rIns="0" tIns="0" bIns="0" anchor="t">
            <a:spAutoFit/>
          </a:bodyPr>
          <a:lstStyle/>
          <a:p>
            <a:pPr algn="l">
              <a:spcAft>
                <a:spcPts val="0"/>
              </a:spcAft>
            </a:pPr>
            <a:r>
              <a:rPr sz="1300" b="0" i="0">
                <a:solidFill>
                  <a:srgbClr val="FFFFFF"/>
                </a:solidFill>
              </a:rPr>
              <a:t>nothing is reproducible</a:t>
            </a:r>
          </a:p>
        </p:txBody>
      </p:sp>
      <p:sp>
        <p:nvSpPr>
          <p:cNvPr id="10" name="Rounded Rectangle 9"/>
          <p:cNvSpPr/>
          <p:nvPr/>
        </p:nvSpPr>
        <p:spPr>
          <a:xfrm>
            <a:off x="3864864" y="4069080"/>
            <a:ext cx="3096767" cy="11887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6031" y="4233672"/>
            <a:ext cx="2694431" cy="411480"/>
          </a:xfrm>
          <a:prstGeom prst="rect">
            <a:avLst/>
          </a:prstGeom>
          <a:noFill/>
        </p:spPr>
        <p:txBody>
          <a:bodyPr wrap="square" lIns="0" rIns="0" tIns="0" bIns="0" anchor="t">
            <a:spAutoFit/>
          </a:bodyPr>
          <a:lstStyle/>
          <a:p>
            <a:pPr algn="l">
              <a:spcAft>
                <a:spcPts val="0"/>
              </a:spcAft>
            </a:pPr>
            <a:r>
              <a:rPr sz="1300" b="1" i="0">
                <a:solidFill>
                  <a:srgbClr val="FFB900"/>
                </a:solidFill>
              </a:rPr>
              <a:t>NO CONTROL INPUTS</a:t>
            </a:r>
          </a:p>
        </p:txBody>
      </p:sp>
      <p:sp>
        <p:nvSpPr>
          <p:cNvPr id="12" name="TextBox 11"/>
          <p:cNvSpPr txBox="1"/>
          <p:nvPr/>
        </p:nvSpPr>
        <p:spPr>
          <a:xfrm>
            <a:off x="4066031" y="4690872"/>
            <a:ext cx="2694431" cy="411480"/>
          </a:xfrm>
          <a:prstGeom prst="rect">
            <a:avLst/>
          </a:prstGeom>
          <a:noFill/>
        </p:spPr>
        <p:txBody>
          <a:bodyPr wrap="square" lIns="0" rIns="0" tIns="0" bIns="0" anchor="t">
            <a:spAutoFit/>
          </a:bodyPr>
          <a:lstStyle/>
          <a:p>
            <a:pPr algn="l">
              <a:spcAft>
                <a:spcPts val="0"/>
              </a:spcAft>
            </a:pPr>
            <a:r>
              <a:rPr sz="1300" b="0" i="0">
                <a:solidFill>
                  <a:srgbClr val="FFFFFF"/>
                </a:solidFill>
              </a:rPr>
              <a:t>pose, layout and face are random</a:t>
            </a:r>
          </a:p>
        </p:txBody>
      </p:sp>
      <p:sp>
        <p:nvSpPr>
          <p:cNvPr id="13" name="Rounded Rectangle 12"/>
          <p:cNvSpPr/>
          <p:nvPr/>
        </p:nvSpPr>
        <p:spPr>
          <a:xfrm>
            <a:off x="7144511" y="4069080"/>
            <a:ext cx="3096767" cy="11887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45680" y="4233672"/>
            <a:ext cx="2694431" cy="411480"/>
          </a:xfrm>
          <a:prstGeom prst="rect">
            <a:avLst/>
          </a:prstGeom>
          <a:noFill/>
        </p:spPr>
        <p:txBody>
          <a:bodyPr wrap="square" lIns="0" rIns="0" tIns="0" bIns="0" anchor="t">
            <a:spAutoFit/>
          </a:bodyPr>
          <a:lstStyle/>
          <a:p>
            <a:pPr algn="l">
              <a:spcAft>
                <a:spcPts val="0"/>
              </a:spcAft>
            </a:pPr>
            <a:r>
              <a:rPr sz="1300" b="1" i="0">
                <a:solidFill>
                  <a:srgbClr val="FFB900"/>
                </a:solidFill>
              </a:rPr>
              <a:t>NO PIPELINE</a:t>
            </a:r>
          </a:p>
        </p:txBody>
      </p:sp>
      <p:sp>
        <p:nvSpPr>
          <p:cNvPr id="15" name="TextBox 14"/>
          <p:cNvSpPr txBox="1"/>
          <p:nvPr/>
        </p:nvSpPr>
        <p:spPr>
          <a:xfrm>
            <a:off x="7345680" y="4690872"/>
            <a:ext cx="2694431" cy="411480"/>
          </a:xfrm>
          <a:prstGeom prst="rect">
            <a:avLst/>
          </a:prstGeom>
          <a:noFill/>
        </p:spPr>
        <p:txBody>
          <a:bodyPr wrap="square" lIns="0" rIns="0" tIns="0" bIns="0" anchor="t">
            <a:spAutoFit/>
          </a:bodyPr>
          <a:lstStyle/>
          <a:p>
            <a:pPr algn="l">
              <a:spcAft>
                <a:spcPts val="0"/>
              </a:spcAft>
            </a:pPr>
            <a:r>
              <a:rPr sz="1300" b="0" i="0">
                <a:solidFill>
                  <a:srgbClr val="FFFFFF"/>
                </a:solidFill>
              </a:rPr>
              <a:t>every fix is a new gamble</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Beyond the Slop (Jul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Why local: rug pulls, privacy, cost, control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meme_rugpull_safe_b285114d5d4d.jpg"/>
          <p:cNvPicPr>
            <a:picLocks noChangeAspect="1"/>
          </p:cNvPicPr>
          <p:nvPr/>
        </p:nvPicPr>
        <p:blipFill>
          <a:blip r:embed="rId3"/>
          <a:stretch>
            <a:fillRect/>
          </a:stretch>
        </p:blipFill>
        <p:spPr>
          <a:xfrm>
            <a:off x="585216" y="2148840"/>
            <a:ext cx="4160520" cy="2269374"/>
          </a:xfrm>
          <a:prstGeom prst="roundRect">
            <a:avLst>
              <a:gd name="adj" fmla="val 4000"/>
            </a:avLst>
          </a:prstGeom>
        </p:spPr>
      </p:pic>
      <p:sp>
        <p:nvSpPr>
          <p:cNvPr id="5" name="TextBox 4"/>
          <p:cNvSpPr txBox="1"/>
          <p:nvPr/>
        </p:nvSpPr>
        <p:spPr>
          <a:xfrm>
            <a:off x="585216" y="4463934"/>
            <a:ext cx="41605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Beyond the Slop</a:t>
            </a:r>
          </a:p>
        </p:txBody>
      </p:sp>
      <p:sp>
        <p:nvSpPr>
          <p:cNvPr id="6" name="Rounded Rectangle 5"/>
          <p:cNvSpPr/>
          <p:nvPr/>
        </p:nvSpPr>
        <p:spPr>
          <a:xfrm>
            <a:off x="4956048" y="141732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158191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NO RUG PULLS</a:t>
            </a:r>
          </a:p>
        </p:txBody>
      </p:sp>
      <p:sp>
        <p:nvSpPr>
          <p:cNvPr id="8" name="TextBox 7"/>
          <p:cNvSpPr txBox="1"/>
          <p:nvPr/>
        </p:nvSpPr>
        <p:spPr>
          <a:xfrm>
            <a:off x="5157216" y="203911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Sora: app off since 2026-04-26, API off 2026-09-24. Weights on your disk stay.</a:t>
            </a:r>
          </a:p>
        </p:txBody>
      </p:sp>
      <p:sp>
        <p:nvSpPr>
          <p:cNvPr id="9" name="Rounded Rectangle 8"/>
          <p:cNvSpPr/>
          <p:nvPr/>
        </p:nvSpPr>
        <p:spPr>
          <a:xfrm>
            <a:off x="7680960" y="141732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82128" y="158191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PRIVACY</a:t>
            </a:r>
          </a:p>
        </p:txBody>
      </p:sp>
      <p:sp>
        <p:nvSpPr>
          <p:cNvPr id="11" name="TextBox 10"/>
          <p:cNvSpPr txBox="1"/>
          <p:nvPr/>
        </p:nvSpPr>
        <p:spPr>
          <a:xfrm>
            <a:off x="7882128" y="203911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Client faces, unreleased products, your voice — some data must not leave the building.</a:t>
            </a:r>
          </a:p>
        </p:txBody>
      </p:sp>
      <p:sp>
        <p:nvSpPr>
          <p:cNvPr id="12" name="Rounded Rectangle 11"/>
          <p:cNvSpPr/>
          <p:nvPr/>
        </p:nvSpPr>
        <p:spPr>
          <a:xfrm>
            <a:off x="4956048" y="338328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157216" y="354787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COST</a:t>
            </a:r>
          </a:p>
        </p:txBody>
      </p:sp>
      <p:sp>
        <p:nvSpPr>
          <p:cNvPr id="14" name="TextBox 13"/>
          <p:cNvSpPr txBox="1"/>
          <p:nvPr/>
        </p:nvSpPr>
        <p:spPr>
          <a:xfrm>
            <a:off x="5157216" y="400507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A one-time GPU beats per-call pricing when you iterate hundreds of times.</a:t>
            </a:r>
          </a:p>
        </p:txBody>
      </p:sp>
      <p:sp>
        <p:nvSpPr>
          <p:cNvPr id="15" name="Rounded Rectangle 14"/>
          <p:cNvSpPr/>
          <p:nvPr/>
        </p:nvSpPr>
        <p:spPr>
          <a:xfrm>
            <a:off x="7680960" y="338328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82128" y="354787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CONTROL</a:t>
            </a:r>
          </a:p>
        </p:txBody>
      </p:sp>
      <p:sp>
        <p:nvSpPr>
          <p:cNvPr id="17" name="TextBox 16"/>
          <p:cNvSpPr txBox="1"/>
          <p:nvPr/>
        </p:nvSpPr>
        <p:spPr>
          <a:xfrm>
            <a:off x="7882128" y="400507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Every knob is yours — and the licence: MIT/Apache weights vs custom clauses (Kimi K3, GLM‑5.3).</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Local is the hedge: nobody can switch it off, reprice it or read along.</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§11 (2026-09-21) · Beyond the Slop (Jul 2026) · LLM 101 slide 131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Six local runners, one contract: an OpenAI-compatible base_url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9656064" cy="2560320"/>
        </p:xfrm>
        <a:graphic>
          <a:graphicData uri="http://schemas.openxmlformats.org/drawingml/2006/table">
            <a:tbl>
              <a:tblPr firstRow="1" bandRow="1">
                <a:tableStyleId>{5C22544A-7EE6-4342-B048-85BDC9FD1C3A}</a:tableStyleId>
              </a:tblPr>
              <a:tblGrid>
                <a:gridCol w="2011680"/>
                <a:gridCol w="1783080"/>
                <a:gridCol w="2331720"/>
                <a:gridCol w="3529584"/>
              </a:tblGrid>
              <a:tr h="365760">
                <a:tc>
                  <a:txBody>
                    <a:bodyPr/>
                    <a:lstStyle/>
                    <a:p>
                      <a:r>
                        <a:rPr sz="1100" b="1">
                          <a:solidFill>
                            <a:srgbClr val="FFFFFF"/>
                          </a:solidFill>
                        </a:rPr>
                        <a:t>Runner</a:t>
                      </a:r>
                    </a:p>
                  </a:txBody>
                  <a:tcPr>
                    <a:solidFill>
                      <a:srgbClr val="2A446F"/>
                    </a:solidFill>
                  </a:tcPr>
                </a:tc>
                <a:tc>
                  <a:txBody>
                    <a:bodyPr/>
                    <a:lstStyle/>
                    <a:p>
                      <a:r>
                        <a:rPr sz="1100" b="1">
                          <a:solidFill>
                            <a:srgbClr val="FFFFFF"/>
                          </a:solidFill>
                        </a:rPr>
                        <a:t>Version (Sep 2026)</a:t>
                      </a:r>
                    </a:p>
                  </a:txBody>
                  <a:tcPr>
                    <a:solidFill>
                      <a:srgbClr val="2A446F"/>
                    </a:solidFill>
                  </a:tcPr>
                </a:tc>
                <a:tc>
                  <a:txBody>
                    <a:bodyPr/>
                    <a:lstStyle/>
                    <a:p>
                      <a:r>
                        <a:rPr sz="1100" b="1">
                          <a:solidFill>
                            <a:srgbClr val="FFFFFF"/>
                          </a:solidFill>
                        </a:rPr>
                        <a:t>Runs on</a:t>
                      </a:r>
                    </a:p>
                  </a:txBody>
                  <a:tcPr>
                    <a:solidFill>
                      <a:srgbClr val="2A446F"/>
                    </a:solidFill>
                  </a:tcPr>
                </a:tc>
                <a:tc>
                  <a:txBody>
                    <a:bodyPr/>
                    <a:lstStyle/>
                    <a:p>
                      <a:r>
                        <a:rPr sz="1100" b="1">
                          <a:solidFill>
                            <a:srgbClr val="FFFFFF"/>
                          </a:solidFill>
                        </a:rPr>
                        <a:t>Best for</a:t>
                      </a:r>
                    </a:p>
                  </a:txBody>
                  <a:tcPr>
                    <a:solidFill>
                      <a:srgbClr val="2A446F"/>
                    </a:solidFill>
                  </a:tcPr>
                </a:tc>
              </a:tr>
              <a:tr h="365760">
                <a:tc>
                  <a:txBody>
                    <a:bodyPr/>
                    <a:lstStyle/>
                    <a:p>
                      <a:r>
                        <a:rPr sz="1100" b="0">
                          <a:solidFill>
                            <a:srgbClr val="1F1F1F"/>
                          </a:solidFill>
                        </a:rPr>
                        <a:t>Ollama</a:t>
                      </a:r>
                    </a:p>
                  </a:txBody>
                  <a:tcPr>
                    <a:solidFill>
                      <a:srgbClr val="FFFFFF"/>
                    </a:solidFill>
                  </a:tcPr>
                </a:tc>
                <a:tc>
                  <a:txBody>
                    <a:bodyPr/>
                    <a:lstStyle/>
                    <a:p>
                      <a:r>
                        <a:rPr sz="1100" b="0">
                          <a:solidFill>
                            <a:srgbClr val="1F1F1F"/>
                          </a:solidFill>
                        </a:rPr>
                        <a:t>0.34.3</a:t>
                      </a:r>
                    </a:p>
                  </a:txBody>
                  <a:tcPr>
                    <a:solidFill>
                      <a:srgbClr val="FFFFFF"/>
                    </a:solidFill>
                  </a:tcPr>
                </a:tc>
                <a:tc>
                  <a:txBody>
                    <a:bodyPr/>
                    <a:lstStyle/>
                    <a:p>
                      <a:r>
                        <a:rPr sz="1100" b="0">
                          <a:solidFill>
                            <a:srgbClr val="1F1F1F"/>
                          </a:solidFill>
                        </a:rPr>
                        <a:t>CPU · GPU · Apple MLX</a:t>
                      </a:r>
                    </a:p>
                  </a:txBody>
                  <a:tcPr>
                    <a:solidFill>
                      <a:srgbClr val="FFFFFF"/>
                    </a:solidFill>
                  </a:tcPr>
                </a:tc>
                <a:tc>
                  <a:txBody>
                    <a:bodyPr/>
                    <a:lstStyle/>
                    <a:p>
                      <a:r>
                        <a:rPr sz="1100" b="0">
                          <a:solidFill>
                            <a:srgbClr val="1F1F1F"/>
                          </a:solidFill>
                        </a:rPr>
                        <a:t>easiest start; cloud models as a fallback</a:t>
                      </a:r>
                    </a:p>
                  </a:txBody>
                  <a:tcPr>
                    <a:solidFill>
                      <a:srgbClr val="FFFFFF"/>
                    </a:solidFill>
                  </a:tcPr>
                </a:tc>
              </a:tr>
              <a:tr h="365760">
                <a:tc>
                  <a:txBody>
                    <a:bodyPr/>
                    <a:lstStyle/>
                    <a:p>
                      <a:r>
                        <a:rPr sz="1100" b="0">
                          <a:solidFill>
                            <a:srgbClr val="1F1F1F"/>
                          </a:solidFill>
                        </a:rPr>
                        <a:t>LM Studio</a:t>
                      </a:r>
                    </a:p>
                  </a:txBody>
                  <a:tcPr>
                    <a:solidFill>
                      <a:srgbClr val="F3F4F8"/>
                    </a:solidFill>
                  </a:tcPr>
                </a:tc>
                <a:tc>
                  <a:txBody>
                    <a:bodyPr/>
                    <a:lstStyle/>
                    <a:p>
                      <a:r>
                        <a:rPr sz="1100" b="0">
                          <a:solidFill>
                            <a:srgbClr val="1F1F1F"/>
                          </a:solidFill>
                        </a:rPr>
                        <a:t>0.4.25 · Bionic 1.1.5</a:t>
                      </a:r>
                    </a:p>
                  </a:txBody>
                  <a:tcPr>
                    <a:solidFill>
                      <a:srgbClr val="F3F4F8"/>
                    </a:solidFill>
                  </a:tcPr>
                </a:tc>
                <a:tc>
                  <a:txBody>
                    <a:bodyPr/>
                    <a:lstStyle/>
                    <a:p>
                      <a:r>
                        <a:rPr sz="1100" b="0">
                          <a:solidFill>
                            <a:srgbClr val="1F1F1F"/>
                          </a:solidFill>
                        </a:rPr>
                        <a:t>CPU · GPU · Apple MLX</a:t>
                      </a:r>
                    </a:p>
                  </a:txBody>
                  <a:tcPr>
                    <a:solidFill>
                      <a:srgbClr val="F3F4F8"/>
                    </a:solidFill>
                  </a:tcPr>
                </a:tc>
                <a:tc>
                  <a:txBody>
                    <a:bodyPr/>
                    <a:lstStyle/>
                    <a:p>
                      <a:r>
                        <a:rPr sz="1100" b="0">
                          <a:solidFill>
                            <a:srgbClr val="1F1F1F"/>
                          </a:solidFill>
                        </a:rPr>
                        <a:t>GUI, model browser, MCP host</a:t>
                      </a:r>
                    </a:p>
                  </a:txBody>
                  <a:tcPr>
                    <a:solidFill>
                      <a:srgbClr val="F3F4F8"/>
                    </a:solidFill>
                  </a:tcPr>
                </a:tc>
              </a:tr>
              <a:tr h="365760">
                <a:tc>
                  <a:txBody>
                    <a:bodyPr/>
                    <a:lstStyle/>
                    <a:p>
                      <a:r>
                        <a:rPr sz="1100" b="0">
                          <a:solidFill>
                            <a:srgbClr val="1F1F1F"/>
                          </a:solidFill>
                        </a:rPr>
                        <a:t>Foundry Local</a:t>
                      </a:r>
                    </a:p>
                  </a:txBody>
                  <a:tcPr>
                    <a:solidFill>
                      <a:srgbClr val="FFFFFF"/>
                    </a:solidFill>
                  </a:tcPr>
                </a:tc>
                <a:tc>
                  <a:txBody>
                    <a:bodyPr/>
                    <a:lstStyle/>
                    <a:p>
                      <a:r>
                        <a:rPr sz="1100" b="0">
                          <a:solidFill>
                            <a:srgbClr val="1F1F1F"/>
                          </a:solidFill>
                        </a:rPr>
                        <a:t>2.0.1</a:t>
                      </a:r>
                    </a:p>
                  </a:txBody>
                  <a:tcPr>
                    <a:solidFill>
                      <a:srgbClr val="FFFFFF"/>
                    </a:solidFill>
                  </a:tcPr>
                </a:tc>
                <a:tc>
                  <a:txBody>
                    <a:bodyPr/>
                    <a:lstStyle/>
                    <a:p>
                      <a:r>
                        <a:rPr sz="1100" b="0">
                          <a:solidFill>
                            <a:srgbClr val="1F1F1F"/>
                          </a:solidFill>
                        </a:rPr>
                        <a:t>best of GPU / NPU, else CPU</a:t>
                      </a:r>
                    </a:p>
                  </a:txBody>
                  <a:tcPr>
                    <a:solidFill>
                      <a:srgbClr val="FFFFFF"/>
                    </a:solidFill>
                  </a:tcPr>
                </a:tc>
                <a:tc>
                  <a:txBody>
                    <a:bodyPr/>
                    <a:lstStyle/>
                    <a:p>
                      <a:r>
                        <a:rPr sz="1100" b="0">
                          <a:solidFill>
                            <a:srgbClr val="1F1F1F"/>
                          </a:solidFill>
                        </a:rPr>
                        <a:t>managed Windows; no Azure subscription</a:t>
                      </a:r>
                    </a:p>
                  </a:txBody>
                  <a:tcPr>
                    <a:solidFill>
                      <a:srgbClr val="FFFFFF"/>
                    </a:solidFill>
                  </a:tcPr>
                </a:tc>
              </a:tr>
              <a:tr h="365760">
                <a:tc>
                  <a:txBody>
                    <a:bodyPr/>
                    <a:lstStyle/>
                    <a:p>
                      <a:r>
                        <a:rPr sz="1100" b="0">
                          <a:solidFill>
                            <a:srgbClr val="1F1F1F"/>
                          </a:solidFill>
                        </a:rPr>
                        <a:t>llama.cpp</a:t>
                      </a:r>
                    </a:p>
                  </a:txBody>
                  <a:tcPr>
                    <a:solidFill>
                      <a:srgbClr val="F3F4F8"/>
                    </a:solidFill>
                  </a:tcPr>
                </a:tc>
                <a:tc>
                  <a:txBody>
                    <a:bodyPr/>
                    <a:lstStyle/>
                    <a:p>
                      <a:r>
                        <a:rPr sz="1100" b="0">
                          <a:solidFill>
                            <a:srgbClr val="1F1F1F"/>
                          </a:solidFill>
                        </a:rPr>
                        <a:t>0.4.1</a:t>
                      </a:r>
                    </a:p>
                  </a:txBody>
                  <a:tcPr>
                    <a:solidFill>
                      <a:srgbClr val="F3F4F8"/>
                    </a:solidFill>
                  </a:tcPr>
                </a:tc>
                <a:tc>
                  <a:txBody>
                    <a:bodyPr/>
                    <a:lstStyle/>
                    <a:p>
                      <a:r>
                        <a:rPr sz="1100" b="0">
                          <a:solidFill>
                            <a:srgbClr val="1F1F1F"/>
                          </a:solidFill>
                        </a:rPr>
                        <a:t>CPU · GPU (incl. Intel Arc)</a:t>
                      </a:r>
                    </a:p>
                  </a:txBody>
                  <a:tcPr>
                    <a:solidFill>
                      <a:srgbClr val="F3F4F8"/>
                    </a:solidFill>
                  </a:tcPr>
                </a:tc>
                <a:tc>
                  <a:txBody>
                    <a:bodyPr/>
                    <a:lstStyle/>
                    <a:p>
                      <a:r>
                        <a:rPr sz="1100" b="0">
                          <a:solidFill>
                            <a:srgbClr val="1F1F1F"/>
                          </a:solidFill>
                        </a:rPr>
                        <a:t>the engine under Ollama and LM Studio</a:t>
                      </a:r>
                    </a:p>
                  </a:txBody>
                  <a:tcPr>
                    <a:solidFill>
                      <a:srgbClr val="F3F4F8"/>
                    </a:solidFill>
                  </a:tcPr>
                </a:tc>
              </a:tr>
              <a:tr h="365760">
                <a:tc>
                  <a:txBody>
                    <a:bodyPr/>
                    <a:lstStyle/>
                    <a:p>
                      <a:r>
                        <a:rPr sz="1100" b="0">
                          <a:solidFill>
                            <a:srgbClr val="1F1F1F"/>
                          </a:solidFill>
                        </a:rPr>
                        <a:t>vLLM · SGLang</a:t>
                      </a:r>
                    </a:p>
                  </a:txBody>
                  <a:tcPr>
                    <a:solidFill>
                      <a:srgbClr val="FFFFFF"/>
                    </a:solidFill>
                  </a:tcPr>
                </a:tc>
                <a:tc>
                  <a:txBody>
                    <a:bodyPr/>
                    <a:lstStyle/>
                    <a:p>
                      <a:r>
                        <a:rPr sz="1100" b="0">
                          <a:solidFill>
                            <a:srgbClr val="1F1F1F"/>
                          </a:solidFill>
                        </a:rPr>
                        <a:t>0.29 · 0.5.20</a:t>
                      </a:r>
                    </a:p>
                  </a:txBody>
                  <a:tcPr>
                    <a:solidFill>
                      <a:srgbClr val="FFFFFF"/>
                    </a:solidFill>
                  </a:tcPr>
                </a:tc>
                <a:tc>
                  <a:txBody>
                    <a:bodyPr/>
                    <a:lstStyle/>
                    <a:p>
                      <a:r>
                        <a:rPr sz="1100" b="0">
                          <a:solidFill>
                            <a:srgbClr val="1F1F1F"/>
                          </a:solidFill>
                        </a:rPr>
                        <a:t>GPU servers (CUDA, ROCm)</a:t>
                      </a:r>
                    </a:p>
                  </a:txBody>
                  <a:tcPr>
                    <a:solidFill>
                      <a:srgbClr val="FFFFFF"/>
                    </a:solidFill>
                  </a:tcPr>
                </a:tc>
                <a:tc>
                  <a:txBody>
                    <a:bodyPr/>
                    <a:lstStyle/>
                    <a:p>
                      <a:r>
                        <a:rPr sz="1100" b="0">
                          <a:solidFill>
                            <a:srgbClr val="1F1F1F"/>
                          </a:solidFill>
                        </a:rPr>
                        <a:t>many users on one GPU server</a:t>
                      </a:r>
                    </a:p>
                  </a:txBody>
                  <a:tcPr>
                    <a:solidFill>
                      <a:srgbClr val="FFFFFF"/>
                    </a:solidFill>
                  </a:tcPr>
                </a:tc>
              </a:tr>
              <a:tr h="365760">
                <a:tc>
                  <a:txBody>
                    <a:bodyPr/>
                    <a:lstStyle/>
                    <a:p>
                      <a:r>
                        <a:rPr sz="1100" b="0">
                          <a:solidFill>
                            <a:srgbClr val="1F1F1F"/>
                          </a:solidFill>
                        </a:rPr>
                        <a:t>Docker Model Runner</a:t>
                      </a:r>
                    </a:p>
                  </a:txBody>
                  <a:tcPr>
                    <a:solidFill>
                      <a:srgbClr val="F3F4F8"/>
                    </a:solidFill>
                  </a:tcPr>
                </a:tc>
                <a:tc>
                  <a:txBody>
                    <a:bodyPr/>
                    <a:lstStyle/>
                    <a:p>
                      <a:r>
                        <a:rPr sz="1100" b="0">
                          <a:solidFill>
                            <a:srgbClr val="1F1F1F"/>
                          </a:solidFill>
                        </a:rPr>
                        <a:t>—</a:t>
                      </a:r>
                    </a:p>
                  </a:txBody>
                  <a:tcPr>
                    <a:solidFill>
                      <a:srgbClr val="F3F4F8"/>
                    </a:solidFill>
                  </a:tcPr>
                </a:tc>
                <a:tc>
                  <a:txBody>
                    <a:bodyPr/>
                    <a:lstStyle/>
                    <a:p>
                      <a:r>
                        <a:rPr sz="1100" b="0">
                          <a:solidFill>
                            <a:srgbClr val="1F1F1F"/>
                          </a:solidFill>
                        </a:rPr>
                        <a:t>GPU</a:t>
                      </a:r>
                    </a:p>
                  </a:txBody>
                  <a:tcPr>
                    <a:solidFill>
                      <a:srgbClr val="F3F4F8"/>
                    </a:solidFill>
                  </a:tcPr>
                </a:tc>
                <a:tc>
                  <a:txBody>
                    <a:bodyPr/>
                    <a:lstStyle/>
                    <a:p>
                      <a:r>
                        <a:rPr sz="1100" b="0">
                          <a:solidFill>
                            <a:srgbClr val="1F1F1F"/>
                          </a:solidFill>
                        </a:rPr>
                        <a:t>GA; models as OCI artifacts in Compose</a:t>
                      </a:r>
                    </a:p>
                  </a:txBody>
                  <a:tcPr>
                    <a:solidFill>
                      <a:srgbClr val="F3F4F8"/>
                    </a:solidFill>
                  </a:tcPr>
                </a:tc>
              </a:tr>
            </a:tbl>
          </a:graphicData>
        </a:graphic>
      </p:graphicFrame>
      <p:sp>
        <p:nvSpPr>
          <p:cNvPr id="5" name="Rounded Rectangle 4"/>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6" name="Rounded Rectangle 5"/>
          <p:cNvSpPr/>
          <p:nvPr/>
        </p:nvSpPr>
        <p:spPr>
          <a:xfrm>
            <a:off x="585216" y="4224528"/>
            <a:ext cx="9656063" cy="502920"/>
          </a:xfrm>
          <a:prstGeom prst="roundRect">
            <a:avLst>
              <a:gd name="adj" fmla="val 1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E8EEF7"/>
                </a:solidFill>
                <a:latin typeface="Consolas"/>
              </a:rPr>
              <a:t>Ollama → localhost:11434/v1  ·  LM Studio → localhost:1234/v1  ·  Foundry Local → foundry service status</a:t>
            </a:r>
          </a:p>
        </p:txBody>
      </p:sp>
      <p:sp>
        <p:nvSpPr>
          <p:cNvPr id="7" name="TextBox 6"/>
          <p:cNvSpPr txBox="1"/>
          <p:nvPr/>
        </p:nvSpPr>
        <p:spPr>
          <a:xfrm>
            <a:off x="585216" y="49834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All of them are a base_url — pick the runner by hardware, your code only sees a URL.</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§0, §10 (2026-09-21) · Research: local AI &amp; media (2026-09-19) · LLM 101 slide 133 · Foundry Local docs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same Lab-1 code on Ollama — nothing changes but the env</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71600"/>
            <a:ext cx="5257800" cy="11155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654296" y="145389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.ENV</a:t>
            </a:r>
          </a:p>
        </p:txBody>
      </p:sp>
      <p:sp>
        <p:nvSpPr>
          <p:cNvPr id="6" name="TextBox 5"/>
          <p:cNvSpPr txBox="1"/>
          <p:nvPr/>
        </p:nvSpPr>
        <p:spPr>
          <a:xfrm>
            <a:off x="694944" y="1453896"/>
            <a:ext cx="3794760"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labs/.env · workshop endpoint (handout card)</a:t>
            </a:r>
          </a:p>
        </p:txBody>
      </p:sp>
      <p:sp>
        <p:nvSpPr>
          <p:cNvPr id="7" name="TextBox 6"/>
          <p:cNvSpPr txBox="1"/>
          <p:nvPr/>
        </p:nvSpPr>
        <p:spPr>
          <a:xfrm>
            <a:off x="676656" y="1737360"/>
            <a:ext cx="5074920" cy="676656"/>
          </a:xfrm>
          <a:prstGeom prst="rect">
            <a:avLst/>
          </a:prstGeom>
          <a:noFill/>
        </p:spPr>
        <p:txBody>
          <a:bodyPr wrap="square" lIns="0" rIns="0" tIns="0" bIns="0">
            <a:spAutoFit/>
          </a:bodyPr>
          <a:lstStyle/>
          <a:p>
            <a:pPr>
              <a:spcAft>
                <a:spcPts val="0"/>
              </a:spcAft>
            </a:pPr>
            <a:r>
              <a:rPr sz="1050">
                <a:solidFill>
                  <a:srgbClr val="E8EEF7"/>
                </a:solidFill>
                <a:latin typeface="Consolas"/>
              </a:rPr>
              <a:t>GENAI_BASE_URL=https://&lt;gateway-from-your-card&gt;/openai/v1</a:t>
            </a:r>
          </a:p>
          <a:p>
            <a:pPr>
              <a:spcAft>
                <a:spcPts val="0"/>
              </a:spcAft>
            </a:pPr>
            <a:r>
              <a:rPr sz="1050">
                <a:solidFill>
                  <a:srgbClr val="E8EEF7"/>
                </a:solidFill>
                <a:latin typeface="Consolas"/>
              </a:rPr>
              <a:t>GENAI_API_KEY=&lt;your-personal-key&gt;</a:t>
            </a:r>
          </a:p>
          <a:p>
            <a:pPr>
              <a:spcAft>
                <a:spcPts val="0"/>
              </a:spcAft>
            </a:pPr>
            <a:r>
              <a:rPr sz="1050">
                <a:solidFill>
                  <a:srgbClr val="E8EEF7"/>
                </a:solidFill>
                <a:latin typeface="Consolas"/>
              </a:rPr>
              <a:t>GENAI_MODEL=gpt-5-mini</a:t>
            </a:r>
          </a:p>
          <a:p>
            <a:pPr>
              <a:spcAft>
                <a:spcPts val="0"/>
              </a:spcAft>
            </a:pPr>
            <a:r>
              <a:rPr sz="1050">
                <a:solidFill>
                  <a:srgbClr val="E8EEF7"/>
                </a:solidFill>
                <a:latin typeface="Consolas"/>
              </a:rPr>
              <a:t>GENAI_REASONING_EFFORT=low</a:t>
            </a:r>
          </a:p>
        </p:txBody>
      </p:sp>
      <p:sp>
        <p:nvSpPr>
          <p:cNvPr id="8" name="Rounded Rectangle 7"/>
          <p:cNvSpPr/>
          <p:nvPr/>
        </p:nvSpPr>
        <p:spPr>
          <a:xfrm>
            <a:off x="6025896" y="1371600"/>
            <a:ext cx="4215383" cy="11155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145389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.ENV</a:t>
            </a:r>
          </a:p>
        </p:txBody>
      </p:sp>
      <p:sp>
        <p:nvSpPr>
          <p:cNvPr id="10" name="TextBox 9"/>
          <p:cNvSpPr txBox="1"/>
          <p:nvPr/>
        </p:nvSpPr>
        <p:spPr>
          <a:xfrm>
            <a:off x="6135624" y="1453896"/>
            <a:ext cx="275234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labs/.env · your laptop (Ollama)</a:t>
            </a:r>
          </a:p>
        </p:txBody>
      </p:sp>
      <p:sp>
        <p:nvSpPr>
          <p:cNvPr id="11" name="TextBox 10"/>
          <p:cNvSpPr txBox="1"/>
          <p:nvPr/>
        </p:nvSpPr>
        <p:spPr>
          <a:xfrm>
            <a:off x="6117336" y="1737360"/>
            <a:ext cx="4032503" cy="676656"/>
          </a:xfrm>
          <a:prstGeom prst="rect">
            <a:avLst/>
          </a:prstGeom>
          <a:noFill/>
        </p:spPr>
        <p:txBody>
          <a:bodyPr wrap="square" lIns="0" rIns="0" tIns="0" bIns="0">
            <a:spAutoFit/>
          </a:bodyPr>
          <a:lstStyle/>
          <a:p>
            <a:pPr>
              <a:spcAft>
                <a:spcPts val="0"/>
              </a:spcAft>
            </a:pPr>
            <a:r>
              <a:rPr sz="1050">
                <a:solidFill>
                  <a:srgbClr val="E8EEF7"/>
                </a:solidFill>
                <a:latin typeface="Consolas"/>
              </a:rPr>
              <a:t>GENAI_BASE_URL=http://localhost:11434/v1</a:t>
            </a:r>
          </a:p>
          <a:p>
            <a:pPr>
              <a:spcAft>
                <a:spcPts val="0"/>
              </a:spcAft>
            </a:pPr>
            <a:r>
              <a:rPr sz="1050">
                <a:solidFill>
                  <a:srgbClr val="E8EEF7"/>
                </a:solidFill>
                <a:latin typeface="Consolas"/>
              </a:rPr>
              <a:t>GENAI_API_KEY=ollama</a:t>
            </a:r>
          </a:p>
          <a:p>
            <a:pPr>
              <a:spcAft>
                <a:spcPts val="0"/>
              </a:spcAft>
            </a:pPr>
            <a:r>
              <a:rPr sz="1050">
                <a:solidFill>
                  <a:srgbClr val="E8EEF7"/>
                </a:solidFill>
                <a:latin typeface="Consolas"/>
              </a:rPr>
              <a:t>GENAI_MODEL=qwen3.5:4b</a:t>
            </a:r>
          </a:p>
          <a:p>
            <a:pPr>
              <a:spcAft>
                <a:spcPts val="0"/>
              </a:spcAft>
            </a:pPr>
            <a:r>
              <a:rPr sz="1050">
                <a:solidFill>
                  <a:srgbClr val="E8EEF7"/>
                </a:solidFill>
                <a:latin typeface="Consolas"/>
              </a:rPr>
              <a:t>GENAI_REASONING_EFFORT=none</a:t>
            </a:r>
          </a:p>
        </p:txBody>
      </p:sp>
      <p:sp>
        <p:nvSpPr>
          <p:cNvPr id="12" name="Rounded Rectangle 11"/>
          <p:cNvSpPr/>
          <p:nvPr/>
        </p:nvSpPr>
        <p:spPr>
          <a:xfrm>
            <a:off x="585216" y="2670048"/>
            <a:ext cx="9656063" cy="11155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52559" y="2752344"/>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14" name="TextBox 13"/>
          <p:cNvSpPr txBox="1"/>
          <p:nvPr/>
        </p:nvSpPr>
        <p:spPr>
          <a:xfrm>
            <a:off x="694944" y="2752344"/>
            <a:ext cx="819302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01_hello.py (excerpt) · the same file for both</a:t>
            </a:r>
          </a:p>
        </p:txBody>
      </p:sp>
      <p:sp>
        <p:nvSpPr>
          <p:cNvPr id="15" name="TextBox 14"/>
          <p:cNvSpPr txBox="1"/>
          <p:nvPr/>
        </p:nvSpPr>
        <p:spPr>
          <a:xfrm>
            <a:off x="676656" y="3035808"/>
            <a:ext cx="9473184" cy="676656"/>
          </a:xfrm>
          <a:prstGeom prst="rect">
            <a:avLst/>
          </a:prstGeom>
          <a:noFill/>
        </p:spPr>
        <p:txBody>
          <a:bodyPr wrap="square" lIns="0" rIns="0" tIns="0" bIns="0">
            <a:spAutoFit/>
          </a:bodyPr>
          <a:lstStyle/>
          <a:p>
            <a:pPr>
              <a:spcAft>
                <a:spcPts val="0"/>
              </a:spcAft>
            </a:pPr>
            <a:r>
              <a:rPr sz="1050">
                <a:solidFill>
                  <a:srgbClr val="E8EEF7"/>
                </a:solidFill>
                <a:latin typeface="Consolas"/>
              </a:rPr>
              <a:t>BASE, KEY, MODEL = os.environ["GENAI_BASE_URL"], os.environ["GENAI_API_KEY"], os.environ["GENAI_MODEL"]</a:t>
            </a:r>
          </a:p>
          <a:p>
            <a:pPr>
              <a:spcAft>
                <a:spcPts val="0"/>
              </a:spcAft>
            </a:pPr>
            <a:r>
              <a:rPr sz="1050">
                <a:solidFill>
                  <a:srgbClr val="E8EEF7"/>
                </a:solidFill>
                <a:latin typeface="Consolas"/>
              </a:rPr>
              <a:t>HEADERS = {"api-key": KEY} if os.getenv("GENAI_KEY_HEADER", "api-key") == "api-key" else None</a:t>
            </a:r>
          </a:p>
          <a:p>
            <a:pPr>
              <a:spcAft>
                <a:spcPts val="0"/>
              </a:spcAft>
            </a:pPr>
            <a:r>
              <a:rPr sz="1050">
                <a:solidFill>
                  <a:srgbClr val="E8EEF7"/>
                </a:solidFill>
                <a:latin typeface="Consolas"/>
              </a:rPr>
              <a:t>client = OpenAI(base_url=BASE, api_key=KEY, default_headers=HEADERS)</a:t>
            </a:r>
          </a:p>
          <a:p>
            <a:pPr>
              <a:spcAft>
                <a:spcPts val="0"/>
              </a:spcAft>
            </a:pPr>
            <a:r>
              <a:rPr sz="1050">
                <a:solidFill>
                  <a:srgbClr val="E8EEF7"/>
                </a:solidFill>
                <a:latin typeface="Consolas"/>
              </a:rPr>
              <a:t>EXTRA = {"reasoning_effort": os.environ["GENAI_REASONING_EFFORT"]} if os.getenv("GENAI_REASONING_EFFORT") else {}</a:t>
            </a:r>
          </a:p>
        </p:txBody>
      </p:sp>
      <p:sp>
        <p:nvSpPr>
          <p:cNvPr id="16" name="TextBox 15"/>
          <p:cNvSpPr txBox="1"/>
          <p:nvPr/>
        </p:nvSpPr>
        <p:spPr>
          <a:xfrm>
            <a:off x="585216" y="4041648"/>
            <a:ext cx="2697480" cy="320040"/>
          </a:xfrm>
          <a:prstGeom prst="rect">
            <a:avLst/>
          </a:prstGeom>
          <a:noFill/>
        </p:spPr>
        <p:txBody>
          <a:bodyPr wrap="square" lIns="0" rIns="0" tIns="0" bIns="0" anchor="t">
            <a:spAutoFit/>
          </a:bodyPr>
          <a:lstStyle/>
          <a:p>
            <a:pPr algn="l">
              <a:spcAft>
                <a:spcPts val="0"/>
              </a:spcAft>
            </a:pPr>
            <a:r>
              <a:rPr sz="1050" b="1" i="0">
                <a:solidFill>
                  <a:srgbClr val="6B6B6B"/>
                </a:solidFill>
              </a:rPr>
              <a:t>THINKING ON · qwen3:1.7b · CPU</a:t>
            </a:r>
          </a:p>
        </p:txBody>
      </p:sp>
      <p:sp>
        <p:nvSpPr>
          <p:cNvPr id="17" name="TextBox 16"/>
          <p:cNvSpPr txBox="1"/>
          <p:nvPr/>
        </p:nvSpPr>
        <p:spPr>
          <a:xfrm>
            <a:off x="585216" y="4343400"/>
            <a:ext cx="2697480" cy="731520"/>
          </a:xfrm>
          <a:prstGeom prst="rect">
            <a:avLst/>
          </a:prstGeom>
          <a:noFill/>
        </p:spPr>
        <p:txBody>
          <a:bodyPr wrap="square" lIns="0" rIns="0" tIns="0" bIns="0" anchor="t">
            <a:spAutoFit/>
          </a:bodyPr>
          <a:lstStyle/>
          <a:p>
            <a:pPr algn="l">
              <a:spcAft>
                <a:spcPts val="0"/>
              </a:spcAft>
            </a:pPr>
            <a:r>
              <a:rPr sz="3400" b="1" i="0">
                <a:solidFill>
                  <a:srgbClr val="2A446F"/>
                </a:solidFill>
              </a:rPr>
              <a:t>41 s</a:t>
            </a:r>
          </a:p>
        </p:txBody>
      </p:sp>
      <p:sp>
        <p:nvSpPr>
          <p:cNvPr id="18" name="TextBox 17"/>
          <p:cNvSpPr txBox="1"/>
          <p:nvPr/>
        </p:nvSpPr>
        <p:spPr>
          <a:xfrm>
            <a:off x="3282696" y="4389120"/>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9" name="TextBox 18"/>
          <p:cNvSpPr txBox="1"/>
          <p:nvPr/>
        </p:nvSpPr>
        <p:spPr>
          <a:xfrm>
            <a:off x="3739896" y="4041648"/>
            <a:ext cx="2697480" cy="320040"/>
          </a:xfrm>
          <a:prstGeom prst="rect">
            <a:avLst/>
          </a:prstGeom>
          <a:noFill/>
        </p:spPr>
        <p:txBody>
          <a:bodyPr wrap="square" lIns="0" rIns="0" tIns="0" bIns="0" anchor="t">
            <a:spAutoFit/>
          </a:bodyPr>
          <a:lstStyle/>
          <a:p>
            <a:pPr algn="l">
              <a:spcAft>
                <a:spcPts val="0"/>
              </a:spcAft>
            </a:pPr>
            <a:r>
              <a:rPr sz="1050" b="1" i="0">
                <a:solidFill>
                  <a:srgbClr val="6B6B6B"/>
                </a:solidFill>
              </a:rPr>
              <a:t>GENAI_REASONING_EFFORT=none</a:t>
            </a:r>
          </a:p>
        </p:txBody>
      </p:sp>
      <p:sp>
        <p:nvSpPr>
          <p:cNvPr id="20" name="TextBox 19"/>
          <p:cNvSpPr txBox="1"/>
          <p:nvPr/>
        </p:nvSpPr>
        <p:spPr>
          <a:xfrm>
            <a:off x="3739896" y="4343400"/>
            <a:ext cx="2697480" cy="731520"/>
          </a:xfrm>
          <a:prstGeom prst="rect">
            <a:avLst/>
          </a:prstGeom>
          <a:noFill/>
        </p:spPr>
        <p:txBody>
          <a:bodyPr wrap="square" lIns="0" rIns="0" tIns="0" bIns="0" anchor="t">
            <a:spAutoFit/>
          </a:bodyPr>
          <a:lstStyle/>
          <a:p>
            <a:pPr algn="l">
              <a:spcAft>
                <a:spcPts val="0"/>
              </a:spcAft>
            </a:pPr>
            <a:r>
              <a:rPr sz="3400" b="1" i="0">
                <a:solidFill>
                  <a:srgbClr val="2A7F5C"/>
                </a:solidFill>
              </a:rPr>
              <a:t>5.6 s</a:t>
            </a:r>
          </a:p>
        </p:txBody>
      </p:sp>
      <p:sp>
        <p:nvSpPr>
          <p:cNvPr id="21" name="TextBox 20"/>
          <p:cNvSpPr txBox="1"/>
          <p:nvPr/>
        </p:nvSpPr>
        <p:spPr>
          <a:xfrm>
            <a:off x="585216" y="5029200"/>
            <a:ext cx="6035040" cy="274320"/>
          </a:xfrm>
          <a:prstGeom prst="rect">
            <a:avLst/>
          </a:prstGeom>
          <a:noFill/>
        </p:spPr>
        <p:txBody>
          <a:bodyPr wrap="square" lIns="0" rIns="0" tIns="0" bIns="0" anchor="t">
            <a:spAutoFit/>
          </a:bodyPr>
          <a:lstStyle/>
          <a:p>
            <a:pPr algn="l">
              <a:spcAft>
                <a:spcPts val="0"/>
              </a:spcAft>
            </a:pPr>
            <a:r>
              <a:rPr sz="1100" b="0" i="0">
                <a:solidFill>
                  <a:srgbClr val="6B6B6B"/>
                </a:solidFill>
              </a:rPr>
              <a:t>one-liner prompt · 336 → 46 tokens · 2 vCPU, no GPU · Ollama 0.34.3 · measured 2026-09-22</a:t>
            </a:r>
          </a:p>
        </p:txBody>
      </p:sp>
      <p:sp>
        <p:nvSpPr>
          <p:cNvPr id="22" name="Rounded Rectangle 21"/>
          <p:cNvSpPr/>
          <p:nvPr/>
        </p:nvSpPr>
        <p:spPr>
          <a:xfrm>
            <a:off x="6720840" y="4041648"/>
            <a:ext cx="3520439"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22007" y="4206240"/>
            <a:ext cx="3118103" cy="411480"/>
          </a:xfrm>
          <a:prstGeom prst="rect">
            <a:avLst/>
          </a:prstGeom>
          <a:noFill/>
        </p:spPr>
        <p:txBody>
          <a:bodyPr wrap="square" lIns="0" rIns="0" tIns="0" bIns="0" anchor="t">
            <a:spAutoFit/>
          </a:bodyPr>
          <a:lstStyle/>
          <a:p>
            <a:pPr algn="l">
              <a:spcAft>
                <a:spcPts val="0"/>
              </a:spcAft>
            </a:pPr>
            <a:r>
              <a:rPr sz="1200" b="1" i="0">
                <a:solidFill>
                  <a:srgbClr val="E86A10"/>
                </a:solidFill>
              </a:rPr>
              <a:t>ATTENDEE DEFAULT</a:t>
            </a:r>
          </a:p>
        </p:txBody>
      </p:sp>
      <p:sp>
        <p:nvSpPr>
          <p:cNvPr id="24" name="TextBox 23"/>
          <p:cNvSpPr txBox="1"/>
          <p:nvPr/>
        </p:nvSpPr>
        <p:spPr>
          <a:xfrm>
            <a:off x="6922007" y="4663440"/>
            <a:ext cx="3118103" cy="457200"/>
          </a:xfrm>
          <a:prstGeom prst="rect">
            <a:avLst/>
          </a:prstGeom>
          <a:noFill/>
        </p:spPr>
        <p:txBody>
          <a:bodyPr wrap="square" lIns="0" rIns="0" tIns="0" bIns="0" anchor="t">
            <a:spAutoFit/>
          </a:bodyPr>
          <a:lstStyle/>
          <a:p>
            <a:pPr algn="l">
              <a:spcAft>
                <a:spcPts val="0"/>
              </a:spcAft>
            </a:pPr>
            <a:r>
              <a:rPr sz="1100" b="0" i="0">
                <a:solidFill>
                  <a:srgbClr val="1F1F1F"/>
                </a:solidFill>
              </a:rPr>
              <a:t>qwen3.5:4b (3.4 GB) + bge-m3 (1.2 GB); thinking off: GENAI_REASONING_EFFORT=none</a:t>
            </a:r>
          </a:p>
        </p:txBody>
      </p:sp>
      <p:sp>
        <p:nvSpPr>
          <p:cNvPr id="25" name="TextBox 24"/>
          <p:cNvSpPr txBox="1"/>
          <p:nvPr/>
        </p:nvSpPr>
        <p:spPr>
          <a:xfrm>
            <a:off x="585216" y="5458968"/>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Only the env changes — and on a laptop, switch thinking off.</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verification §7 (2026-09-22) · labs/00-setup/SETUP.md · Lab 1 01_hello.py (tested)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a Qwen3.8-27B tool call on Ollama</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The Lab-1 tool loop, unchanged — the model now runs on this laptop.</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Show ollama ps: Qwen3.8-27B (Q4) pulled and warm</a:t>
            </a:r>
          </a:p>
          <a:p>
            <a:pPr algn="l">
              <a:spcAft>
                <a:spcPts val="900"/>
              </a:spcAft>
            </a:pPr>
            <a:r>
              <a:rPr sz="1400" b="0" i="0">
                <a:solidFill>
                  <a:srgbClr val="1F1F1F"/>
                </a:solidFill>
              </a:rPr>
              <a:t>2. Point labs/.env at Ollama: base_url, the Qwen3.8-27B tag, reasoning effort none</a:t>
            </a:r>
          </a:p>
          <a:p>
            <a:pPr algn="l">
              <a:spcAft>
                <a:spcPts val="900"/>
              </a:spcAft>
            </a:pPr>
            <a:r>
              <a:rPr sz="1400" b="0" i="0">
                <a:solidFill>
                  <a:srgbClr val="1F1F1F"/>
                </a:solidFill>
              </a:rPr>
              <a:t>3. Run python 04_tool_loop.py: get_weather, then to_fahrenheit</a:t>
            </a:r>
          </a:p>
          <a:p>
            <a:pPr algn="l">
              <a:spcAft>
                <a:spcPts val="900"/>
              </a:spcAft>
            </a:pPr>
            <a:r>
              <a:rPr sz="1400" b="0" i="0">
                <a:solidFill>
                  <a:srgbClr val="1F1F1F"/>
                </a:solidFill>
              </a:rPr>
              <a:t>4. Same loop as Segment 1: tool call → your code → answer</a:t>
            </a:r>
          </a:p>
          <a:p>
            <a:pPr algn="l">
              <a:spcAft>
                <a:spcPts val="900"/>
              </a:spcAft>
            </a:pPr>
            <a:r>
              <a:rPr sz="1400" b="0" i="0">
                <a:solidFill>
                  <a:srgbClr val="1F1F1F"/>
                </a:solidFill>
              </a:rPr>
              <a:t>5. Show ollama ps again: memory used, GPU/CPU split</a:t>
            </a:r>
          </a:p>
        </p:txBody>
      </p:sp>
      <p:sp>
        <p:nvSpPr>
          <p:cNvPr id="11" name="Rounded Rectangle 10"/>
          <p:cNvSpPr/>
          <p:nvPr/>
        </p:nvSpPr>
        <p:spPr>
          <a:xfrm>
            <a:off x="5029200" y="406146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recorded terminal run — or the same loop on qwen3.5:4b</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Qwen3.8-27B model card · Research: hardware sizing (2026-09-21)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Foundry Local on the Windows NPU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Microsoft’s local runner picks the best accelerator — GPU or NPU — by itself, and still speaks the OpenAI API.</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Run foundry model run with a small model, e.g. Phi‑4‑mini</a:t>
            </a:r>
          </a:p>
          <a:p>
            <a:pPr algn="l">
              <a:spcAft>
                <a:spcPts val="900"/>
              </a:spcAft>
            </a:pPr>
            <a:r>
              <a:rPr sz="1400" b="0" i="0">
                <a:solidFill>
                  <a:srgbClr val="1F1F1F"/>
                </a:solidFill>
              </a:rPr>
              <a:t>2. Show the device it picked: NPU, GPU or CPU</a:t>
            </a:r>
          </a:p>
          <a:p>
            <a:pPr algn="l">
              <a:spcAft>
                <a:spcPts val="900"/>
              </a:spcAft>
            </a:pPr>
            <a:r>
              <a:rPr sz="1400" b="0" i="0">
                <a:solidFill>
                  <a:srgbClr val="1F1F1F"/>
                </a:solidFill>
              </a:rPr>
              <a:t>3. Run foundry service status → copy the URL, add /v1</a:t>
            </a:r>
          </a:p>
          <a:p>
            <a:pPr algn="l">
              <a:spcAft>
                <a:spcPts val="900"/>
              </a:spcAft>
            </a:pPr>
            <a:r>
              <a:rPr sz="1400" b="0" i="0">
                <a:solidFill>
                  <a:srgbClr val="1F1F1F"/>
                </a:solidFill>
              </a:rPr>
              <a:t>4. Set FOUNDRY_LOCAL_BASE_URL in labs/.env, run 01_local_models.py</a:t>
            </a:r>
          </a:p>
          <a:p>
            <a:pPr algn="l">
              <a:spcAft>
                <a:spcPts val="900"/>
              </a:spcAft>
            </a:pPr>
            <a:r>
              <a:rPr sz="1400" b="0" i="0">
                <a:solidFill>
                  <a:srgbClr val="1F1F1F"/>
                </a:solidFill>
              </a:rPr>
              <a:t>5. Open Task Manager: which accelerator is busy?</a:t>
            </a:r>
          </a:p>
        </p:txBody>
      </p:sp>
      <p:sp>
        <p:nvSpPr>
          <p:cNvPr id="11" name="Rounded Rectangle 10"/>
          <p:cNvSpPr/>
          <p:nvPr/>
        </p:nvSpPr>
        <p:spPr>
          <a:xfrm>
            <a:off x="5029200" y="38480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Screenshots of the Foundry Local terminal and Task Manager</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Local docs · Model catalog §10 (2026-09-21) · Lab 4 README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Hardware in 2026: bandwidth rules, and memory got expensive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6675120" cy="2560320"/>
        </p:xfrm>
        <a:graphic>
          <a:graphicData uri="http://schemas.openxmlformats.org/drawingml/2006/table">
            <a:tbl>
              <a:tblPr firstRow="1" bandRow="1">
                <a:tableStyleId>{5C22544A-7EE6-4342-B048-85BDC9FD1C3A}</a:tableStyleId>
              </a:tblPr>
              <a:tblGrid>
                <a:gridCol w="1691640"/>
                <a:gridCol w="2651760"/>
                <a:gridCol w="914400"/>
                <a:gridCol w="1417320"/>
              </a:tblGrid>
              <a:tr h="365760">
                <a:tc>
                  <a:txBody>
                    <a:bodyPr/>
                    <a:lstStyle/>
                    <a:p>
                      <a:r>
                        <a:rPr sz="1050" b="1">
                          <a:solidFill>
                            <a:srgbClr val="FFFFFF"/>
                          </a:solidFill>
                        </a:rPr>
                        <a:t>Box</a:t>
                      </a:r>
                    </a:p>
                  </a:txBody>
                  <a:tcPr>
                    <a:solidFill>
                      <a:srgbClr val="2A446F"/>
                    </a:solidFill>
                  </a:tcPr>
                </a:tc>
                <a:tc>
                  <a:txBody>
                    <a:bodyPr/>
                    <a:lstStyle/>
                    <a:p>
                      <a:r>
                        <a:rPr sz="1050" b="1">
                          <a:solidFill>
                            <a:srgbClr val="FFFFFF"/>
                          </a:solidFill>
                        </a:rPr>
                        <a:t>Memory · bandwidth</a:t>
                      </a:r>
                    </a:p>
                  </a:txBody>
                  <a:tcPr>
                    <a:solidFill>
                      <a:srgbClr val="2A446F"/>
                    </a:solidFill>
                  </a:tcPr>
                </a:tc>
                <a:tc>
                  <a:txBody>
                    <a:bodyPr/>
                    <a:lstStyle/>
                    <a:p>
                      <a:r>
                        <a:rPr sz="1050" b="1">
                          <a:solidFill>
                            <a:srgbClr val="FFFFFF"/>
                          </a:solidFill>
                        </a:rPr>
                        <a:t>Price band</a:t>
                      </a:r>
                    </a:p>
                  </a:txBody>
                  <a:tcPr>
                    <a:solidFill>
                      <a:srgbClr val="2A446F"/>
                    </a:solidFill>
                  </a:tcPr>
                </a:tc>
                <a:tc>
                  <a:txBody>
                    <a:bodyPr/>
                    <a:lstStyle/>
                    <a:p>
                      <a:r>
                        <a:rPr sz="1050" b="1">
                          <a:solidFill>
                            <a:srgbClr val="FFFFFF"/>
                          </a:solidFill>
                        </a:rPr>
                        <a:t>Sweet spot</a:t>
                      </a:r>
                    </a:p>
                  </a:txBody>
                  <a:tcPr>
                    <a:solidFill>
                      <a:srgbClr val="2A446F"/>
                    </a:solidFill>
                  </a:tcPr>
                </a:tc>
              </a:tr>
              <a:tr h="365760">
                <a:tc>
                  <a:txBody>
                    <a:bodyPr/>
                    <a:lstStyle/>
                    <a:p>
                      <a:r>
                        <a:rPr sz="1050" b="0">
                          <a:solidFill>
                            <a:srgbClr val="1F1F1F"/>
                          </a:solidFill>
                        </a:rPr>
                        <a:t>RTX 5090</a:t>
                      </a:r>
                    </a:p>
                  </a:txBody>
                  <a:tcPr>
                    <a:solidFill>
                      <a:srgbClr val="FFFFFF"/>
                    </a:solidFill>
                  </a:tcPr>
                </a:tc>
                <a:tc>
                  <a:txBody>
                    <a:bodyPr/>
                    <a:lstStyle/>
                    <a:p>
                      <a:r>
                        <a:rPr sz="1050" b="0">
                          <a:solidFill>
                            <a:srgbClr val="1F1F1F"/>
                          </a:solidFill>
                        </a:rPr>
                        <a:t>32 GB GDDR7</a:t>
                      </a:r>
                    </a:p>
                  </a:txBody>
                  <a:tcPr>
                    <a:solidFill>
                      <a:srgbClr val="FFFFFF"/>
                    </a:solidFill>
                  </a:tcPr>
                </a:tc>
                <a:tc>
                  <a:txBody>
                    <a:bodyPr/>
                    <a:lstStyle/>
                    <a:p>
                      <a:r>
                        <a:rPr sz="1050" b="0">
                          <a:solidFill>
                            <a:srgbClr val="1F1F1F"/>
                          </a:solidFill>
                        </a:rPr>
                        <a:t>~$3–5k</a:t>
                      </a:r>
                    </a:p>
                  </a:txBody>
                  <a:tcPr>
                    <a:solidFill>
                      <a:srgbClr val="FFFFFF"/>
                    </a:solidFill>
                  </a:tcPr>
                </a:tc>
                <a:tc>
                  <a:txBody>
                    <a:bodyPr/>
                    <a:lstStyle/>
                    <a:p>
                      <a:r>
                        <a:rPr sz="1050" b="0">
                          <a:solidFill>
                            <a:srgbClr val="1F1F1F"/>
                          </a:solidFill>
                        </a:rPr>
                        <a:t>≈ 30B at Q4</a:t>
                      </a:r>
                    </a:p>
                  </a:txBody>
                  <a:tcPr>
                    <a:solidFill>
                      <a:srgbClr val="FFFFFF"/>
                    </a:solidFill>
                  </a:tcPr>
                </a:tc>
              </a:tr>
              <a:tr h="365760">
                <a:tc>
                  <a:txBody>
                    <a:bodyPr/>
                    <a:lstStyle/>
                    <a:p>
                      <a:r>
                        <a:rPr sz="1050" b="0">
                          <a:solidFill>
                            <a:srgbClr val="1F1F1F"/>
                          </a:solidFill>
                        </a:rPr>
                        <a:t>RTX PRO 6000</a:t>
                      </a:r>
                    </a:p>
                  </a:txBody>
                  <a:tcPr>
                    <a:solidFill>
                      <a:srgbClr val="F3F4F8"/>
                    </a:solidFill>
                  </a:tcPr>
                </a:tc>
                <a:tc>
                  <a:txBody>
                    <a:bodyPr/>
                    <a:lstStyle/>
                    <a:p>
                      <a:r>
                        <a:rPr sz="1050" b="0">
                          <a:solidFill>
                            <a:srgbClr val="1F1F1F"/>
                          </a:solidFill>
                        </a:rPr>
                        <a:t>96 GB GDDR7</a:t>
                      </a:r>
                    </a:p>
                  </a:txBody>
                  <a:tcPr>
                    <a:solidFill>
                      <a:srgbClr val="F3F4F8"/>
                    </a:solidFill>
                  </a:tcPr>
                </a:tc>
                <a:tc>
                  <a:txBody>
                    <a:bodyPr/>
                    <a:lstStyle/>
                    <a:p>
                      <a:r>
                        <a:rPr sz="1050" b="0">
                          <a:solidFill>
                            <a:srgbClr val="1F1F1F"/>
                          </a:solidFill>
                        </a:rPr>
                        <a:t>$12–17k</a:t>
                      </a:r>
                    </a:p>
                  </a:txBody>
                  <a:tcPr>
                    <a:solidFill>
                      <a:srgbClr val="F3F4F8"/>
                    </a:solidFill>
                  </a:tcPr>
                </a:tc>
                <a:tc>
                  <a:txBody>
                    <a:bodyPr/>
                    <a:lstStyle/>
                    <a:p>
                      <a:r>
                        <a:rPr sz="1050" b="0">
                          <a:solidFill>
                            <a:srgbClr val="1F1F1F"/>
                          </a:solidFill>
                        </a:rPr>
                        <a:t>≈ 70B, fast</a:t>
                      </a:r>
                    </a:p>
                  </a:txBody>
                  <a:tcPr>
                    <a:solidFill>
                      <a:srgbClr val="F3F4F8"/>
                    </a:solidFill>
                  </a:tcPr>
                </a:tc>
              </a:tr>
              <a:tr h="365760">
                <a:tc>
                  <a:txBody>
                    <a:bodyPr/>
                    <a:lstStyle/>
                    <a:p>
                      <a:r>
                        <a:rPr sz="1050" b="0">
                          <a:solidFill>
                            <a:srgbClr val="1F1F1F"/>
                          </a:solidFill>
                        </a:rPr>
                        <a:t>DGX Spark</a:t>
                      </a:r>
                    </a:p>
                  </a:txBody>
                  <a:tcPr>
                    <a:solidFill>
                      <a:srgbClr val="FFFFFF"/>
                    </a:solidFill>
                  </a:tcPr>
                </a:tc>
                <a:tc>
                  <a:txBody>
                    <a:bodyPr/>
                    <a:lstStyle/>
                    <a:p>
                      <a:r>
                        <a:rPr sz="1050" b="0">
                          <a:solidFill>
                            <a:srgbClr val="1F1F1F"/>
                          </a:solidFill>
                        </a:rPr>
                        <a:t>128 GB unified · bandwidth-bound</a:t>
                      </a:r>
                    </a:p>
                  </a:txBody>
                  <a:tcPr>
                    <a:solidFill>
                      <a:srgbClr val="FFFFFF"/>
                    </a:solidFill>
                  </a:tcPr>
                </a:tc>
                <a:tc>
                  <a:txBody>
                    <a:bodyPr/>
                    <a:lstStyle/>
                    <a:p>
                      <a:r>
                        <a:rPr sz="1050" b="0">
                          <a:solidFill>
                            <a:srgbClr val="1F1F1F"/>
                          </a:solidFill>
                        </a:rPr>
                        <a:t>$4.7k</a:t>
                      </a:r>
                    </a:p>
                  </a:txBody>
                  <a:tcPr>
                    <a:solidFill>
                      <a:srgbClr val="FFFFFF"/>
                    </a:solidFill>
                  </a:tcPr>
                </a:tc>
                <a:tc>
                  <a:txBody>
                    <a:bodyPr/>
                    <a:lstStyle/>
                    <a:p>
                      <a:r>
                        <a:rPr sz="1050" b="0">
                          <a:solidFill>
                            <a:srgbClr val="1F1F1F"/>
                          </a:solidFill>
                        </a:rPr>
                        <a:t>big MoE, slowly</a:t>
                      </a:r>
                    </a:p>
                  </a:txBody>
                  <a:tcPr>
                    <a:solidFill>
                      <a:srgbClr val="FFFFFF"/>
                    </a:solidFill>
                  </a:tcPr>
                </a:tc>
              </a:tr>
              <a:tr h="365760">
                <a:tc>
                  <a:txBody>
                    <a:bodyPr/>
                    <a:lstStyle/>
                    <a:p>
                      <a:r>
                        <a:rPr sz="1050" b="0">
                          <a:solidFill>
                            <a:srgbClr val="1F1F1F"/>
                          </a:solidFill>
                        </a:rPr>
                        <a:t>Strix / Gorgon Halo</a:t>
                      </a:r>
                    </a:p>
                  </a:txBody>
                  <a:tcPr>
                    <a:solidFill>
                      <a:srgbClr val="F3F4F8"/>
                    </a:solidFill>
                  </a:tcPr>
                </a:tc>
                <a:tc>
                  <a:txBody>
                    <a:bodyPr/>
                    <a:lstStyle/>
                    <a:p>
                      <a:r>
                        <a:rPr sz="1050" b="0">
                          <a:solidFill>
                            <a:srgbClr val="1F1F1F"/>
                          </a:solidFill>
                        </a:rPr>
                        <a:t>128–192 GB unified · bandwidth-bound</a:t>
                      </a:r>
                    </a:p>
                  </a:txBody>
                  <a:tcPr>
                    <a:solidFill>
                      <a:srgbClr val="F3F4F8"/>
                    </a:solidFill>
                  </a:tcPr>
                </a:tc>
                <a:tc>
                  <a:txBody>
                    <a:bodyPr/>
                    <a:lstStyle/>
                    <a:p>
                      <a:r>
                        <a:rPr sz="1050" b="0">
                          <a:solidFill>
                            <a:srgbClr val="1F1F1F"/>
                          </a:solidFill>
                        </a:rPr>
                        <a:t>—</a:t>
                      </a:r>
                    </a:p>
                  </a:txBody>
                  <a:tcPr>
                    <a:solidFill>
                      <a:srgbClr val="F3F4F8"/>
                    </a:solidFill>
                  </a:tcPr>
                </a:tc>
                <a:tc>
                  <a:txBody>
                    <a:bodyPr/>
                    <a:lstStyle/>
                    <a:p>
                      <a:r>
                        <a:rPr sz="1050" b="0">
                          <a:solidFill>
                            <a:srgbClr val="1F1F1F"/>
                          </a:solidFill>
                        </a:rPr>
                        <a:t>big MoE, slowly</a:t>
                      </a:r>
                    </a:p>
                  </a:txBody>
                  <a:tcPr>
                    <a:solidFill>
                      <a:srgbClr val="F3F4F8"/>
                    </a:solidFill>
                  </a:tcPr>
                </a:tc>
              </a:tr>
              <a:tr h="365760">
                <a:tc>
                  <a:txBody>
                    <a:bodyPr/>
                    <a:lstStyle/>
                    <a:p>
                      <a:r>
                        <a:rPr sz="1050" b="0">
                          <a:solidFill>
                            <a:srgbClr val="1F1F1F"/>
                          </a:solidFill>
                        </a:rPr>
                        <a:t>Mac Studio M5 Max</a:t>
                      </a:r>
                    </a:p>
                  </a:txBody>
                  <a:tcPr>
                    <a:solidFill>
                      <a:srgbClr val="FFFFFF"/>
                    </a:solidFill>
                  </a:tcPr>
                </a:tc>
                <a:tc>
                  <a:txBody>
                    <a:bodyPr/>
                    <a:lstStyle/>
                    <a:p>
                      <a:r>
                        <a:rPr sz="1050" b="0">
                          <a:solidFill>
                            <a:srgbClr val="1F1F1F"/>
                          </a:solidFill>
                        </a:rPr>
                        <a:t>up to 128 GB unified · 614 GB/s</a:t>
                      </a:r>
                    </a:p>
                  </a:txBody>
                  <a:tcPr>
                    <a:solidFill>
                      <a:srgbClr val="FFFFFF"/>
                    </a:solidFill>
                  </a:tcPr>
                </a:tc>
                <a:tc>
                  <a:txBody>
                    <a:bodyPr/>
                    <a:lstStyle/>
                    <a:p>
                      <a:r>
                        <a:rPr sz="1050" b="0">
                          <a:solidFill>
                            <a:srgbClr val="1F1F1F"/>
                          </a:solidFill>
                        </a:rPr>
                        <a:t>from $2.5k</a:t>
                      </a:r>
                    </a:p>
                  </a:txBody>
                  <a:tcPr>
                    <a:solidFill>
                      <a:srgbClr val="FFFFFF"/>
                    </a:solidFill>
                  </a:tcPr>
                </a:tc>
                <a:tc>
                  <a:txBody>
                    <a:bodyPr/>
                    <a:lstStyle/>
                    <a:p>
                      <a:r>
                        <a:rPr sz="1050" b="0">
                          <a:solidFill>
                            <a:srgbClr val="1F1F1F"/>
                          </a:solidFill>
                        </a:rPr>
                        <a:t>most GB per $</a:t>
                      </a:r>
                    </a:p>
                  </a:txBody>
                  <a:tcPr>
                    <a:solidFill>
                      <a:srgbClr val="FFFFFF"/>
                    </a:solidFill>
                  </a:tcPr>
                </a:tc>
              </a:tr>
              <a:tr h="365760">
                <a:tc>
                  <a:txBody>
                    <a:bodyPr/>
                    <a:lstStyle/>
                    <a:p>
                      <a:r>
                        <a:rPr sz="1050" b="0">
                          <a:solidFill>
                            <a:srgbClr val="1F1F1F"/>
                          </a:solidFill>
                        </a:rPr>
                        <a:t>Mac Studio M5 Ultra</a:t>
                      </a:r>
                    </a:p>
                  </a:txBody>
                  <a:tcPr>
                    <a:solidFill>
                      <a:srgbClr val="F3F4F8"/>
                    </a:solidFill>
                  </a:tcPr>
                </a:tc>
                <a:tc>
                  <a:txBody>
                    <a:bodyPr/>
                    <a:lstStyle/>
                    <a:p>
                      <a:r>
                        <a:rPr sz="1050" b="0">
                          <a:solidFill>
                            <a:srgbClr val="1F1F1F"/>
                          </a:solidFill>
                        </a:rPr>
                        <a:t>up to 512 GB unified · 1.2 TB/s</a:t>
                      </a:r>
                    </a:p>
                  </a:txBody>
                  <a:tcPr>
                    <a:solidFill>
                      <a:srgbClr val="F3F4F8"/>
                    </a:solidFill>
                  </a:tcPr>
                </a:tc>
                <a:tc>
                  <a:txBody>
                    <a:bodyPr/>
                    <a:lstStyle/>
                    <a:p>
                      <a:r>
                        <a:rPr sz="1050" b="0">
                          <a:solidFill>
                            <a:srgbClr val="1F1F1F"/>
                          </a:solidFill>
                        </a:rPr>
                        <a:t>from $5.5k</a:t>
                      </a:r>
                    </a:p>
                  </a:txBody>
                  <a:tcPr>
                    <a:solidFill>
                      <a:srgbClr val="F3F4F8"/>
                    </a:solidFill>
                  </a:tcPr>
                </a:tc>
                <a:tc>
                  <a:txBody>
                    <a:bodyPr/>
                    <a:lstStyle/>
                    <a:p>
                      <a:r>
                        <a:rPr sz="1050" b="0">
                          <a:solidFill>
                            <a:srgbClr val="1F1F1F"/>
                          </a:solidFill>
                        </a:rPr>
                        <a:t>the biggest MoE</a:t>
                      </a:r>
                    </a:p>
                  </a:txBody>
                  <a:tcPr>
                    <a:solidFill>
                      <a:srgbClr val="F3F4F8"/>
                    </a:solidFill>
                  </a:tcPr>
                </a:tc>
              </a:tr>
            </a:tbl>
          </a:graphicData>
        </a:graphic>
      </p:graphicFrame>
      <p:sp>
        <p:nvSpPr>
          <p:cNvPr id="5" name="Rounded Rectangle 4"/>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pic>
        <p:nvPicPr>
          <p:cNvPr id="6" name="Picture 5" descr="s4_dram_dragon.jpg"/>
          <p:cNvPicPr>
            <a:picLocks noChangeAspect="1"/>
          </p:cNvPicPr>
          <p:nvPr/>
        </p:nvPicPr>
        <p:blipFill>
          <a:blip r:embed="rId3"/>
          <a:stretch>
            <a:fillRect/>
          </a:stretch>
        </p:blipFill>
        <p:spPr>
          <a:xfrm>
            <a:off x="7498079" y="1371600"/>
            <a:ext cx="2743200" cy="2743200"/>
          </a:xfrm>
          <a:prstGeom prst="roundRect">
            <a:avLst>
              <a:gd name="adj" fmla="val 4000"/>
            </a:avLst>
          </a:prstGeom>
        </p:spPr>
      </p:pic>
      <p:sp>
        <p:nvSpPr>
          <p:cNvPr id="7" name="TextBox 6"/>
          <p:cNvSpPr txBox="1"/>
          <p:nvPr/>
        </p:nvSpPr>
        <p:spPr>
          <a:xfrm>
            <a:off x="7498079" y="4434840"/>
            <a:ext cx="2743200" cy="822960"/>
          </a:xfrm>
          <a:prstGeom prst="rect">
            <a:avLst/>
          </a:prstGeom>
          <a:noFill/>
        </p:spPr>
        <p:txBody>
          <a:bodyPr wrap="square" lIns="0" rIns="0" tIns="0" bIns="0" anchor="t">
            <a:spAutoFit/>
          </a:bodyPr>
          <a:lstStyle/>
          <a:p>
            <a:pPr algn="l">
              <a:spcAft>
                <a:spcPts val="600"/>
              </a:spcAft>
            </a:pPr>
            <a:r>
              <a:rPr sz="1050" b="1" i="0">
                <a:solidFill>
                  <a:srgbClr val="6B6B6B"/>
                </a:solidFill>
              </a:rPr>
              <a:t>THE RULE</a:t>
            </a:r>
          </a:p>
          <a:p>
            <a:pPr algn="l">
              <a:spcAft>
                <a:spcPts val="600"/>
              </a:spcAft>
            </a:pPr>
            <a:r>
              <a:rPr sz="1400" b="1" i="0">
                <a:solidFill>
                  <a:srgbClr val="2A446F"/>
                </a:solidFill>
              </a:rPr>
              <a:t>decode speed ≈ memory bandwidth ÷ model bytes</a:t>
            </a:r>
          </a:p>
        </p:txBody>
      </p:sp>
      <p:sp>
        <p:nvSpPr>
          <p:cNvPr id="8" name="TextBox 7"/>
          <p:cNvSpPr txBox="1"/>
          <p:nvPr/>
        </p:nvSpPr>
        <p:spPr>
          <a:xfrm>
            <a:off x="585216" y="4434840"/>
            <a:ext cx="3108960" cy="320040"/>
          </a:xfrm>
          <a:prstGeom prst="rect">
            <a:avLst/>
          </a:prstGeom>
          <a:noFill/>
        </p:spPr>
        <p:txBody>
          <a:bodyPr wrap="square" lIns="0" rIns="0" tIns="0" bIns="0" anchor="t">
            <a:spAutoFit/>
          </a:bodyPr>
          <a:lstStyle/>
          <a:p>
            <a:pPr algn="l">
              <a:spcAft>
                <a:spcPts val="0"/>
              </a:spcAft>
            </a:pPr>
            <a:r>
              <a:rPr sz="1050" b="1" i="0">
                <a:solidFill>
                  <a:srgbClr val="6B6B6B"/>
                </a:solidFill>
              </a:rPr>
              <a:t>DRAM CONTRACT PRICES · Q1 2026</a:t>
            </a:r>
          </a:p>
        </p:txBody>
      </p:sp>
      <p:sp>
        <p:nvSpPr>
          <p:cNvPr id="9" name="TextBox 8"/>
          <p:cNvSpPr txBox="1"/>
          <p:nvPr/>
        </p:nvSpPr>
        <p:spPr>
          <a:xfrm>
            <a:off x="585216" y="4736592"/>
            <a:ext cx="3108960" cy="731520"/>
          </a:xfrm>
          <a:prstGeom prst="rect">
            <a:avLst/>
          </a:prstGeom>
          <a:noFill/>
        </p:spPr>
        <p:txBody>
          <a:bodyPr wrap="square" lIns="0" rIns="0" tIns="0" bIns="0" anchor="t">
            <a:spAutoFit/>
          </a:bodyPr>
          <a:lstStyle/>
          <a:p>
            <a:pPr algn="l">
              <a:spcAft>
                <a:spcPts val="0"/>
              </a:spcAft>
            </a:pPr>
            <a:r>
              <a:rPr sz="3000" b="1" i="0">
                <a:solidFill>
                  <a:srgbClr val="2A446F"/>
                </a:solidFill>
              </a:rPr>
              <a:t>+90–95 %</a:t>
            </a:r>
          </a:p>
        </p:txBody>
      </p:sp>
      <p:sp>
        <p:nvSpPr>
          <p:cNvPr id="10" name="TextBox 9"/>
          <p:cNvSpPr txBox="1"/>
          <p:nvPr/>
        </p:nvSpPr>
        <p:spPr>
          <a:xfrm>
            <a:off x="3694176" y="478231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1" name="TextBox 10"/>
          <p:cNvSpPr txBox="1"/>
          <p:nvPr/>
        </p:nvSpPr>
        <p:spPr>
          <a:xfrm>
            <a:off x="4151376" y="4434840"/>
            <a:ext cx="3108960" cy="320040"/>
          </a:xfrm>
          <a:prstGeom prst="rect">
            <a:avLst/>
          </a:prstGeom>
          <a:noFill/>
        </p:spPr>
        <p:txBody>
          <a:bodyPr wrap="square" lIns="0" rIns="0" tIns="0" bIns="0" anchor="t">
            <a:spAutoFit/>
          </a:bodyPr>
          <a:lstStyle/>
          <a:p>
            <a:pPr algn="l">
              <a:spcAft>
                <a:spcPts val="0"/>
              </a:spcAft>
            </a:pPr>
            <a:r>
              <a:rPr sz="1050" b="1" i="0">
                <a:solidFill>
                  <a:srgbClr val="6B6B6B"/>
                </a:solidFill>
              </a:rPr>
              <a:t>Q3 2026 · ON TOP</a:t>
            </a:r>
          </a:p>
        </p:txBody>
      </p:sp>
      <p:sp>
        <p:nvSpPr>
          <p:cNvPr id="12" name="TextBox 11"/>
          <p:cNvSpPr txBox="1"/>
          <p:nvPr/>
        </p:nvSpPr>
        <p:spPr>
          <a:xfrm>
            <a:off x="4151376" y="4736592"/>
            <a:ext cx="3108960" cy="731520"/>
          </a:xfrm>
          <a:prstGeom prst="rect">
            <a:avLst/>
          </a:prstGeom>
          <a:noFill/>
        </p:spPr>
        <p:txBody>
          <a:bodyPr wrap="square" lIns="0" rIns="0" tIns="0" bIns="0" anchor="t">
            <a:spAutoFit/>
          </a:bodyPr>
          <a:lstStyle/>
          <a:p>
            <a:pPr algn="l">
              <a:spcAft>
                <a:spcPts val="0"/>
              </a:spcAft>
            </a:pPr>
            <a:r>
              <a:rPr sz="3000" b="1" i="0">
                <a:solidFill>
                  <a:srgbClr val="C52B2B"/>
                </a:solidFill>
              </a:rPr>
              <a:t>+58–63 %</a:t>
            </a:r>
          </a:p>
        </p:txBody>
      </p:sp>
      <p:sp>
        <p:nvSpPr>
          <p:cNvPr id="13" name="TextBox 1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Shortage forecast through 2030 — capacity decides if it loads, bandwidth if it’s usable.</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Apple Newsroom 2026-08-25 (Mac Studio M5) · Tom's Hardware: DRAM at a 15-year high · LLM 101 slide 132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VRAM reality: what a model weighs at FP16, FP8 and 4-bit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6400800" cy="1463040"/>
        </p:xfrm>
        <a:graphic>
          <a:graphicData uri="http://schemas.openxmlformats.org/drawingml/2006/table">
            <a:tbl>
              <a:tblPr firstRow="1" bandRow="1">
                <a:tableStyleId>{5C22544A-7EE6-4342-B048-85BDC9FD1C3A}</a:tableStyleId>
              </a:tblPr>
              <a:tblGrid>
                <a:gridCol w="777240"/>
                <a:gridCol w="868680"/>
                <a:gridCol w="868680"/>
                <a:gridCol w="960120"/>
                <a:gridCol w="2926080"/>
              </a:tblGrid>
              <a:tr h="365760">
                <a:tc>
                  <a:txBody>
                    <a:bodyPr/>
                    <a:lstStyle/>
                    <a:p>
                      <a:r>
                        <a:rPr sz="1100" b="1">
                          <a:solidFill>
                            <a:srgbClr val="FFFFFF"/>
                          </a:solidFill>
                        </a:rPr>
                        <a:t>Size</a:t>
                      </a:r>
                    </a:p>
                  </a:txBody>
                  <a:tcPr>
                    <a:solidFill>
                      <a:srgbClr val="2A446F"/>
                    </a:solidFill>
                  </a:tcPr>
                </a:tc>
                <a:tc>
                  <a:txBody>
                    <a:bodyPr/>
                    <a:lstStyle/>
                    <a:p>
                      <a:r>
                        <a:rPr sz="1100" b="1">
                          <a:solidFill>
                            <a:srgbClr val="FFFFFF"/>
                          </a:solidFill>
                        </a:rPr>
                        <a:t>FP16</a:t>
                      </a:r>
                    </a:p>
                  </a:txBody>
                  <a:tcPr>
                    <a:solidFill>
                      <a:srgbClr val="2A446F"/>
                    </a:solidFill>
                  </a:tcPr>
                </a:tc>
                <a:tc>
                  <a:txBody>
                    <a:bodyPr/>
                    <a:lstStyle/>
                    <a:p>
                      <a:r>
                        <a:rPr sz="1100" b="1">
                          <a:solidFill>
                            <a:srgbClr val="FFFFFF"/>
                          </a:solidFill>
                        </a:rPr>
                        <a:t>FP8</a:t>
                      </a:r>
                    </a:p>
                  </a:txBody>
                  <a:tcPr>
                    <a:solidFill>
                      <a:srgbClr val="2A446F"/>
                    </a:solidFill>
                  </a:tcPr>
                </a:tc>
                <a:tc>
                  <a:txBody>
                    <a:bodyPr/>
                    <a:lstStyle/>
                    <a:p>
                      <a:r>
                        <a:rPr sz="1100" b="1">
                          <a:solidFill>
                            <a:srgbClr val="FFFFFF"/>
                          </a:solidFill>
                        </a:rPr>
                        <a:t>Q4 · NF4</a:t>
                      </a:r>
                    </a:p>
                  </a:txBody>
                  <a:tcPr>
                    <a:solidFill>
                      <a:srgbClr val="2A446F"/>
                    </a:solidFill>
                  </a:tcPr>
                </a:tc>
                <a:tc>
                  <a:txBody>
                    <a:bodyPr/>
                    <a:lstStyle/>
                    <a:p>
                      <a:r>
                        <a:rPr sz="1100" b="1">
                          <a:solidFill>
                            <a:srgbClr val="FFFFFF"/>
                          </a:solidFill>
                        </a:rPr>
                        <a:t>A real download</a:t>
                      </a:r>
                    </a:p>
                  </a:txBody>
                  <a:tcPr>
                    <a:solidFill>
                      <a:srgbClr val="2A446F"/>
                    </a:solidFill>
                  </a:tcPr>
                </a:tc>
              </a:tr>
              <a:tr h="365760">
                <a:tc>
                  <a:txBody>
                    <a:bodyPr/>
                    <a:lstStyle/>
                    <a:p>
                      <a:r>
                        <a:rPr sz="1100" b="0">
                          <a:solidFill>
                            <a:srgbClr val="1F1F1F"/>
                          </a:solidFill>
                        </a:rPr>
                        <a:t>4 B</a:t>
                      </a:r>
                    </a:p>
                  </a:txBody>
                  <a:tcPr>
                    <a:solidFill>
                      <a:srgbClr val="FFFFFF"/>
                    </a:solidFill>
                  </a:tcPr>
                </a:tc>
                <a:tc>
                  <a:txBody>
                    <a:bodyPr/>
                    <a:lstStyle/>
                    <a:p>
                      <a:r>
                        <a:rPr sz="1100" b="0">
                          <a:solidFill>
                            <a:srgbClr val="1F1F1F"/>
                          </a:solidFill>
                        </a:rPr>
                        <a:t>≈ 8 GB</a:t>
                      </a:r>
                    </a:p>
                  </a:txBody>
                  <a:tcPr>
                    <a:solidFill>
                      <a:srgbClr val="FFFFFF"/>
                    </a:solidFill>
                  </a:tcPr>
                </a:tc>
                <a:tc>
                  <a:txBody>
                    <a:bodyPr/>
                    <a:lstStyle/>
                    <a:p>
                      <a:r>
                        <a:rPr sz="1100" b="0">
                          <a:solidFill>
                            <a:srgbClr val="1F1F1F"/>
                          </a:solidFill>
                        </a:rPr>
                        <a:t>≈ 4 GB</a:t>
                      </a:r>
                    </a:p>
                  </a:txBody>
                  <a:tcPr>
                    <a:solidFill>
                      <a:srgbClr val="FFFFFF"/>
                    </a:solidFill>
                  </a:tcPr>
                </a:tc>
                <a:tc>
                  <a:txBody>
                    <a:bodyPr/>
                    <a:lstStyle/>
                    <a:p>
                      <a:r>
                        <a:rPr sz="1100" b="0">
                          <a:solidFill>
                            <a:srgbClr val="1F1F1F"/>
                          </a:solidFill>
                        </a:rPr>
                        <a:t>≈ 2 GB</a:t>
                      </a:r>
                    </a:p>
                  </a:txBody>
                  <a:tcPr>
                    <a:solidFill>
                      <a:srgbClr val="FFFFFF"/>
                    </a:solidFill>
                  </a:tcPr>
                </a:tc>
                <a:tc>
                  <a:txBody>
                    <a:bodyPr/>
                    <a:lstStyle/>
                    <a:p>
                      <a:r>
                        <a:rPr sz="1100" b="0">
                          <a:solidFill>
                            <a:srgbClr val="1F1F1F"/>
                          </a:solidFill>
                        </a:rPr>
                        <a:t>qwen3.5:4b — 3.4 GB (Ollama)</a:t>
                      </a:r>
                    </a:p>
                  </a:txBody>
                  <a:tcPr>
                    <a:solidFill>
                      <a:srgbClr val="FFFFFF"/>
                    </a:solidFill>
                  </a:tcPr>
                </a:tc>
              </a:tr>
              <a:tr h="365760">
                <a:tc>
                  <a:txBody>
                    <a:bodyPr/>
                    <a:lstStyle/>
                    <a:p>
                      <a:r>
                        <a:rPr sz="1100" b="0">
                          <a:solidFill>
                            <a:srgbClr val="1F1F1F"/>
                          </a:solidFill>
                        </a:rPr>
                        <a:t>27 B</a:t>
                      </a:r>
                    </a:p>
                  </a:txBody>
                  <a:tcPr>
                    <a:solidFill>
                      <a:srgbClr val="F3F4F8"/>
                    </a:solidFill>
                  </a:tcPr>
                </a:tc>
                <a:tc>
                  <a:txBody>
                    <a:bodyPr/>
                    <a:lstStyle/>
                    <a:p>
                      <a:r>
                        <a:rPr sz="1100" b="0">
                          <a:solidFill>
                            <a:srgbClr val="1F1F1F"/>
                          </a:solidFill>
                        </a:rPr>
                        <a:t>≈ 54 GB</a:t>
                      </a:r>
                    </a:p>
                  </a:txBody>
                  <a:tcPr>
                    <a:solidFill>
                      <a:srgbClr val="F3F4F8"/>
                    </a:solidFill>
                  </a:tcPr>
                </a:tc>
                <a:tc>
                  <a:txBody>
                    <a:bodyPr/>
                    <a:lstStyle/>
                    <a:p>
                      <a:r>
                        <a:rPr sz="1100" b="0">
                          <a:solidFill>
                            <a:srgbClr val="1F1F1F"/>
                          </a:solidFill>
                        </a:rPr>
                        <a:t>≈ 27 GB</a:t>
                      </a:r>
                    </a:p>
                  </a:txBody>
                  <a:tcPr>
                    <a:solidFill>
                      <a:srgbClr val="F3F4F8"/>
                    </a:solidFill>
                  </a:tcPr>
                </a:tc>
                <a:tc>
                  <a:txBody>
                    <a:bodyPr/>
                    <a:lstStyle/>
                    <a:p>
                      <a:r>
                        <a:rPr sz="1100" b="0">
                          <a:solidFill>
                            <a:srgbClr val="1F1F1F"/>
                          </a:solidFill>
                        </a:rPr>
                        <a:t>≈ 14 GB</a:t>
                      </a:r>
                    </a:p>
                  </a:txBody>
                  <a:tcPr>
                    <a:solidFill>
                      <a:srgbClr val="F3F4F8"/>
                    </a:solidFill>
                  </a:tcPr>
                </a:tc>
                <a:tc>
                  <a:txBody>
                    <a:bodyPr/>
                    <a:lstStyle/>
                    <a:p>
                      <a:r>
                        <a:rPr sz="1100" b="0">
                          <a:solidFill>
                            <a:srgbClr val="1F1F1F"/>
                          </a:solidFill>
                        </a:rPr>
                        <a:t>Qwen3.8-27B — ~17 GB at Q4</a:t>
                      </a:r>
                    </a:p>
                  </a:txBody>
                  <a:tcPr>
                    <a:solidFill>
                      <a:srgbClr val="F3F4F8"/>
                    </a:solidFill>
                  </a:tcPr>
                </a:tc>
              </a:tr>
              <a:tr h="365760">
                <a:tc>
                  <a:txBody>
                    <a:bodyPr/>
                    <a:lstStyle/>
                    <a:p>
                      <a:r>
                        <a:rPr sz="1100" b="0">
                          <a:solidFill>
                            <a:srgbClr val="1F1F1F"/>
                          </a:solidFill>
                        </a:rPr>
                        <a:t>120 B</a:t>
                      </a:r>
                    </a:p>
                  </a:txBody>
                  <a:tcPr>
                    <a:solidFill>
                      <a:srgbClr val="FFFFFF"/>
                    </a:solidFill>
                  </a:tcPr>
                </a:tc>
                <a:tc>
                  <a:txBody>
                    <a:bodyPr/>
                    <a:lstStyle/>
                    <a:p>
                      <a:r>
                        <a:rPr sz="1100" b="0">
                          <a:solidFill>
                            <a:srgbClr val="1F1F1F"/>
                          </a:solidFill>
                        </a:rPr>
                        <a:t>≈ 240 GB</a:t>
                      </a:r>
                    </a:p>
                  </a:txBody>
                  <a:tcPr>
                    <a:solidFill>
                      <a:srgbClr val="FFFFFF"/>
                    </a:solidFill>
                  </a:tcPr>
                </a:tc>
                <a:tc>
                  <a:txBody>
                    <a:bodyPr/>
                    <a:lstStyle/>
                    <a:p>
                      <a:r>
                        <a:rPr sz="1100" b="0">
                          <a:solidFill>
                            <a:srgbClr val="1F1F1F"/>
                          </a:solidFill>
                        </a:rPr>
                        <a:t>≈ 120 GB</a:t>
                      </a:r>
                    </a:p>
                  </a:txBody>
                  <a:tcPr>
                    <a:solidFill>
                      <a:srgbClr val="FFFFFF"/>
                    </a:solidFill>
                  </a:tcPr>
                </a:tc>
                <a:tc>
                  <a:txBody>
                    <a:bodyPr/>
                    <a:lstStyle/>
                    <a:p>
                      <a:r>
                        <a:rPr sz="1100" b="0">
                          <a:solidFill>
                            <a:srgbClr val="1F1F1F"/>
                          </a:solidFill>
                        </a:rPr>
                        <a:t>≈ 60 GB</a:t>
                      </a:r>
                    </a:p>
                  </a:txBody>
                  <a:tcPr>
                    <a:solidFill>
                      <a:srgbClr val="FFFFFF"/>
                    </a:solidFill>
                  </a:tcPr>
                </a:tc>
                <a:tc>
                  <a:txBody>
                    <a:bodyPr/>
                    <a:lstStyle/>
                    <a:p>
                      <a:r>
                        <a:rPr sz="1100" b="0">
                          <a:solidFill>
                            <a:srgbClr val="1F1F1F"/>
                          </a:solidFill>
                        </a:rPr>
                        <a:t>Mistral Small 4 (119B) — ~64 GB</a:t>
                      </a:r>
                    </a:p>
                  </a:txBody>
                  <a:tcPr>
                    <a:solidFill>
                      <a:srgbClr val="FFFFFF"/>
                    </a:solidFill>
                  </a:tcPr>
                </a:tc>
              </a:tr>
            </a:tbl>
          </a:graphicData>
        </a:graphic>
      </p:graphicFrame>
      <p:sp>
        <p:nvSpPr>
          <p:cNvPr id="5" name="TextBox 4"/>
          <p:cNvSpPr txBox="1"/>
          <p:nvPr/>
        </p:nvSpPr>
        <p:spPr>
          <a:xfrm>
            <a:off x="585216" y="2926080"/>
            <a:ext cx="6400800" cy="274320"/>
          </a:xfrm>
          <a:prstGeom prst="rect">
            <a:avLst/>
          </a:prstGeom>
          <a:noFill/>
        </p:spPr>
        <p:txBody>
          <a:bodyPr wrap="square" lIns="0" rIns="0" tIns="0" bIns="0" anchor="t">
            <a:spAutoFit/>
          </a:bodyPr>
          <a:lstStyle/>
          <a:p>
            <a:pPr algn="l">
              <a:spcAft>
                <a:spcPts val="0"/>
              </a:spcAft>
            </a:pPr>
            <a:r>
              <a:rPr sz="1100" b="0" i="0">
                <a:solidFill>
                  <a:srgbClr val="6B6B6B"/>
                </a:solidFill>
              </a:rPr>
              <a:t>weights only: parameters × bits ÷ 8 — real files are a bit bigger</a:t>
            </a:r>
          </a:p>
        </p:txBody>
      </p:sp>
      <p:sp>
        <p:nvSpPr>
          <p:cNvPr id="6" name="TextBox 5"/>
          <p:cNvSpPr txBox="1"/>
          <p:nvPr/>
        </p:nvSpPr>
        <p:spPr>
          <a:xfrm>
            <a:off x="585216" y="3520440"/>
            <a:ext cx="1877568" cy="320040"/>
          </a:xfrm>
          <a:prstGeom prst="rect">
            <a:avLst/>
          </a:prstGeom>
          <a:noFill/>
        </p:spPr>
        <p:txBody>
          <a:bodyPr wrap="square" lIns="0" rIns="0" tIns="0" bIns="0" anchor="t">
            <a:spAutoFit/>
          </a:bodyPr>
          <a:lstStyle/>
          <a:p>
            <a:pPr algn="l">
              <a:spcAft>
                <a:spcPts val="0"/>
              </a:spcAft>
            </a:pPr>
            <a:r>
              <a:rPr sz="1050" b="1" i="0">
                <a:solidFill>
                  <a:srgbClr val="6B6B6B"/>
                </a:solidFill>
              </a:rPr>
              <a:t>WEIGHTS · 9B AT Q4</a:t>
            </a:r>
          </a:p>
        </p:txBody>
      </p:sp>
      <p:sp>
        <p:nvSpPr>
          <p:cNvPr id="7" name="TextBox 6"/>
          <p:cNvSpPr txBox="1"/>
          <p:nvPr/>
        </p:nvSpPr>
        <p:spPr>
          <a:xfrm>
            <a:off x="585216" y="3822191"/>
            <a:ext cx="1877568" cy="731520"/>
          </a:xfrm>
          <a:prstGeom prst="rect">
            <a:avLst/>
          </a:prstGeom>
          <a:noFill/>
        </p:spPr>
        <p:txBody>
          <a:bodyPr wrap="square" lIns="0" rIns="0" tIns="0" bIns="0" anchor="t">
            <a:spAutoFit/>
          </a:bodyPr>
          <a:lstStyle/>
          <a:p>
            <a:pPr algn="l">
              <a:spcAft>
                <a:spcPts val="0"/>
              </a:spcAft>
            </a:pPr>
            <a:r>
              <a:rPr sz="2600" b="1" i="0">
                <a:solidFill>
                  <a:srgbClr val="2A446F"/>
                </a:solidFill>
              </a:rPr>
              <a:t>≈ 5 GB</a:t>
            </a:r>
          </a:p>
        </p:txBody>
      </p:sp>
      <p:sp>
        <p:nvSpPr>
          <p:cNvPr id="8" name="TextBox 7"/>
          <p:cNvSpPr txBox="1"/>
          <p:nvPr/>
        </p:nvSpPr>
        <p:spPr>
          <a:xfrm>
            <a:off x="2462784" y="3886200"/>
            <a:ext cx="384048" cy="54864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9" name="TextBox 8"/>
          <p:cNvSpPr txBox="1"/>
          <p:nvPr/>
        </p:nvSpPr>
        <p:spPr>
          <a:xfrm>
            <a:off x="2846832" y="3520440"/>
            <a:ext cx="1877568" cy="320040"/>
          </a:xfrm>
          <a:prstGeom prst="rect">
            <a:avLst/>
          </a:prstGeom>
          <a:noFill/>
        </p:spPr>
        <p:txBody>
          <a:bodyPr wrap="square" lIns="0" rIns="0" tIns="0" bIns="0" anchor="t">
            <a:spAutoFit/>
          </a:bodyPr>
          <a:lstStyle/>
          <a:p>
            <a:pPr algn="l">
              <a:spcAft>
                <a:spcPts val="0"/>
              </a:spcAft>
            </a:pPr>
            <a:r>
              <a:rPr sz="1050" b="1" i="0">
                <a:solidFill>
                  <a:srgbClr val="6B6B6B"/>
                </a:solidFill>
              </a:rPr>
              <a:t>KV CACHE · 128K CONTEXT</a:t>
            </a:r>
          </a:p>
        </p:txBody>
      </p:sp>
      <p:sp>
        <p:nvSpPr>
          <p:cNvPr id="10" name="TextBox 9"/>
          <p:cNvSpPr txBox="1"/>
          <p:nvPr/>
        </p:nvSpPr>
        <p:spPr>
          <a:xfrm>
            <a:off x="2846832" y="3822191"/>
            <a:ext cx="1877568" cy="731520"/>
          </a:xfrm>
          <a:prstGeom prst="rect">
            <a:avLst/>
          </a:prstGeom>
          <a:noFill/>
        </p:spPr>
        <p:txBody>
          <a:bodyPr wrap="square" lIns="0" rIns="0" tIns="0" bIns="0" anchor="t">
            <a:spAutoFit/>
          </a:bodyPr>
          <a:lstStyle/>
          <a:p>
            <a:pPr algn="l">
              <a:spcAft>
                <a:spcPts val="0"/>
              </a:spcAft>
            </a:pPr>
            <a:r>
              <a:rPr sz="2600" b="1" i="0">
                <a:solidFill>
                  <a:srgbClr val="E86A10"/>
                </a:solidFill>
              </a:rPr>
              <a:t>4–5 GB</a:t>
            </a:r>
          </a:p>
        </p:txBody>
      </p:sp>
      <p:sp>
        <p:nvSpPr>
          <p:cNvPr id="11" name="TextBox 10"/>
          <p:cNvSpPr txBox="1"/>
          <p:nvPr/>
        </p:nvSpPr>
        <p:spPr>
          <a:xfrm>
            <a:off x="4724399" y="3886200"/>
            <a:ext cx="384048" cy="54864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2" name="TextBox 11"/>
          <p:cNvSpPr txBox="1"/>
          <p:nvPr/>
        </p:nvSpPr>
        <p:spPr>
          <a:xfrm>
            <a:off x="5108447" y="3520440"/>
            <a:ext cx="1877568" cy="320040"/>
          </a:xfrm>
          <a:prstGeom prst="rect">
            <a:avLst/>
          </a:prstGeom>
          <a:noFill/>
        </p:spPr>
        <p:txBody>
          <a:bodyPr wrap="square" lIns="0" rIns="0" tIns="0" bIns="0" anchor="t">
            <a:spAutoFit/>
          </a:bodyPr>
          <a:lstStyle/>
          <a:p>
            <a:pPr algn="l">
              <a:spcAft>
                <a:spcPts val="0"/>
              </a:spcAft>
            </a:pPr>
            <a:r>
              <a:rPr sz="1050" b="1" i="0">
                <a:solidFill>
                  <a:srgbClr val="6B6B6B"/>
                </a:solidFill>
              </a:rPr>
              <a:t>TOTAL</a:t>
            </a:r>
          </a:p>
        </p:txBody>
      </p:sp>
      <p:sp>
        <p:nvSpPr>
          <p:cNvPr id="13" name="TextBox 12"/>
          <p:cNvSpPr txBox="1"/>
          <p:nvPr/>
        </p:nvSpPr>
        <p:spPr>
          <a:xfrm>
            <a:off x="5108447" y="3822191"/>
            <a:ext cx="1877568" cy="731520"/>
          </a:xfrm>
          <a:prstGeom prst="rect">
            <a:avLst/>
          </a:prstGeom>
          <a:noFill/>
        </p:spPr>
        <p:txBody>
          <a:bodyPr wrap="square" lIns="0" rIns="0" tIns="0" bIns="0" anchor="t">
            <a:spAutoFit/>
          </a:bodyPr>
          <a:lstStyle/>
          <a:p>
            <a:pPr algn="l">
              <a:spcAft>
                <a:spcPts val="0"/>
              </a:spcAft>
            </a:pPr>
            <a:r>
              <a:rPr sz="2600" b="1" i="0">
                <a:solidFill>
                  <a:srgbClr val="2A446F"/>
                </a:solidFill>
              </a:rPr>
              <a:t>≈ 9–10 GB</a:t>
            </a:r>
          </a:p>
        </p:txBody>
      </p:sp>
      <p:pic>
        <p:nvPicPr>
          <p:cNvPr id="14" name="Picture 13" descr="meme_npu_604747ac2f9c.jpg"/>
          <p:cNvPicPr>
            <a:picLocks noChangeAspect="1"/>
          </p:cNvPicPr>
          <p:nvPr/>
        </p:nvPicPr>
        <p:blipFill>
          <a:blip r:embed="rId3"/>
          <a:stretch>
            <a:fillRect/>
          </a:stretch>
        </p:blipFill>
        <p:spPr>
          <a:xfrm>
            <a:off x="7223760" y="1371600"/>
            <a:ext cx="3017520" cy="1645920"/>
          </a:xfrm>
          <a:prstGeom prst="roundRect">
            <a:avLst>
              <a:gd name="adj" fmla="val 4000"/>
            </a:avLst>
          </a:prstGeom>
        </p:spPr>
      </p:pic>
      <p:sp>
        <p:nvSpPr>
          <p:cNvPr id="15" name="Rounded Rectangle 14"/>
          <p:cNvSpPr/>
          <p:nvPr/>
        </p:nvSpPr>
        <p:spPr>
          <a:xfrm>
            <a:off x="7223760" y="3154680"/>
            <a:ext cx="3017520"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24928" y="3319272"/>
            <a:ext cx="2615184" cy="411480"/>
          </a:xfrm>
          <a:prstGeom prst="rect">
            <a:avLst/>
          </a:prstGeom>
          <a:noFill/>
        </p:spPr>
        <p:txBody>
          <a:bodyPr wrap="square" lIns="0" rIns="0" tIns="0" bIns="0" anchor="t">
            <a:spAutoFit/>
          </a:bodyPr>
          <a:lstStyle/>
          <a:p>
            <a:pPr algn="l">
              <a:spcAft>
                <a:spcPts val="0"/>
              </a:spcAft>
            </a:pPr>
            <a:r>
              <a:rPr sz="1200" b="1" i="0">
                <a:solidFill>
                  <a:srgbClr val="E86A10"/>
                </a:solidFill>
              </a:rPr>
              <a:t>NPU HONESTY</a:t>
            </a:r>
          </a:p>
        </p:txBody>
      </p:sp>
      <p:sp>
        <p:nvSpPr>
          <p:cNvPr id="17" name="TextBox 16"/>
          <p:cNvSpPr txBox="1"/>
          <p:nvPr/>
        </p:nvSpPr>
        <p:spPr>
          <a:xfrm>
            <a:off x="7424928" y="3776472"/>
            <a:ext cx="2615184" cy="960119"/>
          </a:xfrm>
          <a:prstGeom prst="rect">
            <a:avLst/>
          </a:prstGeom>
          <a:noFill/>
        </p:spPr>
        <p:txBody>
          <a:bodyPr wrap="square" lIns="0" rIns="0" tIns="0" bIns="0" anchor="t">
            <a:spAutoFit/>
          </a:bodyPr>
          <a:lstStyle/>
          <a:p>
            <a:pPr algn="l">
              <a:spcAft>
                <a:spcPts val="0"/>
              </a:spcAft>
            </a:pPr>
            <a:r>
              <a:rPr sz="1200" b="0" i="0">
                <a:solidFill>
                  <a:srgbClr val="1F1F1F"/>
                </a:solidFill>
              </a:rPr>
              <a:t>LLMs: yes — Foundry Local can run them on an NPU. Images and video: a discrete GPU still wins. Buy TOPS for battery, VRAM for creation.</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Budget = weights + KV cache — and the context you need decides the second part.</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labs/00-setup/SETUP.md · LLM 101 slide 133 · Beyond the Slop (Jul 2026) · Foundry Local docs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Quantization is compression with a taste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408176"/>
            <a:ext cx="1005840" cy="438912"/>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GGUF</a:t>
            </a:r>
          </a:p>
        </p:txBody>
      </p:sp>
      <p:sp>
        <p:nvSpPr>
          <p:cNvPr id="5" name="TextBox 4"/>
          <p:cNvSpPr txBox="1"/>
          <p:nvPr/>
        </p:nvSpPr>
        <p:spPr>
          <a:xfrm>
            <a:off x="1755648" y="137160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llama.cpp’s format (Q8 … Q4 … IQ2) — what Ollama and LM Studio load</a:t>
            </a:r>
          </a:p>
        </p:txBody>
      </p:sp>
      <p:sp>
        <p:nvSpPr>
          <p:cNvPr id="6" name="Rounded Rectangle 5"/>
          <p:cNvSpPr/>
          <p:nvPr/>
        </p:nvSpPr>
        <p:spPr>
          <a:xfrm>
            <a:off x="585216" y="1956816"/>
            <a:ext cx="1005840" cy="43891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MXFP4</a:t>
            </a:r>
          </a:p>
        </p:txBody>
      </p:sp>
      <p:sp>
        <p:nvSpPr>
          <p:cNvPr id="7" name="TextBox 6"/>
          <p:cNvSpPr txBox="1"/>
          <p:nvPr/>
        </p:nvSpPr>
        <p:spPr>
          <a:xfrm>
            <a:off x="1755648" y="192024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4-bit float — gpt-oss-20b ships in it, Kimi K3 was trained for it</a:t>
            </a:r>
          </a:p>
        </p:txBody>
      </p:sp>
      <p:sp>
        <p:nvSpPr>
          <p:cNvPr id="8" name="Rounded Rectangle 7"/>
          <p:cNvSpPr/>
          <p:nvPr/>
        </p:nvSpPr>
        <p:spPr>
          <a:xfrm>
            <a:off x="585216" y="2505456"/>
            <a:ext cx="1005840" cy="438912"/>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NVFP4</a:t>
            </a:r>
          </a:p>
        </p:txBody>
      </p:sp>
      <p:sp>
        <p:nvSpPr>
          <p:cNvPr id="9" name="TextBox 8"/>
          <p:cNvSpPr txBox="1"/>
          <p:nvPr/>
        </p:nvSpPr>
        <p:spPr>
          <a:xfrm>
            <a:off x="1755648" y="246888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NVIDIA’s 4-bit float for Blackwell GPUs (FLUX.2 [klein] builds)</a:t>
            </a:r>
          </a:p>
        </p:txBody>
      </p:sp>
      <p:sp>
        <p:nvSpPr>
          <p:cNvPr id="10" name="Rounded Rectangle 9"/>
          <p:cNvSpPr/>
          <p:nvPr/>
        </p:nvSpPr>
        <p:spPr>
          <a:xfrm>
            <a:off x="585216" y="3054096"/>
            <a:ext cx="1005840" cy="438912"/>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NF4</a:t>
            </a:r>
          </a:p>
        </p:txBody>
      </p:sp>
      <p:sp>
        <p:nvSpPr>
          <p:cNvPr id="11" name="TextBox 10"/>
          <p:cNvSpPr txBox="1"/>
          <p:nvPr/>
        </p:nvSpPr>
        <p:spPr>
          <a:xfrm>
            <a:off x="1755648" y="301752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4-bit “normal float” — what QLoRA fine-tunes on</a:t>
            </a:r>
          </a:p>
        </p:txBody>
      </p:sp>
      <p:pic>
        <p:nvPicPr>
          <p:cNvPr id="12" name="Picture 11" descr="meme_quant_376c4b7b1837.jpg"/>
          <p:cNvPicPr>
            <a:picLocks noChangeAspect="1"/>
          </p:cNvPicPr>
          <p:nvPr/>
        </p:nvPicPr>
        <p:blipFill>
          <a:blip r:embed="rId3"/>
          <a:stretch>
            <a:fillRect/>
          </a:stretch>
        </p:blipFill>
        <p:spPr>
          <a:xfrm>
            <a:off x="6812280" y="1371600"/>
            <a:ext cx="3429000" cy="1870363"/>
          </a:xfrm>
          <a:prstGeom prst="roundRect">
            <a:avLst>
              <a:gd name="adj" fmla="val 4000"/>
            </a:avLst>
          </a:prstGeom>
        </p:spPr>
      </p:pic>
      <p:sp>
        <p:nvSpPr>
          <p:cNvPr id="13" name="TextBox 12"/>
          <p:cNvSpPr txBox="1"/>
          <p:nvPr/>
        </p:nvSpPr>
        <p:spPr>
          <a:xfrm>
            <a:off x="585216" y="3657600"/>
            <a:ext cx="5486400" cy="274320"/>
          </a:xfrm>
          <a:prstGeom prst="rect">
            <a:avLst/>
          </a:prstGeom>
          <a:noFill/>
        </p:spPr>
        <p:txBody>
          <a:bodyPr wrap="square" lIns="0" rIns="0" tIns="0" bIns="0" anchor="t">
            <a:spAutoFit/>
          </a:bodyPr>
          <a:lstStyle/>
          <a:p>
            <a:pPr algn="l">
              <a:spcAft>
                <a:spcPts val="0"/>
              </a:spcAft>
            </a:pPr>
            <a:r>
              <a:rPr sz="1000" b="1" i="0">
                <a:solidFill>
                  <a:srgbClr val="6B6B6B"/>
                </a:solidFill>
              </a:rPr>
              <a:t>MEMORY VS QUALITY</a:t>
            </a:r>
          </a:p>
        </p:txBody>
      </p:sp>
      <p:sp>
        <p:nvSpPr>
          <p:cNvPr id="14" name="TextBox 13"/>
          <p:cNvSpPr txBox="1"/>
          <p:nvPr/>
        </p:nvSpPr>
        <p:spPr>
          <a:xfrm>
            <a:off x="585216" y="3931920"/>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16-bit</a:t>
            </a:r>
          </a:p>
        </p:txBody>
      </p:sp>
      <p:sp>
        <p:nvSpPr>
          <p:cNvPr id="15" name="Rectangle 14"/>
          <p:cNvSpPr/>
          <p:nvPr/>
        </p:nvSpPr>
        <p:spPr>
          <a:xfrm>
            <a:off x="1316736" y="3977639"/>
            <a:ext cx="2926080" cy="219456"/>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25696" y="3931920"/>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the reference</a:t>
            </a:r>
          </a:p>
        </p:txBody>
      </p:sp>
      <p:sp>
        <p:nvSpPr>
          <p:cNvPr id="17" name="TextBox 16"/>
          <p:cNvSpPr txBox="1"/>
          <p:nvPr/>
        </p:nvSpPr>
        <p:spPr>
          <a:xfrm>
            <a:off x="585216" y="4279392"/>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8-bit</a:t>
            </a:r>
          </a:p>
        </p:txBody>
      </p:sp>
      <p:sp>
        <p:nvSpPr>
          <p:cNvPr id="18" name="Rectangle 17"/>
          <p:cNvSpPr/>
          <p:nvPr/>
        </p:nvSpPr>
        <p:spPr>
          <a:xfrm>
            <a:off x="1316736" y="4325112"/>
            <a:ext cx="14630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25696" y="4279392"/>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half the memory, near-zero loss — the default move</a:t>
            </a:r>
          </a:p>
        </p:txBody>
      </p:sp>
      <p:sp>
        <p:nvSpPr>
          <p:cNvPr id="20" name="TextBox 19"/>
          <p:cNvSpPr txBox="1"/>
          <p:nvPr/>
        </p:nvSpPr>
        <p:spPr>
          <a:xfrm>
            <a:off x="585216" y="4626864"/>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4-bit</a:t>
            </a:r>
          </a:p>
        </p:txBody>
      </p:sp>
      <p:sp>
        <p:nvSpPr>
          <p:cNvPr id="21" name="Rectangle 20"/>
          <p:cNvSpPr/>
          <p:nvPr/>
        </p:nvSpPr>
        <p:spPr>
          <a:xfrm>
            <a:off x="1316736" y="4672583"/>
            <a:ext cx="73152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25696" y="4626864"/>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a quarter — minor detail loss, huge reach</a:t>
            </a:r>
          </a:p>
        </p:txBody>
      </p:sp>
      <p:sp>
        <p:nvSpPr>
          <p:cNvPr id="23" name="TextBox 22"/>
          <p:cNvSpPr txBox="1"/>
          <p:nvPr/>
        </p:nvSpPr>
        <p:spPr>
          <a:xfrm>
            <a:off x="585216" y="4974336"/>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2-bit</a:t>
            </a:r>
          </a:p>
        </p:txBody>
      </p:sp>
      <p:sp>
        <p:nvSpPr>
          <p:cNvPr id="24" name="Rectangle 23"/>
          <p:cNvSpPr/>
          <p:nvPr/>
        </p:nvSpPr>
        <p:spPr>
          <a:xfrm>
            <a:off x="1316736" y="5020055"/>
            <a:ext cx="365760" cy="219456"/>
          </a:xfrm>
          <a:prstGeom prst="rect">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25696" y="4974336"/>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fits the monster MoE — measure it on your task</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Quantize until it fits, not further — Q4 is fine until it isn’t (tool calls, long context).</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Model catalog §3 (2026-09-21) · Research: hardware sizing (2026-09-21) · Research: local AI &amp; media (2026-09-19)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Text models worth running locally this month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282695"/>
        </p:xfrm>
        <a:graphic>
          <a:graphicData uri="http://schemas.openxmlformats.org/drawingml/2006/table">
            <a:tbl>
              <a:tblPr firstRow="1" bandRow="1">
                <a:tableStyleId>{5C22544A-7EE6-4342-B048-85BDC9FD1C3A}</a:tableStyleId>
              </a:tblPr>
              <a:tblGrid>
                <a:gridCol w="2395728"/>
                <a:gridCol w="1371600"/>
                <a:gridCol w="1188720"/>
                <a:gridCol w="1920240"/>
                <a:gridCol w="2505456"/>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Size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Q4 footprint</a:t>
                      </a:r>
                    </a:p>
                  </a:txBody>
                  <a:tcPr anchor="ctr" marT="36576" marB="36576">
                    <a:solidFill>
                      <a:srgbClr val="2A446F"/>
                    </a:solidFill>
                  </a:tcPr>
                </a:tc>
                <a:tc>
                  <a:txBody>
                    <a:bodyPr/>
                    <a:lstStyle/>
                    <a:p>
                      <a:r>
                        <a:rPr sz="1050" b="1">
                          <a:solidFill>
                            <a:srgbClr val="FFFFFF"/>
                          </a:solidFill>
                        </a:rPr>
                        <a:t>Why</a:t>
                      </a:r>
                    </a:p>
                  </a:txBody>
                  <a:tcPr anchor="ctr" marT="36576" marB="36576">
                    <a:solidFill>
                      <a:srgbClr val="2A446F"/>
                    </a:solidFill>
                  </a:tcPr>
                </a:tc>
              </a:tr>
              <a:tr h="571499">
                <a:tc>
                  <a:txBody>
                    <a:bodyPr/>
                    <a:lstStyle/>
                    <a:p>
                      <a:r>
                        <a:rPr sz="1050" b="1">
                          <a:solidFill>
                            <a:srgbClr val="1F1F1F"/>
                          </a:solidFill>
                        </a:rPr>
                        <a:t>Gemma 4 E2B / E4B / 12B / 26B-A4B / 31B</a:t>
                      </a:r>
                    </a:p>
                  </a:txBody>
                  <a:tcPr anchor="ctr" marT="36576" marB="36576">
                    <a:solidFill>
                      <a:srgbClr val="FFFFFF"/>
                    </a:solidFill>
                  </a:tcPr>
                </a:tc>
                <a:tc>
                  <a:txBody>
                    <a:bodyPr/>
                    <a:lstStyle/>
                    <a:p>
                      <a:r>
                        <a:rPr sz="1050" b="0">
                          <a:solidFill>
                            <a:srgbClr val="1F1F1F"/>
                          </a:solidFill>
                        </a:rPr>
                        <a:t>2–31B</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2–19 GB</a:t>
                      </a:r>
                    </a:p>
                  </a:txBody>
                  <a:tcPr anchor="ctr" marT="36576" marB="36576">
                    <a:solidFill>
                      <a:srgbClr val="FFFFFF"/>
                    </a:solidFill>
                  </a:tcPr>
                </a:tc>
                <a:tc>
                  <a:txBody>
                    <a:bodyPr/>
                    <a:lstStyle/>
                    <a:p>
                      <a:r>
                        <a:rPr sz="1050" b="0">
                          <a:solidFill>
                            <a:srgbClr val="1F1F1F"/>
                          </a:solidFill>
                        </a:rPr>
                        <a:t>text+image everywhere, audio in on E2B/E4B/12B, thinking modes, tools</a:t>
                      </a:r>
                    </a:p>
                  </a:txBody>
                  <a:tcPr anchor="ctr" marT="36576" marB="36576">
                    <a:solidFill>
                      <a:srgbClr val="FFFFFF"/>
                    </a:solidFill>
                  </a:tcPr>
                </a:tc>
              </a:tr>
              <a:tr h="411479">
                <a:tc>
                  <a:txBody>
                    <a:bodyPr/>
                    <a:lstStyle/>
                    <a:p>
                      <a:r>
                        <a:rPr sz="1050" b="1">
                          <a:solidFill>
                            <a:srgbClr val="1F1F1F"/>
                          </a:solidFill>
                        </a:rPr>
                        <a:t>Qwen3.8-27B (VL)</a:t>
                      </a:r>
                    </a:p>
                  </a:txBody>
                  <a:tcPr anchor="ctr" marT="36576" marB="36576">
                    <a:solidFill>
                      <a:srgbClr val="F3F4F8"/>
                    </a:solidFill>
                  </a:tcPr>
                </a:tc>
                <a:tc>
                  <a:txBody>
                    <a:bodyPr/>
                    <a:lstStyle/>
                    <a:p>
                      <a:r>
                        <a:rPr sz="1050" b="0">
                          <a:solidFill>
                            <a:srgbClr val="1F1F1F"/>
                          </a:solidFill>
                        </a:rPr>
                        <a:t>27B dense</a:t>
                      </a:r>
                    </a:p>
                  </a:txBody>
                  <a:tcPr anchor="ctr" marT="36576" marB="36576">
                    <a:solidFill>
                      <a:srgbClr val="F3F4F8"/>
                    </a:solidFill>
                  </a:tcPr>
                </a:tc>
                <a:tc>
                  <a:txBody>
                    <a:bodyPr/>
                    <a:lstStyle/>
                    <a:p>
                      <a:r>
                        <a:rPr sz="1050" b="0">
                          <a:solidFill>
                            <a:srgbClr val="1F1F1F"/>
                          </a:solidFill>
                        </a:rPr>
                        <a:t>Apache-2.0</a:t>
                      </a:r>
                    </a:p>
                  </a:txBody>
                  <a:tcPr anchor="ctr" marT="36576" marB="36576">
                    <a:solidFill>
                      <a:srgbClr val="F3F4F8"/>
                    </a:solidFill>
                  </a:tcPr>
                </a:tc>
                <a:tc>
                  <a:txBody>
                    <a:bodyPr/>
                    <a:lstStyle/>
                    <a:p>
                      <a:r>
                        <a:rPr sz="1050" b="0">
                          <a:solidFill>
                            <a:srgbClr val="1F1F1F"/>
                          </a:solidFill>
                        </a:rPr>
                        <a:t>~17 GB</a:t>
                      </a:r>
                    </a:p>
                  </a:txBody>
                  <a:tcPr anchor="ctr" marT="36576" marB="36576">
                    <a:solidFill>
                      <a:srgbClr val="F3F4F8"/>
                    </a:solidFill>
                  </a:tcPr>
                </a:tc>
                <a:tc>
                  <a:txBody>
                    <a:bodyPr/>
                    <a:lstStyle/>
                    <a:p>
                      <a:r>
                        <a:rPr sz="1050" b="0">
                          <a:solidFill>
                            <a:srgbClr val="1F1F1F"/>
                          </a:solidFill>
                        </a:rPr>
                        <a:t>strongest 27B; 262K–1M ctx; reasoning_effort</a:t>
                      </a:r>
                    </a:p>
                  </a:txBody>
                  <a:tcPr anchor="ctr" marT="36576" marB="36576">
                    <a:solidFill>
                      <a:srgbClr val="F3F4F8"/>
                    </a:solidFill>
                  </a:tcPr>
                </a:tc>
              </a:tr>
              <a:tr h="411479">
                <a:tc>
                  <a:txBody>
                    <a:bodyPr/>
                    <a:lstStyle/>
                    <a:p>
                      <a:r>
                        <a:rPr sz="1050" b="1">
                          <a:solidFill>
                            <a:srgbClr val="1F1F1F"/>
                          </a:solidFill>
                        </a:rPr>
                        <a:t>Muse Glimmer 30B</a:t>
                      </a:r>
                    </a:p>
                  </a:txBody>
                  <a:tcPr anchor="ctr" marT="36576" marB="36576">
                    <a:solidFill>
                      <a:srgbClr val="FFFFFF"/>
                    </a:solidFill>
                  </a:tcPr>
                </a:tc>
                <a:tc>
                  <a:txBody>
                    <a:bodyPr/>
                    <a:lstStyle/>
                    <a:p>
                      <a:r>
                        <a:rPr sz="1050" b="0">
                          <a:solidFill>
                            <a:srgbClr val="1F1F1F"/>
                          </a:solidFill>
                        </a:rPr>
                        <a:t>29.6B dense VL</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~20 GB</a:t>
                      </a:r>
                    </a:p>
                  </a:txBody>
                  <a:tcPr anchor="ctr" marT="36576" marB="36576">
                    <a:solidFill>
                      <a:srgbClr val="FFFFFF"/>
                    </a:solidFill>
                  </a:tcPr>
                </a:tc>
                <a:tc>
                  <a:txBody>
                    <a:bodyPr/>
                    <a:lstStyle/>
                    <a:p>
                      <a:r>
                        <a:rPr sz="1050" b="0">
                          <a:solidFill>
                            <a:srgbClr val="1F1F1F"/>
                          </a:solidFill>
                        </a:rPr>
                        <a:t>Meta's agentic/multimodal local model (24–32 GB GPUs, M4/M5 Max)</a:t>
                      </a:r>
                    </a:p>
                  </a:txBody>
                  <a:tcPr anchor="ctr" marT="36576" marB="36576">
                    <a:solidFill>
                      <a:srgbClr val="FFFFFF"/>
                    </a:solidFill>
                  </a:tcPr>
                </a:tc>
              </a:tr>
              <a:tr h="571499">
                <a:tc>
                  <a:txBody>
                    <a:bodyPr/>
                    <a:lstStyle/>
                    <a:p>
                      <a:r>
                        <a:rPr sz="1050" b="1">
                          <a:solidFill>
                            <a:srgbClr val="1F1F1F"/>
                          </a:solidFill>
                        </a:rPr>
                        <a:t>Mistral Small 4 · Ministral 3 (14B/8B/3B)</a:t>
                      </a:r>
                    </a:p>
                  </a:txBody>
                  <a:tcPr anchor="ctr" marT="36576" marB="36576">
                    <a:solidFill>
                      <a:srgbClr val="F3F4F8"/>
                    </a:solidFill>
                  </a:tcPr>
                </a:tc>
                <a:tc>
                  <a:txBody>
                    <a:bodyPr/>
                    <a:lstStyle/>
                    <a:p>
                      <a:r>
                        <a:rPr sz="1050" b="0">
                          <a:solidFill>
                            <a:srgbClr val="1F1F1F"/>
                          </a:solidFill>
                        </a:rPr>
                        <a:t>119B/6B · ≤14B</a:t>
                      </a:r>
                    </a:p>
                  </a:txBody>
                  <a:tcPr anchor="ctr" marT="36576" marB="36576">
                    <a:solidFill>
                      <a:srgbClr val="F3F4F8"/>
                    </a:solidFill>
                  </a:tcPr>
                </a:tc>
                <a:tc>
                  <a:txBody>
                    <a:bodyPr/>
                    <a:lstStyle/>
                    <a:p>
                      <a:r>
                        <a:rPr sz="1050" b="0">
                          <a:solidFill>
                            <a:srgbClr val="1F1F1F"/>
                          </a:solidFill>
                        </a:rPr>
                        <a:t>Apache-2.0</a:t>
                      </a:r>
                    </a:p>
                  </a:txBody>
                  <a:tcPr anchor="ctr" marT="36576" marB="36576">
                    <a:solidFill>
                      <a:srgbClr val="F3F4F8"/>
                    </a:solidFill>
                  </a:tcPr>
                </a:tc>
                <a:tc>
                  <a:txBody>
                    <a:bodyPr/>
                    <a:lstStyle/>
                    <a:p>
                      <a:r>
                        <a:rPr sz="1050" b="0">
                          <a:solidFill>
                            <a:srgbClr val="1F1F1F"/>
                          </a:solidFill>
                        </a:rPr>
                        <a:t>Small 4 needs ~64 GB; Ministral 3B ≈ 2 GB</a:t>
                      </a:r>
                    </a:p>
                  </a:txBody>
                  <a:tcPr anchor="ctr" marT="36576" marB="36576">
                    <a:solidFill>
                      <a:srgbClr val="F3F4F8"/>
                    </a:solidFill>
                  </a:tcPr>
                </a:tc>
                <a:tc>
                  <a:txBody>
                    <a:bodyPr/>
                    <a:lstStyle/>
                    <a:p>
                      <a:r>
                        <a:rPr sz="1050" b="0">
                          <a:solidFill>
                            <a:srgbClr val="1F1F1F"/>
                          </a:solidFill>
                        </a:rPr>
                        <a:t>unified instruct/reasoning/coding; smallest credible</a:t>
                      </a:r>
                    </a:p>
                  </a:txBody>
                  <a:tcPr anchor="ctr" marT="36576" marB="36576">
                    <a:solidFill>
                      <a:srgbClr val="F3F4F8"/>
                    </a:solidFill>
                  </a:tcPr>
                </a:tc>
              </a:tr>
              <a:tr h="292608">
                <a:tc>
                  <a:txBody>
                    <a:bodyPr/>
                    <a:lstStyle/>
                    <a:p>
                      <a:r>
                        <a:rPr sz="1050" b="1">
                          <a:solidFill>
                            <a:srgbClr val="1F1F1F"/>
                          </a:solidFill>
                        </a:rPr>
                        <a:t>gpt-oss-20b</a:t>
                      </a:r>
                    </a:p>
                  </a:txBody>
                  <a:tcPr anchor="ctr" marT="36576" marB="36576">
                    <a:solidFill>
                      <a:srgbClr val="FFFFFF"/>
                    </a:solidFill>
                  </a:tcPr>
                </a:tc>
                <a:tc>
                  <a:txBody>
                    <a:bodyPr/>
                    <a:lstStyle/>
                    <a:p>
                      <a:r>
                        <a:rPr sz="1050" b="0">
                          <a:solidFill>
                            <a:srgbClr val="1F1F1F"/>
                          </a:solidFill>
                        </a:rPr>
                        <a:t>21B/3.6B</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~12 GB (MXFP4)</a:t>
                      </a:r>
                    </a:p>
                  </a:txBody>
                  <a:tcPr anchor="ctr" marT="36576" marB="36576">
                    <a:solidFill>
                      <a:srgbClr val="FFFFFF"/>
                    </a:solidFill>
                  </a:tcPr>
                </a:tc>
                <a:tc>
                  <a:txBody>
                    <a:bodyPr/>
                    <a:lstStyle/>
                    <a:p>
                      <a:r>
                        <a:rPr sz="1050" b="0">
                          <a:solidFill>
                            <a:srgbClr val="1F1F1F"/>
                          </a:solidFill>
                        </a:rPr>
                        <a:t>OpenAI weights, reasoning, tools</a:t>
                      </a:r>
                    </a:p>
                  </a:txBody>
                  <a:tcPr anchor="ctr" marT="36576" marB="36576">
                    <a:solidFill>
                      <a:srgbClr val="FFFFFF"/>
                    </a:solidFill>
                  </a:tcPr>
                </a:tc>
              </a:tr>
              <a:tr h="731519">
                <a:tc>
                  <a:txBody>
                    <a:bodyPr/>
                    <a:lstStyle/>
                    <a:p>
                      <a:r>
                        <a:rPr sz="1050" b="1">
                          <a:solidFill>
                            <a:srgbClr val="1F1F1F"/>
                          </a:solidFill>
                        </a:rPr>
                        <a:t>GLM-5.3-Flash · Nemotron 3.5 Lightning · DeepSeek V4.1 Flash</a:t>
                      </a:r>
                    </a:p>
                  </a:txBody>
                  <a:tcPr anchor="ctr" marT="36576" marB="36576">
                    <a:solidFill>
                      <a:srgbClr val="F3F4F8"/>
                    </a:solidFill>
                  </a:tcPr>
                </a:tc>
                <a:tc>
                  <a:txBody>
                    <a:bodyPr/>
                    <a:lstStyle/>
                    <a:p>
                      <a:r>
                        <a:rPr sz="1050" b="0">
                          <a:solidFill>
                            <a:srgbClr val="1F1F1F"/>
                          </a:solidFill>
                        </a:rPr>
                        <a:t>320B/18B · 30B/3B · 552B/8B–16B</a:t>
                      </a:r>
                    </a:p>
                  </a:txBody>
                  <a:tcPr anchor="ctr" marT="36576" marB="36576">
                    <a:solidFill>
                      <a:srgbClr val="F3F4F8"/>
                    </a:solidFill>
                  </a:tcPr>
                </a:tc>
                <a:tc>
                  <a:txBody>
                    <a:bodyPr/>
                    <a:lstStyle/>
                    <a:p>
                      <a:r>
                        <a:rPr sz="1050" b="0">
                          <a:solidFill>
                            <a:srgbClr val="1F1F1F"/>
                          </a:solidFill>
                        </a:rPr>
                        <a:t>MIT · OpenMDW · MIT</a:t>
                      </a:r>
                    </a:p>
                  </a:txBody>
                  <a:tcPr anchor="ctr" marT="36576" marB="36576">
                    <a:solidFill>
                      <a:srgbClr val="F3F4F8"/>
                    </a:solidFill>
                  </a:tcPr>
                </a:tc>
                <a:tc>
                  <a:txBody>
                    <a:bodyPr/>
                    <a:lstStyle/>
                    <a:p>
                      <a:r>
                        <a:rPr sz="1050" b="0">
                          <a:solidFill>
                            <a:srgbClr val="1F1F1F"/>
                          </a:solidFill>
                        </a:rPr>
                        <a:t>128 GB-class boxes (Spark, Halo, Mac Studio) for Flash/V4.1; Lightning ~18 GB</a:t>
                      </a:r>
                    </a:p>
                  </a:txBody>
                  <a:tcPr anchor="ctr" marT="36576" marB="36576">
                    <a:solidFill>
                      <a:srgbClr val="F3F4F8"/>
                    </a:solidFill>
                  </a:tcPr>
                </a:tc>
                <a:tc>
                  <a:txBody>
                    <a:bodyPr/>
                    <a:lstStyle/>
                    <a:p>
                      <a:r>
                        <a:rPr sz="1050" b="0">
                          <a:solidFill>
                            <a:srgbClr val="1F1F1F"/>
                          </a:solidFill>
                        </a:rPr>
                        <a:t>MoE with tiny active sets — the 2026 "big weights, small compute" pattern</a:t>
                      </a:r>
                    </a:p>
                  </a:txBody>
                  <a:tcPr anchor="ctr" marT="36576" marB="36576">
                    <a:solidFill>
                      <a:srgbClr val="F3F4F8"/>
                    </a:solidFill>
                  </a:tcPr>
                </a:tc>
              </a:tr>
            </a:tbl>
          </a:graphicData>
        </a:graphic>
      </p:graphicFrame>
      <p:sp>
        <p:nvSpPr>
          <p:cNvPr id="5" name="Oval 4"/>
          <p:cNvSpPr/>
          <p:nvPr/>
        </p:nvSpPr>
        <p:spPr>
          <a:xfrm>
            <a:off x="612647" y="186766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35915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77063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26212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694176"/>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206240"/>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480517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78231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480517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478231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4431284" y="480517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3308" y="478231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Most rows run in Ollama — same base_url, same Lab-1 code.</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Gemma 4 model card · Qwen3.8-27B model card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Gemma 4 E4B hears you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A small open model with ears: ask out loud — this laptop transcribes and answers, no cloud.</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729740"/>
          </a:xfrm>
          <a:prstGeom prst="rect">
            <a:avLst/>
          </a:prstGeom>
          <a:noFill/>
        </p:spPr>
        <p:txBody>
          <a:bodyPr wrap="square" lIns="0" rIns="0" tIns="0" bIns="0" anchor="t">
            <a:spAutoFit/>
          </a:bodyPr>
          <a:lstStyle/>
          <a:p>
            <a:pPr algn="l">
              <a:spcAft>
                <a:spcPts val="900"/>
              </a:spcAft>
            </a:pPr>
            <a:r>
              <a:rPr sz="1400" b="0" i="0">
                <a:solidFill>
                  <a:srgbClr val="1F1F1F"/>
                </a:solidFill>
              </a:rPr>
              <a:t>1. Show gemma4:e4b pulled (9.6 GB) and warm</a:t>
            </a:r>
          </a:p>
          <a:p>
            <a:pPr algn="l">
              <a:spcAft>
                <a:spcPts val="900"/>
              </a:spcAft>
            </a:pPr>
            <a:r>
              <a:rPr sz="1400" b="0" i="0">
                <a:solidFill>
                  <a:srgbClr val="1F1F1F"/>
                </a:solidFill>
              </a:rPr>
              <a:t>2. Record a 5-second question from the room</a:t>
            </a:r>
          </a:p>
          <a:p>
            <a:pPr algn="l">
              <a:spcAft>
                <a:spcPts val="900"/>
              </a:spcAft>
            </a:pPr>
            <a:r>
              <a:rPr sz="1400" b="0" i="0">
                <a:solidFill>
                  <a:srgbClr val="1F1F1F"/>
                </a:solidFill>
              </a:rPr>
              <a:t>3. Send the audio with “answer in one sentence”</a:t>
            </a:r>
          </a:p>
          <a:p>
            <a:pPr algn="l">
              <a:spcAft>
                <a:spcPts val="900"/>
              </a:spcAft>
            </a:pPr>
            <a:r>
              <a:rPr sz="1400" b="0" i="0">
                <a:solidFill>
                  <a:srgbClr val="1F1F1F"/>
                </a:solidFill>
              </a:rPr>
              <a:t>4. Read the answer on screen — Wi-Fi off to prove it</a:t>
            </a:r>
          </a:p>
          <a:p>
            <a:pPr algn="l">
              <a:spcAft>
                <a:spcPts val="900"/>
              </a:spcAft>
            </a:pPr>
            <a:r>
              <a:rPr sz="1400" b="0" i="0">
                <a:solidFill>
                  <a:srgbClr val="1F1F1F"/>
                </a:solidFill>
              </a:rPr>
              <a:t>5. Type the same question: compare</a:t>
            </a:r>
          </a:p>
        </p:txBody>
      </p:sp>
      <p:sp>
        <p:nvSpPr>
          <p:cNvPr id="11" name="Rounded Rectangle 10"/>
          <p:cNvSpPr/>
          <p:nvPr/>
        </p:nvSpPr>
        <p:spPr>
          <a:xfrm>
            <a:off x="5029200" y="342137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5859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04317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recorded clip and its answer</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Gemma 4 model card · Framework verification §7 (2026-09-22)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How an image is made: five stages, one denoising loop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4114800" y="1389888"/>
            <a:ext cx="3767328" cy="1810512"/>
          </a:xfrm>
          <a:prstGeom prst="roundRect">
            <a:avLst>
              <a:gd name="adj" fmla="val 8000"/>
            </a:avLst>
          </a:prstGeom>
          <a:noFill/>
          <a:ln w="19050">
            <a:solidFill>
              <a:srgbClr val="007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42816" y="1444752"/>
            <a:ext cx="3566160" cy="274320"/>
          </a:xfrm>
          <a:prstGeom prst="rect">
            <a:avLst/>
          </a:prstGeom>
          <a:noFill/>
        </p:spPr>
        <p:txBody>
          <a:bodyPr wrap="square" lIns="0" rIns="0" tIns="0" bIns="0" anchor="t">
            <a:spAutoFit/>
          </a:bodyPr>
          <a:lstStyle/>
          <a:p>
            <a:pPr algn="l">
              <a:spcAft>
                <a:spcPts val="0"/>
              </a:spcAft>
            </a:pPr>
            <a:r>
              <a:rPr sz="1100" b="1" i="0">
                <a:solidFill>
                  <a:srgbClr val="0078D4"/>
                </a:solidFill>
              </a:rPr>
              <a:t>LATENT SPACE · 16 channels, not pixels</a:t>
            </a:r>
          </a:p>
        </p:txBody>
      </p:sp>
      <p:sp>
        <p:nvSpPr>
          <p:cNvPr id="6" name="Rounded Rectangle 5"/>
          <p:cNvSpPr/>
          <p:nvPr/>
        </p:nvSpPr>
        <p:spPr>
          <a:xfrm>
            <a:off x="585216" y="1938528"/>
            <a:ext cx="1371600" cy="71323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a:p>
            <a:pPr algn="ctr"/>
            <a:r>
              <a:rPr sz="1200" b="0" i="0">
                <a:solidFill>
                  <a:srgbClr val="1F1F1F"/>
                </a:solidFill>
              </a:rPr>
              <a:t>“a fox, cinematic”</a:t>
            </a:r>
          </a:p>
        </p:txBody>
      </p:sp>
      <p:sp>
        <p:nvSpPr>
          <p:cNvPr id="7" name="Rounded Rectangle 6"/>
          <p:cNvSpPr/>
          <p:nvPr/>
        </p:nvSpPr>
        <p:spPr>
          <a:xfrm>
            <a:off x="2276856" y="1938528"/>
            <a:ext cx="1517904" cy="713232"/>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TEXT ENCODER</a:t>
            </a:r>
          </a:p>
          <a:p>
            <a:pPr algn="ctr"/>
            <a:r>
              <a:rPr sz="1200" b="0" i="0">
                <a:solidFill>
                  <a:srgbClr val="FFFFFF"/>
                </a:solidFill>
              </a:rPr>
              <a:t>CLIP · T5 · LLM</a:t>
            </a:r>
          </a:p>
        </p:txBody>
      </p:sp>
      <p:sp>
        <p:nvSpPr>
          <p:cNvPr id="8" name="Rounded Rectangle 7"/>
          <p:cNvSpPr/>
          <p:nvPr/>
        </p:nvSpPr>
        <p:spPr>
          <a:xfrm>
            <a:off x="4315968" y="1938528"/>
            <a:ext cx="1463040" cy="713232"/>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DENOISER</a:t>
            </a:r>
          </a:p>
          <a:p>
            <a:pPr algn="ctr"/>
            <a:r>
              <a:rPr sz="1200" b="0" i="0">
                <a:solidFill>
                  <a:srgbClr val="FFFFFF"/>
                </a:solidFill>
              </a:rPr>
              <a:t>UNet or DiT</a:t>
            </a:r>
          </a:p>
        </p:txBody>
      </p:sp>
      <p:sp>
        <p:nvSpPr>
          <p:cNvPr id="9" name="Rounded Rectangle 8"/>
          <p:cNvSpPr/>
          <p:nvPr/>
        </p:nvSpPr>
        <p:spPr>
          <a:xfrm>
            <a:off x="6217920" y="1938528"/>
            <a:ext cx="1463040" cy="713232"/>
          </a:xfrm>
          <a:prstGeom prst="roundRect">
            <a:avLst>
              <a:gd name="adj" fmla="val 12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SAMPLER</a:t>
            </a:r>
          </a:p>
          <a:p>
            <a:pPr algn="ctr"/>
            <a:r>
              <a:rPr sz="1200" b="0" i="0">
                <a:solidFill>
                  <a:srgbClr val="1F1F1F"/>
                </a:solidFill>
              </a:rPr>
              <a:t>steps · CFG</a:t>
            </a:r>
          </a:p>
        </p:txBody>
      </p:sp>
      <p:sp>
        <p:nvSpPr>
          <p:cNvPr id="10" name="Rounded Rectangle 9"/>
          <p:cNvSpPr/>
          <p:nvPr/>
        </p:nvSpPr>
        <p:spPr>
          <a:xfrm>
            <a:off x="8202168" y="1938528"/>
            <a:ext cx="1024128" cy="71323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VAE</a:t>
            </a:r>
          </a:p>
          <a:p>
            <a:pPr algn="ctr"/>
            <a:r>
              <a:rPr sz="1200" b="0" i="0">
                <a:solidFill>
                  <a:srgbClr val="FFFFFF"/>
                </a:solidFill>
              </a:rPr>
              <a:t>decoder</a:t>
            </a:r>
          </a:p>
        </p:txBody>
      </p:sp>
      <p:sp>
        <p:nvSpPr>
          <p:cNvPr id="11" name="Rounded Rectangle 10"/>
          <p:cNvSpPr/>
          <p:nvPr/>
        </p:nvSpPr>
        <p:spPr>
          <a:xfrm>
            <a:off x="9491472" y="1938528"/>
            <a:ext cx="749807" cy="713232"/>
          </a:xfrm>
          <a:prstGeom prst="roundRect">
            <a:avLst>
              <a:gd name="adj" fmla="val 12000"/>
            </a:avLst>
          </a:prstGeom>
          <a:solidFill>
            <a:srgbClr val="FFFFFF"/>
          </a:solidFill>
          <a:ln w="12700">
            <a:solidFill>
              <a:srgbClr val="2A7F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7F5C"/>
                </a:solidFill>
              </a:rPr>
              <a:t>IMAGE</a:t>
            </a:r>
          </a:p>
        </p:txBody>
      </p:sp>
      <p:cxnSp>
        <p:nvCxnSpPr>
          <p:cNvPr id="12" name="Connector 11"/>
          <p:cNvCxnSpPr/>
          <p:nvPr/>
        </p:nvCxnSpPr>
        <p:spPr>
          <a:xfrm>
            <a:off x="1993392" y="2295144"/>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31336" y="2295144"/>
            <a:ext cx="44805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815584" y="2295144"/>
            <a:ext cx="36576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17536" y="2295144"/>
            <a:ext cx="44805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262872" y="2295144"/>
            <a:ext cx="1920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49440" y="2670048"/>
            <a:ext cx="0" cy="256032"/>
          </a:xfrm>
          <a:prstGeom prst="line">
            <a:avLst/>
          </a:prstGeom>
          <a:ln w="22225">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047488" y="2926080"/>
            <a:ext cx="1901952" cy="0"/>
          </a:xfrm>
          <a:prstGeom prst="line">
            <a:avLst/>
          </a:prstGeom>
          <a:ln w="22225">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047488" y="2679192"/>
            <a:ext cx="0" cy="246888"/>
          </a:xfrm>
          <a:prstGeom prst="line">
            <a:avLst/>
          </a:prstGeom>
          <a:ln w="2222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138927" y="2944368"/>
            <a:ext cx="1719072" cy="274320"/>
          </a:xfrm>
          <a:prstGeom prst="rect">
            <a:avLst/>
          </a:prstGeom>
          <a:noFill/>
        </p:spPr>
        <p:txBody>
          <a:bodyPr wrap="square" lIns="0" rIns="0" tIns="0" bIns="0" anchor="t">
            <a:spAutoFit/>
          </a:bodyPr>
          <a:lstStyle/>
          <a:p>
            <a:pPr algn="ctr">
              <a:spcAft>
                <a:spcPts val="0"/>
              </a:spcAft>
            </a:pPr>
            <a:r>
              <a:rPr sz="1100" b="0" i="0">
                <a:solidFill>
                  <a:srgbClr val="0078D4"/>
                </a:solidFill>
              </a:rPr>
              <a:t>one pass per step</a:t>
            </a:r>
          </a:p>
        </p:txBody>
      </p:sp>
      <p:sp>
        <p:nvSpPr>
          <p:cNvPr id="21" name="Rounded Rectangle 20"/>
          <p:cNvSpPr/>
          <p:nvPr/>
        </p:nvSpPr>
        <p:spPr>
          <a:xfrm>
            <a:off x="585216" y="3401568"/>
            <a:ext cx="3063240" cy="132588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5216" y="3529584"/>
            <a:ext cx="3063240" cy="320040"/>
          </a:xfrm>
          <a:prstGeom prst="rect">
            <a:avLst/>
          </a:prstGeom>
          <a:noFill/>
        </p:spPr>
        <p:txBody>
          <a:bodyPr wrap="square" lIns="0" rIns="0" tIns="0" bIns="0" anchor="t">
            <a:spAutoFit/>
          </a:bodyPr>
          <a:lstStyle/>
          <a:p>
            <a:pPr algn="ctr">
              <a:spcAft>
                <a:spcPts val="0"/>
              </a:spcAft>
            </a:pPr>
            <a:r>
              <a:rPr sz="1400" b="0" i="1">
                <a:solidFill>
                  <a:srgbClr val="2A446F"/>
                </a:solidFill>
              </a:rPr>
              <a:t>“a fox, cinematic”</a:t>
            </a:r>
          </a:p>
        </p:txBody>
      </p:sp>
      <p:cxnSp>
        <p:nvCxnSpPr>
          <p:cNvPr id="23" name="Connector 22"/>
          <p:cNvCxnSpPr/>
          <p:nvPr/>
        </p:nvCxnSpPr>
        <p:spPr>
          <a:xfrm>
            <a:off x="2116836" y="3904488"/>
            <a:ext cx="0" cy="27432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85216" y="4242816"/>
            <a:ext cx="3063240" cy="320040"/>
          </a:xfrm>
          <a:prstGeom prst="rect">
            <a:avLst/>
          </a:prstGeom>
          <a:noFill/>
        </p:spPr>
        <p:txBody>
          <a:bodyPr wrap="square" lIns="0" rIns="0" tIns="0" bIns="0" anchor="t">
            <a:spAutoFit/>
          </a:bodyPr>
          <a:lstStyle/>
          <a:p>
            <a:pPr algn="ctr">
              <a:spcAft>
                <a:spcPts val="0"/>
              </a:spcAft>
            </a:pPr>
            <a:r>
              <a:rPr sz="1300" b="0" i="0">
                <a:solidFill>
                  <a:srgbClr val="2A446F"/>
                </a:solidFill>
                <a:latin typeface="Consolas"/>
              </a:rPr>
              <a:t>[ 0.12, −0.83, 0.47, … ]</a:t>
            </a:r>
          </a:p>
        </p:txBody>
      </p:sp>
      <p:pic>
        <p:nvPicPr>
          <p:cNvPr id="25" name="Picture 24" descr="meme_suitcase_46063dcb48ca.jpg"/>
          <p:cNvPicPr>
            <a:picLocks noChangeAspect="1"/>
          </p:cNvPicPr>
          <p:nvPr/>
        </p:nvPicPr>
        <p:blipFill>
          <a:blip r:embed="rId3"/>
          <a:stretch>
            <a:fillRect/>
          </a:stretch>
        </p:blipFill>
        <p:spPr>
          <a:xfrm>
            <a:off x="4418838" y="3401568"/>
            <a:ext cx="1988819" cy="1325880"/>
          </a:xfrm>
          <a:prstGeom prst="roundRect">
            <a:avLst>
              <a:gd name="adj" fmla="val 4000"/>
            </a:avLst>
          </a:prstGeom>
        </p:spPr>
      </p:pic>
      <p:pic>
        <p:nvPicPr>
          <p:cNvPr id="26" name="Picture 25" descr="meme_customs_561bd3c50cea.jpg"/>
          <p:cNvPicPr>
            <a:picLocks noChangeAspect="1"/>
          </p:cNvPicPr>
          <p:nvPr/>
        </p:nvPicPr>
        <p:blipFill>
          <a:blip r:embed="rId4"/>
          <a:stretch>
            <a:fillRect/>
          </a:stretch>
        </p:blipFill>
        <p:spPr>
          <a:xfrm>
            <a:off x="7494270" y="3401568"/>
            <a:ext cx="2430780" cy="1325880"/>
          </a:xfrm>
          <a:prstGeom prst="roundRect">
            <a:avLst>
              <a:gd name="adj" fmla="val 4000"/>
            </a:avLst>
          </a:prstGeom>
        </p:spPr>
      </p:pic>
      <p:sp>
        <p:nvSpPr>
          <p:cNvPr id="27" name="TextBox 26"/>
          <p:cNvSpPr txBox="1"/>
          <p:nvPr/>
        </p:nvSpPr>
        <p:spPr>
          <a:xfrm>
            <a:off x="585216" y="4800600"/>
            <a:ext cx="3063240" cy="502920"/>
          </a:xfrm>
          <a:prstGeom prst="rect">
            <a:avLst/>
          </a:prstGeom>
          <a:noFill/>
        </p:spPr>
        <p:txBody>
          <a:bodyPr wrap="square" lIns="0" rIns="0" tIns="0" bIns="0" anchor="t">
            <a:spAutoFit/>
          </a:bodyPr>
          <a:lstStyle/>
          <a:p>
            <a:pPr algn="ctr">
              <a:spcAft>
                <a:spcPts val="0"/>
              </a:spcAft>
            </a:pPr>
            <a:r>
              <a:rPr sz="1100" b="1" i="0">
                <a:solidFill>
                  <a:srgbClr val="1F1F1F"/>
                </a:solidFill>
              </a:rPr>
              <a:t>TEXT ENCODER</a:t>
            </a:r>
            <a:r>
              <a:rPr sz="1100" b="0" i="0">
                <a:solidFill>
                  <a:srgbClr val="1F1F1F"/>
                </a:solidFill>
              </a:rPr>
              <a:t> · the interpreter: your prompt becomes numbers</a:t>
            </a:r>
          </a:p>
        </p:txBody>
      </p:sp>
      <p:sp>
        <p:nvSpPr>
          <p:cNvPr id="28" name="TextBox 27"/>
          <p:cNvSpPr txBox="1"/>
          <p:nvPr/>
        </p:nvSpPr>
        <p:spPr>
          <a:xfrm>
            <a:off x="3881628" y="4800600"/>
            <a:ext cx="3063240" cy="502920"/>
          </a:xfrm>
          <a:prstGeom prst="rect">
            <a:avLst/>
          </a:prstGeom>
          <a:noFill/>
        </p:spPr>
        <p:txBody>
          <a:bodyPr wrap="square" lIns="0" rIns="0" tIns="0" bIns="0" anchor="t">
            <a:spAutoFit/>
          </a:bodyPr>
          <a:lstStyle/>
          <a:p>
            <a:pPr algn="ctr">
              <a:spcAft>
                <a:spcPts val="0"/>
              </a:spcAft>
            </a:pPr>
            <a:r>
              <a:rPr sz="1100" b="1" i="0">
                <a:solidFill>
                  <a:srgbClr val="1F1F1F"/>
                </a:solidFill>
              </a:rPr>
              <a:t>LATENT</a:t>
            </a:r>
            <a:r>
              <a:rPr sz="1100" b="0" i="0">
                <a:solidFill>
                  <a:srgbClr val="1F1F1F"/>
                </a:solidFill>
              </a:rPr>
              <a:t> · the suitcase: ~48× smaller, still a fox</a:t>
            </a:r>
          </a:p>
        </p:txBody>
      </p:sp>
      <p:sp>
        <p:nvSpPr>
          <p:cNvPr id="29" name="TextBox 28"/>
          <p:cNvSpPr txBox="1"/>
          <p:nvPr/>
        </p:nvSpPr>
        <p:spPr>
          <a:xfrm>
            <a:off x="7178040" y="4800600"/>
            <a:ext cx="3063240" cy="502920"/>
          </a:xfrm>
          <a:prstGeom prst="rect">
            <a:avLst/>
          </a:prstGeom>
          <a:noFill/>
        </p:spPr>
        <p:txBody>
          <a:bodyPr wrap="square" lIns="0" rIns="0" tIns="0" bIns="0" anchor="t">
            <a:spAutoFit/>
          </a:bodyPr>
          <a:lstStyle/>
          <a:p>
            <a:pPr algn="ctr">
              <a:spcAft>
                <a:spcPts val="0"/>
              </a:spcAft>
            </a:pPr>
            <a:r>
              <a:rPr sz="1100" b="1" i="0">
                <a:solidFill>
                  <a:srgbClr val="1F1F1F"/>
                </a:solidFill>
              </a:rPr>
              <a:t>VAE</a:t>
            </a:r>
            <a:r>
              <a:rPr sz="1100" b="0" i="0">
                <a:solidFill>
                  <a:srgbClr val="1F1F1F"/>
                </a:solidFill>
              </a:rPr>
              <a:t> · the customs office between pixel land and latent land</a:t>
            </a:r>
          </a:p>
        </p:txBody>
      </p:sp>
      <p:sp>
        <p:nvSpPr>
          <p:cNvPr id="30" name="TextBox 2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Every control trick in this segment docks onto exactly this loop.</a:t>
            </a:r>
          </a:p>
        </p:txBody>
      </p:sp>
      <p:sp>
        <p:nvSpPr>
          <p:cNvPr id="31" name="TextBox 3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UNet → MMDiT, diffusion → flow: why steps fell to 1–8</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71600"/>
            <a:ext cx="3017520" cy="2212848"/>
          </a:xfrm>
          <a:prstGeom prst="roundRect">
            <a:avLst>
              <a:gd name="adj" fmla="val 5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435608"/>
            <a:ext cx="2761487" cy="274320"/>
          </a:xfrm>
          <a:prstGeom prst="rect">
            <a:avLst/>
          </a:prstGeom>
          <a:noFill/>
        </p:spPr>
        <p:txBody>
          <a:bodyPr wrap="square" lIns="0" rIns="0" tIns="0" bIns="0" anchor="t">
            <a:spAutoFit/>
          </a:bodyPr>
          <a:lstStyle/>
          <a:p>
            <a:pPr algn="l">
              <a:spcAft>
                <a:spcPts val="0"/>
              </a:spcAft>
            </a:pPr>
            <a:r>
              <a:rPr sz="1100" b="1" i="0">
                <a:solidFill>
                  <a:srgbClr val="2A446F"/>
                </a:solidFill>
              </a:rPr>
              <a:t>UNET ERA · cross-attention</a:t>
            </a:r>
          </a:p>
        </p:txBody>
      </p:sp>
      <p:sp>
        <p:nvSpPr>
          <p:cNvPr id="6" name="TextBox 5"/>
          <p:cNvSpPr txBox="1"/>
          <p:nvPr/>
        </p:nvSpPr>
        <p:spPr>
          <a:xfrm>
            <a:off x="713232" y="3200400"/>
            <a:ext cx="2761487" cy="274320"/>
          </a:xfrm>
          <a:prstGeom prst="rect">
            <a:avLst/>
          </a:prstGeom>
          <a:noFill/>
        </p:spPr>
        <p:txBody>
          <a:bodyPr wrap="square" lIns="0" rIns="0" tIns="0" bIns="0" anchor="t">
            <a:spAutoFit/>
          </a:bodyPr>
          <a:lstStyle/>
          <a:p>
            <a:pPr algn="l">
              <a:spcAft>
                <a:spcPts val="0"/>
              </a:spcAft>
            </a:pPr>
            <a:r>
              <a:rPr sz="1100" b="0" i="1">
                <a:solidFill>
                  <a:srgbClr val="6B6B6B"/>
                </a:solidFill>
              </a:rPr>
              <a:t>patches listen, never answer</a:t>
            </a:r>
          </a:p>
        </p:txBody>
      </p:sp>
      <p:sp>
        <p:nvSpPr>
          <p:cNvPr id="7" name="Rounded Rectangle 6"/>
          <p:cNvSpPr/>
          <p:nvPr/>
        </p:nvSpPr>
        <p:spPr>
          <a:xfrm>
            <a:off x="3749039" y="1371600"/>
            <a:ext cx="3063240" cy="2212848"/>
          </a:xfrm>
          <a:prstGeom prst="roundRect">
            <a:avLst>
              <a:gd name="adj" fmla="val 5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877055" y="1435608"/>
            <a:ext cx="2807208" cy="274320"/>
          </a:xfrm>
          <a:prstGeom prst="rect">
            <a:avLst/>
          </a:prstGeom>
          <a:noFill/>
        </p:spPr>
        <p:txBody>
          <a:bodyPr wrap="square" lIns="0" rIns="0" tIns="0" bIns="0" anchor="t">
            <a:spAutoFit/>
          </a:bodyPr>
          <a:lstStyle/>
          <a:p>
            <a:pPr algn="l">
              <a:spcAft>
                <a:spcPts val="0"/>
              </a:spcAft>
            </a:pPr>
            <a:r>
              <a:rPr sz="1100" b="1" i="0">
                <a:solidFill>
                  <a:srgbClr val="2A446F"/>
                </a:solidFill>
              </a:rPr>
              <a:t>MMDiT · one attention table</a:t>
            </a:r>
          </a:p>
        </p:txBody>
      </p:sp>
      <p:sp>
        <p:nvSpPr>
          <p:cNvPr id="9" name="TextBox 8"/>
          <p:cNvSpPr txBox="1"/>
          <p:nvPr/>
        </p:nvSpPr>
        <p:spPr>
          <a:xfrm>
            <a:off x="3877055" y="3200400"/>
            <a:ext cx="2807208" cy="274320"/>
          </a:xfrm>
          <a:prstGeom prst="rect">
            <a:avLst/>
          </a:prstGeom>
          <a:noFill/>
        </p:spPr>
        <p:txBody>
          <a:bodyPr wrap="square" lIns="0" rIns="0" tIns="0" bIns="0" anchor="t">
            <a:spAutoFit/>
          </a:bodyPr>
          <a:lstStyle/>
          <a:p>
            <a:pPr algn="l">
              <a:spcAft>
                <a:spcPts val="0"/>
              </a:spcAft>
            </a:pPr>
            <a:r>
              <a:rPr sz="1100" b="0" i="1">
                <a:solidFill>
                  <a:srgbClr val="6B6B6B"/>
                </a:solidFill>
              </a:rPr>
              <a:t>everyone talks to everyone</a:t>
            </a:r>
          </a:p>
        </p:txBody>
      </p:sp>
      <p:sp>
        <p:nvSpPr>
          <p:cNvPr id="10" name="Rounded Rectangle 9"/>
          <p:cNvSpPr/>
          <p:nvPr/>
        </p:nvSpPr>
        <p:spPr>
          <a:xfrm>
            <a:off x="731520" y="2148840"/>
            <a:ext cx="841248" cy="566928"/>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text</a:t>
            </a:r>
          </a:p>
          <a:p>
            <a:pPr algn="ctr"/>
            <a:r>
              <a:rPr sz="1100" b="0" i="0">
                <a:solidFill>
                  <a:srgbClr val="FFFFFF"/>
                </a:solidFill>
              </a:rPr>
              <a:t>tokens</a:t>
            </a:r>
          </a:p>
        </p:txBody>
      </p:sp>
      <p:cxnSp>
        <p:nvCxnSpPr>
          <p:cNvPr id="11" name="Connector 10"/>
          <p:cNvCxnSpPr/>
          <p:nvPr/>
        </p:nvCxnSpPr>
        <p:spPr>
          <a:xfrm flipV="1">
            <a:off x="1591056" y="1984248"/>
            <a:ext cx="256032" cy="448056"/>
          </a:xfrm>
          <a:prstGeom prst="line">
            <a:avLst/>
          </a:prstGeom>
          <a:ln w="19050">
            <a:solidFill>
              <a:srgbClr val="2A7F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74519"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P1</a:t>
            </a:r>
          </a:p>
        </p:txBody>
      </p:sp>
      <p:sp>
        <p:nvSpPr>
          <p:cNvPr id="13" name="Rounded Rectangle 12"/>
          <p:cNvSpPr/>
          <p:nvPr/>
        </p:nvSpPr>
        <p:spPr>
          <a:xfrm>
            <a:off x="2395727"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P2</a:t>
            </a:r>
          </a:p>
        </p:txBody>
      </p:sp>
      <p:sp>
        <p:nvSpPr>
          <p:cNvPr id="14" name="Rounded Rectangle 13"/>
          <p:cNvSpPr/>
          <p:nvPr/>
        </p:nvSpPr>
        <p:spPr>
          <a:xfrm>
            <a:off x="2916935"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P3</a:t>
            </a:r>
          </a:p>
        </p:txBody>
      </p:sp>
      <p:cxnSp>
        <p:nvCxnSpPr>
          <p:cNvPr id="15" name="Connector 14"/>
          <p:cNvCxnSpPr/>
          <p:nvPr/>
        </p:nvCxnSpPr>
        <p:spPr>
          <a:xfrm flipV="1">
            <a:off x="1591056" y="2423160"/>
            <a:ext cx="256032" cy="9144"/>
          </a:xfrm>
          <a:prstGeom prst="line">
            <a:avLst/>
          </a:prstGeom>
          <a:ln w="19050">
            <a:solidFill>
              <a:srgbClr val="2A7F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874519" y="2249424"/>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P4</a:t>
            </a:r>
          </a:p>
        </p:txBody>
      </p:sp>
      <p:sp>
        <p:nvSpPr>
          <p:cNvPr id="17" name="Rounded Rectangle 16"/>
          <p:cNvSpPr/>
          <p:nvPr/>
        </p:nvSpPr>
        <p:spPr>
          <a:xfrm>
            <a:off x="2395727" y="2249424"/>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P5</a:t>
            </a:r>
          </a:p>
        </p:txBody>
      </p:sp>
      <p:sp>
        <p:nvSpPr>
          <p:cNvPr id="18" name="Rounded Rectangle 17"/>
          <p:cNvSpPr/>
          <p:nvPr/>
        </p:nvSpPr>
        <p:spPr>
          <a:xfrm>
            <a:off x="2916935" y="2249424"/>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P6</a:t>
            </a:r>
          </a:p>
        </p:txBody>
      </p:sp>
      <p:cxnSp>
        <p:nvCxnSpPr>
          <p:cNvPr id="19" name="Connector 18"/>
          <p:cNvCxnSpPr/>
          <p:nvPr/>
        </p:nvCxnSpPr>
        <p:spPr>
          <a:xfrm>
            <a:off x="1591056" y="2432304"/>
            <a:ext cx="256032" cy="429768"/>
          </a:xfrm>
          <a:prstGeom prst="line">
            <a:avLst/>
          </a:prstGeom>
          <a:ln w="19050">
            <a:solidFill>
              <a:srgbClr val="2A7F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874519" y="2688336"/>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P7</a:t>
            </a:r>
          </a:p>
        </p:txBody>
      </p:sp>
      <p:sp>
        <p:nvSpPr>
          <p:cNvPr id="21" name="Rounded Rectangle 20"/>
          <p:cNvSpPr/>
          <p:nvPr/>
        </p:nvSpPr>
        <p:spPr>
          <a:xfrm>
            <a:off x="2395727" y="2688336"/>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P8</a:t>
            </a:r>
          </a:p>
        </p:txBody>
      </p:sp>
      <p:sp>
        <p:nvSpPr>
          <p:cNvPr id="22" name="Rounded Rectangle 21"/>
          <p:cNvSpPr/>
          <p:nvPr/>
        </p:nvSpPr>
        <p:spPr>
          <a:xfrm>
            <a:off x="2916935" y="2688336"/>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P9</a:t>
            </a:r>
          </a:p>
        </p:txBody>
      </p:sp>
      <p:cxnSp>
        <p:nvCxnSpPr>
          <p:cNvPr id="23" name="Connector 22"/>
          <p:cNvCxnSpPr/>
          <p:nvPr/>
        </p:nvCxnSpPr>
        <p:spPr>
          <a:xfrm>
            <a:off x="41605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605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1605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60520" y="2157984"/>
            <a:ext cx="20574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41605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8463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463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8463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605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48463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321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5321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160520" y="2157984"/>
            <a:ext cx="20574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8463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5321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2179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931920" y="1810512"/>
            <a:ext cx="457200" cy="347472"/>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T1</a:t>
            </a:r>
          </a:p>
        </p:txBody>
      </p:sp>
      <p:sp>
        <p:nvSpPr>
          <p:cNvPr id="40" name="Rounded Rectangle 39"/>
          <p:cNvSpPr/>
          <p:nvPr/>
        </p:nvSpPr>
        <p:spPr>
          <a:xfrm>
            <a:off x="4617720"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P1</a:t>
            </a:r>
          </a:p>
        </p:txBody>
      </p:sp>
      <p:sp>
        <p:nvSpPr>
          <p:cNvPr id="41" name="Rounded Rectangle 40"/>
          <p:cNvSpPr/>
          <p:nvPr/>
        </p:nvSpPr>
        <p:spPr>
          <a:xfrm>
            <a:off x="5303520" y="1810512"/>
            <a:ext cx="457200" cy="347472"/>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T2</a:t>
            </a:r>
          </a:p>
        </p:txBody>
      </p:sp>
      <p:sp>
        <p:nvSpPr>
          <p:cNvPr id="42" name="Rounded Rectangle 41"/>
          <p:cNvSpPr/>
          <p:nvPr/>
        </p:nvSpPr>
        <p:spPr>
          <a:xfrm>
            <a:off x="5989320"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P2</a:t>
            </a:r>
          </a:p>
        </p:txBody>
      </p:sp>
      <p:sp>
        <p:nvSpPr>
          <p:cNvPr id="43" name="Rounded Rectangle 42"/>
          <p:cNvSpPr/>
          <p:nvPr/>
        </p:nvSpPr>
        <p:spPr>
          <a:xfrm>
            <a:off x="3931920" y="2651760"/>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P3</a:t>
            </a:r>
          </a:p>
        </p:txBody>
      </p:sp>
      <p:sp>
        <p:nvSpPr>
          <p:cNvPr id="44" name="Rounded Rectangle 43"/>
          <p:cNvSpPr/>
          <p:nvPr/>
        </p:nvSpPr>
        <p:spPr>
          <a:xfrm>
            <a:off x="4617720" y="2651760"/>
            <a:ext cx="457200" cy="347472"/>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T3</a:t>
            </a:r>
          </a:p>
        </p:txBody>
      </p:sp>
      <p:sp>
        <p:nvSpPr>
          <p:cNvPr id="45" name="Rounded Rectangle 44"/>
          <p:cNvSpPr/>
          <p:nvPr/>
        </p:nvSpPr>
        <p:spPr>
          <a:xfrm>
            <a:off x="5303520" y="2651760"/>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P4</a:t>
            </a:r>
          </a:p>
        </p:txBody>
      </p:sp>
      <p:sp>
        <p:nvSpPr>
          <p:cNvPr id="46" name="Rounded Rectangle 45"/>
          <p:cNvSpPr/>
          <p:nvPr/>
        </p:nvSpPr>
        <p:spPr>
          <a:xfrm>
            <a:off x="5989320" y="2651760"/>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P5</a:t>
            </a:r>
          </a:p>
        </p:txBody>
      </p:sp>
      <p:sp>
        <p:nvSpPr>
          <p:cNvPr id="47" name="TextBox 46"/>
          <p:cNvSpPr txBox="1"/>
          <p:nvPr/>
        </p:nvSpPr>
        <p:spPr>
          <a:xfrm>
            <a:off x="7022592" y="1371600"/>
            <a:ext cx="3218687" cy="2212848"/>
          </a:xfrm>
          <a:prstGeom prst="rect">
            <a:avLst/>
          </a:prstGeom>
          <a:noFill/>
        </p:spPr>
        <p:txBody>
          <a:bodyPr wrap="square" lIns="0" rIns="0" tIns="0" bIns="0" anchor="t">
            <a:spAutoFit/>
          </a:bodyPr>
          <a:lstStyle/>
          <a:p>
            <a:pPr algn="l">
              <a:spcAft>
                <a:spcPts val="600"/>
              </a:spcAft>
            </a:pPr>
            <a:r>
              <a:rPr sz="1100" b="1" i="0">
                <a:solidFill>
                  <a:srgbClr val="6B6B6B"/>
                </a:solidFill>
              </a:rPr>
              <a:t>WHO TALKS TO WHOM</a:t>
            </a:r>
          </a:p>
          <a:p>
            <a:pPr algn="l">
              <a:spcAft>
                <a:spcPts val="800"/>
              </a:spcAft>
            </a:pPr>
            <a:r>
              <a:rPr sz="1300" b="1" i="0">
                <a:solidFill>
                  <a:srgbClr val="1F1F1F"/>
                </a:solidFill>
              </a:rPr>
              <a:t>UNet (SDXL)</a:t>
            </a:r>
            <a:r>
              <a:rPr sz="1300" b="0" i="0">
                <a:solidFill>
                  <a:srgbClr val="1F1F1F"/>
                </a:solidFill>
              </a:rPr>
              <a:t>: the text slips notes into the painting room — one-way.</a:t>
            </a:r>
          </a:p>
          <a:p>
            <a:pPr algn="l">
              <a:spcAft>
                <a:spcPts val="800"/>
              </a:spcAft>
            </a:pPr>
            <a:r>
              <a:rPr sz="1300" b="1" i="0">
                <a:solidFill>
                  <a:srgbClr val="1F1F1F"/>
                </a:solidFill>
              </a:rPr>
              <a:t>MMDiT (FLUX, SD3.5, Qwen-Image)</a:t>
            </a:r>
            <a:r>
              <a:rPr sz="1300" b="0" i="0">
                <a:solidFill>
                  <a:srgbClr val="1F1F1F"/>
                </a:solidFill>
              </a:rPr>
              <a:t>: text and image tokens at one table — prompt fidelity, typography.</a:t>
            </a:r>
          </a:p>
          <a:p>
            <a:pPr algn="l">
              <a:spcAft>
                <a:spcPts val="0"/>
              </a:spcAft>
            </a:pPr>
            <a:r>
              <a:rPr sz="1300" b="1" i="0">
                <a:solidFill>
                  <a:srgbClr val="1F1F1F"/>
                </a:solidFill>
              </a:rPr>
              <a:t>Turbo models</a:t>
            </a:r>
            <a:r>
              <a:rPr sz="1300" b="0" i="0">
                <a:solidFill>
                  <a:srgbClr val="1F1F1F"/>
                </a:solidFill>
              </a:rPr>
              <a:t> need 1–8 steps;</a:t>
            </a:r>
          </a:p>
          <a:p>
            <a:pPr algn="l">
              <a:spcAft>
                <a:spcPts val="600"/>
              </a:spcAft>
            </a:pPr>
            <a:r>
              <a:rPr sz="1300" b="0" i="0">
                <a:solidFill>
                  <a:srgbClr val="1F1F1F"/>
                </a:solidFill>
              </a:rPr>
              <a:t>Z-Image-Turbo uses 8.</a:t>
            </a:r>
          </a:p>
        </p:txBody>
      </p:sp>
      <p:sp>
        <p:nvSpPr>
          <p:cNvPr id="48" name="TextBox 47"/>
          <p:cNvSpPr txBox="1"/>
          <p:nvPr/>
        </p:nvSpPr>
        <p:spPr>
          <a:xfrm>
            <a:off x="585216" y="3767328"/>
            <a:ext cx="1691640" cy="548640"/>
          </a:xfrm>
          <a:prstGeom prst="rect">
            <a:avLst/>
          </a:prstGeom>
          <a:noFill/>
        </p:spPr>
        <p:txBody>
          <a:bodyPr wrap="square" lIns="0" rIns="0" tIns="0" bIns="0" anchor="ctr">
            <a:spAutoFit/>
          </a:bodyPr>
          <a:lstStyle/>
          <a:p>
            <a:pPr algn="l">
              <a:spcAft>
                <a:spcPts val="600"/>
              </a:spcAft>
            </a:pPr>
            <a:r>
              <a:rPr sz="1200" b="1" i="0">
                <a:solidFill>
                  <a:srgbClr val="2A446F"/>
                </a:solidFill>
              </a:rPr>
              <a:t>DIFFUSION</a:t>
            </a:r>
          </a:p>
          <a:p>
            <a:pPr algn="l">
              <a:spcAft>
                <a:spcPts val="600"/>
              </a:spcAft>
            </a:pPr>
            <a:r>
              <a:rPr sz="1100" b="0" i="0">
                <a:solidFill>
                  <a:srgbClr val="6B6B6B"/>
                </a:solidFill>
              </a:rPr>
              <a:t>20–50 noisy steps</a:t>
            </a:r>
          </a:p>
        </p:txBody>
      </p:sp>
      <p:sp>
        <p:nvSpPr>
          <p:cNvPr id="49" name="TextBox 48"/>
          <p:cNvSpPr txBox="1"/>
          <p:nvPr/>
        </p:nvSpPr>
        <p:spPr>
          <a:xfrm>
            <a:off x="2148840" y="3904487"/>
            <a:ext cx="502920" cy="274320"/>
          </a:xfrm>
          <a:prstGeom prst="rect">
            <a:avLst/>
          </a:prstGeom>
          <a:noFill/>
        </p:spPr>
        <p:txBody>
          <a:bodyPr wrap="square" lIns="0" rIns="0" tIns="0" bIns="0" anchor="t">
            <a:spAutoFit/>
          </a:bodyPr>
          <a:lstStyle/>
          <a:p>
            <a:pPr algn="r">
              <a:spcAft>
                <a:spcPts val="0"/>
              </a:spcAft>
            </a:pPr>
            <a:r>
              <a:rPr sz="1100" b="0" i="0">
                <a:solidFill>
                  <a:srgbClr val="6B6B6B"/>
                </a:solidFill>
              </a:rPr>
              <a:t>noise</a:t>
            </a:r>
          </a:p>
        </p:txBody>
      </p:sp>
      <p:cxnSp>
        <p:nvCxnSpPr>
          <p:cNvPr id="50" name="Connector 49"/>
          <p:cNvCxnSpPr/>
          <p:nvPr/>
        </p:nvCxnSpPr>
        <p:spPr>
          <a:xfrm flipV="1">
            <a:off x="2788920" y="3931920"/>
            <a:ext cx="239150" cy="109728"/>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028070" y="3931920"/>
            <a:ext cx="239151" cy="175564"/>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67221" y="3953865"/>
            <a:ext cx="239151" cy="15361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06372" y="3942892"/>
            <a:ext cx="239151" cy="10973"/>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745523" y="3942892"/>
            <a:ext cx="239150" cy="131674"/>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84673" y="4074566"/>
            <a:ext cx="239151" cy="21945"/>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223824" y="4096511"/>
            <a:ext cx="239151" cy="7681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62975" y="4008729"/>
            <a:ext cx="239151" cy="164592"/>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702126" y="3931920"/>
            <a:ext cx="239150" cy="7680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941276" y="3931920"/>
            <a:ext cx="239151" cy="15361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180427" y="4085539"/>
            <a:ext cx="239151" cy="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419578" y="3888028"/>
            <a:ext cx="239151" cy="197511"/>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658729" y="3888028"/>
            <a:ext cx="239150" cy="15362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897879" y="3909974"/>
            <a:ext cx="239151" cy="131674"/>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137030" y="3909974"/>
            <a:ext cx="239151" cy="65837"/>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376181" y="3942892"/>
            <a:ext cx="239151" cy="3291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615332" y="3942892"/>
            <a:ext cx="239151" cy="65837"/>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54483" y="3909974"/>
            <a:ext cx="239150" cy="98755"/>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093633" y="3909974"/>
            <a:ext cx="239151" cy="19751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332784" y="3942892"/>
            <a:ext cx="239151" cy="164592"/>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571935" y="3866083"/>
            <a:ext cx="239151" cy="7680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811086" y="3866083"/>
            <a:ext cx="239150" cy="230428"/>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050236" y="4096511"/>
            <a:ext cx="239151" cy="87783"/>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8289387" y="4019702"/>
            <a:ext cx="239151" cy="164592"/>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528538" y="4019702"/>
            <a:ext cx="239151" cy="142646"/>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8767689" y="4041648"/>
            <a:ext cx="239150" cy="12070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2715768" y="3968496"/>
            <a:ext cx="146304" cy="146304"/>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991494" y="3895344"/>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230645" y="407090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469796" y="3917289"/>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708947" y="390631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948097" y="4037990"/>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187248" y="405993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426399" y="413674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665550" y="397215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904700" y="3895344"/>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143851" y="404896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383002" y="404896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622153" y="3851452"/>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861303" y="4005072"/>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00454" y="387339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339605" y="393923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578756" y="390631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817907" y="397215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057057" y="387339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296208" y="407090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535359" y="390631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774510" y="3829507"/>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013660" y="405993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252811" y="414771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491962" y="398312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731113" y="4125772"/>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933687" y="3968496"/>
            <a:ext cx="146304" cy="146304"/>
          </a:xfrm>
          <a:prstGeom prst="ellipse">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171432" y="3904487"/>
            <a:ext cx="822960" cy="274320"/>
          </a:xfrm>
          <a:prstGeom prst="rect">
            <a:avLst/>
          </a:prstGeom>
          <a:noFill/>
        </p:spPr>
        <p:txBody>
          <a:bodyPr wrap="square" lIns="0" rIns="0" tIns="0" bIns="0" anchor="t">
            <a:spAutoFit/>
          </a:bodyPr>
          <a:lstStyle/>
          <a:p>
            <a:pPr algn="l">
              <a:spcAft>
                <a:spcPts val="0"/>
              </a:spcAft>
            </a:pPr>
            <a:r>
              <a:rPr sz="1100" b="1" i="0">
                <a:solidFill>
                  <a:srgbClr val="2A7F5C"/>
                </a:solidFill>
              </a:rPr>
              <a:t>image</a:t>
            </a:r>
          </a:p>
        </p:txBody>
      </p:sp>
      <p:sp>
        <p:nvSpPr>
          <p:cNvPr id="104" name="TextBox 103"/>
          <p:cNvSpPr txBox="1"/>
          <p:nvPr/>
        </p:nvSpPr>
        <p:spPr>
          <a:xfrm>
            <a:off x="585216" y="4553712"/>
            <a:ext cx="1691640" cy="548640"/>
          </a:xfrm>
          <a:prstGeom prst="rect">
            <a:avLst/>
          </a:prstGeom>
          <a:noFill/>
        </p:spPr>
        <p:txBody>
          <a:bodyPr wrap="square" lIns="0" rIns="0" tIns="0" bIns="0" anchor="ctr">
            <a:spAutoFit/>
          </a:bodyPr>
          <a:lstStyle/>
          <a:p>
            <a:pPr algn="l">
              <a:spcAft>
                <a:spcPts val="600"/>
              </a:spcAft>
            </a:pPr>
            <a:r>
              <a:rPr sz="1200" b="1" i="0">
                <a:solidFill>
                  <a:srgbClr val="2A446F"/>
                </a:solidFill>
              </a:rPr>
              <a:t>RECTIFIED FLOW</a:t>
            </a:r>
          </a:p>
          <a:p>
            <a:pPr algn="l">
              <a:spcAft>
                <a:spcPts val="600"/>
              </a:spcAft>
            </a:pPr>
            <a:r>
              <a:rPr sz="1100" b="0" i="0">
                <a:solidFill>
                  <a:srgbClr val="6B6B6B"/>
                </a:solidFill>
              </a:rPr>
              <a:t>few steps, nearly straight</a:t>
            </a:r>
          </a:p>
        </p:txBody>
      </p:sp>
      <p:sp>
        <p:nvSpPr>
          <p:cNvPr id="105" name="TextBox 104"/>
          <p:cNvSpPr txBox="1"/>
          <p:nvPr/>
        </p:nvSpPr>
        <p:spPr>
          <a:xfrm>
            <a:off x="2148840" y="4690872"/>
            <a:ext cx="502920" cy="274320"/>
          </a:xfrm>
          <a:prstGeom prst="rect">
            <a:avLst/>
          </a:prstGeom>
          <a:noFill/>
        </p:spPr>
        <p:txBody>
          <a:bodyPr wrap="square" lIns="0" rIns="0" tIns="0" bIns="0" anchor="t">
            <a:spAutoFit/>
          </a:bodyPr>
          <a:lstStyle/>
          <a:p>
            <a:pPr algn="r">
              <a:spcAft>
                <a:spcPts val="0"/>
              </a:spcAft>
            </a:pPr>
            <a:r>
              <a:rPr sz="1100" b="0" i="0">
                <a:solidFill>
                  <a:srgbClr val="6B6B6B"/>
                </a:solidFill>
              </a:rPr>
              <a:t>noise</a:t>
            </a:r>
          </a:p>
        </p:txBody>
      </p:sp>
      <p:cxnSp>
        <p:nvCxnSpPr>
          <p:cNvPr id="106" name="Connector 105"/>
          <p:cNvCxnSpPr/>
          <p:nvPr/>
        </p:nvCxnSpPr>
        <p:spPr>
          <a:xfrm>
            <a:off x="278892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82524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861560" y="4828032"/>
            <a:ext cx="1036319"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897879" y="4828032"/>
            <a:ext cx="1036321"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93420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797052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112" name="Oval 111"/>
          <p:cNvSpPr/>
          <p:nvPr/>
        </p:nvSpPr>
        <p:spPr>
          <a:xfrm>
            <a:off x="2715768" y="4754880"/>
            <a:ext cx="146304" cy="146304"/>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78866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482498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5861303"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89762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93394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933688" y="4754880"/>
            <a:ext cx="146304" cy="146304"/>
          </a:xfrm>
          <a:prstGeom prst="ellipse">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171432" y="4690872"/>
            <a:ext cx="822960" cy="274320"/>
          </a:xfrm>
          <a:prstGeom prst="rect">
            <a:avLst/>
          </a:prstGeom>
          <a:noFill/>
        </p:spPr>
        <p:txBody>
          <a:bodyPr wrap="square" lIns="0" rIns="0" tIns="0" bIns="0" anchor="t">
            <a:spAutoFit/>
          </a:bodyPr>
          <a:lstStyle/>
          <a:p>
            <a:pPr algn="l">
              <a:spcAft>
                <a:spcPts val="0"/>
              </a:spcAft>
            </a:pPr>
            <a:r>
              <a:rPr sz="1100" b="1" i="0">
                <a:solidFill>
                  <a:srgbClr val="2A7F5C"/>
                </a:solidFill>
              </a:rPr>
              <a:t>image</a:t>
            </a:r>
          </a:p>
        </p:txBody>
      </p:sp>
      <p:sp>
        <p:nvSpPr>
          <p:cNvPr id="120" name="TextBox 119"/>
          <p:cNvSpPr txBox="1"/>
          <p:nvPr/>
        </p:nvSpPr>
        <p:spPr>
          <a:xfrm>
            <a:off x="585216" y="5468112"/>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Same mental model, better motor — “steps” now means something different per model.</a:t>
            </a:r>
          </a:p>
        </p:txBody>
      </p:sp>
      <p:sp>
        <p:nvSpPr>
          <p:cNvPr id="121" name="TextBox 1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Model catalog §6 (2026-09-21)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four knobs that matter: seed, steps, CFG, denoise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SEED</a:t>
            </a:r>
          </a:p>
        </p:txBody>
      </p:sp>
      <p:sp>
        <p:nvSpPr>
          <p:cNvPr id="6" name="TextBox 5"/>
          <p:cNvSpPr txBox="1"/>
          <p:nvPr/>
        </p:nvSpPr>
        <p:spPr>
          <a:xfrm>
            <a:off x="786384"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lottery ticket</a:t>
            </a:r>
            <a:r>
              <a:rPr sz="1200" b="0" i="0">
                <a:solidFill>
                  <a:srgbClr val="1F1F1F"/>
                </a:solidFill>
              </a:rPr>
              <a:t> — same seed + same settings = the same image. Log it.</a:t>
            </a:r>
          </a:p>
        </p:txBody>
      </p:sp>
      <p:sp>
        <p:nvSpPr>
          <p:cNvPr id="7" name="Rounded Rectangle 6"/>
          <p:cNvSpPr/>
          <p:nvPr/>
        </p:nvSpPr>
        <p:spPr>
          <a:xfrm>
            <a:off x="3044952"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46120"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STEPS</a:t>
            </a:r>
          </a:p>
        </p:txBody>
      </p:sp>
      <p:sp>
        <p:nvSpPr>
          <p:cNvPr id="9" name="TextBox 8"/>
          <p:cNvSpPr txBox="1"/>
          <p:nvPr/>
        </p:nvSpPr>
        <p:spPr>
          <a:xfrm>
            <a:off x="3246120"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patience knob</a:t>
            </a:r>
            <a:r>
              <a:rPr sz="1200" b="0" i="0">
                <a:solidFill>
                  <a:srgbClr val="1F1F1F"/>
                </a:solidFill>
              </a:rPr>
              <a:t> — too few = mush; past ~30 you mostly pay for nothing.</a:t>
            </a:r>
          </a:p>
        </p:txBody>
      </p:sp>
      <p:sp>
        <p:nvSpPr>
          <p:cNvPr id="10" name="Rounded Rectangle 9"/>
          <p:cNvSpPr/>
          <p:nvPr/>
        </p:nvSpPr>
        <p:spPr>
          <a:xfrm>
            <a:off x="5504688"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05855"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CFG</a:t>
            </a:r>
          </a:p>
        </p:txBody>
      </p:sp>
      <p:sp>
        <p:nvSpPr>
          <p:cNvPr id="12" name="TextBox 11"/>
          <p:cNvSpPr txBox="1"/>
          <p:nvPr/>
        </p:nvSpPr>
        <p:spPr>
          <a:xfrm>
            <a:off x="5705855"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obedience knob</a:t>
            </a:r>
            <a:r>
              <a:rPr sz="1200" b="0" i="0">
                <a:solidFill>
                  <a:srgbClr val="1F1F1F"/>
                </a:solidFill>
              </a:rPr>
              <a:t> — low drifts off the prompt, high deep-fries the colours.</a:t>
            </a:r>
          </a:p>
        </p:txBody>
      </p:sp>
      <p:sp>
        <p:nvSpPr>
          <p:cNvPr id="13" name="Rounded Rectangle 12"/>
          <p:cNvSpPr/>
          <p:nvPr/>
        </p:nvSpPr>
        <p:spPr>
          <a:xfrm>
            <a:off x="7964424"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65592"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DENOISE</a:t>
            </a:r>
          </a:p>
        </p:txBody>
      </p:sp>
      <p:sp>
        <p:nvSpPr>
          <p:cNvPr id="15" name="TextBox 14"/>
          <p:cNvSpPr txBox="1"/>
          <p:nvPr/>
        </p:nvSpPr>
        <p:spPr>
          <a:xfrm>
            <a:off x="8165592"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edit dial</a:t>
            </a:r>
            <a:r>
              <a:rPr sz="1200" b="0" i="0">
                <a:solidFill>
                  <a:srgbClr val="1F1F1F"/>
                </a:solidFill>
              </a:rPr>
              <a:t> — 0.3 = gentle restyle, 0.9 = almost from scratch.</a:t>
            </a:r>
          </a:p>
        </p:txBody>
      </p:sp>
      <p:pic>
        <p:nvPicPr>
          <p:cNvPr id="16" name="Picture 15" descr="ex_cfg_strip_b4ac50b3d8a2.jpg"/>
          <p:cNvPicPr>
            <a:picLocks noChangeAspect="1"/>
          </p:cNvPicPr>
          <p:nvPr/>
        </p:nvPicPr>
        <p:blipFill>
          <a:blip r:embed="rId3"/>
          <a:stretch>
            <a:fillRect/>
          </a:stretch>
        </p:blipFill>
        <p:spPr>
          <a:xfrm>
            <a:off x="585216" y="3200400"/>
            <a:ext cx="5760720" cy="1980247"/>
          </a:xfrm>
          <a:prstGeom prst="roundRect">
            <a:avLst>
              <a:gd name="adj" fmla="val 4000"/>
            </a:avLst>
          </a:prstGeom>
        </p:spPr>
      </p:pic>
      <p:sp>
        <p:nvSpPr>
          <p:cNvPr id="17" name="TextBox 16"/>
          <p:cNvSpPr txBox="1"/>
          <p:nvPr/>
        </p:nvSpPr>
        <p:spPr>
          <a:xfrm>
            <a:off x="585216" y="5193792"/>
            <a:ext cx="57607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same seed, same prompt — only CFG changes</a:t>
            </a:r>
          </a:p>
        </p:txBody>
      </p:sp>
      <p:pic>
        <p:nvPicPr>
          <p:cNvPr id="18" name="Picture 17" descr="meme_knobs_6d8f414fbead.jpg"/>
          <p:cNvPicPr>
            <a:picLocks noChangeAspect="1"/>
          </p:cNvPicPr>
          <p:nvPr/>
        </p:nvPicPr>
        <p:blipFill>
          <a:blip r:embed="rId4"/>
          <a:stretch>
            <a:fillRect/>
          </a:stretch>
        </p:blipFill>
        <p:spPr>
          <a:xfrm>
            <a:off x="6583680" y="3200400"/>
            <a:ext cx="3657600" cy="1995054"/>
          </a:xfrm>
          <a:prstGeom prst="roundRect">
            <a:avLst>
              <a:gd name="adj" fmla="val 4000"/>
            </a:avLst>
          </a:prstGeom>
        </p:spPr>
      </p:pic>
      <p:sp>
        <p:nvSpPr>
          <p:cNvPr id="19" name="TextBox 18"/>
          <p:cNvSpPr txBox="1"/>
          <p:nvPr/>
        </p:nvSpPr>
        <p:spPr>
          <a:xfrm>
            <a:off x="585216" y="548640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Craft principle #1: log the seed. #2: change one knob at a time.</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Lab 4 ComfyUI handouts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Z-Image-Turbo in ComfyUI — seed and CFG live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Same seed, same settings, same image. Change one knob and you see exactly what it does.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Z-Image-Turbo, 8 steps: a prompt from the room, seed 42</a:t>
            </a:r>
          </a:p>
          <a:p>
            <a:pPr algn="l">
              <a:spcAft>
                <a:spcPts val="900"/>
              </a:spcAft>
            </a:pPr>
            <a:r>
              <a:rPr sz="1400" b="0" i="0">
                <a:solidFill>
                  <a:srgbClr val="1F1F1F"/>
                </a:solidFill>
              </a:rPr>
              <a:t>2. Queue again with seed 42 → the identical image</a:t>
            </a:r>
          </a:p>
          <a:p>
            <a:pPr algn="l">
              <a:spcAft>
                <a:spcPts val="900"/>
              </a:spcAft>
            </a:pPr>
            <a:r>
              <a:rPr sz="1400" b="0" i="0">
                <a:solidFill>
                  <a:srgbClr val="1F1F1F"/>
                </a:solidFill>
              </a:rPr>
              <a:t>3. Change only the seed → new composition, same look</a:t>
            </a:r>
          </a:p>
          <a:p>
            <a:pPr algn="l">
              <a:spcAft>
                <a:spcPts val="900"/>
              </a:spcAft>
            </a:pPr>
            <a:r>
              <a:rPr sz="1400" b="0" i="0">
                <a:solidFill>
                  <a:srgbClr val="1F1F1F"/>
                </a:solidFill>
              </a:rPr>
              <a:t>4. Handout 01 (SDXL): CFG 2 → 7 → 15 at a fixed seed</a:t>
            </a:r>
          </a:p>
          <a:p>
            <a:pPr algn="l">
              <a:spcAft>
                <a:spcPts val="900"/>
              </a:spcAft>
            </a:pPr>
            <a:r>
              <a:rPr sz="1400" b="0" i="0">
                <a:solidFill>
                  <a:srgbClr val="1F1F1F"/>
                </a:solidFill>
              </a:rPr>
              <a:t>5. Lab script 02_comfy_run.py logs the seed next to every image</a:t>
            </a:r>
          </a:p>
        </p:txBody>
      </p:sp>
      <p:sp>
        <p:nvSpPr>
          <p:cNvPr id="11" name="Rounded Rectangle 10"/>
          <p:cNvSpPr/>
          <p:nvPr/>
        </p:nvSpPr>
        <p:spPr>
          <a:xfrm>
            <a:off x="5029200" y="3848099"/>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Pre-rendered contact sheets (seed, CFG) — or the ComfyUI stand-in in labs/_tools</a:t>
            </a:r>
          </a:p>
        </p:txBody>
      </p:sp>
      <p:pic>
        <p:nvPicPr>
          <p:cNvPr id="14" name="Picture 13" descr="ex_cfg_strip_b4ac50b3d8a2.jpg"/>
          <p:cNvPicPr>
            <a:picLocks noChangeAspect="1"/>
          </p:cNvPicPr>
          <p:nvPr/>
        </p:nvPicPr>
        <p:blipFill>
          <a:blip r:embed="rId3"/>
          <a:stretch>
            <a:fillRect/>
          </a:stretch>
        </p:blipFill>
        <p:spPr>
          <a:xfrm>
            <a:off x="585216" y="2852928"/>
            <a:ext cx="3566160" cy="1225867"/>
          </a:xfrm>
          <a:prstGeom prst="roundRect">
            <a:avLst>
              <a:gd name="adj" fmla="val 4000"/>
            </a:avLst>
          </a:prstGeom>
        </p:spPr>
      </p:pic>
      <p:sp>
        <p:nvSpPr>
          <p:cNvPr id="15" name="TextBox 14"/>
          <p:cNvSpPr txBox="1"/>
          <p:nvPr/>
        </p:nvSpPr>
        <p:spPr>
          <a:xfrm>
            <a:off x="585216" y="4106227"/>
            <a:ext cx="39319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what you will see: CFG 2 · 7 · 15 at one seed</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(2026-09-21) · Z-Image-Turbo model card · Lab 4 ComfyUI handouts · Lab 4 README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Prompt = what, ControlNet = where, LoRA = who, inpaint = fix</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2542032" y="2395728"/>
            <a:ext cx="5486400" cy="1188720"/>
          </a:xfrm>
          <a:prstGeom prst="roundRect">
            <a:avLst>
              <a:gd name="adj" fmla="val 8000"/>
            </a:avLst>
          </a:prstGeom>
          <a:noFill/>
          <a:ln w="19050">
            <a:solidFill>
              <a:srgbClr val="007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70048" y="3291840"/>
            <a:ext cx="2286000" cy="256032"/>
          </a:xfrm>
          <a:prstGeom prst="rect">
            <a:avLst/>
          </a:prstGeom>
          <a:noFill/>
        </p:spPr>
        <p:txBody>
          <a:bodyPr wrap="square" lIns="0" rIns="0" tIns="0" bIns="0" anchor="t">
            <a:spAutoFit/>
          </a:bodyPr>
          <a:lstStyle/>
          <a:p>
            <a:pPr algn="l">
              <a:spcAft>
                <a:spcPts val="0"/>
              </a:spcAft>
            </a:pPr>
            <a:r>
              <a:rPr sz="1050" b="1" i="0">
                <a:solidFill>
                  <a:srgbClr val="0078D4"/>
                </a:solidFill>
              </a:rPr>
              <a:t>LATENT SPACE</a:t>
            </a:r>
          </a:p>
        </p:txBody>
      </p:sp>
      <p:sp>
        <p:nvSpPr>
          <p:cNvPr id="6" name="Rounded Rectangle 5"/>
          <p:cNvSpPr/>
          <p:nvPr/>
        </p:nvSpPr>
        <p:spPr>
          <a:xfrm>
            <a:off x="585216" y="2578608"/>
            <a:ext cx="169164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Text encoder</a:t>
            </a:r>
          </a:p>
          <a:p>
            <a:pPr algn="ctr"/>
            <a:r>
              <a:rPr sz="1200" b="0" i="0">
                <a:solidFill>
                  <a:srgbClr val="FFFFFF"/>
                </a:solidFill>
              </a:rPr>
              <a:t>prompt = what</a:t>
            </a:r>
          </a:p>
        </p:txBody>
      </p:sp>
      <p:sp>
        <p:nvSpPr>
          <p:cNvPr id="7" name="Rounded Rectangle 6"/>
          <p:cNvSpPr/>
          <p:nvPr/>
        </p:nvSpPr>
        <p:spPr>
          <a:xfrm>
            <a:off x="2743200" y="2578608"/>
            <a:ext cx="233172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Denoiser</a:t>
            </a:r>
          </a:p>
          <a:p>
            <a:pPr algn="ctr"/>
            <a:r>
              <a:rPr sz="1200" b="0" i="0">
                <a:solidFill>
                  <a:srgbClr val="FFFFFF"/>
                </a:solidFill>
              </a:rPr>
              <a:t>UNet or DiT</a:t>
            </a:r>
          </a:p>
        </p:txBody>
      </p:sp>
      <p:sp>
        <p:nvSpPr>
          <p:cNvPr id="8" name="Rounded Rectangle 7"/>
          <p:cNvSpPr/>
          <p:nvPr/>
        </p:nvSpPr>
        <p:spPr>
          <a:xfrm>
            <a:off x="5440680" y="2578608"/>
            <a:ext cx="237744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Sampler + latent</a:t>
            </a:r>
          </a:p>
          <a:p>
            <a:pPr algn="ctr"/>
            <a:r>
              <a:rPr sz="1200" b="0" i="0">
                <a:solidFill>
                  <a:srgbClr val="FFFFFF"/>
                </a:solidFill>
              </a:rPr>
              <a:t>noise → denoised</a:t>
            </a:r>
          </a:p>
        </p:txBody>
      </p:sp>
      <p:sp>
        <p:nvSpPr>
          <p:cNvPr id="9" name="Rounded Rectangle 8"/>
          <p:cNvSpPr/>
          <p:nvPr/>
        </p:nvSpPr>
        <p:spPr>
          <a:xfrm>
            <a:off x="8275320" y="2578608"/>
            <a:ext cx="86868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VAE</a:t>
            </a:r>
          </a:p>
        </p:txBody>
      </p:sp>
      <p:sp>
        <p:nvSpPr>
          <p:cNvPr id="10" name="Rounded Rectangle 9"/>
          <p:cNvSpPr/>
          <p:nvPr/>
        </p:nvSpPr>
        <p:spPr>
          <a:xfrm>
            <a:off x="9418320" y="2578608"/>
            <a:ext cx="822959" cy="640080"/>
          </a:xfrm>
          <a:prstGeom prst="roundRect">
            <a:avLst>
              <a:gd name="adj" fmla="val 12000"/>
            </a:avLst>
          </a:prstGeom>
          <a:solidFill>
            <a:srgbClr val="FFFFFF"/>
          </a:solidFill>
          <a:ln w="12700">
            <a:solidFill>
              <a:srgbClr val="2A7F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7F5C"/>
                </a:solidFill>
              </a:rPr>
              <a:t>image</a:t>
            </a:r>
          </a:p>
        </p:txBody>
      </p:sp>
      <p:cxnSp>
        <p:nvCxnSpPr>
          <p:cNvPr id="11" name="Connector 10"/>
          <p:cNvCxnSpPr/>
          <p:nvPr/>
        </p:nvCxnSpPr>
        <p:spPr>
          <a:xfrm>
            <a:off x="2313432" y="2898648"/>
            <a:ext cx="3931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11496" y="2898648"/>
            <a:ext cx="29260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54696" y="2898648"/>
            <a:ext cx="3840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80576" y="2898648"/>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5840" y="1371600"/>
            <a:ext cx="2377440" cy="658368"/>
          </a:xfrm>
          <a:prstGeom prst="roundRect">
            <a:avLst>
              <a:gd name="adj" fmla="val 12000"/>
            </a:avLst>
          </a:prstGeom>
          <a:solidFill>
            <a:srgbClr val="059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ControlNet</a:t>
            </a:r>
          </a:p>
          <a:p>
            <a:pPr algn="ctr"/>
            <a:r>
              <a:rPr sz="1200" b="0" i="0">
                <a:solidFill>
                  <a:srgbClr val="FFFFFF"/>
                </a:solidFill>
              </a:rPr>
              <a:t>where: pose, depth, edges</a:t>
            </a:r>
          </a:p>
        </p:txBody>
      </p:sp>
      <p:cxnSp>
        <p:nvCxnSpPr>
          <p:cNvPr id="16" name="Connector 15"/>
          <p:cNvCxnSpPr/>
          <p:nvPr/>
        </p:nvCxnSpPr>
        <p:spPr>
          <a:xfrm>
            <a:off x="2194560" y="2048255"/>
            <a:ext cx="1051560" cy="502921"/>
          </a:xfrm>
          <a:prstGeom prst="line">
            <a:avLst/>
          </a:prstGeom>
          <a:ln w="25400">
            <a:solidFill>
              <a:srgbClr val="0598D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57600" y="1371600"/>
            <a:ext cx="2377440" cy="658368"/>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LoRA</a:t>
            </a:r>
          </a:p>
          <a:p>
            <a:pPr algn="ctr"/>
            <a:r>
              <a:rPr sz="1200" b="0" i="0">
                <a:solidFill>
                  <a:srgbClr val="1F1F1F"/>
                </a:solidFill>
              </a:rPr>
              <a:t>who: a character, a style</a:t>
            </a:r>
          </a:p>
        </p:txBody>
      </p:sp>
      <p:cxnSp>
        <p:nvCxnSpPr>
          <p:cNvPr id="18" name="Connector 17"/>
          <p:cNvCxnSpPr/>
          <p:nvPr/>
        </p:nvCxnSpPr>
        <p:spPr>
          <a:xfrm flipH="1">
            <a:off x="3913632" y="2048255"/>
            <a:ext cx="932688" cy="502921"/>
          </a:xfrm>
          <a:prstGeom prst="line">
            <a:avLst/>
          </a:prstGeom>
          <a:ln w="25400">
            <a:solidFill>
              <a:srgbClr val="E8A80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09360" y="1371600"/>
            <a:ext cx="2377440" cy="658368"/>
          </a:xfrm>
          <a:prstGeom prst="roundRect">
            <a:avLst>
              <a:gd name="adj" fmla="val 12000"/>
            </a:avLst>
          </a:prstGeom>
          <a:solidFill>
            <a:srgbClr val="76AD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IP-Adapter</a:t>
            </a:r>
          </a:p>
          <a:p>
            <a:pPr algn="ctr"/>
            <a:r>
              <a:rPr sz="1200" b="0" i="0">
                <a:solidFill>
                  <a:srgbClr val="1F1F1F"/>
                </a:solidFill>
              </a:rPr>
              <a:t>like this: a reference image</a:t>
            </a:r>
          </a:p>
        </p:txBody>
      </p:sp>
      <p:cxnSp>
        <p:nvCxnSpPr>
          <p:cNvPr id="20" name="Connector 19"/>
          <p:cNvCxnSpPr/>
          <p:nvPr/>
        </p:nvCxnSpPr>
        <p:spPr>
          <a:xfrm flipH="1">
            <a:off x="4572000" y="2048255"/>
            <a:ext cx="2926080" cy="502921"/>
          </a:xfrm>
          <a:prstGeom prst="line">
            <a:avLst/>
          </a:prstGeom>
          <a:ln w="25400">
            <a:solidFill>
              <a:srgbClr val="76AD0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40680" y="3749039"/>
            <a:ext cx="2377440" cy="566928"/>
          </a:xfrm>
          <a:prstGeom prst="roundRect">
            <a:avLst>
              <a:gd name="adj" fmla="val 12000"/>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Inpaint / outpaint</a:t>
            </a:r>
          </a:p>
          <a:p>
            <a:pPr algn="ctr"/>
            <a:r>
              <a:rPr sz="1200" b="0" i="0">
                <a:solidFill>
                  <a:srgbClr val="FFFFFF"/>
                </a:solidFill>
              </a:rPr>
              <a:t>fix: masked latents</a:t>
            </a:r>
          </a:p>
        </p:txBody>
      </p:sp>
      <p:cxnSp>
        <p:nvCxnSpPr>
          <p:cNvPr id="22" name="Connector 21"/>
          <p:cNvCxnSpPr/>
          <p:nvPr/>
        </p:nvCxnSpPr>
        <p:spPr>
          <a:xfrm flipV="1">
            <a:off x="6629400" y="3246119"/>
            <a:ext cx="0" cy="484633"/>
          </a:xfrm>
          <a:prstGeom prst="line">
            <a:avLst/>
          </a:prstGeom>
          <a:ln w="25400">
            <a:solidFill>
              <a:srgbClr val="E04F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85216" y="4544568"/>
            <a:ext cx="1675180" cy="685800"/>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1 · LoRA</a:t>
            </a:r>
          </a:p>
          <a:p>
            <a:pPr algn="ctr"/>
            <a:r>
              <a:rPr sz="1200" b="1" i="0">
                <a:solidFill>
                  <a:srgbClr val="1F1F1F"/>
                </a:solidFill>
              </a:rPr>
              <a:t>locks the character</a:t>
            </a:r>
          </a:p>
        </p:txBody>
      </p:sp>
      <p:cxnSp>
        <p:nvCxnSpPr>
          <p:cNvPr id="24" name="Connector 23"/>
          <p:cNvCxnSpPr/>
          <p:nvPr/>
        </p:nvCxnSpPr>
        <p:spPr>
          <a:xfrm>
            <a:off x="2296972"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580436" y="4544568"/>
            <a:ext cx="1675180" cy="685800"/>
          </a:xfrm>
          <a:prstGeom prst="roundRect">
            <a:avLst>
              <a:gd name="adj" fmla="val 12000"/>
            </a:avLst>
          </a:prstGeom>
          <a:solidFill>
            <a:srgbClr val="059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2 · ControlNet</a:t>
            </a:r>
          </a:p>
          <a:p>
            <a:pPr algn="ctr"/>
            <a:r>
              <a:rPr sz="1200" b="1" i="0">
                <a:solidFill>
                  <a:srgbClr val="FFFFFF"/>
                </a:solidFill>
              </a:rPr>
              <a:t>locks the pose</a:t>
            </a:r>
          </a:p>
        </p:txBody>
      </p:sp>
      <p:cxnSp>
        <p:nvCxnSpPr>
          <p:cNvPr id="26" name="Connector 25"/>
          <p:cNvCxnSpPr/>
          <p:nvPr/>
        </p:nvCxnSpPr>
        <p:spPr>
          <a:xfrm>
            <a:off x="4292193"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75657" y="4544568"/>
            <a:ext cx="1675180" cy="685800"/>
          </a:xfrm>
          <a:prstGeom prst="roundRect">
            <a:avLst>
              <a:gd name="adj" fmla="val 12000"/>
            </a:avLst>
          </a:prstGeom>
          <a:solidFill>
            <a:srgbClr val="76AD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3 · IP-Adapter</a:t>
            </a:r>
          </a:p>
          <a:p>
            <a:pPr algn="ctr"/>
            <a:r>
              <a:rPr sz="1200" b="1" i="0">
                <a:solidFill>
                  <a:srgbClr val="1F1F1F"/>
                </a:solidFill>
              </a:rPr>
              <a:t>locks the style</a:t>
            </a:r>
          </a:p>
        </p:txBody>
      </p:sp>
      <p:cxnSp>
        <p:nvCxnSpPr>
          <p:cNvPr id="28" name="Connector 27"/>
          <p:cNvCxnSpPr/>
          <p:nvPr/>
        </p:nvCxnSpPr>
        <p:spPr>
          <a:xfrm>
            <a:off x="6287414"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570878" y="4544568"/>
            <a:ext cx="1675180" cy="685800"/>
          </a:xfrm>
          <a:prstGeom prst="roundRect">
            <a:avLst>
              <a:gd name="adj" fmla="val 12000"/>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4 · Inpaint</a:t>
            </a:r>
          </a:p>
          <a:p>
            <a:pPr algn="ctr"/>
            <a:r>
              <a:rPr sz="1200" b="1" i="0">
                <a:solidFill>
                  <a:srgbClr val="FFFFFF"/>
                </a:solidFill>
              </a:rPr>
              <a:t>fixes the hand</a:t>
            </a:r>
          </a:p>
        </p:txBody>
      </p:sp>
      <p:cxnSp>
        <p:nvCxnSpPr>
          <p:cNvPr id="30" name="Connector 29"/>
          <p:cNvCxnSpPr/>
          <p:nvPr/>
        </p:nvCxnSpPr>
        <p:spPr>
          <a:xfrm>
            <a:off x="8282635"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566099" y="4544568"/>
            <a:ext cx="1675180" cy="685800"/>
          </a:xfrm>
          <a:prstGeom prst="roundRect">
            <a:avLst>
              <a:gd name="adj" fmla="val 12000"/>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5 · Outpaint</a:t>
            </a:r>
          </a:p>
          <a:p>
            <a:pPr algn="ctr"/>
            <a:r>
              <a:rPr sz="1200" b="1" i="0">
                <a:solidFill>
                  <a:srgbClr val="FFFFFF"/>
                </a:solidFill>
              </a:rPr>
              <a:t>widens the shot</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They compose on one loop, with zero retraining — that is what “taking control” means.</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LoRA for images is the sticky note from Segment 1 again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417320"/>
            <a:ext cx="1600200" cy="11887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W</a:t>
            </a:r>
          </a:p>
          <a:p>
            <a:pPr algn="ctr"/>
            <a:r>
              <a:rPr sz="1200" b="0" i="0">
                <a:solidFill>
                  <a:srgbClr val="FFFFFF"/>
                </a:solidFill>
              </a:rPr>
              <a:t>frozen</a:t>
            </a:r>
          </a:p>
          <a:p>
            <a:pPr algn="ctr"/>
            <a:r>
              <a:rPr sz="1200" b="0" i="0">
                <a:solidFill>
                  <a:srgbClr val="FFFFFF"/>
                </a:solidFill>
              </a:rPr>
              <a:t>billions of weights</a:t>
            </a:r>
          </a:p>
        </p:txBody>
      </p:sp>
      <p:sp>
        <p:nvSpPr>
          <p:cNvPr id="5" name="TextBox 4"/>
          <p:cNvSpPr txBox="1"/>
          <p:nvPr/>
        </p:nvSpPr>
        <p:spPr>
          <a:xfrm>
            <a:off x="2231136" y="1737360"/>
            <a:ext cx="411480" cy="548640"/>
          </a:xfrm>
          <a:prstGeom prst="rect">
            <a:avLst/>
          </a:prstGeom>
          <a:noFill/>
        </p:spPr>
        <p:txBody>
          <a:bodyPr wrap="square" lIns="0" rIns="0" tIns="0" bIns="0" anchor="t">
            <a:spAutoFit/>
          </a:bodyPr>
          <a:lstStyle/>
          <a:p>
            <a:pPr algn="ctr">
              <a:spcAft>
                <a:spcPts val="0"/>
              </a:spcAft>
            </a:pPr>
            <a:r>
              <a:rPr sz="3000" b="1" i="0">
                <a:solidFill>
                  <a:srgbClr val="6B6B6B"/>
                </a:solidFill>
              </a:rPr>
              <a:t>+</a:t>
            </a:r>
          </a:p>
        </p:txBody>
      </p:sp>
      <p:sp>
        <p:nvSpPr>
          <p:cNvPr id="6" name="Rounded Rectangle 5"/>
          <p:cNvSpPr/>
          <p:nvPr/>
        </p:nvSpPr>
        <p:spPr>
          <a:xfrm>
            <a:off x="2688336" y="1417320"/>
            <a:ext cx="411480" cy="1188720"/>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B</a:t>
            </a:r>
          </a:p>
        </p:txBody>
      </p:sp>
      <p:sp>
        <p:nvSpPr>
          <p:cNvPr id="7" name="Oval 6"/>
          <p:cNvSpPr/>
          <p:nvPr/>
        </p:nvSpPr>
        <p:spPr>
          <a:xfrm>
            <a:off x="3209544" y="1577339"/>
            <a:ext cx="91440" cy="9144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19856" y="1417320"/>
            <a:ext cx="1188720" cy="411480"/>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A</a:t>
            </a:r>
          </a:p>
        </p:txBody>
      </p:sp>
      <p:sp>
        <p:nvSpPr>
          <p:cNvPr id="9" name="TextBox 8"/>
          <p:cNvSpPr txBox="1"/>
          <p:nvPr/>
        </p:nvSpPr>
        <p:spPr>
          <a:xfrm>
            <a:off x="3419856" y="1938528"/>
            <a:ext cx="2651760" cy="731520"/>
          </a:xfrm>
          <a:prstGeom prst="rect">
            <a:avLst/>
          </a:prstGeom>
          <a:noFill/>
        </p:spPr>
        <p:txBody>
          <a:bodyPr wrap="square" lIns="0" rIns="0" tIns="0" bIns="0" anchor="t">
            <a:spAutoFit/>
          </a:bodyPr>
          <a:lstStyle/>
          <a:p>
            <a:pPr algn="l">
              <a:spcAft>
                <a:spcPts val="600"/>
              </a:spcAft>
            </a:pPr>
            <a:r>
              <a:rPr sz="1600" b="1" i="0">
                <a:solidFill>
                  <a:srgbClr val="2A446F"/>
                </a:solidFill>
              </a:rPr>
              <a:t>ΔW = B·A</a:t>
            </a:r>
          </a:p>
          <a:p>
            <a:pPr algn="l">
              <a:spcAft>
                <a:spcPts val="600"/>
              </a:spcAft>
            </a:pPr>
            <a:r>
              <a:rPr sz="1100" b="0" i="0">
                <a:solidFill>
                  <a:srgbClr val="6B6B6B"/>
                </a:solidFill>
              </a:rPr>
              <a:t>rank r ≈ 4–128 · trained, tiny</a:t>
            </a:r>
          </a:p>
        </p:txBody>
      </p:sp>
      <p:sp>
        <p:nvSpPr>
          <p:cNvPr id="10" name="TextBox 9"/>
          <p:cNvSpPr txBox="1"/>
          <p:nvPr/>
        </p:nvSpPr>
        <p:spPr>
          <a:xfrm>
            <a:off x="585216" y="2880360"/>
            <a:ext cx="5486400" cy="2468880"/>
          </a:xfrm>
          <a:prstGeom prst="rect">
            <a:avLst/>
          </a:prstGeom>
          <a:noFill/>
        </p:spPr>
        <p:txBody>
          <a:bodyPr wrap="square" lIns="0" rIns="0" tIns="0" bIns="0" anchor="t">
            <a:spAutoFit/>
          </a:bodyPr>
          <a:lstStyle/>
          <a:p>
            <a:pPr algn="l" marL="256032" indent="-256032">
              <a:spcAft>
                <a:spcPts val="800"/>
              </a:spcAft>
              <a:buClr>
                <a:srgbClr val="0078D4"/>
              </a:buClr>
              <a:buChar char="•"/>
            </a:pPr>
            <a:r>
              <a:rPr sz="1300" b="1" i="0">
                <a:solidFill>
                  <a:srgbClr val="1F1F1F"/>
                </a:solidFill>
              </a:rPr>
              <a:t>Same maths as Segment 1</a:t>
            </a:r>
            <a:r>
              <a:rPr sz="1300" b="0" i="0">
                <a:solidFill>
                  <a:srgbClr val="1F1F1F"/>
                </a:solidFill>
              </a:rPr>
              <a:t> — now in the attention blocks of a diffusion transformer</a:t>
            </a:r>
          </a:p>
          <a:p>
            <a:pPr algn="l" marL="256032" indent="-256032">
              <a:spcAft>
                <a:spcPts val="800"/>
              </a:spcAft>
              <a:buClr>
                <a:srgbClr val="0078D4"/>
              </a:buClr>
              <a:buChar char="•"/>
            </a:pPr>
            <a:r>
              <a:rPr sz="1300" b="1" i="0">
                <a:solidFill>
                  <a:srgbClr val="1F1F1F"/>
                </a:solidFill>
              </a:rPr>
              <a:t>A few-MB .safetensors</a:t>
            </a:r>
            <a:r>
              <a:rPr sz="1300" b="0" i="0">
                <a:solidFill>
                  <a:srgbClr val="1F1F1F"/>
                </a:solidFill>
              </a:rPr>
              <a:t> — strength 0.0–1.2, stackable (style + character)</a:t>
            </a:r>
          </a:p>
          <a:p>
            <a:pPr algn="l" marL="256032" indent="-256032">
              <a:spcAft>
                <a:spcPts val="800"/>
              </a:spcAft>
              <a:buClr>
                <a:srgbClr val="0078D4"/>
              </a:buClr>
              <a:buChar char="•"/>
            </a:pPr>
            <a:r>
              <a:rPr sz="1300" b="1" i="0">
                <a:solidFill>
                  <a:srgbClr val="1F1F1F"/>
                </a:solidFill>
              </a:rPr>
              <a:t>Civitai</a:t>
            </a:r>
            <a:r>
              <a:rPr sz="1300" b="0" i="0">
                <a:solidFill>
                  <a:srgbClr val="1F1F1F"/>
                </a:solidFill>
              </a:rPr>
              <a:t>: hundreds of thousands — the mod scene of image models</a:t>
            </a:r>
          </a:p>
          <a:p>
            <a:pPr algn="l" marL="256032" indent="-256032">
              <a:spcAft>
                <a:spcPts val="800"/>
              </a:spcAft>
              <a:buClr>
                <a:srgbClr val="0078D4"/>
              </a:buClr>
              <a:buChar char="•"/>
            </a:pPr>
            <a:r>
              <a:rPr sz="1300" b="1" i="0">
                <a:solidFill>
                  <a:srgbClr val="1F1F1F"/>
                </a:solidFill>
              </a:rPr>
              <a:t>Licence check:</a:t>
            </a:r>
            <a:r>
              <a:rPr sz="1300" b="0" i="0">
                <a:solidFill>
                  <a:srgbClr val="1F1F1F"/>
                </a:solidFill>
              </a:rPr>
              <a:t> a LoRA runs on its base model — read that licence (FLUX.2 [dev]: non-commercial)</a:t>
            </a:r>
          </a:p>
        </p:txBody>
      </p:sp>
      <p:pic>
        <p:nvPicPr>
          <p:cNvPr id="11" name="Picture 10" descr="meme_stickynote_8405b755de5d.jpg"/>
          <p:cNvPicPr>
            <a:picLocks noChangeAspect="1"/>
          </p:cNvPicPr>
          <p:nvPr/>
        </p:nvPicPr>
        <p:blipFill>
          <a:blip r:embed="rId3"/>
          <a:stretch>
            <a:fillRect/>
          </a:stretch>
        </p:blipFill>
        <p:spPr>
          <a:xfrm>
            <a:off x="6355080" y="1417320"/>
            <a:ext cx="3886200" cy="2590800"/>
          </a:xfrm>
          <a:prstGeom prst="roundRect">
            <a:avLst>
              <a:gd name="adj" fmla="val 4000"/>
            </a:avLst>
          </a:prstGeom>
        </p:spPr>
      </p:pic>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Freeze the brain, add a sticky note — for language and image models alike.</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Model catalog §6, §11 (2026-09-21)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 character LoRA in one slide: one evening, one GPU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417320"/>
            <a:ext cx="2173985" cy="96012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15–50 photos</a:t>
            </a:r>
          </a:p>
          <a:p>
            <a:pPr algn="ctr"/>
            <a:r>
              <a:rPr sz="1200" b="1" i="0">
                <a:solidFill>
                  <a:srgbClr val="2A446F"/>
                </a:solidFill>
              </a:rPr>
              <a:t>vary pose, light, background</a:t>
            </a:r>
          </a:p>
        </p:txBody>
      </p:sp>
      <p:cxnSp>
        <p:nvCxnSpPr>
          <p:cNvPr id="5" name="Connector 4"/>
          <p:cNvCxnSpPr/>
          <p:nvPr/>
        </p:nvCxnSpPr>
        <p:spPr>
          <a:xfrm>
            <a:off x="2795777" y="189738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79241" y="1417320"/>
            <a:ext cx="2173985" cy="96012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captions</a:t>
            </a:r>
          </a:p>
          <a:p>
            <a:pPr algn="ctr"/>
            <a:r>
              <a:rPr sz="1200" b="1" i="0">
                <a:solidFill>
                  <a:srgbClr val="2A446F"/>
                </a:solidFill>
              </a:rPr>
              <a:t>a VLM writes them + a trigger word</a:t>
            </a:r>
          </a:p>
        </p:txBody>
      </p:sp>
      <p:cxnSp>
        <p:nvCxnSpPr>
          <p:cNvPr id="7" name="Connector 6"/>
          <p:cNvCxnSpPr/>
          <p:nvPr/>
        </p:nvCxnSpPr>
        <p:spPr>
          <a:xfrm>
            <a:off x="5289803" y="189738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73267" y="1417320"/>
            <a:ext cx="2173985" cy="96012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train</a:t>
            </a:r>
          </a:p>
          <a:p>
            <a:pPr algn="ctr"/>
            <a:r>
              <a:rPr sz="1200" b="1" i="0">
                <a:solidFill>
                  <a:srgbClr val="2A446F"/>
                </a:solidFill>
              </a:rPr>
              <a:t>rank 16–32 · ~1–3k steps</a:t>
            </a:r>
          </a:p>
        </p:txBody>
      </p:sp>
      <p:cxnSp>
        <p:nvCxnSpPr>
          <p:cNvPr id="9" name="Connector 8"/>
          <p:cNvCxnSpPr/>
          <p:nvPr/>
        </p:nvCxnSpPr>
        <p:spPr>
          <a:xfrm>
            <a:off x="7783829" y="189738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67294" y="1417320"/>
            <a:ext cx="2173985" cy="960120"/>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character.safetensors</a:t>
            </a:r>
          </a:p>
          <a:p>
            <a:pPr algn="ctr"/>
            <a:r>
              <a:rPr sz="1200" b="1" i="0">
                <a:solidFill>
                  <a:srgbClr val="FFFFFF"/>
                </a:solidFill>
              </a:rPr>
              <a:t>a few MB</a:t>
            </a:r>
          </a:p>
        </p:txBody>
      </p:sp>
      <p:sp>
        <p:nvSpPr>
          <p:cNvPr id="11" name="TextBox 10"/>
          <p:cNvSpPr txBox="1"/>
          <p:nvPr/>
        </p:nvSpPr>
        <p:spPr>
          <a:xfrm>
            <a:off x="585216" y="2514600"/>
            <a:ext cx="9656063" cy="320040"/>
          </a:xfrm>
          <a:prstGeom prst="rect">
            <a:avLst/>
          </a:prstGeom>
          <a:noFill/>
        </p:spPr>
        <p:txBody>
          <a:bodyPr wrap="square" lIns="0" rIns="0" tIns="0" bIns="0" anchor="t">
            <a:spAutoFit/>
          </a:bodyPr>
          <a:lstStyle/>
          <a:p>
            <a:pPr algn="ctr">
              <a:spcAft>
                <a:spcPts val="0"/>
              </a:spcAft>
            </a:pPr>
            <a:r>
              <a:rPr sz="1200" b="0" i="0">
                <a:solidFill>
                  <a:srgbClr val="6B6B6B"/>
                </a:solidFill>
              </a:rPr>
              <a:t>12–16 GB VRAM · kohya_ss · ai-toolkit · OneTrainer</a:t>
            </a:r>
          </a:p>
        </p:txBody>
      </p:sp>
      <p:sp>
        <p:nvSpPr>
          <p:cNvPr id="12" name="TextBox 11"/>
          <p:cNvSpPr txBox="1"/>
          <p:nvPr/>
        </p:nvSpPr>
        <p:spPr>
          <a:xfrm>
            <a:off x="585216" y="3017520"/>
            <a:ext cx="5486400" cy="274320"/>
          </a:xfrm>
          <a:prstGeom prst="rect">
            <a:avLst/>
          </a:prstGeom>
          <a:noFill/>
        </p:spPr>
        <p:txBody>
          <a:bodyPr wrap="square" lIns="0" rIns="0" tIns="0" bIns="0" anchor="t">
            <a:spAutoFit/>
          </a:bodyPr>
          <a:lstStyle/>
          <a:p>
            <a:pPr algn="l">
              <a:spcAft>
                <a:spcPts val="0"/>
              </a:spcAft>
            </a:pPr>
            <a:r>
              <a:rPr sz="1100" b="1" i="0">
                <a:solidFill>
                  <a:srgbClr val="C52B2B"/>
                </a:solidFill>
              </a:rPr>
              <a:t>HOW LoRAs GET BURNT</a:t>
            </a:r>
          </a:p>
        </p:txBody>
      </p:sp>
      <p:sp>
        <p:nvSpPr>
          <p:cNvPr id="13" name="Rounded Rectangle 12"/>
          <p:cNvSpPr/>
          <p:nvPr/>
        </p:nvSpPr>
        <p:spPr>
          <a:xfrm>
            <a:off x="585216"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LEARNS THE COUCH</a:t>
            </a:r>
          </a:p>
        </p:txBody>
      </p:sp>
      <p:sp>
        <p:nvSpPr>
          <p:cNvPr id="15" name="TextBox 14"/>
          <p:cNvSpPr txBox="1"/>
          <p:nvPr/>
        </p:nvSpPr>
        <p:spPr>
          <a:xfrm>
            <a:off x="786384"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20 near-identical selfies: it learns the couch, not the face.</a:t>
            </a:r>
          </a:p>
        </p:txBody>
      </p:sp>
      <p:sp>
        <p:nvSpPr>
          <p:cNvPr id="16" name="Rounded Rectangle 15"/>
          <p:cNvSpPr/>
          <p:nvPr/>
        </p:nvSpPr>
        <p:spPr>
          <a:xfrm>
            <a:off x="3044952"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246120"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CRISPY</a:t>
            </a:r>
          </a:p>
        </p:txBody>
      </p:sp>
      <p:sp>
        <p:nvSpPr>
          <p:cNvPr id="18" name="TextBox 17"/>
          <p:cNvSpPr txBox="1"/>
          <p:nvPr/>
        </p:nvSpPr>
        <p:spPr>
          <a:xfrm>
            <a:off x="3246120"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Learning rate too high: artefacts on everything.</a:t>
            </a:r>
          </a:p>
        </p:txBody>
      </p:sp>
      <p:sp>
        <p:nvSpPr>
          <p:cNvPr id="19" name="Rounded Rectangle 18"/>
          <p:cNvSpPr/>
          <p:nvPr/>
        </p:nvSpPr>
        <p:spPr>
          <a:xfrm>
            <a:off x="5504688"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05855"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STYLE DRIFT</a:t>
            </a:r>
          </a:p>
        </p:txBody>
      </p:sp>
      <p:sp>
        <p:nvSpPr>
          <p:cNvPr id="21" name="TextBox 20"/>
          <p:cNvSpPr txBox="1"/>
          <p:nvPr/>
        </p:nvSpPr>
        <p:spPr>
          <a:xfrm>
            <a:off x="5705855"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No regularisation images: everything drifts toward your subject.</a:t>
            </a:r>
          </a:p>
        </p:txBody>
      </p:sp>
      <p:sp>
        <p:nvSpPr>
          <p:cNvPr id="22" name="Rounded Rectangle 21"/>
          <p:cNvSpPr/>
          <p:nvPr/>
        </p:nvSpPr>
        <p:spPr>
          <a:xfrm>
            <a:off x="7964424"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65592"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SCREAMS</a:t>
            </a:r>
          </a:p>
        </p:txBody>
      </p:sp>
      <p:sp>
        <p:nvSpPr>
          <p:cNvPr id="24" name="TextBox 23"/>
          <p:cNvSpPr txBox="1"/>
          <p:nvPr/>
        </p:nvSpPr>
        <p:spPr>
          <a:xfrm>
            <a:off x="8165592"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Over-trained: it shouts over every prompt.</a:t>
            </a:r>
          </a:p>
        </p:txBody>
      </p:sp>
      <p:sp>
        <p:nvSpPr>
          <p:cNvPr id="25" name="TextBox 2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The fix is boring: fewer steps, lower strength, better captions.</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Lab 4 README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ControlNet and DWPose: the puppeteer for composition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ex_pose_trio_cf1dc18bbbff.jpg"/>
          <p:cNvPicPr>
            <a:picLocks noChangeAspect="1"/>
          </p:cNvPicPr>
          <p:nvPr/>
        </p:nvPicPr>
        <p:blipFill>
          <a:blip r:embed="rId3"/>
          <a:stretch>
            <a:fillRect/>
          </a:stretch>
        </p:blipFill>
        <p:spPr>
          <a:xfrm>
            <a:off x="585216" y="1371600"/>
            <a:ext cx="5623560" cy="3213462"/>
          </a:xfrm>
          <a:prstGeom prst="roundRect">
            <a:avLst>
              <a:gd name="adj" fmla="val 4000"/>
            </a:avLst>
          </a:prstGeom>
        </p:spPr>
      </p:pic>
      <p:sp>
        <p:nvSpPr>
          <p:cNvPr id="5" name="TextBox 4"/>
          <p:cNvSpPr txBox="1"/>
          <p:nvPr/>
        </p:nvSpPr>
        <p:spPr>
          <a:xfrm>
            <a:off x="585216" y="4617720"/>
            <a:ext cx="562356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one DWPose skeleton + three prompts = three characters, identical pose</a:t>
            </a:r>
          </a:p>
        </p:txBody>
      </p:sp>
      <p:pic>
        <p:nvPicPr>
          <p:cNvPr id="6" name="Picture 5" descr="meme_puppeteer_68cbb1f5e61b.jpg"/>
          <p:cNvPicPr>
            <a:picLocks noChangeAspect="1"/>
          </p:cNvPicPr>
          <p:nvPr/>
        </p:nvPicPr>
        <p:blipFill>
          <a:blip r:embed="rId4"/>
          <a:stretch>
            <a:fillRect/>
          </a:stretch>
        </p:blipFill>
        <p:spPr>
          <a:xfrm>
            <a:off x="6446520" y="1371600"/>
            <a:ext cx="3794760" cy="2529840"/>
          </a:xfrm>
          <a:prstGeom prst="roundRect">
            <a:avLst>
              <a:gd name="adj" fmla="val 4000"/>
            </a:avLst>
          </a:prstGeom>
        </p:spPr>
      </p:pic>
      <p:sp>
        <p:nvSpPr>
          <p:cNvPr id="7" name="Rounded Rectangle 6"/>
          <p:cNvSpPr/>
          <p:nvPr/>
        </p:nvSpPr>
        <p:spPr>
          <a:xfrm>
            <a:off x="6446520" y="4059936"/>
            <a:ext cx="822960" cy="347472"/>
          </a:xfrm>
          <a:prstGeom prst="roundRect">
            <a:avLst>
              <a:gd name="adj" fmla="val 12000"/>
            </a:avLst>
          </a:prstGeom>
          <a:solidFill>
            <a:srgbClr val="059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CANNY</a:t>
            </a:r>
          </a:p>
        </p:txBody>
      </p:sp>
      <p:sp>
        <p:nvSpPr>
          <p:cNvPr id="8" name="TextBox 7"/>
          <p:cNvSpPr txBox="1"/>
          <p:nvPr/>
        </p:nvSpPr>
        <p:spPr>
          <a:xfrm>
            <a:off x="7434072" y="4023360"/>
            <a:ext cx="2807207" cy="420624"/>
          </a:xfrm>
          <a:prstGeom prst="rect">
            <a:avLst/>
          </a:prstGeom>
          <a:noFill/>
        </p:spPr>
        <p:txBody>
          <a:bodyPr wrap="square" lIns="0" rIns="0" tIns="0" bIns="0" anchor="ctr">
            <a:spAutoFit/>
          </a:bodyPr>
          <a:lstStyle/>
          <a:p>
            <a:pPr algn="l">
              <a:spcAft>
                <a:spcPts val="0"/>
              </a:spcAft>
            </a:pPr>
            <a:r>
              <a:rPr sz="1100" b="0" i="0">
                <a:solidFill>
                  <a:srgbClr val="1F1F1F"/>
                </a:solidFill>
              </a:rPr>
              <a:t>edges — outlines, architecture, products</a:t>
            </a:r>
          </a:p>
        </p:txBody>
      </p:sp>
      <p:sp>
        <p:nvSpPr>
          <p:cNvPr id="9" name="Rounded Rectangle 8"/>
          <p:cNvSpPr/>
          <p:nvPr/>
        </p:nvSpPr>
        <p:spPr>
          <a:xfrm>
            <a:off x="6446520" y="4517136"/>
            <a:ext cx="822960" cy="347472"/>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DEPTH</a:t>
            </a:r>
          </a:p>
        </p:txBody>
      </p:sp>
      <p:sp>
        <p:nvSpPr>
          <p:cNvPr id="10" name="TextBox 9"/>
          <p:cNvSpPr txBox="1"/>
          <p:nvPr/>
        </p:nvSpPr>
        <p:spPr>
          <a:xfrm>
            <a:off x="7434072" y="4480560"/>
            <a:ext cx="2807207" cy="420624"/>
          </a:xfrm>
          <a:prstGeom prst="rect">
            <a:avLst/>
          </a:prstGeom>
          <a:noFill/>
        </p:spPr>
        <p:txBody>
          <a:bodyPr wrap="square" lIns="0" rIns="0" tIns="0" bIns="0" anchor="ctr">
            <a:spAutoFit/>
          </a:bodyPr>
          <a:lstStyle/>
          <a:p>
            <a:pPr algn="l">
              <a:spcAft>
                <a:spcPts val="0"/>
              </a:spcAft>
            </a:pPr>
            <a:r>
              <a:rPr sz="1100" b="0" i="0">
                <a:solidFill>
                  <a:srgbClr val="1F1F1F"/>
                </a:solidFill>
              </a:rPr>
              <a:t>3D layout — keeps space, frees surfaces</a:t>
            </a:r>
          </a:p>
        </p:txBody>
      </p:sp>
      <p:sp>
        <p:nvSpPr>
          <p:cNvPr id="11" name="Rounded Rectangle 10"/>
          <p:cNvSpPr/>
          <p:nvPr/>
        </p:nvSpPr>
        <p:spPr>
          <a:xfrm>
            <a:off x="6446520" y="4974336"/>
            <a:ext cx="822960" cy="347472"/>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POSE</a:t>
            </a:r>
          </a:p>
        </p:txBody>
      </p:sp>
      <p:sp>
        <p:nvSpPr>
          <p:cNvPr id="12" name="TextBox 11"/>
          <p:cNvSpPr txBox="1"/>
          <p:nvPr/>
        </p:nvSpPr>
        <p:spPr>
          <a:xfrm>
            <a:off x="7434072" y="4937760"/>
            <a:ext cx="2807207" cy="420624"/>
          </a:xfrm>
          <a:prstGeom prst="rect">
            <a:avLst/>
          </a:prstGeom>
          <a:noFill/>
        </p:spPr>
        <p:txBody>
          <a:bodyPr wrap="square" lIns="0" rIns="0" tIns="0" bIns="0" anchor="ctr">
            <a:spAutoFit/>
          </a:bodyPr>
          <a:lstStyle/>
          <a:p>
            <a:pPr algn="l">
              <a:spcAft>
                <a:spcPts val="0"/>
              </a:spcAft>
            </a:pPr>
            <a:r>
              <a:rPr sz="1100" b="0" i="0">
                <a:solidFill>
                  <a:srgbClr val="1F1F1F"/>
                </a:solidFill>
              </a:rPr>
              <a:t>DWPose skeleton — THE tool for characters</a:t>
            </a:r>
          </a:p>
        </p:txBody>
      </p:sp>
      <p:sp>
        <p:nvSpPr>
          <p:cNvPr id="13" name="TextBox 1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Prompt = what, ControlNet = where. Start at weight 0.6–0.8.</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Zhang &amp; Agrawala 2023, ControlNet · Lab 4 ComfyUI handouts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pose swap with ControlNet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One stick figure, three characters: the skeleton says where, the prompt says who.</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Handout 02: pose_ref.png → the DWPose skeleton preview</a:t>
            </a:r>
          </a:p>
          <a:p>
            <a:pPr algn="l">
              <a:spcAft>
                <a:spcPts val="900"/>
              </a:spcAft>
            </a:pPr>
            <a:r>
              <a:rPr sz="1400" b="0" i="0">
                <a:solidFill>
                  <a:srgbClr val="1F1F1F"/>
                </a:solidFill>
              </a:rPr>
              <a:t>2. Prompt “knight in armour” → Queue (seed fixed)</a:t>
            </a:r>
          </a:p>
          <a:p>
            <a:pPr algn="l">
              <a:spcAft>
                <a:spcPts val="900"/>
              </a:spcAft>
            </a:pPr>
            <a:r>
              <a:rPr sz="1400" b="0" i="0">
                <a:solidFill>
                  <a:srgbClr val="1F1F1F"/>
                </a:solidFill>
              </a:rPr>
              <a:t>3. Same skeleton: “robot”, then “ballerina”</a:t>
            </a:r>
          </a:p>
          <a:p>
            <a:pPr algn="l">
              <a:spcAft>
                <a:spcPts val="900"/>
              </a:spcAft>
            </a:pPr>
            <a:r>
              <a:rPr sz="1400" b="0" i="0">
                <a:solidFill>
                  <a:srgbClr val="1F1F1F"/>
                </a:solidFill>
              </a:rPr>
              <a:t>4. ControlNet strength 1.0 → 0.6: looser leash, more prompt</a:t>
            </a:r>
          </a:p>
          <a:p>
            <a:pPr algn="l">
              <a:spcAft>
                <a:spcPts val="900"/>
              </a:spcAft>
            </a:pPr>
            <a:r>
              <a:rPr sz="1400" b="0" i="0">
                <a:solidFill>
                  <a:srgbClr val="1F1F1F"/>
                </a:solidFill>
              </a:rPr>
              <a:t>5. Optional: switch on the character LoRA node</a:t>
            </a:r>
          </a:p>
        </p:txBody>
      </p:sp>
      <p:sp>
        <p:nvSpPr>
          <p:cNvPr id="11" name="Rounded Rectangle 10"/>
          <p:cNvSpPr/>
          <p:nvPr/>
        </p:nvSpPr>
        <p:spPr>
          <a:xfrm>
            <a:off x="5029200" y="38480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The pre-rendered pose trio and a screenshot of the graph</a:t>
            </a:r>
          </a:p>
        </p:txBody>
      </p:sp>
      <p:pic>
        <p:nvPicPr>
          <p:cNvPr id="14" name="Picture 13" descr="ex_pose_trio_cf1dc18bbbff.jpg"/>
          <p:cNvPicPr>
            <a:picLocks noChangeAspect="1"/>
          </p:cNvPicPr>
          <p:nvPr/>
        </p:nvPicPr>
        <p:blipFill>
          <a:blip r:embed="rId3"/>
          <a:stretch>
            <a:fillRect/>
          </a:stretch>
        </p:blipFill>
        <p:spPr>
          <a:xfrm>
            <a:off x="585216" y="2852928"/>
            <a:ext cx="2240280" cy="1280160"/>
          </a:xfrm>
          <a:prstGeom prst="roundRect">
            <a:avLst>
              <a:gd name="adj" fmla="val 4000"/>
            </a:avLst>
          </a:prstGeom>
        </p:spPr>
      </p:pic>
      <p:sp>
        <p:nvSpPr>
          <p:cNvPr id="15" name="TextBox 14"/>
          <p:cNvSpPr txBox="1"/>
          <p:nvPr/>
        </p:nvSpPr>
        <p:spPr>
          <a:xfrm>
            <a:off x="585216" y="4160520"/>
            <a:ext cx="39319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what you will see: one skeleton, three prompts</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4 ComfyUI handouts · Beyond the Slop (Jul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IP-Adapter and identity lock: show it instead of describing it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ip_adapter_pair_en_602dde848d25.jpg"/>
          <p:cNvPicPr>
            <a:picLocks noChangeAspect="1"/>
          </p:cNvPicPr>
          <p:nvPr/>
        </p:nvPicPr>
        <p:blipFill>
          <a:blip r:embed="rId3"/>
          <a:stretch>
            <a:fillRect/>
          </a:stretch>
        </p:blipFill>
        <p:spPr>
          <a:xfrm>
            <a:off x="585216" y="1371600"/>
            <a:ext cx="5760720" cy="3142210"/>
          </a:xfrm>
          <a:prstGeom prst="roundRect">
            <a:avLst>
              <a:gd name="adj" fmla="val 4000"/>
            </a:avLst>
          </a:prstGeom>
        </p:spPr>
      </p:pic>
      <p:sp>
        <p:nvSpPr>
          <p:cNvPr id="5" name="TextBox 4"/>
          <p:cNvSpPr txBox="1"/>
          <p:nvPr/>
        </p:nvSpPr>
        <p:spPr>
          <a:xfrm>
            <a:off x="585216" y="4572000"/>
            <a:ext cx="57607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a style reference, no training</a:t>
            </a:r>
          </a:p>
        </p:txBody>
      </p:sp>
      <p:sp>
        <p:nvSpPr>
          <p:cNvPr id="6" name="TextBox 5"/>
          <p:cNvSpPr txBox="1"/>
          <p:nvPr/>
        </p:nvSpPr>
        <p:spPr>
          <a:xfrm>
            <a:off x="6629400" y="1371600"/>
            <a:ext cx="3611879" cy="868680"/>
          </a:xfrm>
          <a:prstGeom prst="rect">
            <a:avLst/>
          </a:prstGeom>
          <a:noFill/>
        </p:spPr>
        <p:txBody>
          <a:bodyPr wrap="square" lIns="0" rIns="0" tIns="0" bIns="0" anchor="t">
            <a:spAutoFit/>
          </a:bodyPr>
          <a:lstStyle/>
          <a:p>
            <a:pPr algn="l">
              <a:spcAft>
                <a:spcPts val="0"/>
              </a:spcAft>
            </a:pPr>
            <a:r>
              <a:rPr sz="1300" b="0" i="0">
                <a:solidFill>
                  <a:srgbClr val="2A446F"/>
                </a:solidFill>
              </a:rPr>
              <a:t>The reference image is encoded into its own attention channel, parallel to the text.</a:t>
            </a:r>
          </a:p>
        </p:txBody>
      </p:sp>
      <p:sp>
        <p:nvSpPr>
          <p:cNvPr id="7" name="Rounded Rectangle 6"/>
          <p:cNvSpPr/>
          <p:nvPr/>
        </p:nvSpPr>
        <p:spPr>
          <a:xfrm>
            <a:off x="6629400" y="2286000"/>
            <a:ext cx="3611879"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30568" y="2450592"/>
            <a:ext cx="3209543" cy="411480"/>
          </a:xfrm>
          <a:prstGeom prst="rect">
            <a:avLst/>
          </a:prstGeom>
          <a:noFill/>
        </p:spPr>
        <p:txBody>
          <a:bodyPr wrap="square" lIns="0" rIns="0" tIns="0" bIns="0" anchor="t">
            <a:spAutoFit/>
          </a:bodyPr>
          <a:lstStyle/>
          <a:p>
            <a:pPr algn="l">
              <a:spcAft>
                <a:spcPts val="0"/>
              </a:spcAft>
            </a:pPr>
            <a:r>
              <a:rPr sz="1200" b="1" i="0">
                <a:solidFill>
                  <a:srgbClr val="2A7F5C"/>
                </a:solidFill>
              </a:rPr>
              <a:t>BEATS A LoRA ON SPEED</a:t>
            </a:r>
          </a:p>
        </p:txBody>
      </p:sp>
      <p:sp>
        <p:nvSpPr>
          <p:cNvPr id="9" name="TextBox 8"/>
          <p:cNvSpPr txBox="1"/>
          <p:nvPr/>
        </p:nvSpPr>
        <p:spPr>
          <a:xfrm>
            <a:off x="6830568" y="2907792"/>
            <a:ext cx="3209543" cy="457200"/>
          </a:xfrm>
          <a:prstGeom prst="rect">
            <a:avLst/>
          </a:prstGeom>
          <a:noFill/>
        </p:spPr>
        <p:txBody>
          <a:bodyPr wrap="square" lIns="0" rIns="0" tIns="0" bIns="0" anchor="t">
            <a:spAutoFit/>
          </a:bodyPr>
          <a:lstStyle/>
          <a:p>
            <a:pPr algn="l">
              <a:spcAft>
                <a:spcPts val="0"/>
              </a:spcAft>
            </a:pPr>
            <a:r>
              <a:rPr sz="1200" b="0" i="0">
                <a:solidFill>
                  <a:srgbClr val="1F1F1F"/>
                </a:solidFill>
              </a:rPr>
              <a:t>No training: a ~100 MB adapter works instantly — right for a handful of shots.</a:t>
            </a:r>
          </a:p>
        </p:txBody>
      </p:sp>
      <p:sp>
        <p:nvSpPr>
          <p:cNvPr id="10" name="Rounded Rectangle 9"/>
          <p:cNvSpPr/>
          <p:nvPr/>
        </p:nvSpPr>
        <p:spPr>
          <a:xfrm>
            <a:off x="6629400" y="3657600"/>
            <a:ext cx="3611879"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30568" y="3822191"/>
            <a:ext cx="3209543" cy="411480"/>
          </a:xfrm>
          <a:prstGeom prst="rect">
            <a:avLst/>
          </a:prstGeom>
          <a:noFill/>
        </p:spPr>
        <p:txBody>
          <a:bodyPr wrap="square" lIns="0" rIns="0" tIns="0" bIns="0" anchor="t">
            <a:spAutoFit/>
          </a:bodyPr>
          <a:lstStyle/>
          <a:p>
            <a:pPr algn="l">
              <a:spcAft>
                <a:spcPts val="0"/>
              </a:spcAft>
            </a:pPr>
            <a:r>
              <a:rPr sz="1200" b="1" i="0">
                <a:solidFill>
                  <a:srgbClr val="C52B2B"/>
                </a:solidFill>
              </a:rPr>
              <a:t>LOSES ON FIDELITY</a:t>
            </a:r>
          </a:p>
        </p:txBody>
      </p:sp>
      <p:sp>
        <p:nvSpPr>
          <p:cNvPr id="12" name="TextBox 11"/>
          <p:cNvSpPr txBox="1"/>
          <p:nvPr/>
        </p:nvSpPr>
        <p:spPr>
          <a:xfrm>
            <a:off x="6830568" y="4279392"/>
            <a:ext cx="3209543" cy="457200"/>
          </a:xfrm>
          <a:prstGeom prst="rect">
            <a:avLst/>
          </a:prstGeom>
          <a:noFill/>
        </p:spPr>
        <p:txBody>
          <a:bodyPr wrap="square" lIns="0" rIns="0" tIns="0" bIns="0" anchor="t">
            <a:spAutoFit/>
          </a:bodyPr>
          <a:lstStyle/>
          <a:p>
            <a:pPr algn="l">
              <a:spcAft>
                <a:spcPts val="0"/>
              </a:spcAft>
            </a:pPr>
            <a:r>
              <a:rPr sz="1200" b="0" i="0">
                <a:solidFill>
                  <a:srgbClr val="1F1F1F"/>
                </a:solidFill>
              </a:rPr>
              <a:t>Zero-shot identity drifts over many shots — for a whole film, train a character LoRA.</a:t>
            </a:r>
          </a:p>
        </p:txBody>
      </p:sp>
      <p:sp>
        <p:nvSpPr>
          <p:cNvPr id="13" name="TextBox 12"/>
          <p:cNvSpPr txBox="1"/>
          <p:nvPr/>
        </p:nvSpPr>
        <p:spPr>
          <a:xfrm>
            <a:off x="6629400" y="4983480"/>
            <a:ext cx="3611879" cy="320040"/>
          </a:xfrm>
          <a:prstGeom prst="rect">
            <a:avLst/>
          </a:prstGeom>
          <a:noFill/>
        </p:spPr>
        <p:txBody>
          <a:bodyPr wrap="square" lIns="0" rIns="0" tIns="0" bIns="0" anchor="t">
            <a:spAutoFit/>
          </a:bodyPr>
          <a:lstStyle/>
          <a:p>
            <a:pPr algn="l">
              <a:spcAft>
                <a:spcPts val="0"/>
              </a:spcAft>
            </a:pPr>
            <a:r>
              <a:rPr sz="1200" b="0" i="0">
                <a:solidFill>
                  <a:srgbClr val="6B6B6B"/>
                </a:solidFill>
              </a:rPr>
              <a:t>faces: FaceID (ArcFace) · InstantID · PuLID</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Text says it. The image shows it.</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Ye et al. 2023, IP-Adapter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Real inpainting and outpainting: fix one detail, keep the seed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ex_inpaint_before832_741bc43f19bd.jpg"/>
          <p:cNvPicPr>
            <a:picLocks noChangeAspect="1"/>
          </p:cNvPicPr>
          <p:nvPr/>
        </p:nvPicPr>
        <p:blipFill>
          <a:blip r:embed="rId3"/>
          <a:stretch>
            <a:fillRect/>
          </a:stretch>
        </p:blipFill>
        <p:spPr>
          <a:xfrm>
            <a:off x="585216" y="1371600"/>
            <a:ext cx="1691640" cy="1691640"/>
          </a:xfrm>
          <a:prstGeom prst="roundRect">
            <a:avLst>
              <a:gd name="adj" fmla="val 4000"/>
            </a:avLst>
          </a:prstGeom>
        </p:spPr>
      </p:pic>
      <p:sp>
        <p:nvSpPr>
          <p:cNvPr id="5" name="TextBox 4"/>
          <p:cNvSpPr txBox="1"/>
          <p:nvPr/>
        </p:nvSpPr>
        <p:spPr>
          <a:xfrm>
            <a:off x="585216" y="3090672"/>
            <a:ext cx="1691640" cy="274320"/>
          </a:xfrm>
          <a:prstGeom prst="rect">
            <a:avLst/>
          </a:prstGeom>
          <a:noFill/>
        </p:spPr>
        <p:txBody>
          <a:bodyPr wrap="square" lIns="0" rIns="0" tIns="0" bIns="0" anchor="t">
            <a:spAutoFit/>
          </a:bodyPr>
          <a:lstStyle/>
          <a:p>
            <a:pPr algn="l">
              <a:spcAft>
                <a:spcPts val="0"/>
              </a:spcAft>
            </a:pPr>
            <a:r>
              <a:rPr sz="1050" b="0" i="0">
                <a:solidFill>
                  <a:srgbClr val="1F1F1F"/>
                </a:solidFill>
              </a:rPr>
              <a:t>1 · the image you have</a:t>
            </a:r>
          </a:p>
        </p:txBody>
      </p:sp>
      <p:pic>
        <p:nvPicPr>
          <p:cNvPr id="6" name="Picture 5" descr="ex_inpaint_mask_vis_3f4232e31749.jpg"/>
          <p:cNvPicPr>
            <a:picLocks noChangeAspect="1"/>
          </p:cNvPicPr>
          <p:nvPr/>
        </p:nvPicPr>
        <p:blipFill>
          <a:blip r:embed="rId4"/>
          <a:stretch>
            <a:fillRect/>
          </a:stretch>
        </p:blipFill>
        <p:spPr>
          <a:xfrm>
            <a:off x="2404872" y="1371600"/>
            <a:ext cx="1691640" cy="1691640"/>
          </a:xfrm>
          <a:prstGeom prst="roundRect">
            <a:avLst>
              <a:gd name="adj" fmla="val 4000"/>
            </a:avLst>
          </a:prstGeom>
        </p:spPr>
      </p:pic>
      <p:sp>
        <p:nvSpPr>
          <p:cNvPr id="7" name="TextBox 6"/>
          <p:cNvSpPr txBox="1"/>
          <p:nvPr/>
        </p:nvSpPr>
        <p:spPr>
          <a:xfrm>
            <a:off x="2404872" y="3090672"/>
            <a:ext cx="1691640" cy="274320"/>
          </a:xfrm>
          <a:prstGeom prst="rect">
            <a:avLst/>
          </a:prstGeom>
          <a:noFill/>
        </p:spPr>
        <p:txBody>
          <a:bodyPr wrap="square" lIns="0" rIns="0" tIns="0" bIns="0" anchor="t">
            <a:spAutoFit/>
          </a:bodyPr>
          <a:lstStyle/>
          <a:p>
            <a:pPr algn="l">
              <a:spcAft>
                <a:spcPts val="0"/>
              </a:spcAft>
            </a:pPr>
            <a:r>
              <a:rPr sz="1050" b="0" i="0">
                <a:solidFill>
                  <a:srgbClr val="1F1F1F"/>
                </a:solidFill>
              </a:rPr>
              <a:t>2 · mask the water</a:t>
            </a:r>
          </a:p>
        </p:txBody>
      </p:sp>
      <p:pic>
        <p:nvPicPr>
          <p:cNvPr id="8" name="Picture 7" descr="ex_inpaint_after_real_6a33c04206b8.jpg"/>
          <p:cNvPicPr>
            <a:picLocks noChangeAspect="1"/>
          </p:cNvPicPr>
          <p:nvPr/>
        </p:nvPicPr>
        <p:blipFill>
          <a:blip r:embed="rId5"/>
          <a:stretch>
            <a:fillRect/>
          </a:stretch>
        </p:blipFill>
        <p:spPr>
          <a:xfrm>
            <a:off x="4224528" y="1371600"/>
            <a:ext cx="1691640" cy="1691640"/>
          </a:xfrm>
          <a:prstGeom prst="roundRect">
            <a:avLst>
              <a:gd name="adj" fmla="val 4000"/>
            </a:avLst>
          </a:prstGeom>
        </p:spPr>
      </p:pic>
      <p:sp>
        <p:nvSpPr>
          <p:cNvPr id="9" name="TextBox 8"/>
          <p:cNvSpPr txBox="1"/>
          <p:nvPr/>
        </p:nvSpPr>
        <p:spPr>
          <a:xfrm>
            <a:off x="4224528" y="3090672"/>
            <a:ext cx="1691640" cy="274320"/>
          </a:xfrm>
          <a:prstGeom prst="rect">
            <a:avLst/>
          </a:prstGeom>
          <a:noFill/>
        </p:spPr>
        <p:txBody>
          <a:bodyPr wrap="square" lIns="0" rIns="0" tIns="0" bIns="0" anchor="t">
            <a:spAutoFit/>
          </a:bodyPr>
          <a:lstStyle/>
          <a:p>
            <a:pPr algn="l">
              <a:spcAft>
                <a:spcPts val="0"/>
              </a:spcAft>
            </a:pPr>
            <a:r>
              <a:rPr sz="1050" b="0" i="0">
                <a:solidFill>
                  <a:srgbClr val="1F1F1F"/>
                </a:solidFill>
              </a:rPr>
              <a:t>3 · “a red rowboat” — done</a:t>
            </a:r>
          </a:p>
        </p:txBody>
      </p:sp>
      <p:pic>
        <p:nvPicPr>
          <p:cNvPr id="10" name="Picture 9" descr="ex_outpaint_before.jpg"/>
          <p:cNvPicPr>
            <a:picLocks noChangeAspect="1"/>
          </p:cNvPicPr>
          <p:nvPr/>
        </p:nvPicPr>
        <p:blipFill>
          <a:blip r:embed="rId6"/>
          <a:stretch>
            <a:fillRect/>
          </a:stretch>
        </p:blipFill>
        <p:spPr>
          <a:xfrm>
            <a:off x="585216" y="3456432"/>
            <a:ext cx="1165860" cy="1554480"/>
          </a:xfrm>
          <a:prstGeom prst="roundRect">
            <a:avLst>
              <a:gd name="adj" fmla="val 4000"/>
            </a:avLst>
          </a:prstGeom>
        </p:spPr>
      </p:pic>
      <p:cxnSp>
        <p:nvCxnSpPr>
          <p:cNvPr id="11" name="Connector 10"/>
          <p:cNvCxnSpPr/>
          <p:nvPr/>
        </p:nvCxnSpPr>
        <p:spPr>
          <a:xfrm>
            <a:off x="1824228" y="4233672"/>
            <a:ext cx="310896" cy="0"/>
          </a:xfrm>
          <a:prstGeom prst="line">
            <a:avLst/>
          </a:prstGeom>
          <a:ln w="28575">
            <a:solidFill>
              <a:srgbClr val="E86A1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Picture 11" descr="ex_outpaint_after_real_17ac1a3303f9.jpg"/>
          <p:cNvPicPr>
            <a:picLocks noChangeAspect="1"/>
          </p:cNvPicPr>
          <p:nvPr/>
        </p:nvPicPr>
        <p:blipFill>
          <a:blip r:embed="rId7"/>
          <a:stretch>
            <a:fillRect/>
          </a:stretch>
        </p:blipFill>
        <p:spPr>
          <a:xfrm>
            <a:off x="2208276" y="3456432"/>
            <a:ext cx="2755669" cy="1554480"/>
          </a:xfrm>
          <a:prstGeom prst="roundRect">
            <a:avLst>
              <a:gd name="adj" fmla="val 4000"/>
            </a:avLst>
          </a:prstGeom>
        </p:spPr>
      </p:pic>
      <p:sp>
        <p:nvSpPr>
          <p:cNvPr id="13" name="TextBox 12"/>
          <p:cNvSpPr txBox="1"/>
          <p:nvPr/>
        </p:nvSpPr>
        <p:spPr>
          <a:xfrm>
            <a:off x="585216" y="5038344"/>
            <a:ext cx="6035040" cy="274320"/>
          </a:xfrm>
          <a:prstGeom prst="rect">
            <a:avLst/>
          </a:prstGeom>
          <a:noFill/>
        </p:spPr>
        <p:txBody>
          <a:bodyPr wrap="square" lIns="0" rIns="0" tIns="0" bIns="0" anchor="t">
            <a:spAutoFit/>
          </a:bodyPr>
          <a:lstStyle/>
          <a:p>
            <a:pPr algn="l">
              <a:spcAft>
                <a:spcPts val="0"/>
              </a:spcAft>
            </a:pPr>
            <a:r>
              <a:rPr sz="1050" b="0" i="0">
                <a:solidFill>
                  <a:srgbClr val="1F1F1F"/>
                </a:solidFill>
              </a:rPr>
              <a:t>outpaint: the crop you have → the shot you needed · AI-generated (Beyond the Slop)</a:t>
            </a:r>
          </a:p>
        </p:txBody>
      </p:sp>
      <p:sp>
        <p:nvSpPr>
          <p:cNvPr id="14" name="TextBox 13"/>
          <p:cNvSpPr txBox="1"/>
          <p:nvPr/>
        </p:nvSpPr>
        <p:spPr>
          <a:xfrm>
            <a:off x="6720840" y="1371600"/>
            <a:ext cx="3520439" cy="274320"/>
          </a:xfrm>
          <a:prstGeom prst="rect">
            <a:avLst/>
          </a:prstGeom>
          <a:noFill/>
        </p:spPr>
        <p:txBody>
          <a:bodyPr wrap="square" lIns="0" rIns="0" tIns="0" bIns="0" anchor="t">
            <a:spAutoFit/>
          </a:bodyPr>
          <a:lstStyle/>
          <a:p>
            <a:pPr algn="l">
              <a:spcAft>
                <a:spcPts val="0"/>
              </a:spcAft>
            </a:pPr>
            <a:r>
              <a:rPr sz="1100" b="1" i="0">
                <a:solidFill>
                  <a:srgbClr val="E86A10"/>
                </a:solidFill>
              </a:rPr>
              <a:t>THREE MOVES</a:t>
            </a:r>
          </a:p>
        </p:txBody>
      </p:sp>
      <p:sp>
        <p:nvSpPr>
          <p:cNvPr id="15" name="Rounded Rectangle 14"/>
          <p:cNvSpPr/>
          <p:nvPr/>
        </p:nvSpPr>
        <p:spPr>
          <a:xfrm>
            <a:off x="6720840" y="1728216"/>
            <a:ext cx="960120" cy="493776"/>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MASK</a:t>
            </a:r>
          </a:p>
        </p:txBody>
      </p:sp>
      <p:sp>
        <p:nvSpPr>
          <p:cNvPr id="16" name="TextBox 15"/>
          <p:cNvSpPr txBox="1"/>
          <p:nvPr/>
        </p:nvSpPr>
        <p:spPr>
          <a:xfrm>
            <a:off x="7845552" y="1691640"/>
            <a:ext cx="2395727" cy="566928"/>
          </a:xfrm>
          <a:prstGeom prst="rect">
            <a:avLst/>
          </a:prstGeom>
          <a:noFill/>
        </p:spPr>
        <p:txBody>
          <a:bodyPr wrap="square" lIns="0" rIns="0" tIns="0" bIns="0" anchor="ctr">
            <a:spAutoFit/>
          </a:bodyPr>
          <a:lstStyle/>
          <a:p>
            <a:pPr algn="l">
              <a:spcAft>
                <a:spcPts val="0"/>
              </a:spcAft>
            </a:pPr>
            <a:r>
              <a:rPr sz="1200" b="0" i="0">
                <a:solidFill>
                  <a:srgbClr val="1F1F1F"/>
                </a:solidFill>
              </a:rPr>
              <a:t>what may change — the rest stays pixel-identical</a:t>
            </a:r>
          </a:p>
        </p:txBody>
      </p:sp>
      <p:sp>
        <p:nvSpPr>
          <p:cNvPr id="17" name="Rounded Rectangle 16"/>
          <p:cNvSpPr/>
          <p:nvPr/>
        </p:nvSpPr>
        <p:spPr>
          <a:xfrm>
            <a:off x="6720840" y="2386584"/>
            <a:ext cx="960120" cy="493776"/>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DENOISE</a:t>
            </a:r>
          </a:p>
        </p:txBody>
      </p:sp>
      <p:sp>
        <p:nvSpPr>
          <p:cNvPr id="18" name="TextBox 17"/>
          <p:cNvSpPr txBox="1"/>
          <p:nvPr/>
        </p:nvSpPr>
        <p:spPr>
          <a:xfrm>
            <a:off x="7845552" y="2350008"/>
            <a:ext cx="2395727" cy="566928"/>
          </a:xfrm>
          <a:prstGeom prst="rect">
            <a:avLst/>
          </a:prstGeom>
          <a:noFill/>
        </p:spPr>
        <p:txBody>
          <a:bodyPr wrap="square" lIns="0" rIns="0" tIns="0" bIns="0" anchor="ctr">
            <a:spAutoFit/>
          </a:bodyPr>
          <a:lstStyle/>
          <a:p>
            <a:pPr algn="l">
              <a:spcAft>
                <a:spcPts val="0"/>
              </a:spcAft>
            </a:pPr>
            <a:r>
              <a:rPr sz="1200" b="0" i="0">
                <a:solidFill>
                  <a:srgbClr val="1F1F1F"/>
                </a:solidFill>
              </a:rPr>
              <a:t>how much: 0.3 restyles, 0.9 regenerates</a:t>
            </a:r>
          </a:p>
        </p:txBody>
      </p:sp>
      <p:sp>
        <p:nvSpPr>
          <p:cNvPr id="19" name="Rounded Rectangle 18"/>
          <p:cNvSpPr/>
          <p:nvPr/>
        </p:nvSpPr>
        <p:spPr>
          <a:xfrm>
            <a:off x="6720840" y="3044952"/>
            <a:ext cx="960120" cy="493776"/>
          </a:xfrm>
          <a:prstGeom prst="roundRect">
            <a:avLst>
              <a:gd name="adj" fmla="val 120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SEAM</a:t>
            </a:r>
          </a:p>
        </p:txBody>
      </p:sp>
      <p:sp>
        <p:nvSpPr>
          <p:cNvPr id="20" name="TextBox 19"/>
          <p:cNvSpPr txBox="1"/>
          <p:nvPr/>
        </p:nvSpPr>
        <p:spPr>
          <a:xfrm>
            <a:off x="7845552" y="3008376"/>
            <a:ext cx="2395727" cy="566928"/>
          </a:xfrm>
          <a:prstGeom prst="rect">
            <a:avLst/>
          </a:prstGeom>
          <a:noFill/>
        </p:spPr>
        <p:txBody>
          <a:bodyPr wrap="square" lIns="0" rIns="0" tIns="0" bIns="0" anchor="ctr">
            <a:spAutoFit/>
          </a:bodyPr>
          <a:lstStyle/>
          <a:p>
            <a:pPr algn="l">
              <a:spcAft>
                <a:spcPts val="0"/>
              </a:spcAft>
            </a:pPr>
            <a:r>
              <a:rPr sz="1200" b="0" i="0">
                <a:solidFill>
                  <a:srgbClr val="1F1F1F"/>
                </a:solidFill>
              </a:rPr>
              <a:t>grow or feather the mask so edges blend</a:t>
            </a:r>
          </a:p>
        </p:txBody>
      </p:sp>
      <p:sp>
        <p:nvSpPr>
          <p:cNvPr id="21" name="TextBox 20"/>
          <p:cNvSpPr txBox="1"/>
          <p:nvPr/>
        </p:nvSpPr>
        <p:spPr>
          <a:xfrm>
            <a:off x="6720840" y="3749039"/>
            <a:ext cx="3520439" cy="1097280"/>
          </a:xfrm>
          <a:prstGeom prst="rect">
            <a:avLst/>
          </a:prstGeom>
          <a:noFill/>
        </p:spPr>
        <p:txBody>
          <a:bodyPr wrap="square" lIns="0" rIns="0" tIns="0" bIns="0" anchor="t">
            <a:spAutoFit/>
          </a:bodyPr>
          <a:lstStyle/>
          <a:p>
            <a:pPr algn="l">
              <a:spcAft>
                <a:spcPts val="0"/>
              </a:spcAft>
            </a:pPr>
            <a:r>
              <a:rPr sz="1200" b="0" i="0">
                <a:solidFill>
                  <a:srgbClr val="1F1F1F"/>
                </a:solidFill>
              </a:rPr>
              <a:t>Outpainting: the same trick with the mask pointing outward — keep the original pixels, portrait → 16:9.</a:t>
            </a:r>
          </a:p>
        </p:txBody>
      </p:sp>
      <p:sp>
        <p:nvSpPr>
          <p:cNvPr id="22" name="TextBox 2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Surgery instead of re-rolling: fix one detail, keep the seed.</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Lab 4 ComfyUI handouts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model zoo has moved: image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447288"/>
        </p:xfrm>
        <a:graphic>
          <a:graphicData uri="http://schemas.openxmlformats.org/drawingml/2006/table">
            <a:tbl>
              <a:tblPr firstRow="1" bandRow="1">
                <a:tableStyleId>{5C22544A-7EE6-4342-B048-85BDC9FD1C3A}</a:tableStyleId>
              </a:tblPr>
              <a:tblGrid>
                <a:gridCol w="2880360"/>
                <a:gridCol w="1280160"/>
                <a:gridCol w="1005840"/>
                <a:gridCol w="1783080"/>
                <a:gridCol w="2432304"/>
              </a:tblGrid>
              <a:tr h="292608">
                <a:tc>
                  <a:txBody>
                    <a:bodyPr/>
                    <a:lstStyle/>
                    <a:p>
                      <a:r>
                        <a:rPr sz="1100" b="1">
                          <a:solidFill>
                            <a:srgbClr val="FFFFFF"/>
                          </a:solidFill>
                        </a:rPr>
                        <a:t>Model</a:t>
                      </a:r>
                    </a:p>
                  </a:txBody>
                  <a:tcPr anchor="ctr" marT="36576" marB="36576">
                    <a:solidFill>
                      <a:srgbClr val="2A446F"/>
                    </a:solidFill>
                  </a:tcPr>
                </a:tc>
                <a:tc>
                  <a:txBody>
                    <a:bodyPr/>
                    <a:lstStyle/>
                    <a:p>
                      <a:r>
                        <a:rPr sz="1100" b="1">
                          <a:solidFill>
                            <a:srgbClr val="FFFFFF"/>
                          </a:solidFill>
                        </a:rPr>
                        <a:t>Maker</a:t>
                      </a:r>
                    </a:p>
                  </a:txBody>
                  <a:tcPr anchor="ctr" marT="36576" marB="36576">
                    <a:solidFill>
                      <a:srgbClr val="2A446F"/>
                    </a:solidFill>
                  </a:tcPr>
                </a:tc>
                <a:tc>
                  <a:txBody>
                    <a:bodyPr/>
                    <a:lstStyle/>
                    <a:p>
                      <a:r>
                        <a:rPr sz="1100" b="1">
                          <a:solidFill>
                            <a:srgbClr val="FFFFFF"/>
                          </a:solidFill>
                        </a:rPr>
                        <a:t>Date</a:t>
                      </a:r>
                    </a:p>
                  </a:txBody>
                  <a:tcPr anchor="ctr" marT="36576" marB="36576">
                    <a:solidFill>
                      <a:srgbClr val="2A446F"/>
                    </a:solidFill>
                  </a:tcPr>
                </a:tc>
                <a:tc>
                  <a:txBody>
                    <a:bodyPr/>
                    <a:lstStyle/>
                    <a:p>
                      <a:r>
                        <a:rPr sz="1100" b="1">
                          <a:solidFill>
                            <a:srgbClr val="FFFFFF"/>
                          </a:solidFill>
                        </a:rPr>
                        <a:t>Licence</a:t>
                      </a:r>
                    </a:p>
                  </a:txBody>
                  <a:tcPr anchor="ctr" marT="36576" marB="36576">
                    <a:solidFill>
                      <a:srgbClr val="2A446F"/>
                    </a:solidFill>
                  </a:tcPr>
                </a:tc>
                <a:tc>
                  <a:txBody>
                    <a:bodyPr/>
                    <a:lstStyle/>
                    <a:p>
                      <a:r>
                        <a:rPr sz="1100" b="1">
                          <a:solidFill>
                            <a:srgbClr val="FFFFFF"/>
                          </a:solidFill>
                        </a:rPr>
                        <a:t>Why it matters</a:t>
                      </a:r>
                    </a:p>
                  </a:txBody>
                  <a:tcPr anchor="ctr" marT="36576" marB="36576">
                    <a:solidFill>
                      <a:srgbClr val="2A446F"/>
                    </a:solidFill>
                  </a:tcPr>
                </a:tc>
              </a:tr>
              <a:tr h="426720">
                <a:tc>
                  <a:txBody>
                    <a:bodyPr/>
                    <a:lstStyle/>
                    <a:p>
                      <a:r>
                        <a:rPr sz="1100" b="1">
                          <a:solidFill>
                            <a:srgbClr val="1F1F1F"/>
                          </a:solidFill>
                        </a:rPr>
                        <a:t>Z-Image-Turbo · Z-Image · Edit</a:t>
                      </a:r>
                    </a:p>
                  </a:txBody>
                  <a:tcPr anchor="ctr" marT="36576" marB="36576">
                    <a:solidFill>
                      <a:srgbClr val="FFFFFF"/>
                    </a:solidFill>
                  </a:tcPr>
                </a:tc>
                <a:tc>
                  <a:txBody>
                    <a:bodyPr/>
                    <a:lstStyle/>
                    <a:p>
                      <a:r>
                        <a:rPr sz="1100" b="0">
                          <a:solidFill>
                            <a:srgbClr val="1F1F1F"/>
                          </a:solidFill>
                        </a:rPr>
                        <a:t>Alibaba</a:t>
                      </a:r>
                    </a:p>
                    <a:p>
                      <a:r>
                        <a:rPr sz="1100" b="0">
                          <a:solidFill>
                            <a:srgbClr val="1F1F1F"/>
                          </a:solidFill>
                        </a:rPr>
                        <a:t>Tongyi-MAI</a:t>
                      </a:r>
                    </a:p>
                  </a:txBody>
                  <a:tcPr anchor="ctr" marT="36576" marB="36576">
                    <a:solidFill>
                      <a:srgbClr val="FFFFFF"/>
                    </a:solidFill>
                  </a:tcPr>
                </a:tc>
                <a:tc>
                  <a:txBody>
                    <a:bodyPr/>
                    <a:lstStyle/>
                    <a:p>
                      <a:r>
                        <a:rPr sz="1100" b="0">
                          <a:solidFill>
                            <a:srgbClr val="1F1F1F"/>
                          </a:solidFill>
                        </a:rPr>
                        <a:t>11-2025</a:t>
                      </a:r>
                    </a:p>
                    <a:p>
                      <a:r>
                        <a:rPr sz="1100" b="0">
                          <a:solidFill>
                            <a:srgbClr val="1F1F1F"/>
                          </a:solidFill>
                        </a:rPr>
                        <a:t>01-23</a:t>
                      </a:r>
                    </a:p>
                  </a:txBody>
                  <a:tcPr anchor="ctr" marT="36576" marB="36576">
                    <a:solidFill>
                      <a:srgbClr val="FFFFFF"/>
                    </a:solidFill>
                  </a:tcPr>
                </a:tc>
                <a:tc>
                  <a:txBody>
                    <a:bodyPr/>
                    <a:lstStyle/>
                    <a:p>
                      <a:r>
                        <a:rPr sz="1100" b="0">
                          <a:solidFill>
                            <a:srgbClr val="1F1F1F"/>
                          </a:solidFill>
                        </a:rPr>
                        <a:t>Apache-2.0</a:t>
                      </a:r>
                    </a:p>
                  </a:txBody>
                  <a:tcPr anchor="ctr" marT="36576" marB="36576">
                    <a:solidFill>
                      <a:srgbClr val="FFFFFF"/>
                    </a:solidFill>
                  </a:tcPr>
                </a:tc>
                <a:tc>
                  <a:txBody>
                    <a:bodyPr/>
                    <a:lstStyle/>
                    <a:p>
                      <a:r>
                        <a:rPr sz="1100" b="0">
                          <a:solidFill>
                            <a:srgbClr val="1F1F1F"/>
                          </a:solidFill>
                        </a:rPr>
                        <a:t>6B, ~16 GB, 8 steps —</a:t>
                      </a:r>
                    </a:p>
                    <a:p>
                      <a:r>
                        <a:rPr sz="1100" b="0">
                          <a:solidFill>
                            <a:srgbClr val="1F1F1F"/>
                          </a:solidFill>
                        </a:rPr>
                        <a:t>best quality per GB</a:t>
                      </a:r>
                    </a:p>
                  </a:txBody>
                  <a:tcPr anchor="ctr" marT="36576" marB="36576">
                    <a:solidFill>
                      <a:srgbClr val="FFFFFF"/>
                    </a:solidFill>
                  </a:tcPr>
                </a:tc>
              </a:tr>
              <a:tr h="426720">
                <a:tc>
                  <a:txBody>
                    <a:bodyPr/>
                    <a:lstStyle/>
                    <a:p>
                      <a:r>
                        <a:rPr sz="1100" b="1">
                          <a:solidFill>
                            <a:srgbClr val="1F1F1F"/>
                          </a:solidFill>
                        </a:rPr>
                        <a:t>FLUX.2 [klein] 4B</a:t>
                      </a:r>
                    </a:p>
                  </a:txBody>
                  <a:tcPr anchor="ctr" marT="36576" marB="36576">
                    <a:solidFill>
                      <a:srgbClr val="F3F4F8"/>
                    </a:solidFill>
                  </a:tcPr>
                </a:tc>
                <a:tc>
                  <a:txBody>
                    <a:bodyPr/>
                    <a:lstStyle/>
                    <a:p>
                      <a:r>
                        <a:rPr sz="1100" b="0">
                          <a:solidFill>
                            <a:srgbClr val="1F1F1F"/>
                          </a:solidFill>
                        </a:rPr>
                        <a:t>Black Forest</a:t>
                      </a:r>
                    </a:p>
                    <a:p>
                      <a:r>
                        <a:rPr sz="1100" b="0">
                          <a:solidFill>
                            <a:srgbClr val="1F1F1F"/>
                          </a:solidFill>
                        </a:rPr>
                        <a:t>Labs</a:t>
                      </a:r>
                    </a:p>
                  </a:txBody>
                  <a:tcPr anchor="ctr" marT="36576" marB="36576">
                    <a:solidFill>
                      <a:srgbClr val="F3F4F8"/>
                    </a:solidFill>
                  </a:tcPr>
                </a:tc>
                <a:tc>
                  <a:txBody>
                    <a:bodyPr/>
                    <a:lstStyle/>
                    <a:p>
                      <a:r>
                        <a:rPr sz="1100" b="0">
                          <a:solidFill>
                            <a:srgbClr val="1F1F1F"/>
                          </a:solidFill>
                        </a:rPr>
                        <a:t>01-15</a:t>
                      </a:r>
                    </a:p>
                  </a:txBody>
                  <a:tcPr anchor="ctr" marT="36576" marB="36576">
                    <a:solidFill>
                      <a:srgbClr val="F3F4F8"/>
                    </a:solidFill>
                  </a:tcPr>
                </a:tc>
                <a:tc>
                  <a:txBody>
                    <a:bodyPr/>
                    <a:lstStyle/>
                    <a:p>
                      <a:r>
                        <a:rPr sz="1100" b="0">
                          <a:solidFill>
                            <a:srgbClr val="1F1F1F"/>
                          </a:solidFill>
                        </a:rPr>
                        <a:t>Apache-2.0</a:t>
                      </a:r>
                    </a:p>
                  </a:txBody>
                  <a:tcPr anchor="ctr" marT="36576" marB="36576">
                    <a:solidFill>
                      <a:srgbClr val="F3F4F8"/>
                    </a:solidFill>
                  </a:tcPr>
                </a:tc>
                <a:tc>
                  <a:txBody>
                    <a:bodyPr/>
                    <a:lstStyle/>
                    <a:p>
                      <a:r>
                        <a:rPr sz="1100" b="0">
                          <a:solidFill>
                            <a:srgbClr val="1F1F1F"/>
                          </a:solidFill>
                        </a:rPr>
                        <a:t>≈ 13 GB, sub-0.5 s —</a:t>
                      </a:r>
                    </a:p>
                    <a:p>
                      <a:r>
                        <a:rPr sz="1100" b="0">
                          <a:solidFill>
                            <a:srgbClr val="1F1F1F"/>
                          </a:solidFill>
                        </a:rPr>
                        <a:t>the laptop pick</a:t>
                      </a:r>
                    </a:p>
                  </a:txBody>
                  <a:tcPr anchor="ctr" marT="36576" marB="36576">
                    <a:solidFill>
                      <a:srgbClr val="F3F4F8"/>
                    </a:solidFill>
                  </a:tcPr>
                </a:tc>
              </a:tr>
              <a:tr h="426720">
                <a:tc>
                  <a:txBody>
                    <a:bodyPr/>
                    <a:lstStyle/>
                    <a:p>
                      <a:r>
                        <a:rPr sz="1100" b="1">
                          <a:solidFill>
                            <a:srgbClr val="1F1F1F"/>
                          </a:solidFill>
                        </a:rPr>
                        <a:t>FLUX.2 [klein] 9B · [dev]</a:t>
                      </a:r>
                    </a:p>
                  </a:txBody>
                  <a:tcPr anchor="ctr" marT="36576" marB="36576">
                    <a:solidFill>
                      <a:srgbClr val="FFFFFF"/>
                    </a:solidFill>
                  </a:tcPr>
                </a:tc>
                <a:tc>
                  <a:txBody>
                    <a:bodyPr/>
                    <a:lstStyle/>
                    <a:p>
                      <a:r>
                        <a:rPr sz="1100" b="0">
                          <a:solidFill>
                            <a:srgbClr val="1F1F1F"/>
                          </a:solidFill>
                        </a:rPr>
                        <a:t>Black Forest</a:t>
                      </a:r>
                    </a:p>
                    <a:p>
                      <a:r>
                        <a:rPr sz="1100" b="0">
                          <a:solidFill>
                            <a:srgbClr val="1F1F1F"/>
                          </a:solidFill>
                        </a:rPr>
                        <a:t>Labs</a:t>
                      </a:r>
                    </a:p>
                  </a:txBody>
                  <a:tcPr anchor="ctr" marT="36576" marB="36576">
                    <a:solidFill>
                      <a:srgbClr val="FFFFFF"/>
                    </a:solidFill>
                  </a:tcPr>
                </a:tc>
                <a:tc>
                  <a:txBody>
                    <a:bodyPr/>
                    <a:lstStyle/>
                    <a:p>
                      <a:r>
                        <a:rPr sz="1100" b="0">
                          <a:solidFill>
                            <a:srgbClr val="1F1F1F"/>
                          </a:solidFill>
                        </a:rPr>
                        <a:t>01-15</a:t>
                      </a:r>
                    </a:p>
                    <a:p>
                      <a:r>
                        <a:rPr sz="1100" b="0">
                          <a:solidFill>
                            <a:srgbClr val="1F1F1F"/>
                          </a:solidFill>
                        </a:rPr>
                        <a:t>11-2025</a:t>
                      </a:r>
                    </a:p>
                  </a:txBody>
                  <a:tcPr anchor="ctr" marT="36576" marB="36576">
                    <a:solidFill>
                      <a:srgbClr val="FFFFFF"/>
                    </a:solidFill>
                  </a:tcPr>
                </a:tc>
                <a:tc>
                  <a:txBody>
                    <a:bodyPr/>
                    <a:lstStyle/>
                    <a:p>
                      <a:r>
                        <a:rPr sz="1100" b="0">
                          <a:solidFill>
                            <a:srgbClr val="1F1F1F"/>
                          </a:solidFill>
                        </a:rPr>
                        <a:t>non-commercial</a:t>
                      </a:r>
                    </a:p>
                  </a:txBody>
                  <a:tcPr anchor="ctr" marT="36576" marB="36576">
                    <a:solidFill>
                      <a:srgbClr val="FFFFFF"/>
                    </a:solidFill>
                  </a:tcPr>
                </a:tc>
                <a:tc>
                  <a:txBody>
                    <a:bodyPr/>
                    <a:lstStyle/>
                    <a:p>
                      <a:r>
                        <a:rPr sz="1100" b="0">
                          <a:solidFill>
                            <a:srgbClr val="1F1F1F"/>
                          </a:solidFill>
                        </a:rPr>
                        <a:t>[dev] = top open ELO</a:t>
                      </a:r>
                    </a:p>
                  </a:txBody>
                  <a:tcPr anchor="ctr" marT="36576" marB="36576">
                    <a:solidFill>
                      <a:srgbClr val="FFFFFF"/>
                    </a:solidFill>
                  </a:tcPr>
                </a:tc>
              </a:tr>
              <a:tr h="426720">
                <a:tc>
                  <a:txBody>
                    <a:bodyPr/>
                    <a:lstStyle/>
                    <a:p>
                      <a:r>
                        <a:rPr sz="1100" b="1">
                          <a:solidFill>
                            <a:srgbClr val="1F1F1F"/>
                          </a:solidFill>
                        </a:rPr>
                        <a:t>Qwen-Image-2512 · Edit · Layered</a:t>
                      </a:r>
                    </a:p>
                  </a:txBody>
                  <a:tcPr anchor="ctr" marT="36576" marB="36576">
                    <a:solidFill>
                      <a:srgbClr val="F3F4F8"/>
                    </a:solidFill>
                  </a:tcPr>
                </a:tc>
                <a:tc>
                  <a:txBody>
                    <a:bodyPr/>
                    <a:lstStyle/>
                    <a:p>
                      <a:r>
                        <a:rPr sz="1100" b="0">
                          <a:solidFill>
                            <a:srgbClr val="1F1F1F"/>
                          </a:solidFill>
                        </a:rPr>
                        <a:t>Alibaba</a:t>
                      </a:r>
                    </a:p>
                  </a:txBody>
                  <a:tcPr anchor="ctr" marT="36576" marB="36576">
                    <a:solidFill>
                      <a:srgbClr val="F3F4F8"/>
                    </a:solidFill>
                  </a:tcPr>
                </a:tc>
                <a:tc>
                  <a:txBody>
                    <a:bodyPr/>
                    <a:lstStyle/>
                    <a:p>
                      <a:r>
                        <a:rPr sz="1100" b="0">
                          <a:solidFill>
                            <a:srgbClr val="1F1F1F"/>
                          </a:solidFill>
                        </a:rPr>
                        <a:t>12-2025</a:t>
                      </a:r>
                    </a:p>
                  </a:txBody>
                  <a:tcPr anchor="ctr" marT="36576" marB="36576">
                    <a:solidFill>
                      <a:srgbClr val="F3F4F8"/>
                    </a:solidFill>
                  </a:tcPr>
                </a:tc>
                <a:tc>
                  <a:txBody>
                    <a:bodyPr/>
                    <a:lstStyle/>
                    <a:p>
                      <a:r>
                        <a:rPr sz="1100" b="0">
                          <a:solidFill>
                            <a:srgbClr val="1F1F1F"/>
                          </a:solidFill>
                        </a:rPr>
                        <a:t>Apache-2.0</a:t>
                      </a:r>
                    </a:p>
                  </a:txBody>
                  <a:tcPr anchor="ctr" marT="36576" marB="36576">
                    <a:solidFill>
                      <a:srgbClr val="F3F4F8"/>
                    </a:solidFill>
                  </a:tcPr>
                </a:tc>
                <a:tc>
                  <a:txBody>
                    <a:bodyPr/>
                    <a:lstStyle/>
                    <a:p>
                      <a:r>
                        <a:rPr sz="1100" b="0">
                          <a:solidFill>
                            <a:srgbClr val="1F1F1F"/>
                          </a:solidFill>
                        </a:rPr>
                        <a:t>20B MMDiT, 4 GB with offload</a:t>
                      </a:r>
                    </a:p>
                    <a:p>
                      <a:r>
                        <a:rPr sz="1100" b="0">
                          <a:solidFill>
                            <a:srgbClr val="1F1F1F"/>
                          </a:solidFill>
                        </a:rPr>
                        <a:t>— the commercial Qwen line</a:t>
                      </a:r>
                    </a:p>
                  </a:txBody>
                  <a:tcPr anchor="ctr" marT="36576" marB="36576">
                    <a:solidFill>
                      <a:srgbClr val="F3F4F8"/>
                    </a:solidFill>
                  </a:tcPr>
                </a:tc>
              </a:tr>
              <a:tr h="594360">
                <a:tc>
                  <a:txBody>
                    <a:bodyPr/>
                    <a:lstStyle/>
                    <a:p>
                      <a:r>
                        <a:rPr sz="1100" b="1">
                          <a:solidFill>
                            <a:srgbClr val="1F1F1F"/>
                          </a:solidFill>
                        </a:rPr>
                        <a:t>Qwen-Image-2.1</a:t>
                      </a:r>
                    </a:p>
                  </a:txBody>
                  <a:tcPr anchor="ctr" marT="36576" marB="36576">
                    <a:solidFill>
                      <a:srgbClr val="FFFFFF"/>
                    </a:solidFill>
                  </a:tcPr>
                </a:tc>
                <a:tc>
                  <a:txBody>
                    <a:bodyPr/>
                    <a:lstStyle/>
                    <a:p>
                      <a:r>
                        <a:rPr sz="1100" b="0">
                          <a:solidFill>
                            <a:srgbClr val="1F1F1F"/>
                          </a:solidFill>
                        </a:rPr>
                        <a:t>Alibaba</a:t>
                      </a:r>
                    </a:p>
                  </a:txBody>
                  <a:tcPr anchor="ctr" marT="36576" marB="36576">
                    <a:solidFill>
                      <a:srgbClr val="FFFFFF"/>
                    </a:solidFill>
                  </a:tcPr>
                </a:tc>
                <a:tc>
                  <a:txBody>
                    <a:bodyPr/>
                    <a:lstStyle/>
                    <a:p>
                      <a:r>
                        <a:rPr sz="1100" b="0">
                          <a:solidFill>
                            <a:srgbClr val="1F1F1F"/>
                          </a:solidFill>
                        </a:rPr>
                        <a:t>09-20</a:t>
                      </a:r>
                    </a:p>
                  </a:txBody>
                  <a:tcPr anchor="ctr" marT="36576" marB="36576">
                    <a:solidFill>
                      <a:srgbClr val="FFFFFF"/>
                    </a:solidFill>
                  </a:tcPr>
                </a:tc>
                <a:tc>
                  <a:txBody>
                    <a:bodyPr/>
                    <a:lstStyle/>
                    <a:p>
                      <a:r>
                        <a:rPr sz="1100" b="0">
                          <a:solidFill>
                            <a:srgbClr val="1F1F1F"/>
                          </a:solidFill>
                        </a:rPr>
                        <a:t>Qwen Research Licence:</a:t>
                      </a:r>
                    </a:p>
                    <a:p>
                      <a:r>
                        <a:rPr sz="1100" b="0">
                          <a:solidFill>
                            <a:srgbClr val="1F1F1F"/>
                          </a:solidFill>
                        </a:rPr>
                        <a:t>non-commercial</a:t>
                      </a:r>
                    </a:p>
                  </a:txBody>
                  <a:tcPr anchor="ctr" marT="36576" marB="36576">
                    <a:solidFill>
                      <a:srgbClr val="FFFFFF"/>
                    </a:solidFill>
                  </a:tcPr>
                </a:tc>
                <a:tc>
                  <a:txBody>
                    <a:bodyPr/>
                    <a:lstStyle/>
                    <a:p>
                      <a:r>
                        <a:rPr sz="1100" b="0">
                          <a:solidFill>
                            <a:srgbClr val="1F1F1F"/>
                          </a:solidFill>
                        </a:rPr>
                        <a:t>7B DiT, ≤ 10 references, RGBA</a:t>
                      </a:r>
                    </a:p>
                    <a:p>
                      <a:r>
                        <a:rPr sz="1100" b="0">
                          <a:solidFill>
                            <a:srgbClr val="1F1F1F"/>
                          </a:solidFill>
                        </a:rPr>
                        <a:t>— demo yes, client work no</a:t>
                      </a:r>
                    </a:p>
                  </a:txBody>
                  <a:tcPr anchor="ctr" marT="36576" marB="36576">
                    <a:solidFill>
                      <a:srgbClr val="FFFFFF"/>
                    </a:solidFill>
                  </a:tcPr>
                </a:tc>
              </a:tr>
              <a:tr h="426720">
                <a:tc>
                  <a:txBody>
                    <a:bodyPr/>
                    <a:lstStyle/>
                    <a:p>
                      <a:r>
                        <a:rPr sz="1100" b="1">
                          <a:solidFill>
                            <a:srgbClr val="1F1F1F"/>
                          </a:solidFill>
                        </a:rPr>
                        <a:t>HunyuanImage-3.0</a:t>
                      </a:r>
                    </a:p>
                  </a:txBody>
                  <a:tcPr anchor="ctr" marT="36576" marB="36576">
                    <a:solidFill>
                      <a:srgbClr val="F3F4F8"/>
                    </a:solidFill>
                  </a:tcPr>
                </a:tc>
                <a:tc>
                  <a:txBody>
                    <a:bodyPr/>
                    <a:lstStyle/>
                    <a:p>
                      <a:r>
                        <a:rPr sz="1100" b="0">
                          <a:solidFill>
                            <a:srgbClr val="1F1F1F"/>
                          </a:solidFill>
                        </a:rPr>
                        <a:t>Tencent</a:t>
                      </a:r>
                    </a:p>
                  </a:txBody>
                  <a:tcPr anchor="ctr" marT="36576" marB="36576">
                    <a:solidFill>
                      <a:srgbClr val="F3F4F8"/>
                    </a:solidFill>
                  </a:tcPr>
                </a:tc>
                <a:tc>
                  <a:txBody>
                    <a:bodyPr/>
                    <a:lstStyle/>
                    <a:p>
                      <a:r>
                        <a:rPr sz="1100" b="0">
                          <a:solidFill>
                            <a:srgbClr val="1F1F1F"/>
                          </a:solidFill>
                        </a:rPr>
                        <a:t>09-2025</a:t>
                      </a:r>
                    </a:p>
                    <a:p>
                      <a:r>
                        <a:rPr sz="1100" b="0">
                          <a:solidFill>
                            <a:srgbClr val="1F1F1F"/>
                          </a:solidFill>
                        </a:rPr>
                        <a:t>01-2026</a:t>
                      </a:r>
                    </a:p>
                  </a:txBody>
                  <a:tcPr anchor="ctr" marT="36576" marB="36576">
                    <a:solidFill>
                      <a:srgbClr val="F3F4F8"/>
                    </a:solidFill>
                  </a:tcPr>
                </a:tc>
                <a:tc>
                  <a:txBody>
                    <a:bodyPr/>
                    <a:lstStyle/>
                    <a:p>
                      <a:r>
                        <a:rPr sz="1100" b="0">
                          <a:solidFill>
                            <a:srgbClr val="1F1F1F"/>
                          </a:solidFill>
                        </a:rPr>
                        <a:t>Hunyuan community</a:t>
                      </a:r>
                    </a:p>
                  </a:txBody>
                  <a:tcPr anchor="ctr" marT="36576" marB="36576">
                    <a:solidFill>
                      <a:srgbClr val="F3F4F8"/>
                    </a:solidFill>
                  </a:tcPr>
                </a:tc>
                <a:tc>
                  <a:txBody>
                    <a:bodyPr/>
                    <a:lstStyle/>
                    <a:p>
                      <a:r>
                        <a:rPr sz="1100" b="0">
                          <a:solidFill>
                            <a:srgbClr val="1F1F1F"/>
                          </a:solidFill>
                        </a:rPr>
                        <a:t>native multimodal image model</a:t>
                      </a:r>
                    </a:p>
                  </a:txBody>
                  <a:tcPr anchor="ctr" marT="36576" marB="36576">
                    <a:solidFill>
                      <a:srgbClr val="F3F4F8"/>
                    </a:solidFill>
                  </a:tcPr>
                </a:tc>
              </a:tr>
              <a:tr h="426720">
                <a:tc>
                  <a:txBody>
                    <a:bodyPr/>
                    <a:lstStyle/>
                    <a:p>
                      <a:r>
                        <a:rPr sz="1100" b="1">
                          <a:solidFill>
                            <a:srgbClr val="1F1F1F"/>
                          </a:solidFill>
                        </a:rPr>
                        <a:t>Ideogram 4.0</a:t>
                      </a:r>
                    </a:p>
                  </a:txBody>
                  <a:tcPr anchor="ctr" marT="36576" marB="36576">
                    <a:solidFill>
                      <a:srgbClr val="FFFFFF"/>
                    </a:solidFill>
                  </a:tcPr>
                </a:tc>
                <a:tc>
                  <a:txBody>
                    <a:bodyPr/>
                    <a:lstStyle/>
                    <a:p>
                      <a:r>
                        <a:rPr sz="1100" b="0">
                          <a:solidFill>
                            <a:srgbClr val="1F1F1F"/>
                          </a:solidFill>
                        </a:rPr>
                        <a:t>Ideogram</a:t>
                      </a:r>
                    </a:p>
                  </a:txBody>
                  <a:tcPr anchor="ctr" marT="36576" marB="36576">
                    <a:solidFill>
                      <a:srgbClr val="FFFFFF"/>
                    </a:solidFill>
                  </a:tcPr>
                </a:tc>
                <a:tc>
                  <a:txBody>
                    <a:bodyPr/>
                    <a:lstStyle/>
                    <a:p>
                      <a:r>
                        <a:rPr sz="1100" b="0">
                          <a:solidFill>
                            <a:srgbClr val="1F1F1F"/>
                          </a:solidFill>
                        </a:rPr>
                        <a:t>06-03</a:t>
                      </a:r>
                    </a:p>
                  </a:txBody>
                  <a:tcPr anchor="ctr" marT="36576" marB="36576">
                    <a:solidFill>
                      <a:srgbClr val="FFFFFF"/>
                    </a:solidFill>
                  </a:tcPr>
                </a:tc>
                <a:tc>
                  <a:txBody>
                    <a:bodyPr/>
                    <a:lstStyle/>
                    <a:p>
                      <a:r>
                        <a:rPr sz="1100" b="0">
                          <a:solidFill>
                            <a:srgbClr val="1F1F1F"/>
                          </a:solidFill>
                        </a:rPr>
                        <a:t>open weights,</a:t>
                      </a:r>
                    </a:p>
                    <a:p>
                      <a:r>
                        <a:rPr sz="1100" b="0">
                          <a:solidFill>
                            <a:srgbClr val="1F1F1F"/>
                          </a:solidFill>
                        </a:rPr>
                        <a:t>non-commercial</a:t>
                      </a:r>
                    </a:p>
                  </a:txBody>
                  <a:tcPr anchor="ctr" marT="36576" marB="36576">
                    <a:solidFill>
                      <a:srgbClr val="FFFFFF"/>
                    </a:solidFill>
                  </a:tcPr>
                </a:tc>
                <a:tc>
                  <a:txBody>
                    <a:bodyPr/>
                    <a:lstStyle/>
                    <a:p>
                      <a:r>
                        <a:rPr sz="1100" b="0">
                          <a:solidFill>
                            <a:srgbClr val="1F1F1F"/>
                          </a:solidFill>
                        </a:rPr>
                        <a:t>layout + typography control;</a:t>
                      </a:r>
                    </a:p>
                    <a:p>
                      <a:r>
                        <a:rPr sz="1100" b="0">
                          <a:solidFill>
                            <a:srgbClr val="1F1F1F"/>
                          </a:solidFill>
                        </a:rPr>
                        <a:t>24 GB-class</a:t>
                      </a:r>
                    </a:p>
                  </a:txBody>
                  <a:tcPr anchor="ctr" marT="36576" marB="36576">
                    <a:solidFill>
                      <a:srgbClr val="FFFFFF"/>
                    </a:solidFill>
                  </a:tcPr>
                </a:tc>
              </a:tr>
            </a:tbl>
          </a:graphicData>
        </a:graphic>
      </p:graphicFrame>
      <p:sp>
        <p:nvSpPr>
          <p:cNvPr id="5" name="Oval 4"/>
          <p:cNvSpPr/>
          <p:nvPr/>
        </p:nvSpPr>
        <p:spPr>
          <a:xfrm>
            <a:off x="612647" y="1795271"/>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22199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64871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07543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58597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09651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52323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3" name="Oval 12"/>
          <p:cNvSpPr/>
          <p:nvPr/>
        </p:nvSpPr>
        <p:spPr>
          <a:xfrm>
            <a:off x="585216" y="496976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946904"/>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5" name="Oval 14"/>
          <p:cNvSpPr/>
          <p:nvPr/>
        </p:nvSpPr>
        <p:spPr>
          <a:xfrm>
            <a:off x="2603500" y="4969764"/>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5524" y="4946904"/>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7" name="Oval 16"/>
          <p:cNvSpPr/>
          <p:nvPr/>
        </p:nvSpPr>
        <p:spPr>
          <a:xfrm>
            <a:off x="4431284" y="496976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3308" y="4946904"/>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9" name="TextBox 18"/>
          <p:cNvSpPr txBox="1"/>
          <p:nvPr/>
        </p:nvSpPr>
        <p:spPr>
          <a:xfrm>
            <a:off x="7193788" y="4946904"/>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Read the licence per checkpoint: Qwen-Image 2512 is Apache, 2.1 is non-commercial.</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(checked 2026-09-21) · Model catalog §11 (checked 2026-09-21) · Research: Beyond the Slop integration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Image, part 2: revenue caps and the closed leaders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346704"/>
        </p:xfrm>
        <a:graphic>
          <a:graphicData uri="http://schemas.openxmlformats.org/drawingml/2006/table">
            <a:tbl>
              <a:tblPr firstRow="1" bandRow="1">
                <a:tableStyleId>{5C22544A-7EE6-4342-B048-85BDC9FD1C3A}</a:tableStyleId>
              </a:tblPr>
              <a:tblGrid>
                <a:gridCol w="2926080"/>
                <a:gridCol w="1188720"/>
                <a:gridCol w="960120"/>
                <a:gridCol w="2148840"/>
                <a:gridCol w="2157984"/>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Maker</a:t>
                      </a:r>
                    </a:p>
                  </a:txBody>
                  <a:tcPr anchor="ctr" marT="36576" marB="36576">
                    <a:solidFill>
                      <a:srgbClr val="2A446F"/>
                    </a:solidFill>
                  </a:tcPr>
                </a:tc>
                <a:tc>
                  <a:txBody>
                    <a:bodyPr/>
                    <a:lstStyle/>
                    <a:p>
                      <a:r>
                        <a:rPr sz="1050" b="1">
                          <a:solidFill>
                            <a:srgbClr val="FFFFFF"/>
                          </a:solidFill>
                        </a:rPr>
                        <a:t>Date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Why it matters</a:t>
                      </a:r>
                    </a:p>
                  </a:txBody>
                  <a:tcPr anchor="ctr" marT="36576" marB="36576">
                    <a:solidFill>
                      <a:srgbClr val="2A446F"/>
                    </a:solidFill>
                  </a:tcPr>
                </a:tc>
              </a:tr>
              <a:tr h="411479">
                <a:tc>
                  <a:txBody>
                    <a:bodyPr/>
                    <a:lstStyle/>
                    <a:p>
                      <a:r>
                        <a:rPr sz="1050" b="1">
                          <a:solidFill>
                            <a:srgbClr val="1F1F1F"/>
                          </a:solidFill>
                        </a:rPr>
                        <a:t>Krea 2 Raw / Turbo</a:t>
                      </a:r>
                    </a:p>
                  </a:txBody>
                  <a:tcPr anchor="ctr" marT="36576" marB="36576">
                    <a:solidFill>
                      <a:srgbClr val="FFFFFF"/>
                    </a:solidFill>
                  </a:tcPr>
                </a:tc>
                <a:tc>
                  <a:txBody>
                    <a:bodyPr/>
                    <a:lstStyle/>
                    <a:p>
                      <a:r>
                        <a:rPr sz="1050" b="0">
                          <a:solidFill>
                            <a:srgbClr val="1F1F1F"/>
                          </a:solidFill>
                        </a:rPr>
                        <a:t>Krea</a:t>
                      </a:r>
                    </a:p>
                  </a:txBody>
                  <a:tcPr anchor="ctr" marT="36576" marB="36576">
                    <a:solidFill>
                      <a:srgbClr val="FFFFFF"/>
                    </a:solidFill>
                  </a:tcPr>
                </a:tc>
                <a:tc>
                  <a:txBody>
                    <a:bodyPr/>
                    <a:lstStyle/>
                    <a:p>
                      <a:r>
                        <a:rPr sz="1050" b="0">
                          <a:solidFill>
                            <a:srgbClr val="1F1F1F"/>
                          </a:solidFill>
                        </a:rPr>
                        <a:t>06-22</a:t>
                      </a:r>
                    </a:p>
                  </a:txBody>
                  <a:tcPr anchor="ctr" marT="36576" marB="36576">
                    <a:solidFill>
                      <a:srgbClr val="FFFFFF"/>
                    </a:solidFill>
                  </a:tcPr>
                </a:tc>
                <a:tc>
                  <a:txBody>
                    <a:bodyPr/>
                    <a:lstStyle/>
                    <a:p>
                      <a:r>
                        <a:rPr sz="1050" b="0">
                          <a:solidFill>
                            <a:srgbClr val="1F1F1F"/>
                          </a:solidFill>
                        </a:rPr>
                        <a:t>commercial only &lt; $1M</a:t>
                      </a:r>
                    </a:p>
                    <a:p>
                      <a:r>
                        <a:rPr sz="1050" b="0">
                          <a:solidFill>
                            <a:srgbClr val="1F1F1F"/>
                          </a:solidFill>
                        </a:rPr>
                        <a:t>revenue; revocable</a:t>
                      </a:r>
                    </a:p>
                  </a:txBody>
                  <a:tcPr anchor="ctr" marT="36576" marB="36576">
                    <a:solidFill>
                      <a:srgbClr val="FFFFFF"/>
                    </a:solidFill>
                  </a:tcPr>
                </a:tc>
                <a:tc>
                  <a:txBody>
                    <a:bodyPr/>
                    <a:lstStyle/>
                    <a:p>
                      <a:r>
                        <a:rPr sz="1050" b="0">
                          <a:solidFill>
                            <a:srgbClr val="1F1F1F"/>
                          </a:solidFill>
                        </a:rPr>
                        <a:t>12B; Turbo 2K in ~2 s</a:t>
                      </a:r>
                    </a:p>
                  </a:txBody>
                  <a:tcPr anchor="ctr" marT="36576" marB="36576">
                    <a:solidFill>
                      <a:srgbClr val="FFFFFF"/>
                    </a:solidFill>
                  </a:tcPr>
                </a:tc>
              </a:tr>
              <a:tr h="411479">
                <a:tc>
                  <a:txBody>
                    <a:bodyPr/>
                    <a:lstStyle/>
                    <a:p>
                      <a:r>
                        <a:rPr sz="1050" b="1">
                          <a:solidFill>
                            <a:srgbClr val="1F1F1F"/>
                          </a:solidFill>
                        </a:rPr>
                        <a:t>SDXL · SD3.5 · HiDream-I1 · Chroma</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2023–2025</a:t>
                      </a:r>
                    </a:p>
                  </a:txBody>
                  <a:tcPr anchor="ctr" marT="36576" marB="36576">
                    <a:solidFill>
                      <a:srgbClr val="F3F4F8"/>
                    </a:solidFill>
                  </a:tcPr>
                </a:tc>
                <a:tc>
                  <a:txBody>
                    <a:bodyPr/>
                    <a:lstStyle/>
                    <a:p>
                      <a:r>
                        <a:rPr sz="1050" b="0">
                          <a:solidFill>
                            <a:srgbClr val="1F1F1F"/>
                          </a:solidFill>
                        </a:rPr>
                        <a:t>mixed: HiDream-I1 MIT,</a:t>
                      </a:r>
                    </a:p>
                    <a:p>
                      <a:r>
                        <a:rPr sz="1050" b="0">
                          <a:solidFill>
                            <a:srgbClr val="1F1F1F"/>
                          </a:solidFill>
                        </a:rPr>
                        <a:t>Chroma Apache</a:t>
                      </a:r>
                    </a:p>
                  </a:txBody>
                  <a:tcPr anchor="ctr" marT="36576" marB="36576">
                    <a:solidFill>
                      <a:srgbClr val="F3F4F8"/>
                    </a:solidFill>
                  </a:tcPr>
                </a:tc>
                <a:tc>
                  <a:txBody>
                    <a:bodyPr/>
                    <a:lstStyle/>
                    <a:p>
                      <a:r>
                        <a:rPr sz="1050" b="0">
                          <a:solidFill>
                            <a:srgbClr val="1F1F1F"/>
                          </a:solidFill>
                        </a:rPr>
                        <a:t>runs on 8 GB; SDXL is still</a:t>
                      </a:r>
                    </a:p>
                    <a:p>
                      <a:r>
                        <a:rPr sz="1050" b="0">
                          <a:solidFill>
                            <a:srgbClr val="1F1F1F"/>
                          </a:solidFill>
                        </a:rPr>
                        <a:t>the LoRA / ControlNet king</a:t>
                      </a:r>
                    </a:p>
                  </a:txBody>
                  <a:tcPr anchor="ctr" marT="36576" marB="36576">
                    <a:solidFill>
                      <a:srgbClr val="F3F4F8"/>
                    </a:solidFill>
                  </a:tcPr>
                </a:tc>
              </a:tr>
              <a:tr h="292608">
                <a:tc>
                  <a:txBody>
                    <a:bodyPr/>
                    <a:lstStyle/>
                    <a:p>
                      <a:r>
                        <a:rPr sz="1050" b="1">
                          <a:solidFill>
                            <a:srgbClr val="1F1F1F"/>
                          </a:solidFill>
                        </a:rPr>
                        <a:t>Qwen-Image 2.0 / 3.0</a:t>
                      </a:r>
                    </a:p>
                  </a:txBody>
                  <a:tcPr anchor="ctr" marT="36576" marB="36576">
                    <a:solidFill>
                      <a:srgbClr val="FFFFFF"/>
                    </a:solidFill>
                  </a:tcPr>
                </a:tc>
                <a:tc>
                  <a:txBody>
                    <a:bodyPr/>
                    <a:lstStyle/>
                    <a:p>
                      <a:r>
                        <a:rPr sz="1050" b="0">
                          <a:solidFill>
                            <a:srgbClr val="1F1F1F"/>
                          </a:solidFill>
                        </a:rPr>
                        <a:t>Alibaba</a:t>
                      </a:r>
                    </a:p>
                  </a:txBody>
                  <a:tcPr anchor="ctr" marT="36576" marB="36576">
                    <a:solidFill>
                      <a:srgbClr val="FFFFFF"/>
                    </a:solidFill>
                  </a:tcPr>
                </a:tc>
                <a:tc>
                  <a:txBody>
                    <a:bodyPr/>
                    <a:lstStyle/>
                    <a:p>
                      <a:r>
                        <a:rPr sz="1050" b="0">
                          <a:solidFill>
                            <a:srgbClr val="1F1F1F"/>
                          </a:solidFill>
                        </a:rPr>
                        <a:t>–</a:t>
                      </a:r>
                    </a:p>
                  </a:txBody>
                  <a:tcPr anchor="ctr" marT="36576" marB="36576">
                    <a:solidFill>
                      <a:srgbClr val="FFFFFF"/>
                    </a:solidFill>
                  </a:tcPr>
                </a:tc>
                <a:tc>
                  <a:txBody>
                    <a:bodyPr/>
                    <a:lstStyle/>
                    <a:p>
                      <a:r>
                        <a:rPr sz="1050" b="0">
                          <a:solidFill>
                            <a:srgbClr val="1F1F1F"/>
                          </a:solidFill>
                        </a:rPr>
                        <a:t>API / chat only</a:t>
                      </a:r>
                    </a:p>
                  </a:txBody>
                  <a:tcPr anchor="ctr" marT="36576" marB="36576">
                    <a:solidFill>
                      <a:srgbClr val="FFFFFF"/>
                    </a:solidFill>
                  </a:tcPr>
                </a:tc>
                <a:tc>
                  <a:txBody>
                    <a:bodyPr/>
                    <a:lstStyle/>
                    <a:p>
                      <a:r>
                        <a:rPr sz="1050" b="0">
                          <a:solidFill>
                            <a:srgbClr val="1F1F1F"/>
                          </a:solidFill>
                        </a:rPr>
                        <a:t>the flagship stays closed</a:t>
                      </a:r>
                    </a:p>
                  </a:txBody>
                  <a:tcPr anchor="ctr" marT="36576" marB="36576">
                    <a:solidFill>
                      <a:srgbClr val="FFFFFF"/>
                    </a:solidFill>
                  </a:tcPr>
                </a:tc>
              </a:tr>
              <a:tr h="411479">
                <a:tc>
                  <a:txBody>
                    <a:bodyPr/>
                    <a:lstStyle/>
                    <a:p>
                      <a:r>
                        <a:rPr sz="1050" b="1">
                          <a:solidFill>
                            <a:srgbClr val="1F1F1F"/>
                          </a:solidFill>
                        </a:rPr>
                        <a:t>FLUX.2 [pro] · [flex] ·</a:t>
                      </a:r>
                    </a:p>
                    <a:p>
                      <a:r>
                        <a:rPr sz="1050" b="1">
                          <a:solidFill>
                            <a:srgbClr val="1F1F1F"/>
                          </a:solidFill>
                        </a:rPr>
                        <a:t>FLUX.1 Kontext [pro]</a:t>
                      </a:r>
                    </a:p>
                  </a:txBody>
                  <a:tcPr anchor="ctr" marT="36576" marB="36576">
                    <a:solidFill>
                      <a:srgbClr val="F3F4F8"/>
                    </a:solidFill>
                  </a:tcPr>
                </a:tc>
                <a:tc>
                  <a:txBody>
                    <a:bodyPr/>
                    <a:lstStyle/>
                    <a:p>
                      <a:r>
                        <a:rPr sz="1050" b="0">
                          <a:solidFill>
                            <a:srgbClr val="1F1F1F"/>
                          </a:solidFill>
                        </a:rPr>
                        <a:t>Black Forest</a:t>
                      </a:r>
                    </a:p>
                    <a:p>
                      <a:r>
                        <a:rPr sz="1050" b="0">
                          <a:solidFill>
                            <a:srgbClr val="1F1F1F"/>
                          </a:solidFill>
                        </a:rPr>
                        <a:t>Labs</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API: Foundry DfA</a:t>
                      </a:r>
                    </a:p>
                  </a:txBody>
                  <a:tcPr anchor="ctr" marT="36576" marB="36576">
                    <a:solidFill>
                      <a:srgbClr val="F3F4F8"/>
                    </a:solidFill>
                  </a:tcPr>
                </a:tc>
                <a:tc>
                  <a:txBody>
                    <a:bodyPr/>
                    <a:lstStyle/>
                    <a:p>
                      <a:r>
                        <a:rPr sz="1050" b="0">
                          <a:solidFill>
                            <a:srgbClr val="1F1F1F"/>
                          </a:solidFill>
                        </a:rPr>
                        <a:t>per-megapixel meters</a:t>
                      </a:r>
                    </a:p>
                  </a:txBody>
                  <a:tcPr anchor="ctr" marT="36576" marB="36576">
                    <a:solidFill>
                      <a:srgbClr val="F3F4F8"/>
                    </a:solidFill>
                  </a:tcPr>
                </a:tc>
              </a:tr>
              <a:tr h="411479">
                <a:tc>
                  <a:txBody>
                    <a:bodyPr/>
                    <a:lstStyle/>
                    <a:p>
                      <a:r>
                        <a:rPr sz="1050" b="1">
                          <a:solidFill>
                            <a:srgbClr val="1F1F1F"/>
                          </a:solidFill>
                        </a:rPr>
                        <a:t>GPT-Image-2.5 Flare / Sunburst</a:t>
                      </a:r>
                    </a:p>
                  </a:txBody>
                  <a:tcPr anchor="ctr" marT="36576" marB="36576">
                    <a:solidFill>
                      <a:srgbClr val="FFFFFF"/>
                    </a:solidFill>
                  </a:tcPr>
                </a:tc>
                <a:tc>
                  <a:txBody>
                    <a:bodyPr/>
                    <a:lstStyle/>
                    <a:p>
                      <a:r>
                        <a:rPr sz="1050" b="0">
                          <a:solidFill>
                            <a:srgbClr val="1F1F1F"/>
                          </a:solidFill>
                        </a:rPr>
                        <a:t>OpenAI</a:t>
                      </a:r>
                    </a:p>
                  </a:txBody>
                  <a:tcPr anchor="ctr" marT="36576" marB="36576">
                    <a:solidFill>
                      <a:srgbClr val="FFFFFF"/>
                    </a:solidFill>
                  </a:tcPr>
                </a:tc>
                <a:tc>
                  <a:txBody>
                    <a:bodyPr/>
                    <a:lstStyle/>
                    <a:p>
                      <a:r>
                        <a:rPr sz="1050" b="0">
                          <a:solidFill>
                            <a:srgbClr val="1F1F1F"/>
                          </a:solidFill>
                        </a:rPr>
                        <a:t>09-08</a:t>
                      </a:r>
                    </a:p>
                  </a:txBody>
                  <a:tcPr anchor="ctr" marT="36576" marB="36576">
                    <a:solidFill>
                      <a:srgbClr val="FFFFFF"/>
                    </a:solidFill>
                  </a:tcPr>
                </a:tc>
                <a:tc>
                  <a:txBody>
                    <a:bodyPr/>
                    <a:lstStyle/>
                    <a:p>
                      <a:r>
                        <a:rPr sz="1050" b="0">
                          <a:solidFill>
                            <a:srgbClr val="1F1F1F"/>
                          </a:solidFill>
                        </a:rPr>
                        <a:t>API: Foundry DfA, also</a:t>
                      </a:r>
                    </a:p>
                    <a:p>
                      <a:r>
                        <a:rPr sz="1050" b="0">
                          <a:solidFill>
                            <a:srgbClr val="1F1F1F"/>
                          </a:solidFill>
                        </a:rPr>
                        <a:t>gpt-image-2, -1-mini</a:t>
                      </a:r>
                    </a:p>
                  </a:txBody>
                  <a:tcPr anchor="ctr" marT="36576" marB="36576">
                    <a:solidFill>
                      <a:srgbClr val="FFFFFF"/>
                    </a:solidFill>
                  </a:tcPr>
                </a:tc>
                <a:tc>
                  <a:txBody>
                    <a:bodyPr/>
                    <a:lstStyle/>
                    <a:p>
                      <a:r>
                        <a:rPr sz="1050" b="0">
                          <a:solidFill>
                            <a:srgbClr val="1F1F1F"/>
                          </a:solidFill>
                        </a:rPr>
                        <a:t>arena #1 / #2</a:t>
                      </a:r>
                    </a:p>
                  </a:txBody>
                  <a:tcPr anchor="ctr" marT="36576" marB="36576">
                    <a:solidFill>
                      <a:srgbClr val="FFFFFF"/>
                    </a:solidFill>
                  </a:tcPr>
                </a:tc>
              </a:tr>
              <a:tr h="292608">
                <a:tc>
                  <a:txBody>
                    <a:bodyPr/>
                    <a:lstStyle/>
                    <a:p>
                      <a:r>
                        <a:rPr sz="1050" b="1">
                          <a:solidFill>
                            <a:srgbClr val="1F1F1F"/>
                          </a:solidFill>
                        </a:rPr>
                        <a:t>MAI-Image-2.6 / 2.6-Flash</a:t>
                      </a:r>
                    </a:p>
                  </a:txBody>
                  <a:tcPr anchor="ctr" marT="36576" marB="36576">
                    <a:solidFill>
                      <a:srgbClr val="F3F4F8"/>
                    </a:solidFill>
                  </a:tcPr>
                </a:tc>
                <a:tc>
                  <a:txBody>
                    <a:bodyPr/>
                    <a:lstStyle/>
                    <a:p>
                      <a:r>
                        <a:rPr sz="1050" b="0">
                          <a:solidFill>
                            <a:srgbClr val="1F1F1F"/>
                          </a:solidFill>
                        </a:rPr>
                        <a:t>Microsoft</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API: Foundry DfA</a:t>
                      </a:r>
                    </a:p>
                  </a:txBody>
                  <a:tcPr anchor="ctr" marT="36576" marB="36576">
                    <a:solidFill>
                      <a:srgbClr val="F3F4F8"/>
                    </a:solidFill>
                  </a:tcPr>
                </a:tc>
                <a:tc>
                  <a:txBody>
                    <a:bodyPr/>
                    <a:lstStyle/>
                    <a:p>
                      <a:r>
                        <a:rPr sz="1050" b="0">
                          <a:solidFill>
                            <a:srgbClr val="1F1F1F"/>
                          </a:solidFill>
                        </a:rPr>
                        <a:t>arena #4</a:t>
                      </a:r>
                    </a:p>
                  </a:txBody>
                  <a:tcPr anchor="ctr" marT="36576" marB="36576">
                    <a:solidFill>
                      <a:srgbClr val="F3F4F8"/>
                    </a:solidFill>
                  </a:tcPr>
                </a:tc>
              </a:tr>
              <a:tr h="411479">
                <a:tc>
                  <a:txBody>
                    <a:bodyPr/>
                    <a:lstStyle/>
                    <a:p>
                      <a:r>
                        <a:rPr sz="1050" b="1">
                          <a:solidFill>
                            <a:srgbClr val="1F1F1F"/>
                          </a:solidFill>
                        </a:rPr>
                        <a:t>Nano Banana 2 · Pro · 2 Lite</a:t>
                      </a:r>
                    </a:p>
                  </a:txBody>
                  <a:tcPr anchor="ctr" marT="36576" marB="36576">
                    <a:solidFill>
                      <a:srgbClr val="FFFFFF"/>
                    </a:solidFill>
                  </a:tcPr>
                </a:tc>
                <a:tc>
                  <a:txBody>
                    <a:bodyPr/>
                    <a:lstStyle/>
                    <a:p>
                      <a:r>
                        <a:rPr sz="1050" b="0">
                          <a:solidFill>
                            <a:srgbClr val="1F1F1F"/>
                          </a:solidFill>
                        </a:rPr>
                        <a:t>Google</a:t>
                      </a:r>
                    </a:p>
                  </a:txBody>
                  <a:tcPr anchor="ctr" marT="36576" marB="36576">
                    <a:solidFill>
                      <a:srgbClr val="FFFFFF"/>
                    </a:solidFill>
                  </a:tcPr>
                </a:tc>
                <a:tc>
                  <a:txBody>
                    <a:bodyPr/>
                    <a:lstStyle/>
                    <a:p>
                      <a:r>
                        <a:rPr sz="1050" b="0">
                          <a:solidFill>
                            <a:srgbClr val="1F1F1F"/>
                          </a:solidFill>
                        </a:rPr>
                        <a:t>02-26</a:t>
                      </a:r>
                    </a:p>
                    <a:p>
                      <a:r>
                        <a:rPr sz="1050" b="0">
                          <a:solidFill>
                            <a:srgbClr val="1F1F1F"/>
                          </a:solidFill>
                        </a:rPr>
                        <a:t>06-30</a:t>
                      </a:r>
                    </a:p>
                  </a:txBody>
                  <a:tcPr anchor="ctr" marT="36576" marB="36576">
                    <a:solidFill>
                      <a:srgbClr val="FFFFFF"/>
                    </a:solidFill>
                  </a:tcPr>
                </a:tc>
                <a:tc>
                  <a:txBody>
                    <a:bodyPr/>
                    <a:lstStyle/>
                    <a:p>
                      <a:r>
                        <a:rPr sz="1050" b="0">
                          <a:solidFill>
                            <a:srgbClr val="1F1F1F"/>
                          </a:solidFill>
                        </a:rPr>
                        <a:t>API</a:t>
                      </a:r>
                    </a:p>
                  </a:txBody>
                  <a:tcPr anchor="ctr" marT="36576" marB="36576">
                    <a:solidFill>
                      <a:srgbClr val="FFFFFF"/>
                    </a:solidFill>
                  </a:tcPr>
                </a:tc>
                <a:tc>
                  <a:txBody>
                    <a:bodyPr/>
                    <a:lstStyle/>
                    <a:p>
                      <a:r>
                        <a:rPr sz="1050" b="0">
                          <a:solidFill>
                            <a:srgbClr val="1F1F1F"/>
                          </a:solidFill>
                        </a:rPr>
                        <a:t>Nano Banana 2 =</a:t>
                      </a:r>
                    </a:p>
                    <a:p>
                      <a:r>
                        <a:rPr sz="1050" b="0">
                          <a:solidFill>
                            <a:srgbClr val="1F1F1F"/>
                          </a:solidFill>
                        </a:rPr>
                        <a:t>gemini-3.1-flash-image</a:t>
                      </a:r>
                    </a:p>
                  </a:txBody>
                  <a:tcPr anchor="ctr" marT="36576" marB="36576">
                    <a:solidFill>
                      <a:srgbClr val="FFFFFF"/>
                    </a:solidFill>
                  </a:tcPr>
                </a:tc>
              </a:tr>
              <a:tr h="411479">
                <a:tc>
                  <a:txBody>
                    <a:bodyPr/>
                    <a:lstStyle/>
                    <a:p>
                      <a:r>
                        <a:rPr sz="1050" b="1">
                          <a:solidFill>
                            <a:srgbClr val="1F1F1F"/>
                          </a:solidFill>
                        </a:rPr>
                        <a:t>Midjourney V8.1 · Seedream 5.0 Pro</a:t>
                      </a:r>
                    </a:p>
                    <a:p>
                      <a:r>
                        <a:rPr sz="1050" b="1">
                          <a:solidFill>
                            <a:srgbClr val="1F1F1F"/>
                          </a:solidFill>
                        </a:rPr>
                        <a:t>Grok Imagine 2.0 · Reve 2.1</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closed</a:t>
                      </a:r>
                    </a:p>
                  </a:txBody>
                  <a:tcPr anchor="ctr" marT="36576" marB="36576">
                    <a:solidFill>
                      <a:srgbClr val="F3F4F8"/>
                    </a:solidFill>
                  </a:tcPr>
                </a:tc>
                <a:tc>
                  <a:txBody>
                    <a:bodyPr/>
                    <a:lstStyle/>
                    <a:p>
                      <a:r>
                        <a:rPr sz="1050" b="0">
                          <a:solidFill>
                            <a:srgbClr val="1F1F1F"/>
                          </a:solidFill>
                        </a:rPr>
                        <a:t>also Recraft V4.1</a:t>
                      </a:r>
                    </a:p>
                  </a:txBody>
                  <a:tcPr anchor="ctr" marT="36576" marB="36576">
                    <a:solidFill>
                      <a:srgbClr val="F3F4F8"/>
                    </a:solidFill>
                  </a:tcPr>
                </a:tc>
              </a:tr>
            </a:tbl>
          </a:graphicData>
        </a:graphic>
      </p:graphicFrame>
      <p:sp>
        <p:nvSpPr>
          <p:cNvPr id="5" name="Oval 4"/>
          <p:cNvSpPr/>
          <p:nvPr/>
        </p:nvSpPr>
        <p:spPr>
          <a:xfrm>
            <a:off x="612647" y="1787651"/>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9913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551176"/>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2903220"/>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314699"/>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666744"/>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018787"/>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4430268"/>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4" name="Oval 13"/>
          <p:cNvSpPr/>
          <p:nvPr/>
        </p:nvSpPr>
        <p:spPr>
          <a:xfrm>
            <a:off x="585216" y="485089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2803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6" name="Oval 15"/>
          <p:cNvSpPr/>
          <p:nvPr/>
        </p:nvSpPr>
        <p:spPr>
          <a:xfrm>
            <a:off x="2603500" y="485089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95524" y="482803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8" name="Oval 17"/>
          <p:cNvSpPr/>
          <p:nvPr/>
        </p:nvSpPr>
        <p:spPr>
          <a:xfrm>
            <a:off x="4431284" y="48508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3308" y="482803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20" name="TextBox 19"/>
          <p:cNvSpPr txBox="1"/>
          <p:nvPr/>
        </p:nvSpPr>
        <p:spPr>
          <a:xfrm>
            <a:off x="7193788" y="4828032"/>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 GPU? The Foundry rows (gpt-image, FLUX.2, MAI-Image) are Lab 4’s cloud path.</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(checked 2026-09-21) · Model catalog §10 (checked 2026-09-21) · Model catalog §11 (checked 2026-09-21)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model zoo has moved: video</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332988"/>
        </p:xfrm>
        <a:graphic>
          <a:graphicData uri="http://schemas.openxmlformats.org/drawingml/2006/table">
            <a:tbl>
              <a:tblPr firstRow="1" bandRow="1">
                <a:tableStyleId>{5C22544A-7EE6-4342-B048-85BDC9FD1C3A}</a:tableStyleId>
              </a:tblPr>
              <a:tblGrid>
                <a:gridCol w="2834640"/>
                <a:gridCol w="1051560"/>
                <a:gridCol w="1143000"/>
                <a:gridCol w="1965960"/>
                <a:gridCol w="2386584"/>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Maker</a:t>
                      </a:r>
                    </a:p>
                  </a:txBody>
                  <a:tcPr anchor="ctr" marT="36576" marB="36576">
                    <a:solidFill>
                      <a:srgbClr val="2A446F"/>
                    </a:solidFill>
                  </a:tcPr>
                </a:tc>
                <a:tc>
                  <a:txBody>
                    <a:bodyPr/>
                    <a:lstStyle/>
                    <a:p>
                      <a:r>
                        <a:rPr sz="1050" b="1">
                          <a:solidFill>
                            <a:srgbClr val="FFFFFF"/>
                          </a:solidFill>
                        </a:rPr>
                        <a:t>Date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Why it matters</a:t>
                      </a:r>
                    </a:p>
                  </a:txBody>
                  <a:tcPr anchor="ctr" marT="36576" marB="36576">
                    <a:solidFill>
                      <a:srgbClr val="2A446F"/>
                    </a:solidFill>
                  </a:tcPr>
                </a:tc>
              </a:tr>
              <a:tr h="411479">
                <a:tc>
                  <a:txBody>
                    <a:bodyPr/>
                    <a:lstStyle/>
                    <a:p>
                      <a:r>
                        <a:rPr sz="1050" b="1">
                          <a:solidFill>
                            <a:srgbClr val="1F1F1F"/>
                          </a:solidFill>
                        </a:rPr>
                        <a:t>Wan 2.2: T2V/I2V-A14B, TI2V-5B,</a:t>
                      </a:r>
                    </a:p>
                    <a:p>
                      <a:r>
                        <a:rPr sz="1050" b="1">
                          <a:solidFill>
                            <a:srgbClr val="1F1F1F"/>
                          </a:solidFill>
                        </a:rPr>
                        <a:t>S2V-14B, Animate-2, Dancer</a:t>
                      </a:r>
                    </a:p>
                  </a:txBody>
                  <a:tcPr anchor="ctr" marT="36576" marB="36576">
                    <a:solidFill>
                      <a:srgbClr val="FFFFFF"/>
                    </a:solidFill>
                  </a:tcPr>
                </a:tc>
                <a:tc>
                  <a:txBody>
                    <a:bodyPr/>
                    <a:lstStyle/>
                    <a:p>
                      <a:r>
                        <a:rPr sz="1050" b="0">
                          <a:solidFill>
                            <a:srgbClr val="1F1F1F"/>
                          </a:solidFill>
                        </a:rPr>
                        <a:t>Alibaba</a:t>
                      </a:r>
                    </a:p>
                  </a:txBody>
                  <a:tcPr anchor="ctr" marT="36576" marB="36576">
                    <a:solidFill>
                      <a:srgbClr val="FFFFFF"/>
                    </a:solidFill>
                  </a:tcPr>
                </a:tc>
                <a:tc>
                  <a:txBody>
                    <a:bodyPr/>
                    <a:lstStyle/>
                    <a:p>
                      <a:r>
                        <a:rPr sz="1050" b="0">
                          <a:solidFill>
                            <a:srgbClr val="1F1F1F"/>
                          </a:solidFill>
                        </a:rPr>
                        <a:t>07-2025 →</a:t>
                      </a:r>
                    </a:p>
                    <a:p>
                      <a:r>
                        <a:rPr sz="1050" b="0">
                          <a:solidFill>
                            <a:srgbClr val="1F1F1F"/>
                          </a:solidFill>
                        </a:rPr>
                        <a:t>07-2026</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last open Wan base; 5B: 5 s</a:t>
                      </a:r>
                    </a:p>
                    <a:p>
                      <a:r>
                        <a:rPr sz="1050" b="0">
                          <a:solidFill>
                            <a:srgbClr val="1F1F1F"/>
                          </a:solidFill>
                        </a:rPr>
                        <a:t>720p in &lt;9 min on a 4090</a:t>
                      </a:r>
                    </a:p>
                  </a:txBody>
                  <a:tcPr anchor="ctr" marT="36576" marB="36576">
                    <a:solidFill>
                      <a:srgbClr val="FFFFFF"/>
                    </a:solidFill>
                  </a:tcPr>
                </a:tc>
              </a:tr>
              <a:tr h="411479">
                <a:tc>
                  <a:txBody>
                    <a:bodyPr/>
                    <a:lstStyle/>
                    <a:p>
                      <a:r>
                        <a:rPr sz="1050" b="1">
                          <a:solidFill>
                            <a:srgbClr val="1F1F1F"/>
                          </a:solidFill>
                        </a:rPr>
                        <a:t>Wan 2.5 / 2.6 / 2.7 / 3.0</a:t>
                      </a:r>
                    </a:p>
                  </a:txBody>
                  <a:tcPr anchor="ctr" marT="36576" marB="36576">
                    <a:solidFill>
                      <a:srgbClr val="F3F4F8"/>
                    </a:solidFill>
                  </a:tcPr>
                </a:tc>
                <a:tc>
                  <a:txBody>
                    <a:bodyPr/>
                    <a:lstStyle/>
                    <a:p>
                      <a:r>
                        <a:rPr sz="1050" b="0">
                          <a:solidFill>
                            <a:srgbClr val="1F1F1F"/>
                          </a:solidFill>
                        </a:rPr>
                        <a:t>Alibaba</a:t>
                      </a:r>
                    </a:p>
                  </a:txBody>
                  <a:tcPr anchor="ctr" marT="36576" marB="36576">
                    <a:solidFill>
                      <a:srgbClr val="F3F4F8"/>
                    </a:solidFill>
                  </a:tcPr>
                </a:tc>
                <a:tc>
                  <a:txBody>
                    <a:bodyPr/>
                    <a:lstStyle/>
                    <a:p>
                      <a:r>
                        <a:rPr sz="1050" b="0">
                          <a:solidFill>
                            <a:srgbClr val="1F1F1F"/>
                          </a:solidFill>
                        </a:rPr>
                        <a:t>→ 08-24</a:t>
                      </a:r>
                    </a:p>
                  </a:txBody>
                  <a:tcPr anchor="ctr" marT="36576" marB="36576">
                    <a:solidFill>
                      <a:srgbClr val="F3F4F8"/>
                    </a:solidFill>
                  </a:tcPr>
                </a:tc>
                <a:tc>
                  <a:txBody>
                    <a:bodyPr/>
                    <a:lstStyle/>
                    <a:p>
                      <a:r>
                        <a:rPr sz="1050" b="0">
                          <a:solidFill>
                            <a:srgbClr val="1F1F1F"/>
                          </a:solidFill>
                        </a:rPr>
                        <a:t>API only</a:t>
                      </a:r>
                    </a:p>
                  </a:txBody>
                  <a:tcPr anchor="ctr" marT="36576" marB="36576">
                    <a:solidFill>
                      <a:srgbClr val="F3F4F8"/>
                    </a:solidFill>
                  </a:tcPr>
                </a:tc>
                <a:tc>
                  <a:txBody>
                    <a:bodyPr/>
                    <a:lstStyle/>
                    <a:p>
                      <a:r>
                        <a:rPr sz="1050" b="0">
                          <a:solidFill>
                            <a:srgbClr val="1F1F1F"/>
                          </a:solidFill>
                        </a:rPr>
                        <a:t>“Wan 2.7 open source”</a:t>
                      </a:r>
                    </a:p>
                    <a:p>
                      <a:r>
                        <a:rPr sz="1050" b="0">
                          <a:solidFill>
                            <a:srgbClr val="1F1F1F"/>
                          </a:solidFill>
                        </a:rPr>
                        <a:t>claims are fabrications</a:t>
                      </a:r>
                    </a:p>
                  </a:txBody>
                  <a:tcPr anchor="ctr" marT="36576" marB="36576">
                    <a:solidFill>
                      <a:srgbClr val="F3F4F8"/>
                    </a:solidFill>
                  </a:tcPr>
                </a:tc>
              </a:tr>
              <a:tr h="411479">
                <a:tc>
                  <a:txBody>
                    <a:bodyPr/>
                    <a:lstStyle/>
                    <a:p>
                      <a:r>
                        <a:rPr sz="1050" b="1">
                          <a:solidFill>
                            <a:srgbClr val="1F1F1F"/>
                          </a:solidFill>
                        </a:rPr>
                        <a:t>HunyuanVideo 1.5</a:t>
                      </a:r>
                    </a:p>
                  </a:txBody>
                  <a:tcPr anchor="ctr" marT="36576" marB="36576">
                    <a:solidFill>
                      <a:srgbClr val="FFFFFF"/>
                    </a:solidFill>
                  </a:tcPr>
                </a:tc>
                <a:tc>
                  <a:txBody>
                    <a:bodyPr/>
                    <a:lstStyle/>
                    <a:p>
                      <a:r>
                        <a:rPr sz="1050" b="0">
                          <a:solidFill>
                            <a:srgbClr val="1F1F1F"/>
                          </a:solidFill>
                        </a:rPr>
                        <a:t>Tencent</a:t>
                      </a:r>
                    </a:p>
                  </a:txBody>
                  <a:tcPr anchor="ctr" marT="36576" marB="36576">
                    <a:solidFill>
                      <a:srgbClr val="FFFFFF"/>
                    </a:solidFill>
                  </a:tcPr>
                </a:tc>
                <a:tc>
                  <a:txBody>
                    <a:bodyPr/>
                    <a:lstStyle/>
                    <a:p>
                      <a:r>
                        <a:rPr sz="1050" b="0">
                          <a:solidFill>
                            <a:srgbClr val="1F1F1F"/>
                          </a:solidFill>
                        </a:rPr>
                        <a:t>11-2025</a:t>
                      </a:r>
                    </a:p>
                  </a:txBody>
                  <a:tcPr anchor="ctr" marT="36576" marB="36576">
                    <a:solidFill>
                      <a:srgbClr val="FFFFFF"/>
                    </a:solidFill>
                  </a:tcPr>
                </a:tc>
                <a:tc>
                  <a:txBody>
                    <a:bodyPr/>
                    <a:lstStyle/>
                    <a:p>
                      <a:r>
                        <a:rPr sz="1050" b="0">
                          <a:solidFill>
                            <a:srgbClr val="1F1F1F"/>
                          </a:solidFill>
                        </a:rPr>
                        <a:t>Hunyuan community</a:t>
                      </a:r>
                    </a:p>
                  </a:txBody>
                  <a:tcPr anchor="ctr" marT="36576" marB="36576">
                    <a:solidFill>
                      <a:srgbClr val="FFFFFF"/>
                    </a:solidFill>
                  </a:tcPr>
                </a:tc>
                <a:tc>
                  <a:txBody>
                    <a:bodyPr/>
                    <a:lstStyle/>
                    <a:p>
                      <a:r>
                        <a:rPr sz="1050" b="0">
                          <a:solidFill>
                            <a:srgbClr val="1F1F1F"/>
                          </a:solidFill>
                        </a:rPr>
                        <a:t>8.3B, 14 GB with offload —</a:t>
                      </a:r>
                    </a:p>
                    <a:p>
                      <a:r>
                        <a:rPr sz="1050" b="0">
                          <a:solidFill>
                            <a:srgbClr val="1F1F1F"/>
                          </a:solidFill>
                        </a:rPr>
                        <a:t>the laptop video model</a:t>
                      </a:r>
                    </a:p>
                  </a:txBody>
                  <a:tcPr anchor="ctr" marT="36576" marB="36576">
                    <a:solidFill>
                      <a:srgbClr val="FFFFFF"/>
                    </a:solidFill>
                  </a:tcPr>
                </a:tc>
              </a:tr>
              <a:tr h="411479">
                <a:tc>
                  <a:txBody>
                    <a:bodyPr/>
                    <a:lstStyle/>
                    <a:p>
                      <a:r>
                        <a:rPr sz="1050" b="1">
                          <a:solidFill>
                            <a:srgbClr val="1F1F1F"/>
                          </a:solidFill>
                        </a:rPr>
                        <a:t>LTX-2.5</a:t>
                      </a:r>
                    </a:p>
                  </a:txBody>
                  <a:tcPr anchor="ctr" marT="36576" marB="36576">
                    <a:solidFill>
                      <a:srgbClr val="F3F4F8"/>
                    </a:solidFill>
                  </a:tcPr>
                </a:tc>
                <a:tc>
                  <a:txBody>
                    <a:bodyPr/>
                    <a:lstStyle/>
                    <a:p>
                      <a:r>
                        <a:rPr sz="1050" b="0">
                          <a:solidFill>
                            <a:srgbClr val="1F1F1F"/>
                          </a:solidFill>
                        </a:rPr>
                        <a:t>Lightricks</a:t>
                      </a:r>
                    </a:p>
                  </a:txBody>
                  <a:tcPr anchor="ctr" marT="36576" marB="36576">
                    <a:solidFill>
                      <a:srgbClr val="F3F4F8"/>
                    </a:solidFill>
                  </a:tcPr>
                </a:tc>
                <a:tc>
                  <a:txBody>
                    <a:bodyPr/>
                    <a:lstStyle/>
                    <a:p>
                      <a:r>
                        <a:rPr sz="1050" b="0">
                          <a:solidFill>
                            <a:srgbClr val="1F1F1F"/>
                          </a:solidFill>
                        </a:rPr>
                        <a:t>08-11</a:t>
                      </a:r>
                    </a:p>
                  </a:txBody>
                  <a:tcPr anchor="ctr" marT="36576" marB="36576">
                    <a:solidFill>
                      <a:srgbClr val="F3F4F8"/>
                    </a:solidFill>
                  </a:tcPr>
                </a:tc>
                <a:tc>
                  <a:txBody>
                    <a:bodyPr/>
                    <a:lstStyle/>
                    <a:p>
                      <a:r>
                        <a:rPr sz="1050" b="0">
                          <a:solidFill>
                            <a:srgbClr val="1F1F1F"/>
                          </a:solidFill>
                        </a:rPr>
                        <a:t>LTX-2.x Community</a:t>
                      </a:r>
                    </a:p>
                    <a:p>
                      <a:r>
                        <a:rPr sz="1050" b="0">
                          <a:solidFill>
                            <a:srgbClr val="1F1F1F"/>
                          </a:solidFill>
                        </a:rPr>
                        <a:t>(&lt; $10M revenue)</a:t>
                      </a:r>
                    </a:p>
                  </a:txBody>
                  <a:tcPr anchor="ctr" marT="36576" marB="36576">
                    <a:solidFill>
                      <a:srgbClr val="F3F4F8"/>
                    </a:solidFill>
                  </a:tcPr>
                </a:tc>
                <a:tc>
                  <a:txBody>
                    <a:bodyPr/>
                    <a:lstStyle/>
                    <a:p>
                      <a:r>
                        <a:rPr sz="1050" b="0">
                          <a:solidFill>
                            <a:srgbClr val="1F1F1F"/>
                          </a:solidFill>
                        </a:rPr>
                        <a:t>22B distilled DiT + Gemma 4</a:t>
                      </a:r>
                    </a:p>
                    <a:p>
                      <a:r>
                        <a:rPr sz="1050" b="0">
                          <a:solidFill>
                            <a:srgbClr val="1F1F1F"/>
                          </a:solidFill>
                        </a:rPr>
                        <a:t>12B encoder; synced audio</a:t>
                      </a:r>
                    </a:p>
                  </a:txBody>
                  <a:tcPr anchor="ctr" marT="36576" marB="36576">
                    <a:solidFill>
                      <a:srgbClr val="F3F4F8"/>
                    </a:solidFill>
                  </a:tcPr>
                </a:tc>
              </a:tr>
              <a:tr h="411479">
                <a:tc>
                  <a:txBody>
                    <a:bodyPr/>
                    <a:lstStyle/>
                    <a:p>
                      <a:r>
                        <a:rPr sz="1050" b="1">
                          <a:solidFill>
                            <a:srgbClr val="1F1F1F"/>
                          </a:solidFill>
                        </a:rPr>
                        <a:t>MiniMax-H3 (+ H3-World LoRA)</a:t>
                      </a:r>
                    </a:p>
                  </a:txBody>
                  <a:tcPr anchor="ctr" marT="36576" marB="36576">
                    <a:solidFill>
                      <a:srgbClr val="FFFFFF"/>
                    </a:solidFill>
                  </a:tcPr>
                </a:tc>
                <a:tc>
                  <a:txBody>
                    <a:bodyPr/>
                    <a:lstStyle/>
                    <a:p>
                      <a:r>
                        <a:rPr sz="1050" b="0">
                          <a:solidFill>
                            <a:srgbClr val="1F1F1F"/>
                          </a:solidFill>
                        </a:rPr>
                        <a:t>MiniMax</a:t>
                      </a:r>
                    </a:p>
                  </a:txBody>
                  <a:tcPr anchor="ctr" marT="36576" marB="36576">
                    <a:solidFill>
                      <a:srgbClr val="FFFFFF"/>
                    </a:solidFill>
                  </a:tcPr>
                </a:tc>
                <a:tc>
                  <a:txBody>
                    <a:bodyPr/>
                    <a:lstStyle/>
                    <a:p>
                      <a:r>
                        <a:rPr sz="1050" b="0">
                          <a:solidFill>
                            <a:srgbClr val="1F1F1F"/>
                          </a:solidFill>
                        </a:rPr>
                        <a:t>08-02</a:t>
                      </a:r>
                    </a:p>
                  </a:txBody>
                  <a:tcPr anchor="ctr" marT="36576" marB="36576">
                    <a:solidFill>
                      <a:srgbClr val="FFFFFF"/>
                    </a:solidFill>
                  </a:tcPr>
                </a:tc>
                <a:tc>
                  <a:txBody>
                    <a:bodyPr/>
                    <a:lstStyle/>
                    <a:p>
                      <a:r>
                        <a:rPr sz="1050" b="0">
                          <a:solidFill>
                            <a:srgbClr val="1F1F1F"/>
                          </a:solidFill>
                        </a:rPr>
                        <a:t>Community: excludes EU,</a:t>
                      </a:r>
                    </a:p>
                    <a:p>
                      <a:r>
                        <a:rPr sz="1050" b="0">
                          <a:solidFill>
                            <a:srgbClr val="1F1F1F"/>
                          </a:solidFill>
                        </a:rPr>
                        <a:t>UK, South Korea, USA</a:t>
                      </a:r>
                    </a:p>
                  </a:txBody>
                  <a:tcPr anchor="ctr" marT="36576" marB="36576">
                    <a:solidFill>
                      <a:srgbClr val="FFFFFF"/>
                    </a:solidFill>
                  </a:tcPr>
                </a:tc>
                <a:tc>
                  <a:txBody>
                    <a:bodyPr/>
                    <a:lstStyle/>
                    <a:p>
                      <a:r>
                        <a:rPr sz="1050" b="0">
                          <a:solidFill>
                            <a:srgbClr val="1F1F1F"/>
                          </a:solidFill>
                        </a:rPr>
                        <a:t>33B; best open T2V + audio</a:t>
                      </a:r>
                    </a:p>
                    <a:p>
                      <a:r>
                        <a:rPr sz="1050" b="0">
                          <a:solidFill>
                            <a:srgbClr val="1F1F1F"/>
                          </a:solidFill>
                        </a:rPr>
                        <a:t>— mention, don’t demo</a:t>
                      </a:r>
                    </a:p>
                  </a:txBody>
                  <a:tcPr anchor="ctr" marT="36576" marB="36576">
                    <a:solidFill>
                      <a:srgbClr val="FFFFFF"/>
                    </a:solidFill>
                  </a:tcPr>
                </a:tc>
              </a:tr>
              <a:tr h="571499">
                <a:tc>
                  <a:txBody>
                    <a:bodyPr/>
                    <a:lstStyle/>
                    <a:p>
                      <a:r>
                        <a:rPr sz="1050" b="1">
                          <a:solidFill>
                            <a:srgbClr val="1F1F1F"/>
                          </a:solidFill>
                        </a:rPr>
                        <a:t>Gemini Omni 1.1 Flash · Veo 3.1</a:t>
                      </a:r>
                    </a:p>
                    <a:p>
                      <a:r>
                        <a:rPr sz="1050" b="1">
                          <a:solidFill>
                            <a:srgbClr val="1F1F1F"/>
                          </a:solidFill>
                        </a:rPr>
                        <a:t>Seedance 2.5 · Kling 3.0</a:t>
                      </a:r>
                    </a:p>
                    <a:p>
                      <a:r>
                        <a:rPr sz="1050" b="1">
                          <a:solidFill>
                            <a:srgbClr val="1F1F1F"/>
                          </a:solidFill>
                        </a:rPr>
                        <a:t>Runway Gen-4.5 · Luma Ray 3</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08-27</a:t>
                      </a:r>
                    </a:p>
                    <a:p>
                      <a:r>
                        <a:rPr sz="1050" b="0">
                          <a:solidFill>
                            <a:srgbClr val="1F1F1F"/>
                          </a:solidFill>
                        </a:rPr>
                        <a:t>(Omni GA)</a:t>
                      </a:r>
                    </a:p>
                  </a:txBody>
                  <a:tcPr anchor="ctr" marT="36576" marB="36576">
                    <a:solidFill>
                      <a:srgbClr val="F3F4F8"/>
                    </a:solidFill>
                  </a:tcPr>
                </a:tc>
                <a:tc>
                  <a:txBody>
                    <a:bodyPr/>
                    <a:lstStyle/>
                    <a:p>
                      <a:r>
                        <a:rPr sz="1050" b="0">
                          <a:solidFill>
                            <a:srgbClr val="1F1F1F"/>
                          </a:solidFill>
                        </a:rPr>
                        <a:t>closed / API</a:t>
                      </a:r>
                    </a:p>
                  </a:txBody>
                  <a:tcPr anchor="ctr" marT="36576" marB="36576">
                    <a:solidFill>
                      <a:srgbClr val="F3F4F8"/>
                    </a:solidFill>
                  </a:tcPr>
                </a:tc>
                <a:tc>
                  <a:txBody>
                    <a:bodyPr/>
                    <a:lstStyle/>
                    <a:p>
                      <a:r>
                        <a:rPr sz="1050" b="0">
                          <a:solidFill>
                            <a:srgbClr val="1F1F1F"/>
                          </a:solidFill>
                        </a:rPr>
                        <a:t>Gemini Omni 1.1 Flash</a:t>
                      </a:r>
                    </a:p>
                    <a:p>
                      <a:r>
                        <a:rPr sz="1050" b="0">
                          <a:solidFill>
                            <a:srgbClr val="1F1F1F"/>
                          </a:solidFill>
                        </a:rPr>
                        <a:t>= arena #1</a:t>
                      </a:r>
                    </a:p>
                  </a:txBody>
                  <a:tcPr anchor="ctr" marT="36576" marB="36576">
                    <a:solidFill>
                      <a:srgbClr val="F3F4F8"/>
                    </a:solidFill>
                  </a:tcPr>
                </a:tc>
              </a:tr>
              <a:tr h="411479">
                <a:tc>
                  <a:txBody>
                    <a:bodyPr/>
                    <a:lstStyle/>
                    <a:p>
                      <a:r>
                        <a:rPr sz="1050" b="1">
                          <a:solidFill>
                            <a:srgbClr val="1F1F1F"/>
                          </a:solidFill>
                        </a:rPr>
                        <a:t>Sora</a:t>
                      </a:r>
                    </a:p>
                  </a:txBody>
                  <a:tcPr anchor="ctr" marT="36576" marB="36576">
                    <a:solidFill>
                      <a:srgbClr val="FFFFFF"/>
                    </a:solidFill>
                  </a:tcPr>
                </a:tc>
                <a:tc>
                  <a:txBody>
                    <a:bodyPr/>
                    <a:lstStyle/>
                    <a:p>
                      <a:r>
                        <a:rPr sz="1050" b="0">
                          <a:solidFill>
                            <a:srgbClr val="1F1F1F"/>
                          </a:solidFill>
                        </a:rPr>
                        <a:t>OpenAI</a:t>
                      </a:r>
                    </a:p>
                  </a:txBody>
                  <a:tcPr anchor="ctr" marT="36576" marB="36576">
                    <a:solidFill>
                      <a:srgbClr val="FFFFFF"/>
                    </a:solidFill>
                  </a:tcPr>
                </a:tc>
                <a:tc>
                  <a:txBody>
                    <a:bodyPr/>
                    <a:lstStyle/>
                    <a:p>
                      <a:r>
                        <a:rPr sz="1050" b="0">
                          <a:solidFill>
                            <a:srgbClr val="1F1F1F"/>
                          </a:solidFill>
                        </a:rPr>
                        <a:t>app off 04-26</a:t>
                      </a:r>
                    </a:p>
                    <a:p>
                      <a:r>
                        <a:rPr sz="1050" b="0">
                          <a:solidFill>
                            <a:srgbClr val="1F1F1F"/>
                          </a:solidFill>
                        </a:rPr>
                        <a:t>API off 09-24</a:t>
                      </a:r>
                    </a:p>
                  </a:txBody>
                  <a:tcPr anchor="ctr" marT="36576" marB="36576">
                    <a:solidFill>
                      <a:srgbClr val="FFFFFF"/>
                    </a:solidFill>
                  </a:tcPr>
                </a:tc>
                <a:tc>
                  <a:txBody>
                    <a:bodyPr/>
                    <a:lstStyle/>
                    <a:p>
                      <a:r>
                        <a:rPr sz="1050" b="0">
                          <a:solidFill>
                            <a:srgbClr val="1F1F1F"/>
                          </a:solidFill>
                        </a:rPr>
                        <a:t>gone</a:t>
                      </a:r>
                    </a:p>
                  </a:txBody>
                  <a:tcPr anchor="ctr" marT="36576" marB="36576">
                    <a:solidFill>
                      <a:srgbClr val="FFFFFF"/>
                    </a:solidFill>
                  </a:tcPr>
                </a:tc>
                <a:tc>
                  <a:txBody>
                    <a:bodyPr/>
                    <a:lstStyle/>
                    <a:p>
                      <a:r>
                        <a:rPr sz="1050" b="0">
                          <a:solidFill>
                            <a:srgbClr val="1F1F1F"/>
                          </a:solidFill>
                        </a:rPr>
                        <a:t>Foundry’s sora-2 listing</a:t>
                      </a:r>
                    </a:p>
                    <a:p>
                      <a:r>
                        <a:rPr sz="1050" b="0">
                          <a:solidFill>
                            <a:srgbClr val="1F1F1F"/>
                          </a:solidFill>
                        </a:rPr>
                        <a:t>is stale</a:t>
                      </a:r>
                    </a:p>
                  </a:txBody>
                  <a:tcPr anchor="ctr" marT="36576" marB="36576">
                    <a:solidFill>
                      <a:srgbClr val="FFFFFF"/>
                    </a:solidFill>
                  </a:tcPr>
                </a:tc>
              </a:tr>
            </a:tbl>
          </a:graphicData>
        </a:graphic>
      </p:graphicFrame>
      <p:sp>
        <p:nvSpPr>
          <p:cNvPr id="5" name="Oval 4"/>
          <p:cNvSpPr/>
          <p:nvPr/>
        </p:nvSpPr>
        <p:spPr>
          <a:xfrm>
            <a:off x="612647" y="1787651"/>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9913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61061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02209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43357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92506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41655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3" name="Oval 12"/>
          <p:cNvSpPr/>
          <p:nvPr/>
        </p:nvSpPr>
        <p:spPr>
          <a:xfrm>
            <a:off x="585216" y="483717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14316"/>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5" name="Oval 14"/>
          <p:cNvSpPr/>
          <p:nvPr/>
        </p:nvSpPr>
        <p:spPr>
          <a:xfrm>
            <a:off x="2603500" y="4837176"/>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5524" y="4814316"/>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7" name="Oval 16"/>
          <p:cNvSpPr/>
          <p:nvPr/>
        </p:nvSpPr>
        <p:spPr>
          <a:xfrm>
            <a:off x="4431284" y="483717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3308" y="4814316"/>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9" name="TextBox 18"/>
          <p:cNvSpPr txBox="1"/>
          <p:nvPr/>
        </p:nvSpPr>
        <p:spPr>
          <a:xfrm>
            <a:off x="7193788" y="4814316"/>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open base is still Wan 2.2 — the flagships moved behind APIs.</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(checked 2026-09-21) · Model catalog §11 (checked 2026-09-21) · Research: local AI, media &amp; beyond the West, 2026-09-19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model zoo has moved: speech and voice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346703"/>
        </p:xfrm>
        <a:graphic>
          <a:graphicData uri="http://schemas.openxmlformats.org/drawingml/2006/table">
            <a:tbl>
              <a:tblPr firstRow="1" bandRow="1">
                <a:tableStyleId>{5C22544A-7EE6-4342-B048-85BDC9FD1C3A}</a:tableStyleId>
              </a:tblPr>
              <a:tblGrid>
                <a:gridCol w="3246120"/>
                <a:gridCol w="960120"/>
                <a:gridCol w="1051560"/>
                <a:gridCol w="1600200"/>
                <a:gridCol w="2523744"/>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Maker</a:t>
                      </a:r>
                    </a:p>
                  </a:txBody>
                  <a:tcPr anchor="ctr" marT="36576" marB="36576">
                    <a:solidFill>
                      <a:srgbClr val="2A446F"/>
                    </a:solidFill>
                  </a:tcPr>
                </a:tc>
                <a:tc>
                  <a:txBody>
                    <a:bodyPr/>
                    <a:lstStyle/>
                    <a:p>
                      <a:r>
                        <a:rPr sz="1050" b="1">
                          <a:solidFill>
                            <a:srgbClr val="FFFFFF"/>
                          </a:solidFill>
                        </a:rPr>
                        <a:t>Date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Why it matters</a:t>
                      </a:r>
                    </a:p>
                  </a:txBody>
                  <a:tcPr anchor="ctr" marT="36576" marB="36576">
                    <a:solidFill>
                      <a:srgbClr val="2A446F"/>
                    </a:solidFill>
                  </a:tcPr>
                </a:tc>
              </a:tr>
              <a:tr h="411479">
                <a:tc>
                  <a:txBody>
                    <a:bodyPr/>
                    <a:lstStyle/>
                    <a:p>
                      <a:r>
                        <a:rPr sz="1050" b="1">
                          <a:solidFill>
                            <a:srgbClr val="1F1F1F"/>
                          </a:solidFill>
                        </a:rPr>
                        <a:t>Qwen3-TTS 0.6B / 1.7B</a:t>
                      </a:r>
                    </a:p>
                    <a:p>
                      <a:r>
                        <a:rPr sz="1050" b="1">
                          <a:solidFill>
                            <a:srgbClr val="1F1F1F"/>
                          </a:solidFill>
                        </a:rPr>
                        <a:t>(Base · CustomVoice · VoiceDesign)</a:t>
                      </a:r>
                    </a:p>
                  </a:txBody>
                  <a:tcPr anchor="ctr" marT="36576" marB="36576">
                    <a:solidFill>
                      <a:srgbClr val="FFFFFF"/>
                    </a:solidFill>
                  </a:tcPr>
                </a:tc>
                <a:tc>
                  <a:txBody>
                    <a:bodyPr/>
                    <a:lstStyle/>
                    <a:p>
                      <a:r>
                        <a:rPr sz="1050" b="0">
                          <a:solidFill>
                            <a:srgbClr val="1F1F1F"/>
                          </a:solidFill>
                        </a:rPr>
                        <a:t>Alibaba</a:t>
                      </a:r>
                    </a:p>
                  </a:txBody>
                  <a:tcPr anchor="ctr" marT="36576" marB="36576">
                    <a:solidFill>
                      <a:srgbClr val="FFFFFF"/>
                    </a:solidFill>
                  </a:tcPr>
                </a:tc>
                <a:tc>
                  <a:txBody>
                    <a:bodyPr/>
                    <a:lstStyle/>
                    <a:p>
                      <a:r>
                        <a:rPr sz="1050" b="0">
                          <a:solidFill>
                            <a:srgbClr val="1F1F1F"/>
                          </a:solidFill>
                        </a:rPr>
                        <a:t>01-21</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3-s voice cloning, voice design</a:t>
                      </a:r>
                    </a:p>
                    <a:p>
                      <a:r>
                        <a:rPr sz="1050" b="0">
                          <a:solidFill>
                            <a:srgbClr val="1F1F1F"/>
                          </a:solidFill>
                        </a:rPr>
                        <a:t>by text, 10 languages</a:t>
                      </a:r>
                    </a:p>
                  </a:txBody>
                  <a:tcPr anchor="ctr" marT="36576" marB="36576">
                    <a:solidFill>
                      <a:srgbClr val="FFFFFF"/>
                    </a:solidFill>
                  </a:tcPr>
                </a:tc>
              </a:tr>
              <a:tr h="411479">
                <a:tc>
                  <a:txBody>
                    <a:bodyPr/>
                    <a:lstStyle/>
                    <a:p>
                      <a:r>
                        <a:rPr sz="1050" b="1">
                          <a:solidFill>
                            <a:srgbClr val="1F1F1F"/>
                          </a:solidFill>
                        </a:rPr>
                        <a:t>AuK / AuK-Flash</a:t>
                      </a:r>
                    </a:p>
                  </a:txBody>
                  <a:tcPr anchor="ctr" marT="36576" marB="36576">
                    <a:solidFill>
                      <a:srgbClr val="F3F4F8"/>
                    </a:solidFill>
                  </a:tcPr>
                </a:tc>
                <a:tc>
                  <a:txBody>
                    <a:bodyPr/>
                    <a:lstStyle/>
                    <a:p>
                      <a:r>
                        <a:rPr sz="1050" b="0">
                          <a:solidFill>
                            <a:srgbClr val="1F1F1F"/>
                          </a:solidFill>
                        </a:rPr>
                        <a:t>Tencent</a:t>
                      </a:r>
                    </a:p>
                  </a:txBody>
                  <a:tcPr anchor="ctr" marT="36576" marB="36576">
                    <a:solidFill>
                      <a:srgbClr val="F3F4F8"/>
                    </a:solidFill>
                  </a:tcPr>
                </a:tc>
                <a:tc>
                  <a:txBody>
                    <a:bodyPr/>
                    <a:lstStyle/>
                    <a:p>
                      <a:r>
                        <a:rPr sz="1050" b="0">
                          <a:solidFill>
                            <a:srgbClr val="1F1F1F"/>
                          </a:solidFill>
                        </a:rPr>
                        <a:t>09-09</a:t>
                      </a:r>
                    </a:p>
                  </a:txBody>
                  <a:tcPr anchor="ctr" marT="36576" marB="36576">
                    <a:solidFill>
                      <a:srgbClr val="F3F4F8"/>
                    </a:solidFill>
                  </a:tcPr>
                </a:tc>
                <a:tc>
                  <a:txBody>
                    <a:bodyPr/>
                    <a:lstStyle/>
                    <a:p>
                      <a:r>
                        <a:rPr sz="1050" b="0">
                          <a:solidFill>
                            <a:srgbClr val="1F1F1F"/>
                          </a:solidFill>
                        </a:rPr>
                        <a:t>MIT</a:t>
                      </a:r>
                    </a:p>
                  </a:txBody>
                  <a:tcPr anchor="ctr" marT="36576" marB="36576">
                    <a:solidFill>
                      <a:srgbClr val="F3F4F8"/>
                    </a:solidFill>
                  </a:tcPr>
                </a:tc>
                <a:tc>
                  <a:txBody>
                    <a:bodyPr/>
                    <a:lstStyle/>
                    <a:p>
                      <a:r>
                        <a:rPr sz="1050" b="0">
                          <a:solidFill>
                            <a:srgbClr val="1F1F1F"/>
                          </a:solidFill>
                        </a:rPr>
                        <a:t>1.5B: TTS + speech editing +</a:t>
                      </a:r>
                    </a:p>
                    <a:p>
                      <a:r>
                        <a:rPr sz="1050" b="0">
                          <a:solidFill>
                            <a:srgbClr val="1F1F1F"/>
                          </a:solidFill>
                        </a:rPr>
                        <a:t>enhancement + separation</a:t>
                      </a:r>
                    </a:p>
                  </a:txBody>
                  <a:tcPr anchor="ctr" marT="36576" marB="36576">
                    <a:solidFill>
                      <a:srgbClr val="F3F4F8"/>
                    </a:solidFill>
                  </a:tcPr>
                </a:tc>
              </a:tr>
              <a:tr h="411479">
                <a:tc>
                  <a:txBody>
                    <a:bodyPr/>
                    <a:lstStyle/>
                    <a:p>
                      <a:r>
                        <a:rPr sz="1050" b="1">
                          <a:solidFill>
                            <a:srgbClr val="1F1F1F"/>
                          </a:solidFill>
                        </a:rPr>
                        <a:t>Chatterbox Flash · VibeVoice ·</a:t>
                      </a:r>
                    </a:p>
                    <a:p>
                      <a:r>
                        <a:rPr sz="1050" b="1">
                          <a:solidFill>
                            <a:srgbClr val="1F1F1F"/>
                          </a:solidFill>
                        </a:rPr>
                        <a:t>VoxCPM2 · Kokoro-82M</a:t>
                      </a:r>
                    </a:p>
                  </a:txBody>
                  <a:tcPr anchor="ctr" marT="36576" marB="36576">
                    <a:solidFill>
                      <a:srgbClr val="FFFFFF"/>
                    </a:solidFill>
                  </a:tcPr>
                </a:tc>
                <a:tc>
                  <a:txBody>
                    <a:bodyPr/>
                    <a:lstStyle/>
                    <a:p>
                      <a:r>
                        <a:rPr sz="1050" b="0">
                          <a:solidFill>
                            <a:srgbClr val="1F1F1F"/>
                          </a:solidFill>
                        </a:rPr>
                        <a:t>–</a:t>
                      </a:r>
                    </a:p>
                  </a:txBody>
                  <a:tcPr anchor="ctr" marT="36576" marB="36576">
                    <a:solidFill>
                      <a:srgbClr val="FFFFFF"/>
                    </a:solidFill>
                  </a:tcPr>
                </a:tc>
                <a:tc>
                  <a:txBody>
                    <a:bodyPr/>
                    <a:lstStyle/>
                    <a:p>
                      <a:r>
                        <a:rPr sz="1050" b="0">
                          <a:solidFill>
                            <a:srgbClr val="1F1F1F"/>
                          </a:solidFill>
                        </a:rPr>
                        <a:t>2026</a:t>
                      </a:r>
                    </a:p>
                  </a:txBody>
                  <a:tcPr anchor="ctr" marT="36576" marB="36576">
                    <a:solidFill>
                      <a:srgbClr val="FFFFFF"/>
                    </a:solidFill>
                  </a:tcPr>
                </a:tc>
                <a:tc>
                  <a:txBody>
                    <a:bodyPr/>
                    <a:lstStyle/>
                    <a:p>
                      <a:r>
                        <a:rPr sz="1050" b="0">
                          <a:solidFill>
                            <a:srgbClr val="1F1F1F"/>
                          </a:solidFill>
                        </a:rPr>
                        <a:t>MIT · MIT ·</a:t>
                      </a:r>
                    </a:p>
                    <a:p>
                      <a:r>
                        <a:rPr sz="1050" b="0">
                          <a:solidFill>
                            <a:srgbClr val="1F1F1F"/>
                          </a:solidFill>
                        </a:rPr>
                        <a:t>Apache · Apache</a:t>
                      </a:r>
                    </a:p>
                  </a:txBody>
                  <a:tcPr anchor="ctr" marT="36576" marB="36576">
                    <a:solidFill>
                      <a:srgbClr val="FFFFFF"/>
                    </a:solidFill>
                  </a:tcPr>
                </a:tc>
                <a:tc>
                  <a:txBody>
                    <a:bodyPr/>
                    <a:lstStyle/>
                    <a:p>
                      <a:r>
                        <a:rPr sz="1050" b="0">
                          <a:solidFill>
                            <a:srgbClr val="1F1F1F"/>
                          </a:solidFill>
                        </a:rPr>
                        <a:t>23 languages · long-form</a:t>
                      </a:r>
                    </a:p>
                    <a:p>
                      <a:r>
                        <a:rPr sz="1050" b="0">
                          <a:solidFill>
                            <a:srgbClr val="1F1F1F"/>
                          </a:solidFill>
                        </a:rPr>
                        <a:t>multi-speaker · edge</a:t>
                      </a:r>
                    </a:p>
                  </a:txBody>
                  <a:tcPr anchor="ctr" marT="36576" marB="36576">
                    <a:solidFill>
                      <a:srgbClr val="FFFFFF"/>
                    </a:solidFill>
                  </a:tcPr>
                </a:tc>
              </a:tr>
              <a:tr h="292608">
                <a:tc>
                  <a:txBody>
                    <a:bodyPr/>
                    <a:lstStyle/>
                    <a:p>
                      <a:r>
                        <a:rPr sz="1050" b="1">
                          <a:solidFill>
                            <a:srgbClr val="1F1F1F"/>
                          </a:solidFill>
                        </a:rPr>
                        <a:t>RVC / Applio · So-VITS-SVC</a:t>
                      </a:r>
                    </a:p>
                  </a:txBody>
                  <a:tcPr anchor="ctr" marT="36576" marB="36576">
                    <a:solidFill>
                      <a:srgbClr val="F3F4F8"/>
                    </a:solidFill>
                  </a:tcPr>
                </a:tc>
                <a:tc>
                  <a:txBody>
                    <a:bodyPr/>
                    <a:lstStyle/>
                    <a:p>
                      <a:r>
                        <a:rPr sz="1050" b="0">
                          <a:solidFill>
                            <a:srgbClr val="1F1F1F"/>
                          </a:solidFill>
                        </a:rPr>
                        <a:t>community</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permissive</a:t>
                      </a:r>
                    </a:p>
                  </a:txBody>
                  <a:tcPr anchor="ctr" marT="36576" marB="36576">
                    <a:solidFill>
                      <a:srgbClr val="F3F4F8"/>
                    </a:solidFill>
                  </a:tcPr>
                </a:tc>
                <a:tc>
                  <a:txBody>
                    <a:bodyPr/>
                    <a:lstStyle/>
                    <a:p>
                      <a:r>
                        <a:rPr sz="1050" b="0">
                          <a:solidFill>
                            <a:srgbClr val="1F1F1F"/>
                          </a:solidFill>
                        </a:rPr>
                        <a:t>voice conversion, not TTS</a:t>
                      </a:r>
                    </a:p>
                  </a:txBody>
                  <a:tcPr anchor="ctr" marT="36576" marB="36576">
                    <a:solidFill>
                      <a:srgbClr val="F3F4F8"/>
                    </a:solidFill>
                  </a:tcPr>
                </a:tc>
              </a:tr>
              <a:tr h="411479">
                <a:tc>
                  <a:txBody>
                    <a:bodyPr/>
                    <a:lstStyle/>
                    <a:p>
                      <a:r>
                        <a:rPr sz="1050" b="1">
                          <a:solidFill>
                            <a:srgbClr val="1F1F1F"/>
                          </a:solidFill>
                        </a:rPr>
                        <a:t>Parakeet-TDT-0.6B-v3 ·</a:t>
                      </a:r>
                    </a:p>
                    <a:p>
                      <a:r>
                        <a:rPr sz="1050" b="1">
                          <a:solidFill>
                            <a:srgbClr val="1F1F1F"/>
                          </a:solidFill>
                        </a:rPr>
                        <a:t>Nemotron-3.5-ASR-streaming</a:t>
                      </a:r>
                    </a:p>
                  </a:txBody>
                  <a:tcPr anchor="ctr" marT="36576" marB="36576">
                    <a:solidFill>
                      <a:srgbClr val="FFFFFF"/>
                    </a:solidFill>
                  </a:tcPr>
                </a:tc>
                <a:tc>
                  <a:txBody>
                    <a:bodyPr/>
                    <a:lstStyle/>
                    <a:p>
                      <a:r>
                        <a:rPr sz="1050" b="0">
                          <a:solidFill>
                            <a:srgbClr val="1F1F1F"/>
                          </a:solidFill>
                        </a:rPr>
                        <a:t>NVIDIA</a:t>
                      </a:r>
                    </a:p>
                  </a:txBody>
                  <a:tcPr anchor="ctr" marT="36576" marB="36576">
                    <a:solidFill>
                      <a:srgbClr val="FFFFFF"/>
                    </a:solidFill>
                  </a:tcPr>
                </a:tc>
                <a:tc>
                  <a:txBody>
                    <a:bodyPr/>
                    <a:lstStyle/>
                    <a:p>
                      <a:r>
                        <a:rPr sz="1050" b="0">
                          <a:solidFill>
                            <a:srgbClr val="1F1F1F"/>
                          </a:solidFill>
                        </a:rPr>
                        <a:t>08-2025</a:t>
                      </a:r>
                    </a:p>
                    <a:p>
                      <a:r>
                        <a:rPr sz="1050" b="0">
                          <a:solidFill>
                            <a:srgbClr val="1F1F1F"/>
                          </a:solidFill>
                        </a:rPr>
                        <a:t>2026</a:t>
                      </a:r>
                    </a:p>
                  </a:txBody>
                  <a:tcPr anchor="ctr" marT="36576" marB="36576">
                    <a:solidFill>
                      <a:srgbClr val="FFFFFF"/>
                    </a:solidFill>
                  </a:tcPr>
                </a:tc>
                <a:tc>
                  <a:txBody>
                    <a:bodyPr/>
                    <a:lstStyle/>
                    <a:p>
                      <a:r>
                        <a:rPr sz="1050" b="0">
                          <a:solidFill>
                            <a:srgbClr val="1F1F1F"/>
                          </a:solidFill>
                        </a:rPr>
                        <a:t>CC-BY-4.0 ·</a:t>
                      </a:r>
                    </a:p>
                    <a:p>
                      <a:r>
                        <a:rPr sz="1050" b="0">
                          <a:solidFill>
                            <a:srgbClr val="1F1F1F"/>
                          </a:solidFill>
                        </a:rPr>
                        <a:t>OpenMDW</a:t>
                      </a:r>
                    </a:p>
                  </a:txBody>
                  <a:tcPr anchor="ctr" marT="36576" marB="36576">
                    <a:solidFill>
                      <a:srgbClr val="FFFFFF"/>
                    </a:solidFill>
                  </a:tcPr>
                </a:tc>
                <a:tc>
                  <a:txBody>
                    <a:bodyPr/>
                    <a:lstStyle/>
                    <a:p>
                      <a:r>
                        <a:rPr sz="1050" b="0">
                          <a:solidFill>
                            <a:srgbClr val="1F1F1F"/>
                          </a:solidFill>
                        </a:rPr>
                        <a:t>25 languages, RTFx ~3,300</a:t>
                      </a:r>
                    </a:p>
                    <a:p>
                      <a:r>
                        <a:rPr sz="1050" b="0">
                          <a:solidFill>
                            <a:srgbClr val="1F1F1F"/>
                          </a:solidFill>
                        </a:rPr>
                        <a:t>— live captions</a:t>
                      </a:r>
                    </a:p>
                  </a:txBody>
                  <a:tcPr anchor="ctr" marT="36576" marB="36576">
                    <a:solidFill>
                      <a:srgbClr val="FFFFFF"/>
                    </a:solidFill>
                  </a:tcPr>
                </a:tc>
              </a:tr>
              <a:tr h="411479">
                <a:tc>
                  <a:txBody>
                    <a:bodyPr/>
                    <a:lstStyle/>
                    <a:p>
                      <a:r>
                        <a:rPr sz="1050" b="1">
                          <a:solidFill>
                            <a:srgbClr val="1F1F1F"/>
                          </a:solidFill>
                        </a:rPr>
                        <a:t>Whisper large-v3-turbo · Qwen3-ASR ·</a:t>
                      </a:r>
                    </a:p>
                    <a:p>
                      <a:r>
                        <a:rPr sz="1050" b="1">
                          <a:solidFill>
                            <a:srgbClr val="1F1F1F"/>
                          </a:solidFill>
                        </a:rPr>
                        <a:t>Canary-Qwen-2.5B · Granite-Speech-3.3</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permissive</a:t>
                      </a:r>
                    </a:p>
                  </a:txBody>
                  <a:tcPr anchor="ctr" marT="36576" marB="36576">
                    <a:solidFill>
                      <a:srgbClr val="F3F4F8"/>
                    </a:solidFill>
                  </a:tcPr>
                </a:tc>
                <a:tc>
                  <a:txBody>
                    <a:bodyPr/>
                    <a:lstStyle/>
                    <a:p>
                      <a:r>
                        <a:rPr sz="1050" b="0">
                          <a:solidFill>
                            <a:srgbClr val="1F1F1F"/>
                          </a:solidFill>
                        </a:rPr>
                        <a:t>multilingual ASR baselines</a:t>
                      </a:r>
                    </a:p>
                  </a:txBody>
                  <a:tcPr anchor="ctr" marT="36576" marB="36576">
                    <a:solidFill>
                      <a:srgbClr val="F3F4F8"/>
                    </a:solidFill>
                  </a:tcPr>
                </a:tc>
              </a:tr>
              <a:tr h="292608">
                <a:tc>
                  <a:txBody>
                    <a:bodyPr/>
                    <a:lstStyle/>
                    <a:p>
                      <a:r>
                        <a:rPr sz="1050" b="1">
                          <a:solidFill>
                            <a:srgbClr val="1F1F1F"/>
                          </a:solidFill>
                        </a:rPr>
                        <a:t>Kyutai Moshi / Unmute</a:t>
                      </a:r>
                    </a:p>
                  </a:txBody>
                  <a:tcPr anchor="ctr" marT="36576" marB="36576">
                    <a:solidFill>
                      <a:srgbClr val="FFFFFF"/>
                    </a:solidFill>
                  </a:tcPr>
                </a:tc>
                <a:tc>
                  <a:txBody>
                    <a:bodyPr/>
                    <a:lstStyle/>
                    <a:p>
                      <a:r>
                        <a:rPr sz="1050" b="0">
                          <a:solidFill>
                            <a:srgbClr val="1F1F1F"/>
                          </a:solidFill>
                        </a:rPr>
                        <a:t>Kyutai</a:t>
                      </a:r>
                    </a:p>
                  </a:txBody>
                  <a:tcPr anchor="ctr" marT="36576" marB="36576">
                    <a:solidFill>
                      <a:srgbClr val="FFFFFF"/>
                    </a:solidFill>
                  </a:tcPr>
                </a:tc>
                <a:tc>
                  <a:txBody>
                    <a:bodyPr/>
                    <a:lstStyle/>
                    <a:p>
                      <a:r>
                        <a:rPr sz="1050" b="0">
                          <a:solidFill>
                            <a:srgbClr val="1F1F1F"/>
                          </a:solidFill>
                        </a:rPr>
                        <a:t>2025</a:t>
                      </a:r>
                    </a:p>
                  </a:txBody>
                  <a:tcPr anchor="ctr" marT="36576" marB="36576">
                    <a:solidFill>
                      <a:srgbClr val="FFFFFF"/>
                    </a:solidFill>
                  </a:tcPr>
                </a:tc>
                <a:tc>
                  <a:txBody>
                    <a:bodyPr/>
                    <a:lstStyle/>
                    <a:p>
                      <a:r>
                        <a:rPr sz="1050" b="0">
                          <a:solidFill>
                            <a:srgbClr val="1F1F1F"/>
                          </a:solidFill>
                        </a:rPr>
                        <a:t>permissive</a:t>
                      </a:r>
                    </a:p>
                  </a:txBody>
                  <a:tcPr anchor="ctr" marT="36576" marB="36576">
                    <a:solidFill>
                      <a:srgbClr val="FFFFFF"/>
                    </a:solidFill>
                  </a:tcPr>
                </a:tc>
                <a:tc>
                  <a:txBody>
                    <a:bodyPr/>
                    <a:lstStyle/>
                    <a:p>
                      <a:r>
                        <a:rPr sz="1050" b="0">
                          <a:solidFill>
                            <a:srgbClr val="1F1F1F"/>
                          </a:solidFill>
                        </a:rPr>
                        <a:t>open full-duplex voice</a:t>
                      </a:r>
                    </a:p>
                  </a:txBody>
                  <a:tcPr anchor="ctr" marT="36576" marB="36576">
                    <a:solidFill>
                      <a:srgbClr val="FFFFFF"/>
                    </a:solidFill>
                  </a:tcPr>
                </a:tc>
              </a:tr>
              <a:tr h="411479">
                <a:tc>
                  <a:txBody>
                    <a:bodyPr/>
                    <a:lstStyle/>
                    <a:p>
                      <a:r>
                        <a:rPr sz="1050" b="1">
                          <a:solidFill>
                            <a:srgbClr val="1F1F1F"/>
                          </a:solidFill>
                        </a:rPr>
                        <a:t>GPT-Live-1 · gpt-realtime-2 ·</a:t>
                      </a:r>
                    </a:p>
                    <a:p>
                      <a:r>
                        <a:rPr sz="1050" b="1">
                          <a:solidFill>
                            <a:srgbClr val="1F1F1F"/>
                          </a:solidFill>
                        </a:rPr>
                        <a:t>gpt-4o-mini-tts · MAI-Voice-2</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09-10</a:t>
                      </a:r>
                    </a:p>
                    <a:p>
                      <a:r>
                        <a:rPr sz="1050" b="0">
                          <a:solidFill>
                            <a:srgbClr val="1F1F1F"/>
                          </a:solidFill>
                        </a:rPr>
                        <a:t>(GPT-Live-1)</a:t>
                      </a:r>
                    </a:p>
                  </a:txBody>
                  <a:tcPr anchor="ctr" marT="36576" marB="36576">
                    <a:solidFill>
                      <a:srgbClr val="F3F4F8"/>
                    </a:solidFill>
                  </a:tcPr>
                </a:tc>
                <a:tc>
                  <a:txBody>
                    <a:bodyPr/>
                    <a:lstStyle/>
                    <a:p>
                      <a:r>
                        <a:rPr sz="1050" b="0">
                          <a:solidFill>
                            <a:srgbClr val="1F1F1F"/>
                          </a:solidFill>
                        </a:rPr>
                        <a:t>closed / API</a:t>
                      </a:r>
                    </a:p>
                  </a:txBody>
                  <a:tcPr anchor="ctr" marT="36576" marB="36576">
                    <a:solidFill>
                      <a:srgbClr val="F3F4F8"/>
                    </a:solidFill>
                  </a:tcPr>
                </a:tc>
                <a:tc>
                  <a:txBody>
                    <a:bodyPr/>
                    <a:lstStyle/>
                    <a:p>
                      <a:r>
                        <a:rPr sz="1050" b="0">
                          <a:solidFill>
                            <a:srgbClr val="1F1F1F"/>
                          </a:solidFill>
                        </a:rPr>
                        <a:t>gpt-realtime, gpt-4o-mini-tts</a:t>
                      </a:r>
                    </a:p>
                    <a:p>
                      <a:r>
                        <a:rPr sz="1050" b="0">
                          <a:solidFill>
                            <a:srgbClr val="1F1F1F"/>
                          </a:solidFill>
                        </a:rPr>
                        <a:t>on Foundry DfA</a:t>
                      </a:r>
                    </a:p>
                  </a:txBody>
                  <a:tcPr anchor="ctr" marT="36576" marB="36576">
                    <a:solidFill>
                      <a:srgbClr val="F3F4F8"/>
                    </a:solidFill>
                  </a:tcPr>
                </a:tc>
              </a:tr>
            </a:tbl>
          </a:graphicData>
        </a:graphic>
      </p:graphicFrame>
      <p:sp>
        <p:nvSpPr>
          <p:cNvPr id="5" name="Oval 4"/>
          <p:cNvSpPr/>
          <p:nvPr/>
        </p:nvSpPr>
        <p:spPr>
          <a:xfrm>
            <a:off x="612647" y="1787651"/>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9913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61061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2962656"/>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314700"/>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726179"/>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07822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4430268"/>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4" name="Oval 13"/>
          <p:cNvSpPr/>
          <p:nvPr/>
        </p:nvSpPr>
        <p:spPr>
          <a:xfrm>
            <a:off x="585216" y="485089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28031"/>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6" name="Oval 15"/>
          <p:cNvSpPr/>
          <p:nvPr/>
        </p:nvSpPr>
        <p:spPr>
          <a:xfrm>
            <a:off x="2603500" y="485089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95524" y="4828031"/>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8" name="Oval 17"/>
          <p:cNvSpPr/>
          <p:nvPr/>
        </p:nvSpPr>
        <p:spPr>
          <a:xfrm>
            <a:off x="4431284" y="48508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3308" y="4828031"/>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20" name="TextBox 19"/>
          <p:cNvSpPr txBox="1"/>
          <p:nvPr/>
        </p:nvSpPr>
        <p:spPr>
          <a:xfrm>
            <a:off x="7193788" y="4828031"/>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Nearly all green: clone, edit and caption speech locally, under permissive licences.</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 · Model catalog §11 (checked 2026-09-21)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Qwen3-TTS voice clone + Parakeet live captions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Three seconds of a voice are enough to clone it — and live captions run on the same laptop.</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943100"/>
          </a:xfrm>
          <a:prstGeom prst="rect">
            <a:avLst/>
          </a:prstGeom>
          <a:noFill/>
        </p:spPr>
        <p:txBody>
          <a:bodyPr wrap="square" lIns="0" rIns="0" tIns="0" bIns="0" anchor="t">
            <a:spAutoFit/>
          </a:bodyPr>
          <a:lstStyle/>
          <a:p>
            <a:pPr algn="l">
              <a:spcAft>
                <a:spcPts val="900"/>
              </a:spcAft>
            </a:pPr>
            <a:r>
              <a:rPr sz="1400" b="0" i="0">
                <a:solidFill>
                  <a:srgbClr val="1F1F1F"/>
                </a:solidFill>
              </a:rPr>
              <a:t>1. Record 3 s of my own voice (consent: mine, not yours)</a:t>
            </a:r>
          </a:p>
          <a:p>
            <a:pPr algn="l">
              <a:spcAft>
                <a:spcPts val="900"/>
              </a:spcAft>
            </a:pPr>
            <a:r>
              <a:rPr sz="1400" b="0" i="0">
                <a:solidFill>
                  <a:srgbClr val="1F1F1F"/>
                </a:solidFill>
              </a:rPr>
              <a:t>2. Qwen3-TTS clones it and reads a paragraph</a:t>
            </a:r>
          </a:p>
          <a:p>
            <a:pPr algn="l">
              <a:spcAft>
                <a:spcPts val="900"/>
              </a:spcAft>
            </a:pPr>
            <a:r>
              <a:rPr sz="1400" b="0" i="0">
                <a:solidFill>
                  <a:srgbClr val="1F1F1F"/>
                </a:solidFill>
              </a:rPr>
              <a:t>3. VoiceDesign: describe a voice in words, then hear it</a:t>
            </a:r>
          </a:p>
          <a:p>
            <a:pPr algn="l">
              <a:spcAft>
                <a:spcPts val="900"/>
              </a:spcAft>
            </a:pPr>
            <a:r>
              <a:rPr sz="1400" b="0" i="0">
                <a:solidFill>
                  <a:srgbClr val="1F1F1F"/>
                </a:solidFill>
              </a:rPr>
              <a:t>4. Parakeet v3 captions the room live</a:t>
            </a:r>
          </a:p>
          <a:p>
            <a:pPr algn="l">
              <a:spcAft>
                <a:spcPts val="900"/>
              </a:spcAft>
            </a:pPr>
            <a:r>
              <a:rPr sz="1400" b="0" i="0">
                <a:solidFill>
                  <a:srgbClr val="1F1F1F"/>
                </a:solidFill>
              </a:rPr>
              <a:t>5. Same captions for another European language</a:t>
            </a:r>
          </a:p>
        </p:txBody>
      </p:sp>
      <p:sp>
        <p:nvSpPr>
          <p:cNvPr id="11" name="Rounded Rectangle 10"/>
          <p:cNvSpPr/>
          <p:nvPr/>
        </p:nvSpPr>
        <p:spPr>
          <a:xfrm>
            <a:off x="5029200" y="3634740"/>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79933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256532"/>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Play the pre-recorded WAVs (clone + designed voice) and a screen recording of the live captions.</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 · Qwen3-TTS (GitHub) · Parakeet TDT 0.6B v3 (HF)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Music and lipsync: whole songs on a small GPU, under MIT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020568"/>
        </p:xfrm>
        <a:graphic>
          <a:graphicData uri="http://schemas.openxmlformats.org/drawingml/2006/table">
            <a:tbl>
              <a:tblPr firstRow="1" bandRow="1">
                <a:tableStyleId>{5C22544A-7EE6-4342-B048-85BDC9FD1C3A}</a:tableStyleId>
              </a:tblPr>
              <a:tblGrid>
                <a:gridCol w="2880360"/>
                <a:gridCol w="1280160"/>
                <a:gridCol w="1005840"/>
                <a:gridCol w="1783080"/>
                <a:gridCol w="2432304"/>
              </a:tblGrid>
              <a:tr h="292608">
                <a:tc>
                  <a:txBody>
                    <a:bodyPr/>
                    <a:lstStyle/>
                    <a:p>
                      <a:r>
                        <a:rPr sz="1100" b="1">
                          <a:solidFill>
                            <a:srgbClr val="FFFFFF"/>
                          </a:solidFill>
                        </a:rPr>
                        <a:t>Model</a:t>
                      </a:r>
                    </a:p>
                  </a:txBody>
                  <a:tcPr anchor="ctr" marT="36576" marB="36576">
                    <a:solidFill>
                      <a:srgbClr val="2A446F"/>
                    </a:solidFill>
                  </a:tcPr>
                </a:tc>
                <a:tc>
                  <a:txBody>
                    <a:bodyPr/>
                    <a:lstStyle/>
                    <a:p>
                      <a:r>
                        <a:rPr sz="1100" b="1">
                          <a:solidFill>
                            <a:srgbClr val="FFFFFF"/>
                          </a:solidFill>
                        </a:rPr>
                        <a:t>Maker</a:t>
                      </a:r>
                    </a:p>
                  </a:txBody>
                  <a:tcPr anchor="ctr" marT="36576" marB="36576">
                    <a:solidFill>
                      <a:srgbClr val="2A446F"/>
                    </a:solidFill>
                  </a:tcPr>
                </a:tc>
                <a:tc>
                  <a:txBody>
                    <a:bodyPr/>
                    <a:lstStyle/>
                    <a:p>
                      <a:r>
                        <a:rPr sz="1100" b="1">
                          <a:solidFill>
                            <a:srgbClr val="FFFFFF"/>
                          </a:solidFill>
                        </a:rPr>
                        <a:t>Date</a:t>
                      </a:r>
                    </a:p>
                  </a:txBody>
                  <a:tcPr anchor="ctr" marT="36576" marB="36576">
                    <a:solidFill>
                      <a:srgbClr val="2A446F"/>
                    </a:solidFill>
                  </a:tcPr>
                </a:tc>
                <a:tc>
                  <a:txBody>
                    <a:bodyPr/>
                    <a:lstStyle/>
                    <a:p>
                      <a:r>
                        <a:rPr sz="1100" b="1">
                          <a:solidFill>
                            <a:srgbClr val="FFFFFF"/>
                          </a:solidFill>
                        </a:rPr>
                        <a:t>Licence</a:t>
                      </a:r>
                    </a:p>
                  </a:txBody>
                  <a:tcPr anchor="ctr" marT="36576" marB="36576">
                    <a:solidFill>
                      <a:srgbClr val="2A446F"/>
                    </a:solidFill>
                  </a:tcPr>
                </a:tc>
                <a:tc>
                  <a:txBody>
                    <a:bodyPr/>
                    <a:lstStyle/>
                    <a:p>
                      <a:r>
                        <a:rPr sz="1100" b="1">
                          <a:solidFill>
                            <a:srgbClr val="FFFFFF"/>
                          </a:solidFill>
                        </a:rPr>
                        <a:t>Why it matters</a:t>
                      </a:r>
                    </a:p>
                  </a:txBody>
                  <a:tcPr anchor="ctr" marT="36576" marB="36576">
                    <a:solidFill>
                      <a:srgbClr val="2A446F"/>
                    </a:solidFill>
                  </a:tcPr>
                </a:tc>
              </a:tr>
              <a:tr h="594360">
                <a:tc>
                  <a:txBody>
                    <a:bodyPr/>
                    <a:lstStyle/>
                    <a:p>
                      <a:r>
                        <a:rPr sz="1100" b="1">
                          <a:solidFill>
                            <a:srgbClr val="1F1F1F"/>
                          </a:solidFill>
                        </a:rPr>
                        <a:t>ACE-Step 1.5 / 1.5 XL</a:t>
                      </a:r>
                    </a:p>
                    <a:p>
                      <a:r>
                        <a:rPr sz="1100" b="1">
                          <a:solidFill>
                            <a:srgbClr val="1F1F1F"/>
                          </a:solidFill>
                        </a:rPr>
                        <a:t>(4B DiT + LM planner)</a:t>
                      </a:r>
                    </a:p>
                  </a:txBody>
                  <a:tcPr anchor="ctr" marT="36576" marB="36576">
                    <a:solidFill>
                      <a:srgbClr val="FFFFFF"/>
                    </a:solidFill>
                  </a:tcPr>
                </a:tc>
                <a:tc>
                  <a:txBody>
                    <a:bodyPr/>
                    <a:lstStyle/>
                    <a:p>
                      <a:r>
                        <a:rPr sz="1100" b="0">
                          <a:solidFill>
                            <a:srgbClr val="1F1F1F"/>
                          </a:solidFill>
                        </a:rPr>
                        <a:t>ACE Studio</a:t>
                      </a:r>
                    </a:p>
                  </a:txBody>
                  <a:tcPr anchor="ctr" marT="36576" marB="36576">
                    <a:solidFill>
                      <a:srgbClr val="FFFFFF"/>
                    </a:solidFill>
                  </a:tcPr>
                </a:tc>
                <a:tc>
                  <a:txBody>
                    <a:bodyPr/>
                    <a:lstStyle/>
                    <a:p>
                      <a:r>
                        <a:rPr sz="1100" b="0">
                          <a:solidFill>
                            <a:srgbClr val="1F1F1F"/>
                          </a:solidFill>
                        </a:rPr>
                        <a:t>01-23</a:t>
                      </a:r>
                    </a:p>
                    <a:p>
                      <a:r>
                        <a:rPr sz="1100" b="0">
                          <a:solidFill>
                            <a:srgbClr val="1F1F1F"/>
                          </a:solidFill>
                        </a:rPr>
                        <a:t>04-02</a:t>
                      </a:r>
                    </a:p>
                  </a:txBody>
                  <a:tcPr anchor="ctr" marT="36576" marB="36576">
                    <a:solidFill>
                      <a:srgbClr val="FFFFFF"/>
                    </a:solidFill>
                  </a:tcPr>
                </a:tc>
                <a:tc>
                  <a:txBody>
                    <a:bodyPr/>
                    <a:lstStyle/>
                    <a:p>
                      <a:r>
                        <a:rPr sz="1100" b="0">
                          <a:solidFill>
                            <a:srgbClr val="1F1F1F"/>
                          </a:solidFill>
                        </a:rPr>
                        <a:t>MIT</a:t>
                      </a:r>
                    </a:p>
                  </a:txBody>
                  <a:tcPr anchor="ctr" marT="36576" marB="36576">
                    <a:solidFill>
                      <a:srgbClr val="FFFFFF"/>
                    </a:solidFill>
                  </a:tcPr>
                </a:tc>
                <a:tc>
                  <a:txBody>
                    <a:bodyPr/>
                    <a:lstStyle/>
                    <a:p>
                      <a:r>
                        <a:rPr sz="1100" b="0">
                          <a:solidFill>
                            <a:srgbClr val="1F1F1F"/>
                          </a:solidFill>
                        </a:rPr>
                        <a:t>lyrics → full song with vocals,</a:t>
                      </a:r>
                    </a:p>
                    <a:p>
                      <a:r>
                        <a:rPr sz="1100" b="0">
                          <a:solidFill>
                            <a:srgbClr val="1F1F1F"/>
                          </a:solidFill>
                        </a:rPr>
                        <a:t>&lt;4 GB VRAM, &lt;10 s on a 3090</a:t>
                      </a:r>
                    </a:p>
                  </a:txBody>
                  <a:tcPr anchor="ctr" marT="36576" marB="36576">
                    <a:solidFill>
                      <a:srgbClr val="FFFFFF"/>
                    </a:solidFill>
                  </a:tcPr>
                </a:tc>
              </a:tr>
              <a:tr h="426720">
                <a:tc>
                  <a:txBody>
                    <a:bodyPr/>
                    <a:lstStyle/>
                    <a:p>
                      <a:r>
                        <a:rPr sz="1100" b="1">
                          <a:solidFill>
                            <a:srgbClr val="1F1F1F"/>
                          </a:solidFill>
                        </a:rPr>
                        <a:t>YuE2-3B</a:t>
                      </a:r>
                    </a:p>
                  </a:txBody>
                  <a:tcPr anchor="ctr" marT="36576" marB="36576">
                    <a:solidFill>
                      <a:srgbClr val="F3F4F8"/>
                    </a:solidFill>
                  </a:tcPr>
                </a:tc>
                <a:tc>
                  <a:txBody>
                    <a:bodyPr/>
                    <a:lstStyle/>
                    <a:p>
                      <a:r>
                        <a:rPr sz="1100" b="0">
                          <a:solidFill>
                            <a:srgbClr val="1F1F1F"/>
                          </a:solidFill>
                        </a:rPr>
                        <a:t>m-a-p</a:t>
                      </a:r>
                    </a:p>
                  </a:txBody>
                  <a:tcPr anchor="ctr" marT="36576" marB="36576">
                    <a:solidFill>
                      <a:srgbClr val="F3F4F8"/>
                    </a:solidFill>
                  </a:tcPr>
                </a:tc>
                <a:tc>
                  <a:txBody>
                    <a:bodyPr/>
                    <a:lstStyle/>
                    <a:p>
                      <a:r>
                        <a:rPr sz="1100" b="0">
                          <a:solidFill>
                            <a:srgbClr val="1F1F1F"/>
                          </a:solidFill>
                        </a:rPr>
                        <a:t>09-09</a:t>
                      </a:r>
                    </a:p>
                  </a:txBody>
                  <a:tcPr anchor="ctr" marT="36576" marB="36576">
                    <a:solidFill>
                      <a:srgbClr val="F3F4F8"/>
                    </a:solidFill>
                  </a:tcPr>
                </a:tc>
                <a:tc>
                  <a:txBody>
                    <a:bodyPr/>
                    <a:lstStyle/>
                    <a:p>
                      <a:r>
                        <a:rPr sz="1100" b="0">
                          <a:solidFill>
                            <a:srgbClr val="1F1F1F"/>
                          </a:solidFill>
                        </a:rPr>
                        <a:t>CC-BY-NC-4.0</a:t>
                      </a:r>
                    </a:p>
                  </a:txBody>
                  <a:tcPr anchor="ctr" marT="36576" marB="36576">
                    <a:solidFill>
                      <a:srgbClr val="F3F4F8"/>
                    </a:solidFill>
                  </a:tcPr>
                </a:tc>
                <a:tc>
                  <a:txBody>
                    <a:bodyPr/>
                    <a:lstStyle/>
                    <a:p>
                      <a:r>
                        <a:rPr sz="1100" b="0">
                          <a:solidFill>
                            <a:srgbClr val="1F1F1F"/>
                          </a:solidFill>
                        </a:rPr>
                        <a:t>claims &gt; Suno v5/v6 on</a:t>
                      </a:r>
                    </a:p>
                    <a:p>
                      <a:r>
                        <a:rPr sz="1100" b="0">
                          <a:solidFill>
                            <a:srgbClr val="1F1F1F"/>
                          </a:solidFill>
                        </a:rPr>
                        <a:t>WildSongBench; 24 GB</a:t>
                      </a:r>
                    </a:p>
                  </a:txBody>
                  <a:tcPr anchor="ctr" marT="36576" marB="36576">
                    <a:solidFill>
                      <a:srgbClr val="F3F4F8"/>
                    </a:solidFill>
                  </a:tcPr>
                </a:tc>
              </a:tr>
              <a:tr h="426720">
                <a:tc>
                  <a:txBody>
                    <a:bodyPr/>
                    <a:lstStyle/>
                    <a:p>
                      <a:r>
                        <a:rPr sz="1100" b="1">
                          <a:solidFill>
                            <a:srgbClr val="1F1F1F"/>
                          </a:solidFill>
                        </a:rPr>
                        <a:t>MiniMax-Music3 (2B) ·</a:t>
                      </a:r>
                    </a:p>
                    <a:p>
                      <a:r>
                        <a:rPr sz="1100" b="1">
                          <a:solidFill>
                            <a:srgbClr val="1F1F1F"/>
                          </a:solidFill>
                        </a:rPr>
                        <a:t>Stable Audio 3</a:t>
                      </a:r>
                    </a:p>
                  </a:txBody>
                  <a:tcPr anchor="ctr" marT="36576" marB="36576">
                    <a:solidFill>
                      <a:srgbClr val="FFFFFF"/>
                    </a:solidFill>
                  </a:tcPr>
                </a:tc>
                <a:tc>
                  <a:txBody>
                    <a:bodyPr/>
                    <a:lstStyle/>
                    <a:p>
                      <a:r>
                        <a:rPr sz="1100" b="0">
                          <a:solidFill>
                            <a:srgbClr val="1F1F1F"/>
                          </a:solidFill>
                        </a:rPr>
                        <a:t>MiniMax ·</a:t>
                      </a:r>
                    </a:p>
                    <a:p>
                      <a:r>
                        <a:rPr sz="1100" b="0">
                          <a:solidFill>
                            <a:srgbClr val="1F1F1F"/>
                          </a:solidFill>
                        </a:rPr>
                        <a:t>Stability</a:t>
                      </a:r>
                    </a:p>
                  </a:txBody>
                  <a:tcPr anchor="ctr" marT="36576" marB="36576">
                    <a:solidFill>
                      <a:srgbClr val="FFFFFF"/>
                    </a:solidFill>
                  </a:tcPr>
                </a:tc>
                <a:tc>
                  <a:txBody>
                    <a:bodyPr/>
                    <a:lstStyle/>
                    <a:p>
                      <a:r>
                        <a:rPr sz="1100" b="0">
                          <a:solidFill>
                            <a:srgbClr val="1F1F1F"/>
                          </a:solidFill>
                        </a:rPr>
                        <a:t>08-2026</a:t>
                      </a:r>
                    </a:p>
                    <a:p>
                      <a:r>
                        <a:rPr sz="1100" b="0">
                          <a:solidFill>
                            <a:srgbClr val="1F1F1F"/>
                          </a:solidFill>
                        </a:rPr>
                        <a:t>05-21</a:t>
                      </a:r>
                    </a:p>
                  </a:txBody>
                  <a:tcPr anchor="ctr" marT="36576" marB="36576">
                    <a:solidFill>
                      <a:srgbClr val="FFFFFF"/>
                    </a:solidFill>
                  </a:tcPr>
                </a:tc>
                <a:tc>
                  <a:txBody>
                    <a:bodyPr/>
                    <a:lstStyle/>
                    <a:p>
                      <a:r>
                        <a:rPr sz="1100" b="0">
                          <a:solidFill>
                            <a:srgbClr val="1F1F1F"/>
                          </a:solidFill>
                        </a:rPr>
                        <a:t>community (Stable</a:t>
                      </a:r>
                    </a:p>
                    <a:p>
                      <a:r>
                        <a:rPr sz="1100" b="0">
                          <a:solidFill>
                            <a:srgbClr val="1F1F1F"/>
                          </a:solidFill>
                        </a:rPr>
                        <a:t>Audio 3: &lt; $1M)</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r>
              <a:tr h="426720">
                <a:tc>
                  <a:txBody>
                    <a:bodyPr/>
                    <a:lstStyle/>
                    <a:p>
                      <a:r>
                        <a:rPr sz="1100" b="1">
                          <a:solidFill>
                            <a:srgbClr val="1F1F1F"/>
                          </a:solidFill>
                        </a:rPr>
                        <a:t>Wan 2.2 S2V-14B</a:t>
                      </a:r>
                    </a:p>
                  </a:txBody>
                  <a:tcPr anchor="ctr" marT="36576" marB="36576">
                    <a:solidFill>
                      <a:srgbClr val="F3F4F8"/>
                    </a:solidFill>
                  </a:tcPr>
                </a:tc>
                <a:tc>
                  <a:txBody>
                    <a:bodyPr/>
                    <a:lstStyle/>
                    <a:p>
                      <a:r>
                        <a:rPr sz="1100" b="0">
                          <a:solidFill>
                            <a:srgbClr val="1F1F1F"/>
                          </a:solidFill>
                        </a:rPr>
                        <a:t>Alibaba</a:t>
                      </a:r>
                    </a:p>
                  </a:txBody>
                  <a:tcPr anchor="ctr" marT="36576" marB="36576">
                    <a:solidFill>
                      <a:srgbClr val="F3F4F8"/>
                    </a:solidFill>
                  </a:tcPr>
                </a:tc>
                <a:tc>
                  <a:txBody>
                    <a:bodyPr/>
                    <a:lstStyle/>
                    <a:p>
                      <a:r>
                        <a:rPr sz="1100" b="0">
                          <a:solidFill>
                            <a:srgbClr val="1F1F1F"/>
                          </a:solidFill>
                        </a:rPr>
                        <a:t>07-2025 →</a:t>
                      </a:r>
                    </a:p>
                    <a:p>
                      <a:r>
                        <a:rPr sz="1100" b="0">
                          <a:solidFill>
                            <a:srgbClr val="1F1F1F"/>
                          </a:solidFill>
                        </a:rPr>
                        <a:t>07-2026</a:t>
                      </a:r>
                    </a:p>
                  </a:txBody>
                  <a:tcPr anchor="ctr" marT="36576" marB="36576">
                    <a:solidFill>
                      <a:srgbClr val="F3F4F8"/>
                    </a:solidFill>
                  </a:tcPr>
                </a:tc>
                <a:tc>
                  <a:txBody>
                    <a:bodyPr/>
                    <a:lstStyle/>
                    <a:p>
                      <a:r>
                        <a:rPr sz="1100" b="0">
                          <a:solidFill>
                            <a:srgbClr val="1F1F1F"/>
                          </a:solidFill>
                        </a:rPr>
                        <a:t>Apache-2.0</a:t>
                      </a:r>
                    </a:p>
                  </a:txBody>
                  <a:tcPr anchor="ctr" marT="36576" marB="36576">
                    <a:solidFill>
                      <a:srgbClr val="F3F4F8"/>
                    </a:solidFill>
                  </a:tcPr>
                </a:tc>
                <a:tc>
                  <a:txBody>
                    <a:bodyPr/>
                    <a:lstStyle/>
                    <a:p>
                      <a:r>
                        <a:rPr sz="1100" b="0">
                          <a:solidFill>
                            <a:srgbClr val="1F1F1F"/>
                          </a:solidFill>
                        </a:rPr>
                        <a:t>image + audio → singing</a:t>
                      </a:r>
                    </a:p>
                    <a:p>
                      <a:r>
                        <a:rPr sz="1100" b="0">
                          <a:solidFill>
                            <a:srgbClr val="1F1F1F"/>
                          </a:solidFill>
                        </a:rPr>
                        <a:t>avatar (lipsync)</a:t>
                      </a:r>
                    </a:p>
                  </a:txBody>
                  <a:tcPr anchor="ctr" marT="36576" marB="36576">
                    <a:solidFill>
                      <a:srgbClr val="F3F4F8"/>
                    </a:solidFill>
                  </a:tcPr>
                </a:tc>
              </a:tr>
              <a:tr h="426720">
                <a:tc>
                  <a:txBody>
                    <a:bodyPr/>
                    <a:lstStyle/>
                    <a:p>
                      <a:r>
                        <a:rPr sz="1100" b="1">
                          <a:solidFill>
                            <a:srgbClr val="1F1F1F"/>
                          </a:solidFill>
                        </a:rPr>
                        <a:t>Suno v6 / v6-wild / v6-mini</a:t>
                      </a:r>
                    </a:p>
                  </a:txBody>
                  <a:tcPr anchor="ctr" marT="36576" marB="36576">
                    <a:solidFill>
                      <a:srgbClr val="FFFFFF"/>
                    </a:solidFill>
                  </a:tcPr>
                </a:tc>
                <a:tc>
                  <a:txBody>
                    <a:bodyPr/>
                    <a:lstStyle/>
                    <a:p>
                      <a:r>
                        <a:rPr sz="1100" b="0">
                          <a:solidFill>
                            <a:srgbClr val="1F1F1F"/>
                          </a:solidFill>
                        </a:rPr>
                        <a:t>Suno</a:t>
                      </a:r>
                    </a:p>
                  </a:txBody>
                  <a:tcPr anchor="ctr" marT="36576" marB="36576">
                    <a:solidFill>
                      <a:srgbClr val="FFFFFF"/>
                    </a:solidFill>
                  </a:tcPr>
                </a:tc>
                <a:tc>
                  <a:txBody>
                    <a:bodyPr/>
                    <a:lstStyle/>
                    <a:p>
                      <a:r>
                        <a:rPr sz="1100" b="0">
                          <a:solidFill>
                            <a:srgbClr val="1F1F1F"/>
                          </a:solidFill>
                        </a:rPr>
                        <a:t>09-09</a:t>
                      </a:r>
                    </a:p>
                  </a:txBody>
                  <a:tcPr anchor="ctr" marT="36576" marB="36576">
                    <a:solidFill>
                      <a:srgbClr val="FFFFFF"/>
                    </a:solidFill>
                  </a:tcPr>
                </a:tc>
                <a:tc>
                  <a:txBody>
                    <a:bodyPr/>
                    <a:lstStyle/>
                    <a:p>
                      <a:r>
                        <a:rPr sz="1100" b="0">
                          <a:solidFill>
                            <a:srgbClr val="1F1F1F"/>
                          </a:solidFill>
                        </a:rPr>
                        <a:t>closed: licensed</a:t>
                      </a:r>
                    </a:p>
                    <a:p>
                      <a:r>
                        <a:rPr sz="1100" b="0">
                          <a:solidFill>
                            <a:srgbClr val="1F1F1F"/>
                          </a:solidFill>
                        </a:rPr>
                        <a:t>catalogue only</a:t>
                      </a:r>
                    </a:p>
                  </a:txBody>
                  <a:tcPr anchor="ctr" marT="36576" marB="36576">
                    <a:solidFill>
                      <a:srgbClr val="FFFFFF"/>
                    </a:solidFill>
                  </a:tcPr>
                </a:tc>
                <a:tc>
                  <a:txBody>
                    <a:bodyPr/>
                    <a:lstStyle/>
                    <a:p>
                      <a:r>
                        <a:rPr sz="1100" b="0">
                          <a:solidFill>
                            <a:srgbClr val="1F1F1F"/>
                          </a:solidFill>
                        </a:rPr>
                        <a:t>v4–5.5 retired;</a:t>
                      </a:r>
                    </a:p>
                    <a:p>
                      <a:r>
                        <a:rPr sz="1100" b="0">
                          <a:solidFill>
                            <a:srgbClr val="1F1F1F"/>
                          </a:solidFill>
                        </a:rPr>
                        <a:t>download caps</a:t>
                      </a:r>
                    </a:p>
                  </a:txBody>
                  <a:tcPr anchor="ctr" marT="36576" marB="36576">
                    <a:solidFill>
                      <a:srgbClr val="FFFFFF"/>
                    </a:solidFill>
                  </a:tcPr>
                </a:tc>
              </a:tr>
              <a:tr h="426720">
                <a:tc>
                  <a:txBody>
                    <a:bodyPr/>
                    <a:lstStyle/>
                    <a:p>
                      <a:r>
                        <a:rPr sz="1100" b="1">
                          <a:solidFill>
                            <a:srgbClr val="1F1F1F"/>
                          </a:solidFill>
                        </a:rPr>
                        <a:t>Udio · Lyria 3.5 ·</a:t>
                      </a:r>
                    </a:p>
                    <a:p>
                      <a:r>
                        <a:rPr sz="1100" b="1">
                          <a:solidFill>
                            <a:srgbClr val="1F1F1F"/>
                          </a:solidFill>
                        </a:rPr>
                        <a:t>ElevenLabs Music 2.5</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closed</a:t>
                      </a:r>
                    </a:p>
                  </a:txBody>
                  <a:tcPr anchor="ctr" marT="36576" marB="36576">
                    <a:solidFill>
                      <a:srgbClr val="F3F4F8"/>
                    </a:solidFill>
                  </a:tcPr>
                </a:tc>
                <a:tc>
                  <a:txBody>
                    <a:bodyPr/>
                    <a:lstStyle/>
                    <a:p>
                      <a:r>
                        <a:rPr sz="1100" b="0">
                          <a:solidFill>
                            <a:srgbClr val="1F1F1F"/>
                          </a:solidFill>
                        </a:rPr>
                        <a:t>Udio: walled garden</a:t>
                      </a:r>
                    </a:p>
                  </a:txBody>
                  <a:tcPr anchor="ctr" marT="36576" marB="36576">
                    <a:solidFill>
                      <a:srgbClr val="F3F4F8"/>
                    </a:solidFill>
                  </a:tcPr>
                </a:tc>
              </a:tr>
            </a:tbl>
          </a:graphicData>
        </a:graphic>
      </p:graphicFrame>
      <p:sp>
        <p:nvSpPr>
          <p:cNvPr id="5" name="Oval 4"/>
          <p:cNvSpPr/>
          <p:nvPr/>
        </p:nvSpPr>
        <p:spPr>
          <a:xfrm>
            <a:off x="612647" y="187909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38963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81635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24307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66979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09651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454304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520184"/>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4543044"/>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4520184"/>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4431284" y="454304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3308" y="4520184"/>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7193788" y="4520184"/>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segment’s closer is row 1: Lab 1 code writes the lyrics, ACE-Step 1.5 sings them.</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(checked 2026-09-21) · Model catalog §8 (checked 2026-09-21) · Model catalog §11 (checked 2026-09-21)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3D and world models — one slide, two warnings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4983480" cy="2450592"/>
        </p:xfrm>
        <a:graphic>
          <a:graphicData uri="http://schemas.openxmlformats.org/drawingml/2006/table">
            <a:tbl>
              <a:tblPr firstRow="1" bandRow="1">
                <a:tableStyleId>{5C22544A-7EE6-4342-B048-85BDC9FD1C3A}</a:tableStyleId>
              </a:tblPr>
              <a:tblGrid>
                <a:gridCol w="2103120"/>
                <a:gridCol w="1691640"/>
                <a:gridCol w="1188720"/>
              </a:tblGrid>
              <a:tr h="292608">
                <a:tc>
                  <a:txBody>
                    <a:bodyPr/>
                    <a:lstStyle/>
                    <a:p>
                      <a:r>
                        <a:rPr sz="1100" b="1">
                          <a:solidFill>
                            <a:srgbClr val="FFFFFF"/>
                          </a:solidFill>
                        </a:rPr>
                        <a:t>3D / world</a:t>
                      </a:r>
                    </a:p>
                  </a:txBody>
                  <a:tcPr anchor="ctr" marT="36576" marB="36576">
                    <a:solidFill>
                      <a:srgbClr val="2A446F"/>
                    </a:solidFill>
                  </a:tcPr>
                </a:tc>
                <a:tc>
                  <a:txBody>
                    <a:bodyPr/>
                    <a:lstStyle/>
                    <a:p>
                      <a:r>
                        <a:rPr sz="1100" b="1">
                          <a:solidFill>
                            <a:srgbClr val="FFFFFF"/>
                          </a:solidFill>
                        </a:rPr>
                        <a:t>Licence</a:t>
                      </a:r>
                    </a:p>
                  </a:txBody>
                  <a:tcPr anchor="ctr" marT="36576" marB="36576">
                    <a:solidFill>
                      <a:srgbClr val="2A446F"/>
                    </a:solidFill>
                  </a:tcPr>
                </a:tc>
                <a:tc>
                  <a:txBody>
                    <a:bodyPr/>
                    <a:lstStyle/>
                    <a:p>
                      <a:r>
                        <a:rPr sz="1100" b="1">
                          <a:solidFill>
                            <a:srgbClr val="FFFFFF"/>
                          </a:solidFill>
                        </a:rPr>
                        <a:t>Note</a:t>
                      </a:r>
                    </a:p>
                  </a:txBody>
                  <a:tcPr anchor="ctr" marT="36576" marB="36576">
                    <a:solidFill>
                      <a:srgbClr val="2A446F"/>
                    </a:solidFill>
                  </a:tcPr>
                </a:tc>
              </a:tr>
              <a:tr h="426720">
                <a:tc>
                  <a:txBody>
                    <a:bodyPr/>
                    <a:lstStyle/>
                    <a:p>
                      <a:r>
                        <a:rPr sz="1100" b="1">
                          <a:solidFill>
                            <a:srgbClr val="1F1F1F"/>
                          </a:solidFill>
                        </a:rPr>
                        <a:t>Hunyuan3D 2.1</a:t>
                      </a:r>
                    </a:p>
                    <a:p>
                      <a:r>
                        <a:rPr sz="1100" b="1">
                          <a:solidFill>
                            <a:srgbClr val="1F1F1F"/>
                          </a:solidFill>
                        </a:rPr>
                        <a:t>(+ Omni, Part)</a:t>
                      </a:r>
                    </a:p>
                  </a:txBody>
                  <a:tcPr anchor="ctr" marT="36576" marB="36576">
                    <a:solidFill>
                      <a:srgbClr val="FFFFFF"/>
                    </a:solidFill>
                  </a:tcPr>
                </a:tc>
                <a:tc>
                  <a:txBody>
                    <a:bodyPr/>
                    <a:lstStyle/>
                    <a:p>
                      <a:r>
                        <a:rPr sz="1100" b="0">
                          <a:solidFill>
                            <a:srgbClr val="1F1F1F"/>
                          </a:solidFill>
                        </a:rPr>
                        <a:t>community: excludes</a:t>
                      </a:r>
                    </a:p>
                    <a:p>
                      <a:r>
                        <a:rPr sz="1100" b="0">
                          <a:solidFill>
                            <a:srgbClr val="1F1F1F"/>
                          </a:solidFill>
                        </a:rPr>
                        <a:t>EU, UK, South Korea</a:t>
                      </a:r>
                    </a:p>
                  </a:txBody>
                  <a:tcPr anchor="ctr" marT="36576" marB="36576">
                    <a:solidFill>
                      <a:srgbClr val="FFFFFF"/>
                    </a:solidFill>
                  </a:tcPr>
                </a:tc>
                <a:tc>
                  <a:txBody>
                    <a:bodyPr/>
                    <a:lstStyle/>
                    <a:p>
                      <a:r>
                        <a:rPr sz="1100" b="0">
                          <a:solidFill>
                            <a:srgbClr val="1F1F1F"/>
                          </a:solidFill>
                        </a:rPr>
                        <a:t>3.0 / 3.1</a:t>
                      </a:r>
                    </a:p>
                    <a:p>
                      <a:r>
                        <a:rPr sz="1100" b="0">
                          <a:solidFill>
                            <a:srgbClr val="1F1F1F"/>
                          </a:solidFill>
                        </a:rPr>
                        <a:t>hosted-only</a:t>
                      </a:r>
                    </a:p>
                  </a:txBody>
                  <a:tcPr anchor="ctr" marT="36576" marB="36576">
                    <a:solidFill>
                      <a:srgbClr val="FFFFFF"/>
                    </a:solidFill>
                  </a:tcPr>
                </a:tc>
              </a:tr>
              <a:tr h="292608">
                <a:tc>
                  <a:txBody>
                    <a:bodyPr/>
                    <a:lstStyle/>
                    <a:p>
                      <a:r>
                        <a:rPr sz="1100" b="1">
                          <a:solidFill>
                            <a:srgbClr val="1F1F1F"/>
                          </a:solidFill>
                        </a:rPr>
                        <a:t>TRELLIS.2-4B</a:t>
                      </a:r>
                    </a:p>
                  </a:txBody>
                  <a:tcPr anchor="ctr" marT="36576" marB="36576">
                    <a:solidFill>
                      <a:srgbClr val="F3F4F8"/>
                    </a:solidFill>
                  </a:tcPr>
                </a:tc>
                <a:tc>
                  <a:txBody>
                    <a:bodyPr/>
                    <a:lstStyle/>
                    <a:p>
                      <a:r>
                        <a:rPr sz="1100" b="0">
                          <a:solidFill>
                            <a:srgbClr val="1F1F1F"/>
                          </a:solidFill>
                        </a:rPr>
                        <a:t>MIT</a:t>
                      </a:r>
                    </a:p>
                  </a:txBody>
                  <a:tcPr anchor="ctr" marT="36576" marB="36576">
                    <a:solidFill>
                      <a:srgbClr val="F3F4F8"/>
                    </a:solidFill>
                  </a:tcPr>
                </a:tc>
                <a:tc>
                  <a:txBody>
                    <a:bodyPr/>
                    <a:lstStyle/>
                    <a:p>
                      <a:r>
                        <a:rPr sz="1100" b="0">
                          <a:solidFill>
                            <a:srgbClr val="1F1F1F"/>
                          </a:solidFill>
                        </a:rPr>
                        <a:t>safe pick</a:t>
                      </a:r>
                    </a:p>
                  </a:txBody>
                  <a:tcPr anchor="ctr" marT="36576" marB="36576">
                    <a:solidFill>
                      <a:srgbClr val="F3F4F8"/>
                    </a:solidFill>
                  </a:tcPr>
                </a:tc>
              </a:tr>
              <a:tr h="292608">
                <a:tc>
                  <a:txBody>
                    <a:bodyPr/>
                    <a:lstStyle/>
                    <a:p>
                      <a:r>
                        <a:rPr sz="1100" b="1">
                          <a:solidFill>
                            <a:srgbClr val="1F1F1F"/>
                          </a:solidFill>
                        </a:rPr>
                        <a:t>TripoSG · TripoSplat</a:t>
                      </a:r>
                    </a:p>
                  </a:txBody>
                  <a:tcPr anchor="ctr" marT="36576" marB="36576">
                    <a:solidFill>
                      <a:srgbClr val="FFFFFF"/>
                    </a:solidFill>
                  </a:tcPr>
                </a:tc>
                <a:tc>
                  <a:txBody>
                    <a:bodyPr/>
                    <a:lstStyle/>
                    <a:p>
                      <a:r>
                        <a:rPr sz="1100" b="0">
                          <a:solidFill>
                            <a:srgbClr val="1F1F1F"/>
                          </a:solidFill>
                        </a:rPr>
                        <a:t>MIT</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r>
              <a:tr h="292608">
                <a:tc>
                  <a:txBody>
                    <a:bodyPr/>
                    <a:lstStyle/>
                    <a:p>
                      <a:r>
                        <a:rPr sz="1100" b="1">
                          <a:solidFill>
                            <a:srgbClr val="1F1F1F"/>
                          </a:solidFill>
                        </a:rPr>
                        <a:t>Matrix-Game 3.0</a:t>
                      </a:r>
                    </a:p>
                  </a:txBody>
                  <a:tcPr anchor="ctr" marT="36576" marB="36576">
                    <a:solidFill>
                      <a:srgbClr val="F3F4F8"/>
                    </a:solidFill>
                  </a:tcPr>
                </a:tc>
                <a:tc>
                  <a:txBody>
                    <a:bodyPr/>
                    <a:lstStyle/>
                    <a:p>
                      <a:r>
                        <a:rPr sz="1100" b="0">
                          <a:solidFill>
                            <a:srgbClr val="1F1F1F"/>
                          </a:solidFill>
                        </a:rPr>
                        <a:t>Apache</a:t>
                      </a:r>
                    </a:p>
                  </a:txBody>
                  <a:tcPr anchor="ctr" marT="36576" marB="36576">
                    <a:solidFill>
                      <a:srgbClr val="F3F4F8"/>
                    </a:solidFill>
                  </a:tcPr>
                </a:tc>
                <a:tc>
                  <a:txBody>
                    <a:bodyPr/>
                    <a:lstStyle/>
                    <a:p>
                      <a:r>
                        <a:rPr sz="1100" b="0">
                          <a:solidFill>
                            <a:srgbClr val="1F1F1F"/>
                          </a:solidFill>
                        </a:rPr>
                        <a:t>world model</a:t>
                      </a:r>
                    </a:p>
                  </a:txBody>
                  <a:tcPr anchor="ctr" marT="36576" marB="36576">
                    <a:solidFill>
                      <a:srgbClr val="F3F4F8"/>
                    </a:solidFill>
                  </a:tcPr>
                </a:tc>
              </a:tr>
              <a:tr h="426720">
                <a:tc>
                  <a:txBody>
                    <a:bodyPr/>
                    <a:lstStyle/>
                    <a:p>
                      <a:r>
                        <a:rPr sz="1100" b="1">
                          <a:solidFill>
                            <a:srgbClr val="1F1F1F"/>
                          </a:solidFill>
                        </a:rPr>
                        <a:t>HY-World 2.0 ·</a:t>
                      </a:r>
                    </a:p>
                    <a:p>
                      <a:r>
                        <a:rPr sz="1100" b="1">
                          <a:solidFill>
                            <a:srgbClr val="1F1F1F"/>
                          </a:solidFill>
                        </a:rPr>
                        <a:t>H3-World</a:t>
                      </a:r>
                    </a:p>
                  </a:txBody>
                  <a:tcPr anchor="ctr" marT="36576" marB="36576">
                    <a:solidFill>
                      <a:srgbClr val="FFFFFF"/>
                    </a:solidFill>
                  </a:tcPr>
                </a:tc>
                <a:tc>
                  <a:txBody>
                    <a:bodyPr/>
                    <a:lstStyle/>
                    <a:p>
                      <a:r>
                        <a:rPr sz="1100" b="0">
                          <a:solidFill>
                            <a:srgbClr val="1F1F1F"/>
                          </a:solidFill>
                        </a:rPr>
                        <a:t>community ·</a:t>
                      </a:r>
                    </a:p>
                    <a:p>
                      <a:r>
                        <a:rPr sz="1100" b="0">
                          <a:solidFill>
                            <a:srgbClr val="1F1F1F"/>
                          </a:solidFill>
                        </a:rPr>
                        <a:t>H3 licence applies</a:t>
                      </a:r>
                    </a:p>
                  </a:txBody>
                  <a:tcPr anchor="ctr" marT="36576" marB="36576">
                    <a:solidFill>
                      <a:srgbClr val="FFFFFF"/>
                    </a:solidFill>
                  </a:tcPr>
                </a:tc>
                <a:tc>
                  <a:txBody>
                    <a:bodyPr/>
                    <a:lstStyle/>
                    <a:p>
                      <a:r>
                        <a:rPr sz="1100" b="0">
                          <a:solidFill>
                            <a:srgbClr val="1F1F1F"/>
                          </a:solidFill>
                        </a:rPr>
                        <a:t>world models</a:t>
                      </a:r>
                    </a:p>
                  </a:txBody>
                  <a:tcPr anchor="ctr" marT="36576" marB="36576">
                    <a:solidFill>
                      <a:srgbClr val="FFFFFF"/>
                    </a:solidFill>
                  </a:tcPr>
                </a:tc>
              </a:tr>
              <a:tr h="426720">
                <a:tc>
                  <a:txBody>
                    <a:bodyPr/>
                    <a:lstStyle/>
                    <a:p>
                      <a:r>
                        <a:rPr sz="1100" b="1">
                          <a:solidFill>
                            <a:srgbClr val="1F1F1F"/>
                          </a:solidFill>
                        </a:rPr>
                        <a:t>Project Genie · Oasis 3</a:t>
                      </a:r>
                    </a:p>
                    <a:p>
                      <a:r>
                        <a:rPr sz="1100" b="1">
                          <a:solidFill>
                            <a:srgbClr val="1F1F1F"/>
                          </a:solidFill>
                        </a:rPr>
                        <a:t>Atlas · GWM Worlds 2</a:t>
                      </a:r>
                    </a:p>
                  </a:txBody>
                  <a:tcPr anchor="ctr" marT="36576" marB="36576">
                    <a:solidFill>
                      <a:srgbClr val="F3F4F8"/>
                    </a:solidFill>
                  </a:tcPr>
                </a:tc>
                <a:tc>
                  <a:txBody>
                    <a:bodyPr/>
                    <a:lstStyle/>
                    <a:p>
                      <a:r>
                        <a:rPr sz="1100" b="0">
                          <a:solidFill>
                            <a:srgbClr val="1F1F1F"/>
                          </a:solidFill>
                        </a:rPr>
                        <a:t>subscription · API</a:t>
                      </a:r>
                    </a:p>
                    <a:p>
                      <a:r>
                        <a:rPr sz="1100" b="0">
                          <a:solidFill>
                            <a:srgbClr val="1F1F1F"/>
                          </a:solidFill>
                        </a:rPr>
                        <a:t>· closed · preview</a:t>
                      </a:r>
                    </a:p>
                  </a:txBody>
                  <a:tcPr anchor="ctr" marT="36576" marB="36576">
                    <a:solidFill>
                      <a:srgbClr val="F3F4F8"/>
                    </a:solidFill>
                  </a:tcPr>
                </a:tc>
                <a:tc>
                  <a:txBody>
                    <a:bodyPr/>
                    <a:lstStyle/>
                    <a:p>
                      <a:r>
                        <a:rPr sz="1100" b="0">
                          <a:solidFill>
                            <a:srgbClr val="1F1F1F"/>
                          </a:solidFill>
                        </a:rPr>
                        <a:t>world models</a:t>
                      </a:r>
                    </a:p>
                  </a:txBody>
                  <a:tcPr anchor="ctr" marT="36576" marB="36576">
                    <a:solidFill>
                      <a:srgbClr val="F3F4F8"/>
                    </a:solidFill>
                  </a:tcPr>
                </a:tc>
              </a:tr>
            </a:tbl>
          </a:graphicData>
        </a:graphic>
      </p:graphicFrame>
      <p:sp>
        <p:nvSpPr>
          <p:cNvPr id="5" name="Oval 4"/>
          <p:cNvSpPr/>
          <p:nvPr/>
        </p:nvSpPr>
        <p:spPr>
          <a:xfrm>
            <a:off x="612647" y="1795271"/>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54936"/>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44754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274015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099815"/>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526536"/>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3973068"/>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50207"/>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3973068"/>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3950207"/>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585216" y="421995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97096"/>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6400800" y="1389888"/>
            <a:ext cx="3840479" cy="274320"/>
          </a:xfrm>
          <a:prstGeom prst="rect">
            <a:avLst/>
          </a:prstGeom>
          <a:noFill/>
        </p:spPr>
        <p:txBody>
          <a:bodyPr wrap="square" lIns="0" rIns="0" tIns="0" bIns="0" anchor="t">
            <a:spAutoFit/>
          </a:bodyPr>
          <a:lstStyle/>
          <a:p>
            <a:pPr algn="l">
              <a:spcAft>
                <a:spcPts val="0"/>
              </a:spcAft>
            </a:pPr>
            <a:r>
              <a:rPr sz="1200" b="1" i="0">
                <a:solidFill>
                  <a:srgbClr val="E86A10"/>
                </a:solidFill>
              </a:rPr>
              <a:t>VIDEO MODEL — one fixed clip</a:t>
            </a:r>
          </a:p>
        </p:txBody>
      </p:sp>
      <p:sp>
        <p:nvSpPr>
          <p:cNvPr id="19" name="Rounded Rectangle 18"/>
          <p:cNvSpPr/>
          <p:nvPr/>
        </p:nvSpPr>
        <p:spPr>
          <a:xfrm>
            <a:off x="6400800" y="1719072"/>
            <a:ext cx="1097279"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p:txBody>
      </p:sp>
      <p:cxnSp>
        <p:nvCxnSpPr>
          <p:cNvPr id="20" name="Connector 19"/>
          <p:cNvCxnSpPr/>
          <p:nvPr/>
        </p:nvCxnSpPr>
        <p:spPr>
          <a:xfrm>
            <a:off x="7534655" y="1984248"/>
            <a:ext cx="20116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0" y="1719072"/>
            <a:ext cx="1097279" cy="53035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model</a:t>
            </a:r>
          </a:p>
        </p:txBody>
      </p:sp>
      <p:cxnSp>
        <p:nvCxnSpPr>
          <p:cNvPr id="22" name="Connector 21"/>
          <p:cNvCxnSpPr/>
          <p:nvPr/>
        </p:nvCxnSpPr>
        <p:spPr>
          <a:xfrm>
            <a:off x="8906255" y="1984248"/>
            <a:ext cx="20116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144000" y="1719072"/>
            <a:ext cx="1097279"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clip (fixed)</a:t>
            </a:r>
          </a:p>
        </p:txBody>
      </p:sp>
      <p:sp>
        <p:nvSpPr>
          <p:cNvPr id="24" name="TextBox 23"/>
          <p:cNvSpPr txBox="1"/>
          <p:nvPr/>
        </p:nvSpPr>
        <p:spPr>
          <a:xfrm>
            <a:off x="6400800" y="2542032"/>
            <a:ext cx="3840479" cy="274320"/>
          </a:xfrm>
          <a:prstGeom prst="rect">
            <a:avLst/>
          </a:prstGeom>
          <a:noFill/>
        </p:spPr>
        <p:txBody>
          <a:bodyPr wrap="square" lIns="0" rIns="0" tIns="0" bIns="0" anchor="t">
            <a:spAutoFit/>
          </a:bodyPr>
          <a:lstStyle/>
          <a:p>
            <a:pPr algn="l">
              <a:spcAft>
                <a:spcPts val="0"/>
              </a:spcAft>
            </a:pPr>
            <a:r>
              <a:rPr sz="1200" b="1" i="0">
                <a:solidFill>
                  <a:srgbClr val="0078D4"/>
                </a:solidFill>
              </a:rPr>
              <a:t>WORLD MODEL — interactive, stateful</a:t>
            </a:r>
          </a:p>
        </p:txBody>
      </p:sp>
      <p:sp>
        <p:nvSpPr>
          <p:cNvPr id="25" name="Rounded Rectangle 24"/>
          <p:cNvSpPr/>
          <p:nvPr/>
        </p:nvSpPr>
        <p:spPr>
          <a:xfrm>
            <a:off x="6400800" y="2871216"/>
            <a:ext cx="781811"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state</a:t>
            </a:r>
          </a:p>
        </p:txBody>
      </p:sp>
      <p:cxnSp>
        <p:nvCxnSpPr>
          <p:cNvPr id="26" name="Connector 25"/>
          <p:cNvCxnSpPr/>
          <p:nvPr/>
        </p:nvCxnSpPr>
        <p:spPr>
          <a:xfrm>
            <a:off x="7219188" y="3136392"/>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420356" y="2871216"/>
            <a:ext cx="781811"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 action</a:t>
            </a:r>
          </a:p>
        </p:txBody>
      </p:sp>
      <p:cxnSp>
        <p:nvCxnSpPr>
          <p:cNvPr id="28" name="Connector 27"/>
          <p:cNvCxnSpPr/>
          <p:nvPr/>
        </p:nvCxnSpPr>
        <p:spPr>
          <a:xfrm>
            <a:off x="8238744" y="3136392"/>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439912" y="2871216"/>
            <a:ext cx="781811" cy="53035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model</a:t>
            </a:r>
          </a:p>
        </p:txBody>
      </p:sp>
      <p:cxnSp>
        <p:nvCxnSpPr>
          <p:cNvPr id="30" name="Connector 29"/>
          <p:cNvCxnSpPr/>
          <p:nvPr/>
        </p:nvCxnSpPr>
        <p:spPr>
          <a:xfrm>
            <a:off x="9258300" y="3136392"/>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59467" y="2871216"/>
            <a:ext cx="781811"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next frame</a:t>
            </a:r>
          </a:p>
        </p:txBody>
      </p:sp>
      <p:cxnSp>
        <p:nvCxnSpPr>
          <p:cNvPr id="32" name="Connector 31"/>
          <p:cNvCxnSpPr/>
          <p:nvPr/>
        </p:nvCxnSpPr>
        <p:spPr>
          <a:xfrm>
            <a:off x="9850374" y="3401568"/>
            <a:ext cx="0" cy="301752"/>
          </a:xfrm>
          <a:prstGeom prst="line">
            <a:avLst/>
          </a:prstGeom>
          <a:ln w="22225">
            <a:solidFill>
              <a:srgbClr val="0078D4"/>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791706" y="3703320"/>
            <a:ext cx="3058668" cy="0"/>
          </a:xfrm>
          <a:prstGeom prst="line">
            <a:avLst/>
          </a:prstGeom>
          <a:ln w="22225">
            <a:solidFill>
              <a:srgbClr val="0078D4"/>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791706" y="3419856"/>
            <a:ext cx="0" cy="283464"/>
          </a:xfrm>
          <a:prstGeom prst="line">
            <a:avLst/>
          </a:prstGeom>
          <a:ln w="22225">
            <a:solidFill>
              <a:srgbClr val="0078D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0" y="3776472"/>
            <a:ext cx="3840479" cy="274320"/>
          </a:xfrm>
          <a:prstGeom prst="rect">
            <a:avLst/>
          </a:prstGeom>
          <a:noFill/>
        </p:spPr>
        <p:txBody>
          <a:bodyPr wrap="square" lIns="0" rIns="0" tIns="0" bIns="0" anchor="t">
            <a:spAutoFit/>
          </a:bodyPr>
          <a:lstStyle/>
          <a:p>
            <a:pPr algn="ctr">
              <a:spcAft>
                <a:spcPts val="0"/>
              </a:spcAft>
            </a:pPr>
            <a:r>
              <a:rPr sz="1100" b="0" i="1">
                <a:solidFill>
                  <a:srgbClr val="6B6B6B"/>
                </a:solidFill>
              </a:rPr>
              <a:t>every frame becomes the new state — a playable simulator</a:t>
            </a:r>
          </a:p>
        </p:txBody>
      </p:sp>
      <p:sp>
        <p:nvSpPr>
          <p:cNvPr id="36" name="Rounded Rectangle 35"/>
          <p:cNvSpPr/>
          <p:nvPr/>
        </p:nvSpPr>
        <p:spPr>
          <a:xfrm>
            <a:off x="585216" y="4553712"/>
            <a:ext cx="4736592" cy="96012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85216" y="4663440"/>
            <a:ext cx="64008" cy="740664"/>
          </a:xfrm>
          <a:prstGeom prst="rect">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13816" y="4645152"/>
            <a:ext cx="4370831" cy="274320"/>
          </a:xfrm>
          <a:prstGeom prst="rect">
            <a:avLst/>
          </a:prstGeom>
          <a:noFill/>
        </p:spPr>
        <p:txBody>
          <a:bodyPr wrap="square" lIns="0" rIns="0" tIns="0" bIns="0" anchor="t">
            <a:spAutoFit/>
          </a:bodyPr>
          <a:lstStyle/>
          <a:p>
            <a:pPr algn="l">
              <a:spcAft>
                <a:spcPts val="0"/>
              </a:spcAft>
            </a:pPr>
            <a:r>
              <a:rPr sz="1200" b="1" i="0">
                <a:solidFill>
                  <a:srgbClr val="C52B2B"/>
                </a:solidFill>
              </a:rPr>
              <a:t>WARNING 1 — 3D</a:t>
            </a:r>
          </a:p>
        </p:txBody>
      </p:sp>
      <p:sp>
        <p:nvSpPr>
          <p:cNvPr id="39" name="TextBox 38"/>
          <p:cNvSpPr txBox="1"/>
          <p:nvPr/>
        </p:nvSpPr>
        <p:spPr>
          <a:xfrm>
            <a:off x="813816" y="4937760"/>
            <a:ext cx="4370831" cy="502920"/>
          </a:xfrm>
          <a:prstGeom prst="rect">
            <a:avLst/>
          </a:prstGeom>
          <a:noFill/>
        </p:spPr>
        <p:txBody>
          <a:bodyPr wrap="square" lIns="0" rIns="0" tIns="0" bIns="0" anchor="t">
            <a:spAutoFit/>
          </a:bodyPr>
          <a:lstStyle/>
          <a:p>
            <a:pPr algn="l">
              <a:spcAft>
                <a:spcPts val="0"/>
              </a:spcAft>
            </a:pPr>
            <a:r>
              <a:rPr sz="1100" b="0" i="0">
                <a:solidFill>
                  <a:srgbClr val="1F1F1F"/>
                </a:solidFill>
              </a:rPr>
              <a:t>Hunyuan3D’s licence excludes the EU, the UK and South Korea: use TRELLIS.2 (MIT).</a:t>
            </a:r>
          </a:p>
        </p:txBody>
      </p:sp>
      <p:sp>
        <p:nvSpPr>
          <p:cNvPr id="40" name="Rounded Rectangle 39"/>
          <p:cNvSpPr/>
          <p:nvPr/>
        </p:nvSpPr>
        <p:spPr>
          <a:xfrm>
            <a:off x="5504688" y="4553712"/>
            <a:ext cx="4736592" cy="96012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504688" y="4663440"/>
            <a:ext cx="64008" cy="740664"/>
          </a:xfrm>
          <a:prstGeom prst="rect">
            <a:avLst/>
          </a:prstGeom>
          <a:solidFill>
            <a:srgbClr val="A8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733288" y="4645152"/>
            <a:ext cx="4370831" cy="274320"/>
          </a:xfrm>
          <a:prstGeom prst="rect">
            <a:avLst/>
          </a:prstGeom>
          <a:noFill/>
        </p:spPr>
        <p:txBody>
          <a:bodyPr wrap="square" lIns="0" rIns="0" tIns="0" bIns="0" anchor="t">
            <a:spAutoFit/>
          </a:bodyPr>
          <a:lstStyle/>
          <a:p>
            <a:pPr algn="l">
              <a:spcAft>
                <a:spcPts val="0"/>
              </a:spcAft>
            </a:pPr>
            <a:r>
              <a:rPr sz="1200" b="1" i="0">
                <a:solidFill>
                  <a:srgbClr val="A86200"/>
                </a:solidFill>
              </a:rPr>
              <a:t>WARNING 2 — world models</a:t>
            </a:r>
          </a:p>
        </p:txBody>
      </p:sp>
      <p:sp>
        <p:nvSpPr>
          <p:cNvPr id="43" name="TextBox 42"/>
          <p:cNvSpPr txBox="1"/>
          <p:nvPr/>
        </p:nvSpPr>
        <p:spPr>
          <a:xfrm>
            <a:off x="5733288" y="4937760"/>
            <a:ext cx="4370831" cy="502920"/>
          </a:xfrm>
          <a:prstGeom prst="rect">
            <a:avLst/>
          </a:prstGeom>
          <a:noFill/>
        </p:spPr>
        <p:txBody>
          <a:bodyPr wrap="square" lIns="0" rIns="0" tIns="0" bIns="0" anchor="t">
            <a:spAutoFit/>
          </a:bodyPr>
          <a:lstStyle/>
          <a:p>
            <a:pPr algn="l">
              <a:spcAft>
                <a:spcPts val="0"/>
              </a:spcAft>
            </a:pPr>
            <a:r>
              <a:rPr sz="1100" b="0" i="0">
                <a:solidFill>
                  <a:srgbClr val="1F1F1F"/>
                </a:solidFill>
              </a:rPr>
              <a:t>Mostly subscription, API or preview — and H3-World inherits H3’s region exclusions.</a:t>
            </a:r>
          </a:p>
        </p:txBody>
      </p:sp>
      <p:sp>
        <p:nvSpPr>
          <p:cNvPr id="44" name="TextBox 4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§9 (checked 2026-09-21) · Model catalog §11 (checked 2026-09-21) · Beyond the Slop (daenet, Jul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Where to run them — and which routes the Azure credits pay for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9656064" cy="3447288"/>
        </p:xfrm>
        <a:graphic>
          <a:graphicData uri="http://schemas.openxmlformats.org/drawingml/2006/table">
            <a:tbl>
              <a:tblPr firstRow="1" bandRow="1">
                <a:tableStyleId>{5C22544A-7EE6-4342-B048-85BDC9FD1C3A}</a:tableStyleId>
              </a:tblPr>
              <a:tblGrid>
                <a:gridCol w="2194560"/>
                <a:gridCol w="2148840"/>
                <a:gridCol w="777240"/>
                <a:gridCol w="4535424"/>
              </a:tblGrid>
              <a:tr h="292608">
                <a:tc>
                  <a:txBody>
                    <a:bodyPr/>
                    <a:lstStyle/>
                    <a:p>
                      <a:r>
                        <a:rPr sz="1100" b="1">
                          <a:solidFill>
                            <a:srgbClr val="FFFFFF"/>
                          </a:solidFill>
                        </a:rPr>
                        <a:t>Route</a:t>
                      </a:r>
                    </a:p>
                  </a:txBody>
                  <a:tcPr anchor="ctr" marT="36576" marB="36576">
                    <a:solidFill>
                      <a:srgbClr val="2A446F"/>
                    </a:solidFill>
                  </a:tcPr>
                </a:tc>
                <a:tc>
                  <a:txBody>
                    <a:bodyPr/>
                    <a:lstStyle/>
                    <a:p>
                      <a:r>
                        <a:rPr sz="1100" b="1">
                          <a:solidFill>
                            <a:srgbClr val="FFFFFF"/>
                          </a:solidFill>
                        </a:rPr>
                        <a:t>What it is</a:t>
                      </a:r>
                    </a:p>
                  </a:txBody>
                  <a:tcPr anchor="ctr" marT="36576" marB="36576">
                    <a:solidFill>
                      <a:srgbClr val="2A446F"/>
                    </a:solidFill>
                  </a:tcPr>
                </a:tc>
                <a:tc>
                  <a:txBody>
                    <a:bodyPr/>
                    <a:lstStyle/>
                    <a:p>
                      <a:r>
                        <a:rPr sz="1100" b="1">
                          <a:solidFill>
                            <a:srgbClr val="FFFFFF"/>
                          </a:solidFill>
                        </a:rPr>
                        <a:t>Credits</a:t>
                      </a:r>
                    </a:p>
                  </a:txBody>
                  <a:tcPr anchor="ctr" marT="36576" marB="36576">
                    <a:solidFill>
                      <a:srgbClr val="2A446F"/>
                    </a:solidFill>
                  </a:tcPr>
                </a:tc>
                <a:tc>
                  <a:txBody>
                    <a:bodyPr/>
                    <a:lstStyle/>
                    <a:p>
                      <a:r>
                        <a:rPr sz="1100" b="1">
                          <a:solidFill>
                            <a:srgbClr val="FFFFFF"/>
                          </a:solidFill>
                        </a:rPr>
                        <a:t>Examples</a:t>
                      </a:r>
                    </a:p>
                  </a:txBody>
                  <a:tcPr anchor="ctr" marT="36576" marB="36576">
                    <a:solidFill>
                      <a:srgbClr val="2A446F"/>
                    </a:solidFill>
                  </a:tcPr>
                </a:tc>
              </a:tr>
              <a:tr h="426720">
                <a:tc>
                  <a:txBody>
                    <a:bodyPr/>
                    <a:lstStyle/>
                    <a:p>
                      <a:r>
                        <a:rPr sz="1100" b="1">
                          <a:solidFill>
                            <a:srgbClr val="1F1F1F"/>
                          </a:solidFill>
                        </a:rPr>
                        <a:t>Foundry — Direct from Azure (DfA)</a:t>
                      </a:r>
                    </a:p>
                  </a:txBody>
                  <a:tcPr anchor="ctr" marT="36576" marB="36576">
                    <a:solidFill>
                      <a:srgbClr val="FFFFFF"/>
                    </a:solidFill>
                  </a:tcPr>
                </a:tc>
                <a:tc>
                  <a:txBody>
                    <a:bodyPr/>
                    <a:lstStyle/>
                    <a:p>
                      <a:r>
                        <a:rPr sz="1100" b="0">
                          <a:solidFill>
                            <a:srgbClr val="1F1F1F"/>
                          </a:solidFill>
                        </a:rPr>
                        <a:t>first-party meters</a:t>
                      </a:r>
                    </a:p>
                  </a:txBody>
                  <a:tcPr anchor="ctr" marT="36576" marB="36576">
                    <a:solidFill>
                      <a:srgbClr val="FFFFFF"/>
                    </a:solidFill>
                  </a:tcPr>
                </a:tc>
                <a:tc>
                  <a:txBody>
                    <a:bodyPr/>
                    <a:lstStyle/>
                    <a:p>
                      <a:r>
                        <a:rPr sz="1100" b="1">
                          <a:solidFill>
                            <a:srgbClr val="2A7F5C"/>
                          </a:solidFill>
                        </a:rPr>
                        <a:t>yes</a:t>
                      </a:r>
                    </a:p>
                  </a:txBody>
                  <a:tcPr anchor="ctr" marT="36576" marB="36576">
                    <a:solidFill>
                      <a:srgbClr val="FFFFFF"/>
                    </a:solidFill>
                  </a:tcPr>
                </a:tc>
                <a:tc>
                  <a:txBody>
                    <a:bodyPr/>
                    <a:lstStyle/>
                    <a:p>
                      <a:r>
                        <a:rPr sz="1100" b="0">
                          <a:solidFill>
                            <a:srgbClr val="1F1F1F"/>
                          </a:solidFill>
                        </a:rPr>
                        <a:t>gpt-5-mini · DeepSeek V4-Pro · Kimi-K2.7-Code ·</a:t>
                      </a:r>
                    </a:p>
                    <a:p>
                      <a:r>
                        <a:rPr sz="1100" b="0">
                          <a:solidFill>
                            <a:srgbClr val="1F1F1F"/>
                          </a:solidFill>
                        </a:rPr>
                        <a:t>grok-4.6 · FLUX.2 · MAI-Image-2.6</a:t>
                      </a:r>
                    </a:p>
                  </a:txBody>
                  <a:tcPr anchor="ctr" marT="36576" marB="36576">
                    <a:solidFill>
                      <a:srgbClr val="FFFFFF"/>
                    </a:solidFill>
                  </a:tcPr>
                </a:tc>
              </a:tr>
              <a:tr h="426720">
                <a:tc>
                  <a:txBody>
                    <a:bodyPr/>
                    <a:lstStyle/>
                    <a:p>
                      <a:r>
                        <a:rPr sz="1100" b="1">
                          <a:solidFill>
                            <a:srgbClr val="1F1F1F"/>
                          </a:solidFill>
                        </a:rPr>
                        <a:t>Foundry — Fireworks (FW)</a:t>
                      </a:r>
                    </a:p>
                  </a:txBody>
                  <a:tcPr anchor="ctr" marT="36576" marB="36576">
                    <a:solidFill>
                      <a:srgbClr val="F3F4F8"/>
                    </a:solidFill>
                  </a:tcPr>
                </a:tc>
                <a:tc>
                  <a:txBody>
                    <a:bodyPr/>
                    <a:lstStyle/>
                    <a:p>
                      <a:r>
                        <a:rPr sz="1100" b="0">
                          <a:solidFill>
                            <a:srgbClr val="1F1F1F"/>
                          </a:solidFill>
                        </a:rPr>
                        <a:t>pay-per-token, billed by</a:t>
                      </a:r>
                    </a:p>
                    <a:p>
                      <a:r>
                        <a:rPr sz="1100" b="0">
                          <a:solidFill>
                            <a:srgbClr val="1F1F1F"/>
                          </a:solidFill>
                        </a:rPr>
                        <a:t>Azure, US data zone</a:t>
                      </a:r>
                    </a:p>
                  </a:txBody>
                  <a:tcPr anchor="ctr" marT="36576" marB="36576">
                    <a:solidFill>
                      <a:srgbClr val="F3F4F8"/>
                    </a:solidFill>
                  </a:tcPr>
                </a:tc>
                <a:tc>
                  <a:txBody>
                    <a:bodyPr/>
                    <a:lstStyle/>
                    <a:p>
                      <a:r>
                        <a:rPr sz="1100" b="1">
                          <a:solidFill>
                            <a:srgbClr val="A86200"/>
                          </a:solidFill>
                        </a:rPr>
                        <a:t>verify</a:t>
                      </a:r>
                    </a:p>
                  </a:txBody>
                  <a:tcPr anchor="ctr" marT="36576" marB="36576">
                    <a:solidFill>
                      <a:srgbClr val="F3F4F8"/>
                    </a:solidFill>
                  </a:tcPr>
                </a:tc>
                <a:tc>
                  <a:txBody>
                    <a:bodyPr/>
                    <a:lstStyle/>
                    <a:p>
                      <a:r>
                        <a:rPr sz="1100" b="0">
                          <a:solidFill>
                            <a:srgbClr val="1F1F1F"/>
                          </a:solidFill>
                        </a:rPr>
                        <a:t>GLM-5.3 · DeepSeek V4.1 Flash · Kimi K3 ·</a:t>
                      </a:r>
                    </a:p>
                    <a:p>
                      <a:r>
                        <a:rPr sz="1100" b="0">
                          <a:solidFill>
                            <a:srgbClr val="1F1F1F"/>
                          </a:solidFill>
                        </a:rPr>
                        <a:t>Nemotron · gpt-oss-120b</a:t>
                      </a:r>
                    </a:p>
                  </a:txBody>
                  <a:tcPr anchor="ctr" marT="36576" marB="36576">
                    <a:solidFill>
                      <a:srgbClr val="F3F4F8"/>
                    </a:solidFill>
                  </a:tcPr>
                </a:tc>
              </a:tr>
              <a:tr h="426720">
                <a:tc>
                  <a:txBody>
                    <a:bodyPr/>
                    <a:lstStyle/>
                    <a:p>
                      <a:r>
                        <a:rPr sz="1100" b="1">
                          <a:solidFill>
                            <a:srgbClr val="1F1F1F"/>
                          </a:solidFill>
                        </a:rPr>
                        <a:t>Foundry — Marketplace partner (MP)</a:t>
                      </a:r>
                    </a:p>
                  </a:txBody>
                  <a:tcPr anchor="ctr" marT="36576" marB="36576">
                    <a:solidFill>
                      <a:srgbClr val="FFFFFF"/>
                    </a:solidFill>
                  </a:tcPr>
                </a:tc>
                <a:tc>
                  <a:txBody>
                    <a:bodyPr/>
                    <a:lstStyle/>
                    <a:p>
                      <a:r>
                        <a:rPr sz="1100" b="0">
                          <a:solidFill>
                            <a:srgbClr val="1F1F1F"/>
                          </a:solidFill>
                        </a:rPr>
                        <a:t>Azure Marketplace</a:t>
                      </a:r>
                    </a:p>
                  </a:txBody>
                  <a:tcPr anchor="ctr" marT="36576" marB="36576">
                    <a:solidFill>
                      <a:srgbClr val="FFFFFF"/>
                    </a:solidFill>
                  </a:tcPr>
                </a:tc>
                <a:tc>
                  <a:txBody>
                    <a:bodyPr/>
                    <a:lstStyle/>
                    <a:p>
                      <a:r>
                        <a:rPr sz="1100" b="1">
                          <a:solidFill>
                            <a:srgbClr val="C52B2B"/>
                          </a:solidFill>
                        </a:rPr>
                        <a:t>no</a:t>
                      </a:r>
                    </a:p>
                  </a:txBody>
                  <a:tcPr anchor="ctr" marT="36576" marB="36576">
                    <a:solidFill>
                      <a:srgbClr val="FFFFFF"/>
                    </a:solidFill>
                  </a:tcPr>
                </a:tc>
                <a:tc>
                  <a:txBody>
                    <a:bodyPr/>
                    <a:lstStyle/>
                    <a:p>
                      <a:r>
                        <a:rPr sz="1100" b="0">
                          <a:solidFill>
                            <a:srgbClr val="1F1F1F"/>
                          </a:solidFill>
                        </a:rPr>
                        <a:t>Claude (Fable 5.1, Opus 5, Sonnet 5)</a:t>
                      </a:r>
                    </a:p>
                  </a:txBody>
                  <a:tcPr anchor="ctr" marT="36576" marB="36576">
                    <a:solidFill>
                      <a:srgbClr val="FFFFFF"/>
                    </a:solidFill>
                  </a:tcPr>
                </a:tc>
              </a:tr>
              <a:tr h="426720">
                <a:tc>
                  <a:txBody>
                    <a:bodyPr/>
                    <a:lstStyle/>
                    <a:p>
                      <a:r>
                        <a:rPr sz="1100" b="1">
                          <a:solidFill>
                            <a:srgbClr val="1F1F1F"/>
                          </a:solidFill>
                        </a:rPr>
                        <a:t>Hugging Face Inference Providers</a:t>
                      </a:r>
                    </a:p>
                  </a:txBody>
                  <a:tcPr anchor="ctr" marT="36576" marB="36576">
                    <a:solidFill>
                      <a:srgbClr val="F3F4F8"/>
                    </a:solidFill>
                  </a:tcPr>
                </a:tc>
                <a:tc>
                  <a:txBody>
                    <a:bodyPr/>
                    <a:lstStyle/>
                    <a:p>
                      <a:r>
                        <a:rPr sz="1100" b="0">
                          <a:solidFill>
                            <a:srgbClr val="1F1F1F"/>
                          </a:solidFill>
                        </a:rPr>
                        <a:t>one OpenAI-compatible</a:t>
                      </a:r>
                    </a:p>
                    <a:p>
                      <a:r>
                        <a:rPr sz="1100" b="0">
                          <a:solidFill>
                            <a:srgbClr val="1F1F1F"/>
                          </a:solidFill>
                        </a:rPr>
                        <a:t>router, 16+ providers</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router.huggingface.co/v1 — media via fal / Replicate</a:t>
                      </a:r>
                    </a:p>
                  </a:txBody>
                  <a:tcPr anchor="ctr" marT="36576" marB="36576">
                    <a:solidFill>
                      <a:srgbClr val="F3F4F8"/>
                    </a:solidFill>
                  </a:tcPr>
                </a:tc>
              </a:tr>
              <a:tr h="594360">
                <a:tc>
                  <a:txBody>
                    <a:bodyPr/>
                    <a:lstStyle/>
                    <a:p>
                      <a:r>
                        <a:rPr sz="1100" b="1">
                          <a:solidFill>
                            <a:srgbClr val="1F1F1F"/>
                          </a:solidFill>
                        </a:rPr>
                        <a:t>OpenRouter · SiliconFlow</a:t>
                      </a:r>
                    </a:p>
                    <a:p>
                      <a:r>
                        <a:rPr sz="1100" b="1">
                          <a:solidFill>
                            <a:srgbClr val="1F1F1F"/>
                          </a:solidFill>
                        </a:rPr>
                        <a:t>Together · Groq · Cerebras</a:t>
                      </a:r>
                    </a:p>
                  </a:txBody>
                  <a:tcPr anchor="ctr" marT="36576" marB="36576">
                    <a:solidFill>
                      <a:srgbClr val="FFFFFF"/>
                    </a:solidFill>
                  </a:tcPr>
                </a:tc>
                <a:tc>
                  <a:txBody>
                    <a:bodyPr/>
                    <a:lstStyle/>
                    <a:p>
                      <a:r>
                        <a:rPr sz="1100" b="0">
                          <a:solidFill>
                            <a:srgbClr val="1F1F1F"/>
                          </a:solidFill>
                        </a:rPr>
                        <a:t>open-model APIs</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c>
                  <a:txBody>
                    <a:bodyPr/>
                    <a:lstStyle/>
                    <a:p>
                      <a:r>
                        <a:rPr sz="1100" b="0">
                          <a:solidFill>
                            <a:srgbClr val="1F1F1F"/>
                          </a:solidFill>
                        </a:rPr>
                        <a:t>OpenRouter: 7 of the top 10 by tokens are Chinese labs</a:t>
                      </a:r>
                    </a:p>
                  </a:txBody>
                  <a:tcPr anchor="ctr" marT="36576" marB="36576">
                    <a:solidFill>
                      <a:srgbClr val="FFFFFF"/>
                    </a:solidFill>
                  </a:tcPr>
                </a:tc>
              </a:tr>
              <a:tr h="426720">
                <a:tc>
                  <a:txBody>
                    <a:bodyPr/>
                    <a:lstStyle/>
                    <a:p>
                      <a:r>
                        <a:rPr sz="1100" b="1">
                          <a:solidFill>
                            <a:srgbClr val="1F1F1F"/>
                          </a:solidFill>
                        </a:rPr>
                        <a:t>Hugging Face · ModelScope</a:t>
                      </a:r>
                    </a:p>
                  </a:txBody>
                  <a:tcPr anchor="ctr" marT="36576" marB="36576">
                    <a:solidFill>
                      <a:srgbClr val="F3F4F8"/>
                    </a:solidFill>
                  </a:tcPr>
                </a:tc>
                <a:tc>
                  <a:txBody>
                    <a:bodyPr/>
                    <a:lstStyle/>
                    <a:p>
                      <a:r>
                        <a:rPr sz="1100" b="0">
                          <a:solidFill>
                            <a:srgbClr val="1F1F1F"/>
                          </a:solidFill>
                        </a:rPr>
                        <a:t>the weights themselves</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download, then run them with a local runner</a:t>
                      </a:r>
                    </a:p>
                  </a:txBody>
                  <a:tcPr anchor="ctr" marT="36576" marB="36576">
                    <a:solidFill>
                      <a:srgbClr val="F3F4F8"/>
                    </a:solidFill>
                  </a:tcPr>
                </a:tc>
              </a:tr>
              <a:tr h="426720">
                <a:tc>
                  <a:txBody>
                    <a:bodyPr/>
                    <a:lstStyle/>
                    <a:p>
                      <a:r>
                        <a:rPr sz="1100" b="1">
                          <a:solidFill>
                            <a:srgbClr val="1F1F1F"/>
                          </a:solidFill>
                        </a:rPr>
                        <a:t>Local runners</a:t>
                      </a:r>
                    </a:p>
                  </a:txBody>
                  <a:tcPr anchor="ctr" marT="36576" marB="36576">
                    <a:solidFill>
                      <a:srgbClr val="FFFFFF"/>
                    </a:solidFill>
                  </a:tcPr>
                </a:tc>
                <a:tc>
                  <a:txBody>
                    <a:bodyPr/>
                    <a:lstStyle/>
                    <a:p>
                      <a:r>
                        <a:rPr sz="1100" b="0">
                          <a:solidFill>
                            <a:srgbClr val="1F1F1F"/>
                          </a:solidFill>
                        </a:rPr>
                        <a:t>your hardware</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c>
                  <a:txBody>
                    <a:bodyPr/>
                    <a:lstStyle/>
                    <a:p>
                      <a:r>
                        <a:rPr sz="1100" b="0">
                          <a:solidFill>
                            <a:srgbClr val="1F1F1F"/>
                          </a:solidFill>
                        </a:rPr>
                        <a:t>Foundry Local (NPU) · Ollama · LM Studio ·</a:t>
                      </a:r>
                    </a:p>
                    <a:p>
                      <a:r>
                        <a:rPr sz="1100" b="0">
                          <a:solidFill>
                            <a:srgbClr val="1F1F1F"/>
                          </a:solidFill>
                        </a:rPr>
                        <a:t>llama.cpp · vLLM · SGLang</a:t>
                      </a:r>
                    </a:p>
                  </a:txBody>
                  <a:tcPr anchor="ctr" marT="36576" marB="36576">
                    <a:solidFill>
                      <a:srgbClr val="FFFFFF"/>
                    </a:solidFill>
                  </a:tcPr>
                </a:tc>
              </a:tr>
            </a:tbl>
          </a:graphicData>
        </a:graphic>
      </p:graphicFrame>
      <p:sp>
        <p:nvSpPr>
          <p:cNvPr id="5" name="Rounded Rectangle 4"/>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6" name="TextBox 5"/>
          <p:cNvSpPr txBox="1"/>
          <p:nvPr/>
        </p:nvSpPr>
        <p:spPr>
          <a:xfrm>
            <a:off x="585216" y="4928616"/>
            <a:ext cx="9656063" cy="274320"/>
          </a:xfrm>
          <a:prstGeom prst="rect">
            <a:avLst/>
          </a:prstGeom>
          <a:noFill/>
        </p:spPr>
        <p:txBody>
          <a:bodyPr wrap="square" lIns="0" rIns="0" tIns="0" bIns="0" anchor="t">
            <a:spAutoFit/>
          </a:bodyPr>
          <a:lstStyle/>
          <a:p>
            <a:pPr algn="l">
              <a:spcAft>
                <a:spcPts val="0"/>
              </a:spcAft>
            </a:pPr>
            <a:r>
              <a:rPr sz="1050" b="0" i="1">
                <a:solidFill>
                  <a:srgbClr val="6B6B6B"/>
                </a:solidFill>
              </a:rPr>
              <a:t>Credits: yes = sponsorship-eligible first-party meters · verify = test on the real subscription · no = Marketplace, charged to the card on file</a:t>
            </a:r>
          </a:p>
        </p:txBody>
      </p:sp>
      <p:sp>
        <p:nvSpPr>
          <p:cNvPr id="7" name="TextBox 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Most routes speak the OpenAI API: a new base_url and key, the same Lab 1 code.</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§10 (checked 2026-09-21) · Foundry access research 2026-09-19 · Foundry Models sold by Azure · HF Inference Providers docs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Chinese labs, mapped: what is open, what stays closed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89888"/>
            <a:ext cx="2061972"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OPENROUTER · 2026-09-18</a:t>
            </a:r>
          </a:p>
        </p:txBody>
      </p:sp>
      <p:sp>
        <p:nvSpPr>
          <p:cNvPr id="5" name="TextBox 4"/>
          <p:cNvSpPr txBox="1"/>
          <p:nvPr/>
        </p:nvSpPr>
        <p:spPr>
          <a:xfrm>
            <a:off x="2811780" y="1344168"/>
            <a:ext cx="7315200" cy="365760"/>
          </a:xfrm>
          <a:prstGeom prst="rect">
            <a:avLst/>
          </a:prstGeom>
          <a:noFill/>
        </p:spPr>
        <p:txBody>
          <a:bodyPr wrap="square" lIns="0" rIns="0" tIns="0" bIns="0" anchor="t">
            <a:spAutoFit/>
          </a:bodyPr>
          <a:lstStyle/>
          <a:p>
            <a:pPr algn="l">
              <a:spcAft>
                <a:spcPts val="0"/>
              </a:spcAft>
            </a:pPr>
            <a:r>
              <a:rPr sz="1700" b="1" i="0">
                <a:solidFill>
                  <a:srgbClr val="2A446F"/>
                </a:solidFill>
              </a:rPr>
              <a:t>7 of the top 10 models by tokens come from Chinese labs</a:t>
            </a:r>
          </a:p>
        </p:txBody>
      </p:sp>
      <p:sp>
        <p:nvSpPr>
          <p:cNvPr id="6" name="Rounded Rectangle 5"/>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7" name="Rounded Rectangle 6"/>
          <p:cNvSpPr/>
          <p:nvPr/>
        </p:nvSpPr>
        <p:spPr>
          <a:xfrm>
            <a:off x="585216" y="1938528"/>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029968"/>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DeepSeek</a:t>
            </a:r>
          </a:p>
        </p:txBody>
      </p:sp>
      <p:sp>
        <p:nvSpPr>
          <p:cNvPr id="9" name="Oval 8"/>
          <p:cNvSpPr/>
          <p:nvPr/>
        </p:nvSpPr>
        <p:spPr>
          <a:xfrm>
            <a:off x="749808" y="238353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59152"/>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V4.1 Flash · V4 Pro · V3.2 — MIT</a:t>
            </a:r>
          </a:p>
        </p:txBody>
      </p:sp>
      <p:sp>
        <p:nvSpPr>
          <p:cNvPr id="11" name="TextBox 10"/>
          <p:cNvSpPr txBox="1"/>
          <p:nvPr/>
        </p:nvSpPr>
        <p:spPr>
          <a:xfrm>
            <a:off x="978408" y="2563368"/>
            <a:ext cx="2606040" cy="185927"/>
          </a:xfrm>
          <a:prstGeom prst="rect">
            <a:avLst/>
          </a:prstGeom>
          <a:noFill/>
        </p:spPr>
        <p:txBody>
          <a:bodyPr wrap="square" lIns="0" rIns="0" tIns="0" bIns="0" anchor="t">
            <a:spAutoFit/>
          </a:bodyPr>
          <a:lstStyle/>
          <a:p>
            <a:pPr algn="l">
              <a:spcAft>
                <a:spcPts val="0"/>
              </a:spcAft>
            </a:pPr>
            <a:r>
              <a:rPr sz="1100" b="0" i="0">
                <a:solidFill>
                  <a:srgbClr val="6B6B6B"/>
                </a:solidFill>
              </a:rPr>
              <a:t>Foundry DfA: V4-Pro, V4-Flash, V3.2</a:t>
            </a:r>
          </a:p>
        </p:txBody>
      </p:sp>
      <p:sp>
        <p:nvSpPr>
          <p:cNvPr id="12" name="Rounded Rectangle 11"/>
          <p:cNvSpPr/>
          <p:nvPr/>
        </p:nvSpPr>
        <p:spPr>
          <a:xfrm>
            <a:off x="3858768" y="1938528"/>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023359" y="2029968"/>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Alibaba · Qwen, Wan, Tongyi</a:t>
            </a:r>
          </a:p>
        </p:txBody>
      </p:sp>
      <p:sp>
        <p:nvSpPr>
          <p:cNvPr id="14" name="Oval 13"/>
          <p:cNvSpPr/>
          <p:nvPr/>
        </p:nvSpPr>
        <p:spPr>
          <a:xfrm>
            <a:off x="4023359" y="238353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2359152"/>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Qwen3.8-27B · Wan 2.2 · Z-Image ·</a:t>
            </a:r>
          </a:p>
          <a:p>
            <a:pPr algn="l">
              <a:spcAft>
                <a:spcPts val="0"/>
              </a:spcAft>
            </a:pPr>
            <a:r>
              <a:rPr sz="1100" b="0" i="0">
                <a:solidFill>
                  <a:srgbClr val="1F1F1F"/>
                </a:solidFill>
              </a:rPr>
              <a:t>Qwen-Image-2512 — Apache</a:t>
            </a:r>
          </a:p>
        </p:txBody>
      </p:sp>
      <p:sp>
        <p:nvSpPr>
          <p:cNvPr id="16" name="Oval 15"/>
          <p:cNvSpPr/>
          <p:nvPr/>
        </p:nvSpPr>
        <p:spPr>
          <a:xfrm>
            <a:off x="4023359" y="27553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59" y="2731008"/>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Wan 3.0 · Qwen-Image 2.0/3.0 — API only</a:t>
            </a:r>
          </a:p>
        </p:txBody>
      </p:sp>
      <p:sp>
        <p:nvSpPr>
          <p:cNvPr id="18" name="Rounded Rectangle 17"/>
          <p:cNvSpPr/>
          <p:nvPr/>
        </p:nvSpPr>
        <p:spPr>
          <a:xfrm>
            <a:off x="7132320" y="1938528"/>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96912" y="2029968"/>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Moonshot · Kimi</a:t>
            </a:r>
          </a:p>
        </p:txBody>
      </p:sp>
      <p:sp>
        <p:nvSpPr>
          <p:cNvPr id="20" name="Oval 19"/>
          <p:cNvSpPr/>
          <p:nvPr/>
        </p:nvSpPr>
        <p:spPr>
          <a:xfrm>
            <a:off x="7296912" y="2383536"/>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2359152"/>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Kimi K3 — own licence (revenue, attribution)</a:t>
            </a:r>
          </a:p>
        </p:txBody>
      </p:sp>
      <p:sp>
        <p:nvSpPr>
          <p:cNvPr id="22" name="Oval 21"/>
          <p:cNvSpPr/>
          <p:nvPr/>
        </p:nvSpPr>
        <p:spPr>
          <a:xfrm>
            <a:off x="7296912" y="27553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25512" y="2731008"/>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Kimi K2.8 Preview — closed</a:t>
            </a:r>
          </a:p>
        </p:txBody>
      </p:sp>
      <p:sp>
        <p:nvSpPr>
          <p:cNvPr id="24" name="TextBox 23"/>
          <p:cNvSpPr txBox="1"/>
          <p:nvPr/>
        </p:nvSpPr>
        <p:spPr>
          <a:xfrm>
            <a:off x="7525512" y="2935224"/>
            <a:ext cx="2606040" cy="185927"/>
          </a:xfrm>
          <a:prstGeom prst="rect">
            <a:avLst/>
          </a:prstGeom>
          <a:noFill/>
        </p:spPr>
        <p:txBody>
          <a:bodyPr wrap="square" lIns="0" rIns="0" tIns="0" bIns="0" anchor="t">
            <a:spAutoFit/>
          </a:bodyPr>
          <a:lstStyle/>
          <a:p>
            <a:pPr algn="l">
              <a:spcAft>
                <a:spcPts val="0"/>
              </a:spcAft>
            </a:pPr>
            <a:r>
              <a:rPr sz="1100" b="0" i="0">
                <a:solidFill>
                  <a:srgbClr val="6B6B6B"/>
                </a:solidFill>
              </a:rPr>
              <a:t>K2.6, K2.7-Code on Foundry DfA</a:t>
            </a:r>
          </a:p>
        </p:txBody>
      </p:sp>
      <p:sp>
        <p:nvSpPr>
          <p:cNvPr id="25" name="Rounded Rectangle 24"/>
          <p:cNvSpPr/>
          <p:nvPr/>
        </p:nvSpPr>
        <p:spPr>
          <a:xfrm>
            <a:off x="585216" y="3273552"/>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3364992"/>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Z.ai (Zhipu) · GLM</a:t>
            </a:r>
          </a:p>
        </p:txBody>
      </p:sp>
      <p:sp>
        <p:nvSpPr>
          <p:cNvPr id="27" name="Oval 26"/>
          <p:cNvSpPr/>
          <p:nvPr/>
        </p:nvSpPr>
        <p:spPr>
          <a:xfrm>
            <a:off x="749808" y="3718560"/>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3694176"/>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GLM-5.3 — own licence;</a:t>
            </a:r>
          </a:p>
          <a:p>
            <a:pPr algn="l">
              <a:spcAft>
                <a:spcPts val="0"/>
              </a:spcAft>
            </a:pPr>
            <a:r>
              <a:rPr sz="1100" b="0" i="0">
                <a:solidFill>
                  <a:srgbClr val="1F1F1F"/>
                </a:solidFill>
              </a:rPr>
              <a:t>joint top on the AA index (45)</a:t>
            </a:r>
          </a:p>
        </p:txBody>
      </p:sp>
      <p:sp>
        <p:nvSpPr>
          <p:cNvPr id="29" name="Oval 28"/>
          <p:cNvSpPr/>
          <p:nvPr/>
        </p:nvSpPr>
        <p:spPr>
          <a:xfrm>
            <a:off x="749808" y="4090415"/>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 y="4066031"/>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GLM-5.3-Flash — MIT</a:t>
            </a:r>
          </a:p>
        </p:txBody>
      </p:sp>
      <p:sp>
        <p:nvSpPr>
          <p:cNvPr id="31" name="Rounded Rectangle 30"/>
          <p:cNvSpPr/>
          <p:nvPr/>
        </p:nvSpPr>
        <p:spPr>
          <a:xfrm>
            <a:off x="3858768" y="3273552"/>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23359" y="3364992"/>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Tencent · Hunyuan, Hy</a:t>
            </a:r>
          </a:p>
        </p:txBody>
      </p:sp>
      <p:sp>
        <p:nvSpPr>
          <p:cNvPr id="33" name="Oval 32"/>
          <p:cNvSpPr/>
          <p:nvPr/>
        </p:nvSpPr>
        <p:spPr>
          <a:xfrm>
            <a:off x="4023359" y="3718560"/>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59" y="3694176"/>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Hy4-preview · Hy3 — Apache</a:t>
            </a:r>
          </a:p>
          <a:p>
            <a:pPr algn="l">
              <a:spcAft>
                <a:spcPts val="0"/>
              </a:spcAft>
            </a:pPr>
            <a:r>
              <a:rPr sz="1100" b="0" i="0">
                <a:solidFill>
                  <a:srgbClr val="1F1F1F"/>
                </a:solidFill>
              </a:rPr>
              <a:t>AuK speech model — MIT</a:t>
            </a:r>
          </a:p>
        </p:txBody>
      </p:sp>
      <p:sp>
        <p:nvSpPr>
          <p:cNvPr id="35" name="Oval 34"/>
          <p:cNvSpPr/>
          <p:nvPr/>
        </p:nvSpPr>
        <p:spPr>
          <a:xfrm>
            <a:off x="4023359" y="4090415"/>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51959" y="4066031"/>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HunyuanVideo · HunyuanImage ·</a:t>
            </a:r>
          </a:p>
          <a:p>
            <a:pPr algn="l">
              <a:spcAft>
                <a:spcPts val="0"/>
              </a:spcAft>
            </a:pPr>
            <a:r>
              <a:rPr sz="1100" b="0" i="0">
                <a:solidFill>
                  <a:srgbClr val="1F1F1F"/>
                </a:solidFill>
              </a:rPr>
              <a:t>Hunyuan3D — community</a:t>
            </a:r>
          </a:p>
        </p:txBody>
      </p:sp>
      <p:sp>
        <p:nvSpPr>
          <p:cNvPr id="37" name="Rounded Rectangle 36"/>
          <p:cNvSpPr/>
          <p:nvPr/>
        </p:nvSpPr>
        <p:spPr>
          <a:xfrm>
            <a:off x="7132320" y="3273552"/>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296912" y="3364992"/>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MiniMax</a:t>
            </a:r>
          </a:p>
        </p:txBody>
      </p:sp>
      <p:sp>
        <p:nvSpPr>
          <p:cNvPr id="39" name="Oval 38"/>
          <p:cNvSpPr/>
          <p:nvPr/>
        </p:nvSpPr>
        <p:spPr>
          <a:xfrm>
            <a:off x="7296912" y="3718560"/>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25512" y="3694176"/>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MiniMax-M3 · H3 — community</a:t>
            </a:r>
          </a:p>
        </p:txBody>
      </p:sp>
      <p:sp>
        <p:nvSpPr>
          <p:cNvPr id="41" name="TextBox 40"/>
          <p:cNvSpPr txBox="1"/>
          <p:nvPr/>
        </p:nvSpPr>
        <p:spPr>
          <a:xfrm>
            <a:off x="7525512" y="3898392"/>
            <a:ext cx="2606040" cy="353568"/>
          </a:xfrm>
          <a:prstGeom prst="rect">
            <a:avLst/>
          </a:prstGeom>
          <a:noFill/>
        </p:spPr>
        <p:txBody>
          <a:bodyPr wrap="square" lIns="0" rIns="0" tIns="0" bIns="0" anchor="t">
            <a:spAutoFit/>
          </a:bodyPr>
          <a:lstStyle/>
          <a:p>
            <a:pPr algn="l">
              <a:spcAft>
                <a:spcPts val="0"/>
              </a:spcAft>
            </a:pPr>
            <a:r>
              <a:rPr sz="1100" b="0" i="0">
                <a:solidFill>
                  <a:srgbClr val="6B6B6B"/>
                </a:solidFill>
              </a:rPr>
              <a:t>H3 excludes the EU, UK, South Korea and USA</a:t>
            </a:r>
          </a:p>
        </p:txBody>
      </p:sp>
      <p:sp>
        <p:nvSpPr>
          <p:cNvPr id="42" name="Rounded Rectangle 41"/>
          <p:cNvSpPr/>
          <p:nvPr/>
        </p:nvSpPr>
        <p:spPr>
          <a:xfrm>
            <a:off x="585216" y="4608576"/>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9808" y="4700016"/>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Xiaomi · MiMo</a:t>
            </a:r>
          </a:p>
        </p:txBody>
      </p:sp>
      <p:sp>
        <p:nvSpPr>
          <p:cNvPr id="44" name="Oval 43"/>
          <p:cNvSpPr/>
          <p:nvPr/>
        </p:nvSpPr>
        <p:spPr>
          <a:xfrm>
            <a:off x="749808" y="505358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8" y="5029200"/>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MiMo-V2.5 / Pro — MIT, incl. base</a:t>
            </a:r>
          </a:p>
        </p:txBody>
      </p:sp>
      <p:sp>
        <p:nvSpPr>
          <p:cNvPr id="46" name="TextBox 45"/>
          <p:cNvSpPr txBox="1"/>
          <p:nvPr/>
        </p:nvSpPr>
        <p:spPr>
          <a:xfrm>
            <a:off x="978408" y="5233416"/>
            <a:ext cx="2606040" cy="353568"/>
          </a:xfrm>
          <a:prstGeom prst="rect">
            <a:avLst/>
          </a:prstGeom>
          <a:noFill/>
        </p:spPr>
        <p:txBody>
          <a:bodyPr wrap="square" lIns="0" rIns="0" tIns="0" bIns="0" anchor="t">
            <a:spAutoFit/>
          </a:bodyPr>
          <a:lstStyle/>
          <a:p>
            <a:pPr algn="l">
              <a:spcAft>
                <a:spcPts val="0"/>
              </a:spcAft>
            </a:pPr>
            <a:r>
              <a:rPr sz="1100" b="0" i="0">
                <a:solidFill>
                  <a:srgbClr val="6B6B6B"/>
                </a:solidFill>
              </a:rPr>
              <a:t>among the most-used models on OpenRouter</a:t>
            </a:r>
          </a:p>
        </p:txBody>
      </p:sp>
      <p:sp>
        <p:nvSpPr>
          <p:cNvPr id="47" name="Rounded Rectangle 46"/>
          <p:cNvSpPr/>
          <p:nvPr/>
        </p:nvSpPr>
        <p:spPr>
          <a:xfrm>
            <a:off x="3858768" y="4608576"/>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023359" y="4700016"/>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ByteDance · Seed</a:t>
            </a:r>
          </a:p>
        </p:txBody>
      </p:sp>
      <p:sp>
        <p:nvSpPr>
          <p:cNvPr id="49" name="Oval 48"/>
          <p:cNvSpPr/>
          <p:nvPr/>
        </p:nvSpPr>
        <p:spPr>
          <a:xfrm>
            <a:off x="4023359" y="505358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51959" y="5029200"/>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Seedance 2.5 video (30 s with audio) — closed, API only</a:t>
            </a:r>
          </a:p>
        </p:txBody>
      </p:sp>
      <p:sp>
        <p:nvSpPr>
          <p:cNvPr id="51" name="Rounded Rectangle 50"/>
          <p:cNvSpPr/>
          <p:nvPr/>
        </p:nvSpPr>
        <p:spPr>
          <a:xfrm>
            <a:off x="7132320" y="4608576"/>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296912" y="4700016"/>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StepFun</a:t>
            </a:r>
          </a:p>
        </p:txBody>
      </p:sp>
      <p:sp>
        <p:nvSpPr>
          <p:cNvPr id="53" name="Oval 52"/>
          <p:cNvSpPr/>
          <p:nvPr/>
        </p:nvSpPr>
        <p:spPr>
          <a:xfrm>
            <a:off x="7296912" y="505358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25512" y="5029200"/>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Step-3.7-Flash — Apache</a:t>
            </a:r>
          </a:p>
        </p:txBody>
      </p:sp>
      <p:sp>
        <p:nvSpPr>
          <p:cNvPr id="55" name="TextBox 54"/>
          <p:cNvSpPr txBox="1"/>
          <p:nvPr/>
        </p:nvSpPr>
        <p:spPr>
          <a:xfrm>
            <a:off x="7525512" y="5233416"/>
            <a:ext cx="2606040" cy="185927"/>
          </a:xfrm>
          <a:prstGeom prst="rect">
            <a:avLst/>
          </a:prstGeom>
          <a:noFill/>
        </p:spPr>
        <p:txBody>
          <a:bodyPr wrap="square" lIns="0" rIns="0" tIns="0" bIns="0" anchor="t">
            <a:spAutoFit/>
          </a:bodyPr>
          <a:lstStyle/>
          <a:p>
            <a:pPr algn="l">
              <a:spcAft>
                <a:spcPts val="0"/>
              </a:spcAft>
            </a:pPr>
            <a:r>
              <a:rPr sz="1100" b="0" i="0">
                <a:solidFill>
                  <a:srgbClr val="6B6B6B"/>
                </a:solidFill>
              </a:rPr>
              <a:t>≈200B total / ~11B active</a:t>
            </a:r>
          </a:p>
        </p:txBody>
      </p:sp>
      <p:sp>
        <p:nvSpPr>
          <p:cNvPr id="56" name="TextBox 5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 · OpenRouter rankings 2026-09-18 · Research: local AI, media &amp; beyond the West, 2026-09-19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Two licence trends: fences for hyperscalers, closed flagships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5" name="TextBox 4"/>
          <p:cNvSpPr txBox="1"/>
          <p:nvPr/>
        </p:nvSpPr>
        <p:spPr>
          <a:xfrm>
            <a:off x="585216" y="1371600"/>
            <a:ext cx="4572000" cy="292608"/>
          </a:xfrm>
          <a:prstGeom prst="rect">
            <a:avLst/>
          </a:prstGeom>
          <a:noFill/>
        </p:spPr>
        <p:txBody>
          <a:bodyPr wrap="square" lIns="0" rIns="0" tIns="0" bIns="0" anchor="t">
            <a:spAutoFit/>
          </a:bodyPr>
          <a:lstStyle/>
          <a:p>
            <a:pPr algn="l">
              <a:spcAft>
                <a:spcPts val="0"/>
              </a:spcAft>
            </a:pPr>
            <a:r>
              <a:rPr sz="1300" b="1" i="0">
                <a:solidFill>
                  <a:srgbClr val="E86A10"/>
                </a:solidFill>
              </a:rPr>
              <a:t>1 · OPEN — EXCEPT FOR HYPERSCALERS</a:t>
            </a:r>
          </a:p>
        </p:txBody>
      </p:sp>
      <p:sp>
        <p:nvSpPr>
          <p:cNvPr id="6" name="TextBox 5"/>
          <p:cNvSpPr txBox="1"/>
          <p:nvPr/>
        </p:nvSpPr>
        <p:spPr>
          <a:xfrm>
            <a:off x="585216" y="1673352"/>
            <a:ext cx="4572000" cy="274320"/>
          </a:xfrm>
          <a:prstGeom prst="rect">
            <a:avLst/>
          </a:prstGeom>
          <a:noFill/>
        </p:spPr>
        <p:txBody>
          <a:bodyPr wrap="square" lIns="0" rIns="0" tIns="0" bIns="0" anchor="t">
            <a:spAutoFit/>
          </a:bodyPr>
          <a:lstStyle/>
          <a:p>
            <a:pPr algn="l">
              <a:spcAft>
                <a:spcPts val="0"/>
              </a:spcAft>
            </a:pPr>
            <a:r>
              <a:rPr sz="1200" b="0" i="1">
                <a:solidFill>
                  <a:srgbClr val="6B6B6B"/>
                </a:solidFill>
              </a:rPr>
              <a:t>clauses aimed at clouds that resell the model (MaaS)</a:t>
            </a:r>
          </a:p>
        </p:txBody>
      </p:sp>
      <p:graphicFrame>
        <p:nvGraphicFramePr>
          <p:cNvPr id="7" name="Table 6"/>
          <p:cNvGraphicFramePr>
            <a:graphicFrameLocks noGrp="1"/>
          </p:cNvGraphicFramePr>
          <p:nvPr/>
        </p:nvGraphicFramePr>
        <p:xfrm>
          <a:off x="859536" y="2057400"/>
          <a:ext cx="4297680" cy="1865376"/>
        </p:xfrm>
        <a:graphic>
          <a:graphicData uri="http://schemas.openxmlformats.org/drawingml/2006/table">
            <a:tbl>
              <a:tblPr firstRow="1" bandRow="1">
                <a:tableStyleId>{5C22544A-7EE6-4342-B048-85BDC9FD1C3A}</a:tableStyleId>
              </a:tblPr>
              <a:tblGrid>
                <a:gridCol w="1600200"/>
                <a:gridCol w="2697480"/>
              </a:tblGrid>
              <a:tr h="292608">
                <a:tc>
                  <a:txBody>
                    <a:bodyPr/>
                    <a:lstStyle/>
                    <a:p>
                      <a:r>
                        <a:rPr sz="1100" b="1">
                          <a:solidFill>
                            <a:srgbClr val="FFFFFF"/>
                          </a:solidFill>
                        </a:rPr>
                        <a:t>Model</a:t>
                      </a:r>
                    </a:p>
                  </a:txBody>
                  <a:tcPr anchor="ctr" marT="36576" marB="36576">
                    <a:solidFill>
                      <a:srgbClr val="2A446F"/>
                    </a:solidFill>
                  </a:tcPr>
                </a:tc>
                <a:tc>
                  <a:txBody>
                    <a:bodyPr/>
                    <a:lstStyle/>
                    <a:p>
                      <a:r>
                        <a:rPr sz="1100" b="1">
                          <a:solidFill>
                            <a:srgbClr val="FFFFFF"/>
                          </a:solidFill>
                        </a:rPr>
                        <a:t>Clause</a:t>
                      </a:r>
                    </a:p>
                  </a:txBody>
                  <a:tcPr anchor="ctr" marT="36576" marB="36576">
                    <a:solidFill>
                      <a:srgbClr val="2A446F"/>
                    </a:solidFill>
                  </a:tcPr>
                </a:tc>
              </a:tr>
              <a:tr h="426720">
                <a:tc>
                  <a:txBody>
                    <a:bodyPr/>
                    <a:lstStyle/>
                    <a:p>
                      <a:r>
                        <a:rPr sz="1100" b="1">
                          <a:solidFill>
                            <a:srgbClr val="1F1F1F"/>
                          </a:solidFill>
                        </a:rPr>
                        <a:t>GLM-5.3</a:t>
                      </a:r>
                    </a:p>
                  </a:txBody>
                  <a:tcPr anchor="ctr" marT="36576" marB="36576">
                    <a:solidFill>
                      <a:srgbClr val="FFFFFF"/>
                    </a:solidFill>
                  </a:tcPr>
                </a:tc>
                <a:tc>
                  <a:txBody>
                    <a:bodyPr/>
                    <a:lstStyle/>
                    <a:p>
                      <a:r>
                        <a:rPr sz="1100" b="0">
                          <a:solidFill>
                            <a:srgbClr val="1F1F1F"/>
                          </a:solidFill>
                        </a:rPr>
                        <a:t>MaaS &gt; $10B revenue →</a:t>
                      </a:r>
                    </a:p>
                    <a:p>
                      <a:r>
                        <a:rPr sz="1100" b="0">
                          <a:solidFill>
                            <a:srgbClr val="1F1F1F"/>
                          </a:solidFill>
                        </a:rPr>
                        <a:t>Z.ai security review</a:t>
                      </a:r>
                    </a:p>
                  </a:txBody>
                  <a:tcPr anchor="ctr" marT="36576" marB="36576">
                    <a:solidFill>
                      <a:srgbClr val="FFFFFF"/>
                    </a:solidFill>
                  </a:tcPr>
                </a:tc>
              </a:tr>
              <a:tr h="426720">
                <a:tc>
                  <a:txBody>
                    <a:bodyPr/>
                    <a:lstStyle/>
                    <a:p>
                      <a:r>
                        <a:rPr sz="1100" b="1">
                          <a:solidFill>
                            <a:srgbClr val="1F1F1F"/>
                          </a:solidFill>
                        </a:rPr>
                        <a:t>Kimi K3</a:t>
                      </a:r>
                    </a:p>
                  </a:txBody>
                  <a:tcPr anchor="ctr" marT="36576" marB="36576">
                    <a:solidFill>
                      <a:srgbClr val="F3F4F8"/>
                    </a:solidFill>
                  </a:tcPr>
                </a:tc>
                <a:tc>
                  <a:txBody>
                    <a:bodyPr/>
                    <a:lstStyle/>
                    <a:p>
                      <a:r>
                        <a:rPr sz="1100" b="0">
                          <a:solidFill>
                            <a:srgbClr val="1F1F1F"/>
                          </a:solidFill>
                        </a:rPr>
                        <a:t>MaaS &gt; $20M → agreement;</a:t>
                      </a:r>
                    </a:p>
                    <a:p>
                      <a:r>
                        <a:rPr sz="1100" b="0">
                          <a:solidFill>
                            <a:srgbClr val="1F1F1F"/>
                          </a:solidFill>
                        </a:rPr>
                        <a:t>attribution &gt; 100M MAU</a:t>
                      </a:r>
                    </a:p>
                  </a:txBody>
                  <a:tcPr anchor="ctr" marT="36576" marB="36576">
                    <a:solidFill>
                      <a:srgbClr val="F3F4F8"/>
                    </a:solidFill>
                  </a:tcPr>
                </a:tc>
              </a:tr>
              <a:tr h="292608">
                <a:tc>
                  <a:txBody>
                    <a:bodyPr/>
                    <a:lstStyle/>
                    <a:p>
                      <a:r>
                        <a:rPr sz="1100" b="1">
                          <a:solidFill>
                            <a:srgbClr val="1F1F1F"/>
                          </a:solidFill>
                        </a:rPr>
                        <a:t>Qwen3.8 Max</a:t>
                      </a:r>
                    </a:p>
                  </a:txBody>
                  <a:tcPr anchor="ctr" marT="36576" marB="36576">
                    <a:solidFill>
                      <a:srgbClr val="FFFFFF"/>
                    </a:solidFill>
                  </a:tcPr>
                </a:tc>
                <a:tc>
                  <a:txBody>
                    <a:bodyPr/>
                    <a:lstStyle/>
                    <a:p>
                      <a:r>
                        <a:rPr sz="1100" b="0">
                          <a:solidFill>
                            <a:srgbClr val="1F1F1F"/>
                          </a:solidFill>
                        </a:rPr>
                        <a:t>MaaS &gt; $50M → a licence</a:t>
                      </a:r>
                    </a:p>
                  </a:txBody>
                  <a:tcPr anchor="ctr" marT="36576" marB="36576">
                    <a:solidFill>
                      <a:srgbClr val="FFFFFF"/>
                    </a:solidFill>
                  </a:tcPr>
                </a:tc>
              </a:tr>
              <a:tr h="426720">
                <a:tc>
                  <a:txBody>
                    <a:bodyPr/>
                    <a:lstStyle/>
                    <a:p>
                      <a:r>
                        <a:rPr sz="1100" b="1">
                          <a:solidFill>
                            <a:srgbClr val="1F1F1F"/>
                          </a:solidFill>
                        </a:rPr>
                        <a:t>Mistral Medium 3.5</a:t>
                      </a:r>
                    </a:p>
                  </a:txBody>
                  <a:tcPr anchor="ctr" marT="36576" marB="36576">
                    <a:solidFill>
                      <a:srgbClr val="F3F4F8"/>
                    </a:solidFill>
                  </a:tcPr>
                </a:tc>
                <a:tc>
                  <a:txBody>
                    <a:bodyPr/>
                    <a:lstStyle/>
                    <a:p>
                      <a:r>
                        <a:rPr sz="1100" b="0">
                          <a:solidFill>
                            <a:srgbClr val="1F1F1F"/>
                          </a:solidFill>
                        </a:rPr>
                        <a:t>&gt; $20M / month → no rights</a:t>
                      </a:r>
                    </a:p>
                  </a:txBody>
                  <a:tcPr anchor="ctr" marT="36576" marB="36576">
                    <a:solidFill>
                      <a:srgbClr val="F3F4F8"/>
                    </a:solidFill>
                  </a:tcPr>
                </a:tc>
              </a:tr>
            </a:tbl>
          </a:graphicData>
        </a:graphic>
      </p:graphicFrame>
      <p:sp>
        <p:nvSpPr>
          <p:cNvPr id="8" name="Oval 7"/>
          <p:cNvSpPr/>
          <p:nvPr/>
        </p:nvSpPr>
        <p:spPr>
          <a:xfrm>
            <a:off x="612647" y="248107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290779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267456"/>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3627120"/>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105656"/>
            <a:ext cx="4572000" cy="548640"/>
          </a:xfrm>
          <a:prstGeom prst="rect">
            <a:avLst/>
          </a:prstGeom>
          <a:noFill/>
        </p:spPr>
        <p:txBody>
          <a:bodyPr wrap="square" lIns="0" rIns="0" tIns="0" bIns="0" anchor="t">
            <a:spAutoFit/>
          </a:bodyPr>
          <a:lstStyle/>
          <a:p>
            <a:pPr algn="l">
              <a:spcAft>
                <a:spcPts val="0"/>
              </a:spcAft>
            </a:pPr>
            <a:r>
              <a:rPr sz="1300" b="1" i="0">
                <a:solidFill>
                  <a:srgbClr val="2A446F"/>
                </a:solidFill>
              </a:rPr>
              <a:t>Aimed at the clouds — not at a team running its own copy. Still: read it.</a:t>
            </a:r>
          </a:p>
        </p:txBody>
      </p:sp>
      <p:sp>
        <p:nvSpPr>
          <p:cNvPr id="13" name="Rectangle 12"/>
          <p:cNvSpPr/>
          <p:nvPr/>
        </p:nvSpPr>
        <p:spPr>
          <a:xfrm>
            <a:off x="5340096" y="1417320"/>
            <a:ext cx="18288" cy="361188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32120" y="1371600"/>
            <a:ext cx="4709159" cy="292608"/>
          </a:xfrm>
          <a:prstGeom prst="rect">
            <a:avLst/>
          </a:prstGeom>
          <a:noFill/>
        </p:spPr>
        <p:txBody>
          <a:bodyPr wrap="square" lIns="0" rIns="0" tIns="0" bIns="0" anchor="t">
            <a:spAutoFit/>
          </a:bodyPr>
          <a:lstStyle/>
          <a:p>
            <a:pPr algn="l">
              <a:spcAft>
                <a:spcPts val="0"/>
              </a:spcAft>
            </a:pPr>
            <a:r>
              <a:rPr sz="1300" b="1" i="0">
                <a:solidFill>
                  <a:srgbClr val="8661C5"/>
                </a:solidFill>
              </a:rPr>
              <a:t>2 · OPEN-TRAILING, CLOSED FLAGSHIP</a:t>
            </a:r>
          </a:p>
        </p:txBody>
      </p:sp>
      <p:sp>
        <p:nvSpPr>
          <p:cNvPr id="15" name="TextBox 14"/>
          <p:cNvSpPr txBox="1"/>
          <p:nvPr/>
        </p:nvSpPr>
        <p:spPr>
          <a:xfrm>
            <a:off x="5532120" y="1673352"/>
            <a:ext cx="4709159" cy="274320"/>
          </a:xfrm>
          <a:prstGeom prst="rect">
            <a:avLst/>
          </a:prstGeom>
          <a:noFill/>
        </p:spPr>
        <p:txBody>
          <a:bodyPr wrap="square" lIns="0" rIns="0" tIns="0" bIns="0" anchor="t">
            <a:spAutoFit/>
          </a:bodyPr>
          <a:lstStyle/>
          <a:p>
            <a:pPr algn="l">
              <a:spcAft>
                <a:spcPts val="0"/>
              </a:spcAft>
            </a:pPr>
            <a:r>
              <a:rPr sz="1200" b="0" i="1">
                <a:solidFill>
                  <a:srgbClr val="6B6B6B"/>
                </a:solidFill>
              </a:rPr>
              <a:t>the open model wins developers; the flagship stays a paid API</a:t>
            </a:r>
          </a:p>
        </p:txBody>
      </p:sp>
      <p:sp>
        <p:nvSpPr>
          <p:cNvPr id="16" name="Rounded Rectangle 15"/>
          <p:cNvSpPr/>
          <p:nvPr/>
        </p:nvSpPr>
        <p:spPr>
          <a:xfrm>
            <a:off x="5532120" y="2103120"/>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641848" y="2313432"/>
            <a:ext cx="146304" cy="14630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43016" y="2130551"/>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Wan 2.2 — Apache</a:t>
            </a:r>
          </a:p>
        </p:txBody>
      </p:sp>
      <p:cxnSp>
        <p:nvCxnSpPr>
          <p:cNvPr id="19" name="Connector 18"/>
          <p:cNvCxnSpPr/>
          <p:nvPr/>
        </p:nvCxnSpPr>
        <p:spPr>
          <a:xfrm>
            <a:off x="7767827" y="2386584"/>
            <a:ext cx="23774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42148" y="2103120"/>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51875" y="2313432"/>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3044" y="2130551"/>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Wan 2.5 … 3.0 — API only</a:t>
            </a:r>
          </a:p>
        </p:txBody>
      </p:sp>
      <p:sp>
        <p:nvSpPr>
          <p:cNvPr id="23" name="Rounded Rectangle 22"/>
          <p:cNvSpPr/>
          <p:nvPr/>
        </p:nvSpPr>
        <p:spPr>
          <a:xfrm>
            <a:off x="5532120" y="2852928"/>
            <a:ext cx="1447799"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41848" y="3063240"/>
            <a:ext cx="146304" cy="14630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3016" y="2880360"/>
            <a:ext cx="1100327" cy="512064"/>
          </a:xfrm>
          <a:prstGeom prst="rect">
            <a:avLst/>
          </a:prstGeom>
          <a:noFill/>
        </p:spPr>
        <p:txBody>
          <a:bodyPr wrap="square" lIns="0" rIns="0" tIns="0" bIns="0" anchor="ctr">
            <a:spAutoFit/>
          </a:bodyPr>
          <a:lstStyle/>
          <a:p>
            <a:pPr algn="l">
              <a:spcAft>
                <a:spcPts val="0"/>
              </a:spcAft>
            </a:pPr>
            <a:r>
              <a:rPr sz="1050" b="0" i="0">
                <a:solidFill>
                  <a:srgbClr val="1F1F1F"/>
                </a:solidFill>
              </a:rPr>
              <a:t>Qwen-Image-2512</a:t>
            </a:r>
          </a:p>
          <a:p>
            <a:pPr algn="l">
              <a:spcAft>
                <a:spcPts val="0"/>
              </a:spcAft>
            </a:pPr>
            <a:r>
              <a:rPr sz="1050" b="0" i="0">
                <a:solidFill>
                  <a:srgbClr val="1F1F1F"/>
                </a:solidFill>
              </a:rPr>
              <a:t>Apache</a:t>
            </a:r>
          </a:p>
        </p:txBody>
      </p:sp>
      <p:cxnSp>
        <p:nvCxnSpPr>
          <p:cNvPr id="26" name="Connector 25"/>
          <p:cNvCxnSpPr/>
          <p:nvPr/>
        </p:nvCxnSpPr>
        <p:spPr>
          <a:xfrm>
            <a:off x="7016496" y="3136392"/>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162800" y="2852928"/>
            <a:ext cx="1447799"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272528" y="3063240"/>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3696" y="2880360"/>
            <a:ext cx="1100327" cy="512064"/>
          </a:xfrm>
          <a:prstGeom prst="rect">
            <a:avLst/>
          </a:prstGeom>
          <a:noFill/>
        </p:spPr>
        <p:txBody>
          <a:bodyPr wrap="square" lIns="0" rIns="0" tIns="0" bIns="0" anchor="ctr">
            <a:spAutoFit/>
          </a:bodyPr>
          <a:lstStyle/>
          <a:p>
            <a:pPr algn="l">
              <a:spcAft>
                <a:spcPts val="0"/>
              </a:spcAft>
            </a:pPr>
            <a:r>
              <a:rPr sz="1050" b="0" i="0">
                <a:solidFill>
                  <a:srgbClr val="1F1F1F"/>
                </a:solidFill>
              </a:rPr>
              <a:t>Qwen-Image-2.1</a:t>
            </a:r>
          </a:p>
          <a:p>
            <a:pPr algn="l">
              <a:spcAft>
                <a:spcPts val="0"/>
              </a:spcAft>
            </a:pPr>
            <a:r>
              <a:rPr sz="1050" b="0" i="0">
                <a:solidFill>
                  <a:srgbClr val="1F1F1F"/>
                </a:solidFill>
              </a:rPr>
              <a:t>non-commercial</a:t>
            </a:r>
          </a:p>
        </p:txBody>
      </p:sp>
      <p:cxnSp>
        <p:nvCxnSpPr>
          <p:cNvPr id="30" name="Connector 29"/>
          <p:cNvCxnSpPr/>
          <p:nvPr/>
        </p:nvCxnSpPr>
        <p:spPr>
          <a:xfrm>
            <a:off x="8647175" y="3136392"/>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793479" y="2852928"/>
            <a:ext cx="1447799"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903207" y="3063240"/>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04375" y="2880360"/>
            <a:ext cx="1100327" cy="512064"/>
          </a:xfrm>
          <a:prstGeom prst="rect">
            <a:avLst/>
          </a:prstGeom>
          <a:noFill/>
        </p:spPr>
        <p:txBody>
          <a:bodyPr wrap="square" lIns="0" rIns="0" tIns="0" bIns="0" anchor="ctr">
            <a:spAutoFit/>
          </a:bodyPr>
          <a:lstStyle/>
          <a:p>
            <a:pPr algn="l">
              <a:spcAft>
                <a:spcPts val="0"/>
              </a:spcAft>
            </a:pPr>
            <a:r>
              <a:rPr sz="1050" b="0" i="0">
                <a:solidFill>
                  <a:srgbClr val="1F1F1F"/>
                </a:solidFill>
              </a:rPr>
              <a:t>2.0 / 3.0</a:t>
            </a:r>
          </a:p>
          <a:p>
            <a:pPr algn="l">
              <a:spcAft>
                <a:spcPts val="0"/>
              </a:spcAft>
            </a:pPr>
            <a:r>
              <a:rPr sz="1050" b="0" i="0">
                <a:solidFill>
                  <a:srgbClr val="1F1F1F"/>
                </a:solidFill>
              </a:rPr>
              <a:t>API only</a:t>
            </a:r>
          </a:p>
        </p:txBody>
      </p:sp>
      <p:sp>
        <p:nvSpPr>
          <p:cNvPr id="34" name="Rounded Rectangle 33"/>
          <p:cNvSpPr/>
          <p:nvPr/>
        </p:nvSpPr>
        <p:spPr>
          <a:xfrm>
            <a:off x="5532120" y="3602736"/>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5641848" y="3813048"/>
            <a:ext cx="146304" cy="14630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43016" y="3630168"/>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Muse Glimmer — Apache</a:t>
            </a:r>
          </a:p>
        </p:txBody>
      </p:sp>
      <p:cxnSp>
        <p:nvCxnSpPr>
          <p:cNvPr id="37" name="Connector 36"/>
          <p:cNvCxnSpPr/>
          <p:nvPr/>
        </p:nvCxnSpPr>
        <p:spPr>
          <a:xfrm>
            <a:off x="7767827" y="3886200"/>
            <a:ext cx="23774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042148" y="3602736"/>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151875" y="3813048"/>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53044" y="3630168"/>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Muse Spark — closed, weights “promised”</a:t>
            </a:r>
          </a:p>
        </p:txBody>
      </p:sp>
      <p:sp>
        <p:nvSpPr>
          <p:cNvPr id="41" name="TextBox 40"/>
          <p:cNvSpPr txBox="1"/>
          <p:nvPr/>
        </p:nvSpPr>
        <p:spPr>
          <a:xfrm>
            <a:off x="5532120" y="4315968"/>
            <a:ext cx="4709159" cy="548640"/>
          </a:xfrm>
          <a:prstGeom prst="rect">
            <a:avLst/>
          </a:prstGeom>
          <a:noFill/>
        </p:spPr>
        <p:txBody>
          <a:bodyPr wrap="square" lIns="0" rIns="0" tIns="0" bIns="0" anchor="t">
            <a:spAutoFit/>
          </a:bodyPr>
          <a:lstStyle/>
          <a:p>
            <a:pPr algn="l">
              <a:spcAft>
                <a:spcPts val="0"/>
              </a:spcAft>
            </a:pPr>
            <a:r>
              <a:rPr sz="1300" b="1" i="0">
                <a:solidFill>
                  <a:srgbClr val="2A446F"/>
                </a:solidFill>
              </a:rPr>
              <a:t>Aimed at developers — the open model wins you, the flagship bills you.</a:t>
            </a:r>
          </a:p>
        </p:txBody>
      </p:sp>
      <p:sp>
        <p:nvSpPr>
          <p:cNvPr id="42" name="TextBox 4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Open weights are a market-entry tool, not a promise — pin the version you ship.</a:t>
            </a:r>
          </a:p>
        </p:txBody>
      </p:sp>
      <p:sp>
        <p:nvSpPr>
          <p:cNvPr id="43" name="TextBox 4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 · Model catalog §11 (checked 2026-09-21) · Research: local AI, media &amp; beyond the West, 2026-09-19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Beyond the US and China: sovereign labs ship open weights too</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017520"/>
        </p:xfrm>
        <a:graphic>
          <a:graphicData uri="http://schemas.openxmlformats.org/drawingml/2006/table">
            <a:tbl>
              <a:tblPr firstRow="1" bandRow="1">
                <a:tableStyleId>{5C22544A-7EE6-4342-B048-85BDC9FD1C3A}</a:tableStyleId>
              </a:tblPr>
              <a:tblGrid>
                <a:gridCol w="1691640"/>
                <a:gridCol w="2057400"/>
                <a:gridCol w="1051560"/>
                <a:gridCol w="2194560"/>
                <a:gridCol w="2386584"/>
              </a:tblGrid>
              <a:tr h="365760">
                <a:tc>
                  <a:txBody>
                    <a:bodyPr/>
                    <a:lstStyle/>
                    <a:p>
                      <a:r>
                        <a:rPr sz="1200" b="1">
                          <a:solidFill>
                            <a:srgbClr val="FFFFFF"/>
                          </a:solidFill>
                        </a:rPr>
                        <a:t>Lab</a:t>
                      </a:r>
                    </a:p>
                  </a:txBody>
                  <a:tcPr anchor="ctr" marT="36576" marB="36576">
                    <a:solidFill>
                      <a:srgbClr val="2A446F"/>
                    </a:solidFill>
                  </a:tcPr>
                </a:tc>
                <a:tc>
                  <a:txBody>
                    <a:bodyPr/>
                    <a:lstStyle/>
                    <a:p>
                      <a:r>
                        <a:rPr sz="1200" b="1">
                          <a:solidFill>
                            <a:srgbClr val="FFFFFF"/>
                          </a:solidFill>
                        </a:rPr>
                        <a:t>Open weights</a:t>
                      </a:r>
                    </a:p>
                  </a:txBody>
                  <a:tcPr anchor="ctr" marT="36576" marB="36576">
                    <a:solidFill>
                      <a:srgbClr val="2A446F"/>
                    </a:solidFill>
                  </a:tcPr>
                </a:tc>
                <a:tc>
                  <a:txBody>
                    <a:bodyPr/>
                    <a:lstStyle/>
                    <a:p>
                      <a:r>
                        <a:rPr sz="1200" b="1">
                          <a:solidFill>
                            <a:srgbClr val="FFFFFF"/>
                          </a:solidFill>
                        </a:rPr>
                        <a:t>Date</a:t>
                      </a:r>
                    </a:p>
                  </a:txBody>
                  <a:tcPr anchor="ctr" marT="36576" marB="36576">
                    <a:solidFill>
                      <a:srgbClr val="2A446F"/>
                    </a:solidFill>
                  </a:tcPr>
                </a:tc>
                <a:tc>
                  <a:txBody>
                    <a:bodyPr/>
                    <a:lstStyle/>
                    <a:p>
                      <a:r>
                        <a:rPr sz="1200" b="1">
                          <a:solidFill>
                            <a:srgbClr val="FFFFFF"/>
                          </a:solidFill>
                        </a:rPr>
                        <a:t>Licence</a:t>
                      </a:r>
                    </a:p>
                  </a:txBody>
                  <a:tcPr anchor="ctr" marT="36576" marB="36576">
                    <a:solidFill>
                      <a:srgbClr val="2A446F"/>
                    </a:solidFill>
                  </a:tcPr>
                </a:tc>
                <a:tc>
                  <a:txBody>
                    <a:bodyPr/>
                    <a:lstStyle/>
                    <a:p>
                      <a:r>
                        <a:rPr sz="1200" b="1">
                          <a:solidFill>
                            <a:srgbClr val="FFFFFF"/>
                          </a:solidFill>
                        </a:rPr>
                        <a:t>Note</a:t>
                      </a:r>
                    </a:p>
                  </a:txBody>
                  <a:tcPr anchor="ctr" marT="36576" marB="36576">
                    <a:solidFill>
                      <a:srgbClr val="2A446F"/>
                    </a:solidFill>
                  </a:tcPr>
                </a:tc>
              </a:tr>
              <a:tr h="457200">
                <a:tc>
                  <a:txBody>
                    <a:bodyPr/>
                    <a:lstStyle/>
                    <a:p>
                      <a:r>
                        <a:rPr sz="1200" b="1">
                          <a:solidFill>
                            <a:srgbClr val="1F1F1F"/>
                          </a:solidFill>
                        </a:rPr>
                        <a:t>Mistral (FR)</a:t>
                      </a:r>
                    </a:p>
                  </a:txBody>
                  <a:tcPr anchor="ctr" marT="36576" marB="36576">
                    <a:solidFill>
                      <a:srgbClr val="FFFFFF"/>
                    </a:solidFill>
                  </a:tcPr>
                </a:tc>
                <a:tc>
                  <a:txBody>
                    <a:bodyPr/>
                    <a:lstStyle/>
                    <a:p>
                      <a:r>
                        <a:rPr sz="1200" b="0">
                          <a:solidFill>
                            <a:srgbClr val="1F1F1F"/>
                          </a:solidFill>
                        </a:rPr>
                        <a:t>Large 3</a:t>
                      </a:r>
                    </a:p>
                  </a:txBody>
                  <a:tcPr anchor="ctr" marT="36576" marB="36576">
                    <a:solidFill>
                      <a:srgbClr val="FFFFFF"/>
                    </a:solidFill>
                  </a:tcPr>
                </a:tc>
                <a:tc>
                  <a:txBody>
                    <a:bodyPr/>
                    <a:lstStyle/>
                    <a:p>
                      <a:r>
                        <a:rPr sz="1200" b="0">
                          <a:solidFill>
                            <a:srgbClr val="1F1F1F"/>
                          </a:solidFill>
                        </a:rPr>
                        <a:t>12-2025</a:t>
                      </a:r>
                    </a:p>
                  </a:txBody>
                  <a:tcPr anchor="ctr" marT="36576" marB="36576">
                    <a:solidFill>
                      <a:srgbClr val="FFFFFF"/>
                    </a:solidFill>
                  </a:tcPr>
                </a:tc>
                <a:tc>
                  <a:txBody>
                    <a:bodyPr/>
                    <a:lstStyle/>
                    <a:p>
                      <a:r>
                        <a:rPr sz="1200" b="0">
                          <a:solidFill>
                            <a:srgbClr val="1F1F1F"/>
                          </a:solidFill>
                        </a:rPr>
                        <a:t>Apache-2.0</a:t>
                      </a:r>
                    </a:p>
                  </a:txBody>
                  <a:tcPr anchor="ctr" marT="36576" marB="36576">
                    <a:solidFill>
                      <a:srgbClr val="FFFFFF"/>
                    </a:solidFill>
                  </a:tcPr>
                </a:tc>
                <a:tc>
                  <a:txBody>
                    <a:bodyPr/>
                    <a:lstStyle/>
                    <a:p>
                      <a:r>
                        <a:rPr sz="1200" b="0">
                          <a:solidFill>
                            <a:srgbClr val="1F1F1F"/>
                          </a:solidFill>
                        </a:rPr>
                        <a:t>675B / 41B active;</a:t>
                      </a:r>
                    </a:p>
                    <a:p>
                      <a:r>
                        <a:rPr sz="1200" b="0">
                          <a:solidFill>
                            <a:srgbClr val="1F1F1F"/>
                          </a:solidFill>
                        </a:rPr>
                        <a:t>on Foundry DfA</a:t>
                      </a:r>
                    </a:p>
                  </a:txBody>
                  <a:tcPr anchor="ctr" marT="36576" marB="36576">
                    <a:solidFill>
                      <a:srgbClr val="FFFFFF"/>
                    </a:solidFill>
                  </a:tcPr>
                </a:tc>
              </a:tr>
              <a:tr h="457200">
                <a:tc>
                  <a:txBody>
                    <a:bodyPr/>
                    <a:lstStyle/>
                    <a:p>
                      <a:r>
                        <a:rPr sz="1200" b="1">
                          <a:solidFill>
                            <a:srgbClr val="1F1F1F"/>
                          </a:solidFill>
                        </a:rPr>
                        <a:t>Mistral (FR)</a:t>
                      </a:r>
                    </a:p>
                  </a:txBody>
                  <a:tcPr anchor="ctr" marT="36576" marB="36576">
                    <a:solidFill>
                      <a:srgbClr val="F3F4F8"/>
                    </a:solidFill>
                  </a:tcPr>
                </a:tc>
                <a:tc>
                  <a:txBody>
                    <a:bodyPr/>
                    <a:lstStyle/>
                    <a:p>
                      <a:r>
                        <a:rPr sz="1200" b="0">
                          <a:solidFill>
                            <a:srgbClr val="1F1F1F"/>
                          </a:solidFill>
                        </a:rPr>
                        <a:t>Small 4</a:t>
                      </a:r>
                    </a:p>
                  </a:txBody>
                  <a:tcPr anchor="ctr" marT="36576" marB="36576">
                    <a:solidFill>
                      <a:srgbClr val="F3F4F8"/>
                    </a:solidFill>
                  </a:tcPr>
                </a:tc>
                <a:tc>
                  <a:txBody>
                    <a:bodyPr/>
                    <a:lstStyle/>
                    <a:p>
                      <a:r>
                        <a:rPr sz="1200" b="0">
                          <a:solidFill>
                            <a:srgbClr val="1F1F1F"/>
                          </a:solidFill>
                        </a:rPr>
                        <a:t>03-16</a:t>
                      </a:r>
                    </a:p>
                  </a:txBody>
                  <a:tcPr anchor="ctr" marT="36576" marB="36576">
                    <a:solidFill>
                      <a:srgbClr val="F3F4F8"/>
                    </a:solidFill>
                  </a:tcPr>
                </a:tc>
                <a:tc>
                  <a:txBody>
                    <a:bodyPr/>
                    <a:lstStyle/>
                    <a:p>
                      <a:r>
                        <a:rPr sz="1200" b="0">
                          <a:solidFill>
                            <a:srgbClr val="1F1F1F"/>
                          </a:solidFill>
                        </a:rPr>
                        <a:t>Apache-2.0</a:t>
                      </a:r>
                    </a:p>
                  </a:txBody>
                  <a:tcPr anchor="ctr" marT="36576" marB="36576">
                    <a:solidFill>
                      <a:srgbClr val="F3F4F8"/>
                    </a:solidFill>
                  </a:tcPr>
                </a:tc>
                <a:tc>
                  <a:txBody>
                    <a:bodyPr/>
                    <a:lstStyle/>
                    <a:p>
                      <a:r>
                        <a:rPr sz="1200" b="0">
                          <a:solidFill>
                            <a:srgbClr val="1F1F1F"/>
                          </a:solidFill>
                        </a:rPr>
                        <a:t>119B MoE, 6B active —</a:t>
                      </a:r>
                    </a:p>
                    <a:p>
                      <a:r>
                        <a:rPr sz="1200" b="0">
                          <a:solidFill>
                            <a:srgbClr val="1F1F1F"/>
                          </a:solidFill>
                        </a:rPr>
                        <a:t>needs a ~64 GB box</a:t>
                      </a:r>
                    </a:p>
                  </a:txBody>
                  <a:tcPr anchor="ctr" marT="36576" marB="36576">
                    <a:solidFill>
                      <a:srgbClr val="F3F4F8"/>
                    </a:solidFill>
                  </a:tcPr>
                </a:tc>
              </a:tr>
              <a:tr h="457200">
                <a:tc>
                  <a:txBody>
                    <a:bodyPr/>
                    <a:lstStyle/>
                    <a:p>
                      <a:r>
                        <a:rPr sz="1200" b="1">
                          <a:solidFill>
                            <a:srgbClr val="1F1F1F"/>
                          </a:solidFill>
                        </a:rPr>
                        <a:t>Mistral (FR)</a:t>
                      </a:r>
                    </a:p>
                  </a:txBody>
                  <a:tcPr anchor="ctr" marT="36576" marB="36576">
                    <a:solidFill>
                      <a:srgbClr val="FFFFFF"/>
                    </a:solidFill>
                  </a:tcPr>
                </a:tc>
                <a:tc>
                  <a:txBody>
                    <a:bodyPr/>
                    <a:lstStyle/>
                    <a:p>
                      <a:r>
                        <a:rPr sz="1200" b="0">
                          <a:solidFill>
                            <a:srgbClr val="1F1F1F"/>
                          </a:solidFill>
                        </a:rPr>
                        <a:t>Medium 3.5</a:t>
                      </a:r>
                    </a:p>
                  </a:txBody>
                  <a:tcPr anchor="ctr" marT="36576" marB="36576">
                    <a:solidFill>
                      <a:srgbClr val="FFFFFF"/>
                    </a:solidFill>
                  </a:tcPr>
                </a:tc>
                <a:tc>
                  <a:txBody>
                    <a:bodyPr/>
                    <a:lstStyle/>
                    <a:p>
                      <a:r>
                        <a:rPr sz="1200" b="0">
                          <a:solidFill>
                            <a:srgbClr val="1F1F1F"/>
                          </a:solidFill>
                        </a:rPr>
                        <a:t>04-28</a:t>
                      </a:r>
                    </a:p>
                  </a:txBody>
                  <a:tcPr anchor="ctr" marT="36576" marB="36576">
                    <a:solidFill>
                      <a:srgbClr val="FFFFFF"/>
                    </a:solidFill>
                  </a:tcPr>
                </a:tc>
                <a:tc>
                  <a:txBody>
                    <a:bodyPr/>
                    <a:lstStyle/>
                    <a:p>
                      <a:r>
                        <a:rPr sz="1200" b="0">
                          <a:solidFill>
                            <a:srgbClr val="1F1F1F"/>
                          </a:solidFill>
                        </a:rPr>
                        <a:t>modified MIT: &gt; $20M /</a:t>
                      </a:r>
                    </a:p>
                    <a:p>
                      <a:r>
                        <a:rPr sz="1200" b="0">
                          <a:solidFill>
                            <a:srgbClr val="1F1F1F"/>
                          </a:solidFill>
                        </a:rPr>
                        <a:t>month → no rights</a:t>
                      </a:r>
                    </a:p>
                  </a:txBody>
                  <a:tcPr anchor="ctr" marT="36576" marB="36576">
                    <a:solidFill>
                      <a:srgbClr val="FFFFFF"/>
                    </a:solidFill>
                  </a:tcPr>
                </a:tc>
                <a:tc>
                  <a:txBody>
                    <a:bodyPr/>
                    <a:lstStyle/>
                    <a:p>
                      <a:r>
                        <a:rPr sz="1200" b="0">
                          <a:solidFill>
                            <a:srgbClr val="1F1F1F"/>
                          </a:solidFill>
                        </a:rPr>
                        <a:t>on Foundry DfA</a:t>
                      </a:r>
                    </a:p>
                  </a:txBody>
                  <a:tcPr anchor="ctr" marT="36576" marB="36576">
                    <a:solidFill>
                      <a:srgbClr val="FFFFFF"/>
                    </a:solidFill>
                  </a:tcPr>
                </a:tc>
              </a:tr>
              <a:tr h="365760">
                <a:tc>
                  <a:txBody>
                    <a:bodyPr/>
                    <a:lstStyle/>
                    <a:p>
                      <a:r>
                        <a:rPr sz="1200" b="1">
                          <a:solidFill>
                            <a:srgbClr val="1F1F1F"/>
                          </a:solidFill>
                        </a:rPr>
                        <a:t>Sarvam (IN)</a:t>
                      </a:r>
                    </a:p>
                  </a:txBody>
                  <a:tcPr anchor="ctr" marT="36576" marB="36576">
                    <a:solidFill>
                      <a:srgbClr val="F3F4F8"/>
                    </a:solidFill>
                  </a:tcPr>
                </a:tc>
                <a:tc>
                  <a:txBody>
                    <a:bodyPr/>
                    <a:lstStyle/>
                    <a:p>
                      <a:r>
                        <a:rPr sz="1200" b="0">
                          <a:solidFill>
                            <a:srgbClr val="1F1F1F"/>
                          </a:solidFill>
                        </a:rPr>
                        <a:t>Sarvam-30B / 105B</a:t>
                      </a:r>
                    </a:p>
                  </a:txBody>
                  <a:tcPr anchor="ctr" marT="36576" marB="36576">
                    <a:solidFill>
                      <a:srgbClr val="F3F4F8"/>
                    </a:solidFill>
                  </a:tcPr>
                </a:tc>
                <a:tc>
                  <a:txBody>
                    <a:bodyPr/>
                    <a:lstStyle/>
                    <a:p>
                      <a:r>
                        <a:rPr sz="1200" b="0">
                          <a:solidFill>
                            <a:srgbClr val="1F1F1F"/>
                          </a:solidFill>
                        </a:rPr>
                        <a:t>03-03</a:t>
                      </a:r>
                    </a:p>
                  </a:txBody>
                  <a:tcPr anchor="ctr" marT="36576" marB="36576">
                    <a:solidFill>
                      <a:srgbClr val="F3F4F8"/>
                    </a:solidFill>
                  </a:tcPr>
                </a:tc>
                <a:tc>
                  <a:txBody>
                    <a:bodyPr/>
                    <a:lstStyle/>
                    <a:p>
                      <a:r>
                        <a:rPr sz="1200" b="0">
                          <a:solidFill>
                            <a:srgbClr val="1F1F1F"/>
                          </a:solidFill>
                        </a:rPr>
                        <a:t>Apache-2.0</a:t>
                      </a:r>
                    </a:p>
                  </a:txBody>
                  <a:tcPr anchor="ctr" marT="36576" marB="36576">
                    <a:solidFill>
                      <a:srgbClr val="F3F4F8"/>
                    </a:solidFill>
                  </a:tcPr>
                </a:tc>
                <a:tc>
                  <a:txBody>
                    <a:bodyPr/>
                    <a:lstStyle/>
                    <a:p>
                      <a:r>
                        <a:rPr sz="1200" b="0">
                          <a:solidFill>
                            <a:srgbClr val="1F1F1F"/>
                          </a:solidFill>
                        </a:rPr>
                        <a:t>Indian-language data</a:t>
                      </a:r>
                    </a:p>
                  </a:txBody>
                  <a:tcPr anchor="ctr" marT="36576" marB="36576">
                    <a:solidFill>
                      <a:srgbClr val="F3F4F8"/>
                    </a:solidFill>
                  </a:tcPr>
                </a:tc>
              </a:tr>
              <a:tr h="457200">
                <a:tc>
                  <a:txBody>
                    <a:bodyPr/>
                    <a:lstStyle/>
                    <a:p>
                      <a:r>
                        <a:rPr sz="1200" b="1">
                          <a:solidFill>
                            <a:srgbClr val="1F1F1F"/>
                          </a:solidFill>
                        </a:rPr>
                        <a:t>Swiss AI (CH)</a:t>
                      </a:r>
                    </a:p>
                  </a:txBody>
                  <a:tcPr anchor="ctr" marT="36576" marB="36576">
                    <a:solidFill>
                      <a:srgbClr val="FFFFFF"/>
                    </a:solidFill>
                  </a:tcPr>
                </a:tc>
                <a:tc>
                  <a:txBody>
                    <a:bodyPr/>
                    <a:lstStyle/>
                    <a:p>
                      <a:r>
                        <a:rPr sz="1200" b="0">
                          <a:solidFill>
                            <a:srgbClr val="1F1F1F"/>
                          </a:solidFill>
                        </a:rPr>
                        <a:t>Apertus v1.5 8B / 70B</a:t>
                      </a:r>
                    </a:p>
                  </a:txBody>
                  <a:tcPr anchor="ctr" marT="36576" marB="36576">
                    <a:solidFill>
                      <a:srgbClr val="FFFFFF"/>
                    </a:solidFill>
                  </a:tcPr>
                </a:tc>
                <a:tc>
                  <a:txBody>
                    <a:bodyPr/>
                    <a:lstStyle/>
                    <a:p>
                      <a:r>
                        <a:rPr sz="1200" b="0">
                          <a:solidFill>
                            <a:srgbClr val="1F1F1F"/>
                          </a:solidFill>
                        </a:rPr>
                        <a:t>07-24</a:t>
                      </a:r>
                    </a:p>
                  </a:txBody>
                  <a:tcPr anchor="ctr" marT="36576" marB="36576">
                    <a:solidFill>
                      <a:srgbClr val="FFFFFF"/>
                    </a:solidFill>
                  </a:tcPr>
                </a:tc>
                <a:tc>
                  <a:txBody>
                    <a:bodyPr/>
                    <a:lstStyle/>
                    <a:p>
                      <a:r>
                        <a:rPr sz="1200" b="0">
                          <a:solidFill>
                            <a:srgbClr val="1F1F1F"/>
                          </a:solidFill>
                        </a:rPr>
                        <a:t>Apache-2.0</a:t>
                      </a:r>
                    </a:p>
                  </a:txBody>
                  <a:tcPr anchor="ctr" marT="36576" marB="36576">
                    <a:solidFill>
                      <a:srgbClr val="FFFFFF"/>
                    </a:solidFill>
                  </a:tcPr>
                </a:tc>
                <a:tc>
                  <a:txBody>
                    <a:bodyPr/>
                    <a:lstStyle/>
                    <a:p>
                      <a:r>
                        <a:rPr sz="1200" b="0">
                          <a:solidFill>
                            <a:srgbClr val="1F1F1F"/>
                          </a:solidFill>
                        </a:rPr>
                        <a:t>fully open, incl. data</a:t>
                      </a:r>
                    </a:p>
                    <a:p>
                      <a:r>
                        <a:rPr sz="1200" b="0">
                          <a:solidFill>
                            <a:srgbClr val="1F1F1F"/>
                          </a:solidFill>
                        </a:rPr>
                        <a:t>and recipe</a:t>
                      </a:r>
                    </a:p>
                  </a:txBody>
                  <a:tcPr anchor="ctr" marT="36576" marB="36576">
                    <a:solidFill>
                      <a:srgbClr val="FFFFFF"/>
                    </a:solidFill>
                  </a:tcPr>
                </a:tc>
              </a:tr>
              <a:tr h="457200">
                <a:tc>
                  <a:txBody>
                    <a:bodyPr/>
                    <a:lstStyle/>
                    <a:p>
                      <a:r>
                        <a:rPr sz="1200" b="1">
                          <a:solidFill>
                            <a:srgbClr val="1F1F1F"/>
                          </a:solidFill>
                        </a:rPr>
                        <a:t>Cohere (CA)</a:t>
                      </a:r>
                    </a:p>
                  </a:txBody>
                  <a:tcPr anchor="ctr" marT="36576" marB="36576">
                    <a:solidFill>
                      <a:srgbClr val="F3F4F8"/>
                    </a:solidFill>
                  </a:tcPr>
                </a:tc>
                <a:tc>
                  <a:txBody>
                    <a:bodyPr/>
                    <a:lstStyle/>
                    <a:p>
                      <a:r>
                        <a:rPr sz="1200" b="0">
                          <a:solidFill>
                            <a:srgbClr val="1F1F1F"/>
                          </a:solidFill>
                        </a:rPr>
                        <a:t>Command A+</a:t>
                      </a:r>
                    </a:p>
                  </a:txBody>
                  <a:tcPr anchor="ctr" marT="36576" marB="36576">
                    <a:solidFill>
                      <a:srgbClr val="F3F4F8"/>
                    </a:solidFill>
                  </a:tcPr>
                </a:tc>
                <a:tc>
                  <a:txBody>
                    <a:bodyPr/>
                    <a:lstStyle/>
                    <a:p>
                      <a:r>
                        <a:rPr sz="1200" b="0">
                          <a:solidFill>
                            <a:srgbClr val="1F1F1F"/>
                          </a:solidFill>
                        </a:rPr>
                        <a:t>05-20</a:t>
                      </a:r>
                    </a:p>
                  </a:txBody>
                  <a:tcPr anchor="ctr" marT="36576" marB="36576">
                    <a:solidFill>
                      <a:srgbClr val="F3F4F8"/>
                    </a:solidFill>
                  </a:tcPr>
                </a:tc>
                <a:tc>
                  <a:txBody>
                    <a:bodyPr/>
                    <a:lstStyle/>
                    <a:p>
                      <a:r>
                        <a:rPr sz="1200" b="0">
                          <a:solidFill>
                            <a:srgbClr val="1F1F1F"/>
                          </a:solidFill>
                        </a:rPr>
                        <a:t>Apache-2.0</a:t>
                      </a:r>
                    </a:p>
                  </a:txBody>
                  <a:tcPr anchor="ctr" marT="36576" marB="36576">
                    <a:solidFill>
                      <a:srgbClr val="F3F4F8"/>
                    </a:solidFill>
                  </a:tcPr>
                </a:tc>
                <a:tc>
                  <a:txBody>
                    <a:bodyPr/>
                    <a:lstStyle/>
                    <a:p>
                      <a:r>
                        <a:rPr sz="1200" b="0">
                          <a:solidFill>
                            <a:srgbClr val="1F1F1F"/>
                          </a:solidFill>
                        </a:rPr>
                        <a:t>218B sparse MoE;</a:t>
                      </a:r>
                    </a:p>
                    <a:p>
                      <a:r>
                        <a:rPr sz="1200" b="0">
                          <a:solidFill>
                            <a:srgbClr val="1F1F1F"/>
                          </a:solidFill>
                        </a:rPr>
                        <a:t>on Foundry DfA</a:t>
                      </a:r>
                    </a:p>
                  </a:txBody>
                  <a:tcPr anchor="ctr" marT="36576" marB="36576">
                    <a:solidFill>
                      <a:srgbClr val="F3F4F8"/>
                    </a:solidFill>
                  </a:tcPr>
                </a:tc>
              </a:tr>
            </a:tbl>
          </a:graphicData>
        </a:graphic>
      </p:graphicFrame>
      <p:sp>
        <p:nvSpPr>
          <p:cNvPr id="5" name="Oval 4"/>
          <p:cNvSpPr/>
          <p:nvPr/>
        </p:nvSpPr>
        <p:spPr>
          <a:xfrm>
            <a:off x="612647" y="188366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34086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798064"/>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20954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62102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07822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453999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517136"/>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4539996"/>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4517136"/>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4431284" y="453999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3308" y="4517136"/>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7193788" y="4517136"/>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Sovereign in practice: an Apache model, run in your own region.</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 · Model catalog §11 (checked 2026-09-21) · Research: local AI, media &amp; beyond the West, 2026-09-19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licence traffic light: read it before you ship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5" name="Rounded Rectangle 4"/>
          <p:cNvSpPr/>
          <p:nvPr/>
        </p:nvSpPr>
        <p:spPr>
          <a:xfrm>
            <a:off x="585216" y="1417320"/>
            <a:ext cx="6446520" cy="118872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86384" y="1600200"/>
            <a:ext cx="384048" cy="384048"/>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62456" y="1527048"/>
            <a:ext cx="5532120" cy="292608"/>
          </a:xfrm>
          <a:prstGeom prst="rect">
            <a:avLst/>
          </a:prstGeom>
          <a:noFill/>
        </p:spPr>
        <p:txBody>
          <a:bodyPr wrap="square" lIns="0" rIns="0" tIns="0" bIns="0" anchor="t">
            <a:spAutoFit/>
          </a:bodyPr>
          <a:lstStyle/>
          <a:p>
            <a:pPr algn="l">
              <a:spcAft>
                <a:spcPts val="0"/>
              </a:spcAft>
            </a:pPr>
            <a:r>
              <a:rPr sz="1300" b="1" i="0">
                <a:solidFill>
                  <a:srgbClr val="2A7F5C"/>
                </a:solidFill>
              </a:rPr>
              <a:t>GO — Apache · MIT · OpenMDW · CC-BY</a:t>
            </a:r>
          </a:p>
        </p:txBody>
      </p:sp>
      <p:sp>
        <p:nvSpPr>
          <p:cNvPr id="8" name="TextBox 7"/>
          <p:cNvSpPr txBox="1"/>
          <p:nvPr/>
        </p:nvSpPr>
        <p:spPr>
          <a:xfrm>
            <a:off x="1362456" y="1837944"/>
            <a:ext cx="5532120" cy="713232"/>
          </a:xfrm>
          <a:prstGeom prst="rect">
            <a:avLst/>
          </a:prstGeom>
          <a:noFill/>
        </p:spPr>
        <p:txBody>
          <a:bodyPr wrap="square" lIns="0" rIns="0" tIns="0" bIns="0" anchor="t">
            <a:spAutoFit/>
          </a:bodyPr>
          <a:lstStyle/>
          <a:p>
            <a:pPr algn="l">
              <a:spcAft>
                <a:spcPts val="0"/>
              </a:spcAft>
            </a:pPr>
            <a:r>
              <a:rPr sz="1100" b="0" i="0">
                <a:solidFill>
                  <a:srgbClr val="1F1F1F"/>
                </a:solidFill>
              </a:rPr>
              <a:t>gpt-oss · Gemma 4 · Qwen3.8-27B · DeepSeek V4.x · GLM-5.3-Flash ·</a:t>
            </a:r>
          </a:p>
          <a:p>
            <a:pPr algn="l">
              <a:spcAft>
                <a:spcPts val="0"/>
              </a:spcAft>
            </a:pPr>
            <a:r>
              <a:rPr sz="1100" b="0" i="0">
                <a:solidFill>
                  <a:srgbClr val="1F1F1F"/>
                </a:solidFill>
              </a:rPr>
              <a:t>Hy4 · MiMo · Z-Image · FLUX.2 klein 4B · Qwen-Image-2512 · Wan 2.2 ·</a:t>
            </a:r>
          </a:p>
          <a:p>
            <a:pPr algn="l">
              <a:spcAft>
                <a:spcPts val="0"/>
              </a:spcAft>
            </a:pPr>
            <a:r>
              <a:rPr sz="1100" b="0" i="0">
                <a:solidFill>
                  <a:srgbClr val="1F1F1F"/>
                </a:solidFill>
              </a:rPr>
              <a:t>ACE-Step 1.5 · Qwen3-TTS · AuK · Parakeet · TRELLIS.2</a:t>
            </a:r>
          </a:p>
        </p:txBody>
      </p:sp>
      <p:sp>
        <p:nvSpPr>
          <p:cNvPr id="9" name="Rounded Rectangle 8"/>
          <p:cNvSpPr/>
          <p:nvPr/>
        </p:nvSpPr>
        <p:spPr>
          <a:xfrm>
            <a:off x="585216" y="2715768"/>
            <a:ext cx="6446520" cy="118872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86384" y="289864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2456" y="2825496"/>
            <a:ext cx="5532120" cy="292608"/>
          </a:xfrm>
          <a:prstGeom prst="rect">
            <a:avLst/>
          </a:prstGeom>
          <a:noFill/>
        </p:spPr>
        <p:txBody>
          <a:bodyPr wrap="square" lIns="0" rIns="0" tIns="0" bIns="0" anchor="t">
            <a:spAutoFit/>
          </a:bodyPr>
          <a:lstStyle/>
          <a:p>
            <a:pPr algn="l">
              <a:spcAft>
                <a:spcPts val="0"/>
              </a:spcAft>
            </a:pPr>
            <a:r>
              <a:rPr sz="1300" b="1" i="0">
                <a:solidFill>
                  <a:srgbClr val="A86200"/>
                </a:solidFill>
              </a:rPr>
              <a:t>READ IT FIRST — clauses, revenue caps, regions</a:t>
            </a:r>
          </a:p>
        </p:txBody>
      </p:sp>
      <p:sp>
        <p:nvSpPr>
          <p:cNvPr id="12" name="TextBox 11"/>
          <p:cNvSpPr txBox="1"/>
          <p:nvPr/>
        </p:nvSpPr>
        <p:spPr>
          <a:xfrm>
            <a:off x="1362456" y="3136392"/>
            <a:ext cx="5532120" cy="713232"/>
          </a:xfrm>
          <a:prstGeom prst="rect">
            <a:avLst/>
          </a:prstGeom>
          <a:noFill/>
        </p:spPr>
        <p:txBody>
          <a:bodyPr wrap="square" lIns="0" rIns="0" tIns="0" bIns="0" anchor="t">
            <a:spAutoFit/>
          </a:bodyPr>
          <a:lstStyle/>
          <a:p>
            <a:pPr algn="l">
              <a:spcAft>
                <a:spcPts val="0"/>
              </a:spcAft>
            </a:pPr>
            <a:r>
              <a:rPr sz="1100" b="0" i="0">
                <a:solidFill>
                  <a:srgbClr val="1F1F1F"/>
                </a:solidFill>
              </a:rPr>
              <a:t>GLM-5.3, Kimi K3 (clauses) · Qwen3.8 Max · Llama 4 ·</a:t>
            </a:r>
          </a:p>
          <a:p>
            <a:pPr algn="l">
              <a:spcAft>
                <a:spcPts val="0"/>
              </a:spcAft>
            </a:pPr>
            <a:r>
              <a:rPr sz="1100" b="0" i="0">
                <a:solidFill>
                  <a:srgbClr val="1F1F1F"/>
                </a:solidFill>
              </a:rPr>
              <a:t>LTX-2.5, Krea 2 (revenue caps) · HunyuanVideo 1.5 (community) ·</a:t>
            </a:r>
          </a:p>
          <a:p>
            <a:pPr algn="l">
              <a:spcAft>
                <a:spcPts val="0"/>
              </a:spcAft>
            </a:pPr>
            <a:r>
              <a:rPr sz="1100" b="0" i="0">
                <a:solidFill>
                  <a:srgbClr val="1F1F1F"/>
                </a:solidFill>
              </a:rPr>
              <a:t>MiniMax-H3, Hunyuan3D (region exclusions)</a:t>
            </a:r>
          </a:p>
        </p:txBody>
      </p:sp>
      <p:sp>
        <p:nvSpPr>
          <p:cNvPr id="13" name="Rounded Rectangle 12"/>
          <p:cNvSpPr/>
          <p:nvPr/>
        </p:nvSpPr>
        <p:spPr>
          <a:xfrm>
            <a:off x="585216" y="4014215"/>
            <a:ext cx="6446520" cy="118872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86384" y="4197096"/>
            <a:ext cx="384048" cy="384048"/>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62456" y="4123944"/>
            <a:ext cx="5532120" cy="292608"/>
          </a:xfrm>
          <a:prstGeom prst="rect">
            <a:avLst/>
          </a:prstGeom>
          <a:noFill/>
        </p:spPr>
        <p:txBody>
          <a:bodyPr wrap="square" lIns="0" rIns="0" tIns="0" bIns="0" anchor="t">
            <a:spAutoFit/>
          </a:bodyPr>
          <a:lstStyle/>
          <a:p>
            <a:pPr algn="l">
              <a:spcAft>
                <a:spcPts val="0"/>
              </a:spcAft>
            </a:pPr>
            <a:r>
              <a:rPr sz="1300" b="1" i="0">
                <a:solidFill>
                  <a:srgbClr val="C52B2B"/>
                </a:solidFill>
              </a:rPr>
              <a:t>STOP — non-commercial, closed or gone</a:t>
            </a:r>
          </a:p>
        </p:txBody>
      </p:sp>
      <p:sp>
        <p:nvSpPr>
          <p:cNvPr id="16" name="TextBox 15"/>
          <p:cNvSpPr txBox="1"/>
          <p:nvPr/>
        </p:nvSpPr>
        <p:spPr>
          <a:xfrm>
            <a:off x="1362456" y="4434840"/>
            <a:ext cx="5532120" cy="713232"/>
          </a:xfrm>
          <a:prstGeom prst="rect">
            <a:avLst/>
          </a:prstGeom>
          <a:noFill/>
        </p:spPr>
        <p:txBody>
          <a:bodyPr wrap="square" lIns="0" rIns="0" tIns="0" bIns="0" anchor="t">
            <a:spAutoFit/>
          </a:bodyPr>
          <a:lstStyle/>
          <a:p>
            <a:pPr algn="l">
              <a:spcAft>
                <a:spcPts val="0"/>
              </a:spcAft>
            </a:pPr>
            <a:r>
              <a:rPr sz="1100" b="0" i="0">
                <a:solidFill>
                  <a:srgbClr val="1F1F1F"/>
                </a:solidFill>
              </a:rPr>
              <a:t>non-commercial: FLUX.2 [dev] · Ideogram 4.0 · Qwen-Image-2.1 · YuE2</a:t>
            </a:r>
          </a:p>
          <a:p>
            <a:pPr algn="l">
              <a:spcAft>
                <a:spcPts val="0"/>
              </a:spcAft>
            </a:pPr>
            <a:r>
              <a:rPr sz="1100" b="0" i="0">
                <a:solidFill>
                  <a:srgbClr val="1F1F1F"/>
                </a:solidFill>
              </a:rPr>
              <a:t>closed: Qwen-Image 2.0/3.0 · Wan 3.0 · Muse Spark ·</a:t>
            </a:r>
          </a:p>
          <a:p>
            <a:pPr algn="l">
              <a:spcAft>
                <a:spcPts val="0"/>
              </a:spcAft>
            </a:pPr>
            <a:r>
              <a:rPr sz="1100" b="0" i="0">
                <a:solidFill>
                  <a:srgbClr val="1F1F1F"/>
                </a:solidFill>
              </a:rPr>
              <a:t>Suno v6 (licensed-only) · Sora (ends 09-24)</a:t>
            </a:r>
          </a:p>
        </p:txBody>
      </p:sp>
      <p:pic>
        <p:nvPicPr>
          <p:cNvPr id="17" name="Picture 16" descr="meme_choice_87a1d49f7b45.jpg"/>
          <p:cNvPicPr>
            <a:picLocks noChangeAspect="1"/>
          </p:cNvPicPr>
          <p:nvPr/>
        </p:nvPicPr>
        <p:blipFill>
          <a:blip r:embed="rId3"/>
          <a:stretch>
            <a:fillRect/>
          </a:stretch>
        </p:blipFill>
        <p:spPr>
          <a:xfrm>
            <a:off x="7269480" y="1463040"/>
            <a:ext cx="2971799" cy="1620981"/>
          </a:xfrm>
          <a:prstGeom prst="roundRect">
            <a:avLst>
              <a:gd name="adj" fmla="val 4000"/>
            </a:avLst>
          </a:prstGeom>
        </p:spPr>
      </p:pic>
      <p:sp>
        <p:nvSpPr>
          <p:cNvPr id="18" name="TextBox 17"/>
          <p:cNvSpPr txBox="1"/>
          <p:nvPr/>
        </p:nvSpPr>
        <p:spPr>
          <a:xfrm>
            <a:off x="7269480" y="3129741"/>
            <a:ext cx="2971799"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 · Beyond the Slop</a:t>
            </a:r>
          </a:p>
        </p:txBody>
      </p:sp>
      <p:sp>
        <p:nvSpPr>
          <p:cNvPr id="19" name="TextBox 18"/>
          <p:cNvSpPr txBox="1"/>
          <p:nvPr/>
        </p:nvSpPr>
        <p:spPr>
          <a:xfrm>
            <a:off x="7269480" y="3429000"/>
            <a:ext cx="2971799" cy="1371600"/>
          </a:xfrm>
          <a:prstGeom prst="rect">
            <a:avLst/>
          </a:prstGeom>
          <a:noFill/>
        </p:spPr>
        <p:txBody>
          <a:bodyPr wrap="square" lIns="0" rIns="0" tIns="0" bIns="0" anchor="t">
            <a:spAutoFit/>
          </a:bodyPr>
          <a:lstStyle/>
          <a:p>
            <a:pPr algn="l">
              <a:spcAft>
                <a:spcPts val="0"/>
              </a:spcAft>
            </a:pPr>
            <a:r>
              <a:rPr sz="1500" b="0" i="1">
                <a:solidFill>
                  <a:srgbClr val="2A446F"/>
                </a:solidFill>
              </a:rPr>
              <a:t>“The model card is 90 seconds of reading that can save you a lawyer.”</a:t>
            </a:r>
          </a:p>
        </p:txBody>
      </p:sp>
      <p:sp>
        <p:nvSpPr>
          <p:cNvPr id="20" name="TextBox 19"/>
          <p:cNvSpPr txBox="1"/>
          <p:nvPr/>
        </p:nvSpPr>
        <p:spPr>
          <a:xfrm>
            <a:off x="7269480" y="4526280"/>
            <a:ext cx="2971799" cy="274320"/>
          </a:xfrm>
          <a:prstGeom prst="rect">
            <a:avLst/>
          </a:prstGeom>
          <a:noFill/>
        </p:spPr>
        <p:txBody>
          <a:bodyPr wrap="square" lIns="0" rIns="0" tIns="0" bIns="0" anchor="t">
            <a:spAutoFit/>
          </a:bodyPr>
          <a:lstStyle/>
          <a:p>
            <a:pPr algn="l">
              <a:spcAft>
                <a:spcPts val="0"/>
              </a:spcAft>
            </a:pPr>
            <a:r>
              <a:rPr sz="1100" b="0" i="0">
                <a:solidFill>
                  <a:srgbClr val="6B6B6B"/>
                </a:solidFill>
              </a:rPr>
              <a:t>— Beyond the Slop, 2026</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Licences changed a lot in 2025/26 — re-check before every release.</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§11 (checked 2026-09-21) · Beyond the Slop (daenet, Jul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Regulation: open weights skip most GPAI duties, not all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700" b="0" i="0">
                <a:solidFill>
                  <a:srgbClr val="2A446F"/>
                </a:solidFill>
              </a:rPr>
              <a:t>Under the EU AI Act, open-source general-purpose models are exempt from most obligations — not from a copyright policy and a training-data summary, and not if they carry systemic risk.</a:t>
            </a:r>
          </a:p>
        </p:txBody>
      </p:sp>
      <p:graphicFrame>
        <p:nvGraphicFramePr>
          <p:cNvPr id="5" name="Table 4"/>
          <p:cNvGraphicFramePr>
            <a:graphicFrameLocks noGrp="1"/>
          </p:cNvGraphicFramePr>
          <p:nvPr/>
        </p:nvGraphicFramePr>
        <p:xfrm>
          <a:off x="585216" y="2331720"/>
          <a:ext cx="6035040" cy="1865376"/>
        </p:xfrm>
        <a:graphic>
          <a:graphicData uri="http://schemas.openxmlformats.org/drawingml/2006/table">
            <a:tbl>
              <a:tblPr firstRow="1" bandRow="1">
                <a:tableStyleId>{5C22544A-7EE6-4342-B048-85BDC9FD1C3A}</a:tableStyleId>
              </a:tblPr>
              <a:tblGrid>
                <a:gridCol w="1828800"/>
                <a:gridCol w="4206240"/>
              </a:tblGrid>
              <a:tr h="292608">
                <a:tc>
                  <a:txBody>
                    <a:bodyPr/>
                    <a:lstStyle/>
                    <a:p>
                      <a:r>
                        <a:rPr sz="1100" b="1">
                          <a:solidFill>
                            <a:srgbClr val="FFFFFF"/>
                          </a:solidFill>
                        </a:rPr>
                        <a:t>When</a:t>
                      </a:r>
                    </a:p>
                  </a:txBody>
                  <a:tcPr anchor="ctr" marT="36576" marB="36576">
                    <a:solidFill>
                      <a:srgbClr val="2A446F"/>
                    </a:solidFill>
                  </a:tcPr>
                </a:tc>
                <a:tc>
                  <a:txBody>
                    <a:bodyPr/>
                    <a:lstStyle/>
                    <a:p>
                      <a:r>
                        <a:rPr sz="1100" b="1">
                          <a:solidFill>
                            <a:srgbClr val="FFFFFF"/>
                          </a:solidFill>
                        </a:rPr>
                        <a:t>What</a:t>
                      </a:r>
                    </a:p>
                  </a:txBody>
                  <a:tcPr anchor="ctr" marT="36576" marB="36576">
                    <a:solidFill>
                      <a:srgbClr val="2A446F"/>
                    </a:solidFill>
                  </a:tcPr>
                </a:tc>
              </a:tr>
              <a:tr h="292608">
                <a:tc>
                  <a:txBody>
                    <a:bodyPr/>
                    <a:lstStyle/>
                    <a:p>
                      <a:r>
                        <a:rPr sz="1100" b="1">
                          <a:solidFill>
                            <a:srgbClr val="1F1F1F"/>
                          </a:solidFill>
                        </a:rPr>
                        <a:t>2025-08-02</a:t>
                      </a:r>
                    </a:p>
                  </a:txBody>
                  <a:tcPr anchor="ctr" marT="36576" marB="36576">
                    <a:solidFill>
                      <a:srgbClr val="FFFFFF"/>
                    </a:solidFill>
                  </a:tcPr>
                </a:tc>
                <a:tc>
                  <a:txBody>
                    <a:bodyPr/>
                    <a:lstStyle/>
                    <a:p>
                      <a:r>
                        <a:rPr sz="1100" b="0">
                          <a:solidFill>
                            <a:srgbClr val="1F1F1F"/>
                          </a:solidFill>
                        </a:rPr>
                        <a:t>GPAI obligations apply</a:t>
                      </a:r>
                    </a:p>
                  </a:txBody>
                  <a:tcPr anchor="ctr" marT="36576" marB="36576">
                    <a:solidFill>
                      <a:srgbClr val="FFFFFF"/>
                    </a:solidFill>
                  </a:tcPr>
                </a:tc>
              </a:tr>
              <a:tr h="426720">
                <a:tc>
                  <a:txBody>
                    <a:bodyPr/>
                    <a:lstStyle/>
                    <a:p>
                      <a:r>
                        <a:rPr sz="1100" b="1">
                          <a:solidFill>
                            <a:srgbClr val="1F1F1F"/>
                          </a:solidFill>
                        </a:rPr>
                        <a:t>2026-08-02</a:t>
                      </a:r>
                    </a:p>
                  </a:txBody>
                  <a:tcPr anchor="ctr" marT="36576" marB="36576">
                    <a:solidFill>
                      <a:srgbClr val="F3F4F8"/>
                    </a:solidFill>
                  </a:tcPr>
                </a:tc>
                <a:tc>
                  <a:txBody>
                    <a:bodyPr/>
                    <a:lstStyle/>
                    <a:p>
                      <a:r>
                        <a:rPr sz="1100" b="0">
                          <a:solidFill>
                            <a:srgbClr val="1F1F1F"/>
                          </a:solidFill>
                        </a:rPr>
                        <a:t>Commission enforcement powers —</a:t>
                      </a:r>
                    </a:p>
                    <a:p>
                      <a:r>
                        <a:rPr sz="1100" b="0">
                          <a:solidFill>
                            <a:srgbClr val="1F1F1F"/>
                          </a:solidFill>
                        </a:rPr>
                        <a:t>fines up to 3 % of turnover or €15M</a:t>
                      </a:r>
                    </a:p>
                  </a:txBody>
                  <a:tcPr anchor="ctr" marT="36576" marB="36576">
                    <a:solidFill>
                      <a:srgbClr val="F3F4F8"/>
                    </a:solidFill>
                  </a:tcPr>
                </a:tc>
              </a:tr>
              <a:tr h="426720">
                <a:tc>
                  <a:txBody>
                    <a:bodyPr/>
                    <a:lstStyle/>
                    <a:p>
                      <a:r>
                        <a:rPr sz="1100" b="1">
                          <a:solidFill>
                            <a:srgbClr val="1F1F1F"/>
                          </a:solidFill>
                        </a:rPr>
                        <a:t>2027-08-02</a:t>
                      </a:r>
                    </a:p>
                  </a:txBody>
                  <a:tcPr anchor="ctr" marT="36576" marB="36576">
                    <a:solidFill>
                      <a:srgbClr val="FFFFFF"/>
                    </a:solidFill>
                  </a:tcPr>
                </a:tc>
                <a:tc>
                  <a:txBody>
                    <a:bodyPr/>
                    <a:lstStyle/>
                    <a:p>
                      <a:r>
                        <a:rPr sz="1100" b="0">
                          <a:solidFill>
                            <a:srgbClr val="1F1F1F"/>
                          </a:solidFill>
                        </a:rPr>
                        <a:t>deadline for GPAI models placed on the</a:t>
                      </a:r>
                    </a:p>
                    <a:p>
                      <a:r>
                        <a:rPr sz="1100" b="0">
                          <a:solidFill>
                            <a:srgbClr val="1F1F1F"/>
                          </a:solidFill>
                        </a:rPr>
                        <a:t>market before August 2025</a:t>
                      </a:r>
                    </a:p>
                  </a:txBody>
                  <a:tcPr anchor="ctr" marT="36576" marB="36576">
                    <a:solidFill>
                      <a:srgbClr val="FFFFFF"/>
                    </a:solidFill>
                  </a:tcPr>
                </a:tc>
              </a:tr>
              <a:tr h="426720">
                <a:tc>
                  <a:txBody>
                    <a:bodyPr/>
                    <a:lstStyle/>
                    <a:p>
                      <a:r>
                        <a:rPr sz="1100" b="1">
                          <a:solidFill>
                            <a:srgbClr val="1F1F1F"/>
                          </a:solidFill>
                        </a:rPr>
                        <a:t>Dec 2027 / Aug 2028</a:t>
                      </a:r>
                    </a:p>
                  </a:txBody>
                  <a:tcPr anchor="ctr" marT="36576" marB="36576">
                    <a:solidFill>
                      <a:srgbClr val="F3F4F8"/>
                    </a:solidFill>
                  </a:tcPr>
                </a:tc>
                <a:tc>
                  <a:txBody>
                    <a:bodyPr/>
                    <a:lstStyle/>
                    <a:p>
                      <a:r>
                        <a:rPr sz="1100" b="0">
                          <a:solidFill>
                            <a:srgbClr val="1F1F1F"/>
                          </a:solidFill>
                        </a:rPr>
                        <a:t>high-risk obligations, delayed by the</a:t>
                      </a:r>
                    </a:p>
                    <a:p>
                      <a:r>
                        <a:rPr sz="1100" b="0">
                          <a:solidFill>
                            <a:srgbClr val="1F1F1F"/>
                          </a:solidFill>
                        </a:rPr>
                        <a:t>Digital Omnibus (May 2026)</a:t>
                      </a:r>
                    </a:p>
                  </a:txBody>
                  <a:tcPr anchor="ctr" marT="36576" marB="36576">
                    <a:solidFill>
                      <a:srgbClr val="F3F4F8"/>
                    </a:solidFill>
                  </a:tcPr>
                </a:tc>
              </a:tr>
            </a:tbl>
          </a:graphicData>
        </a:graphic>
      </p:graphicFrame>
      <p:sp>
        <p:nvSpPr>
          <p:cNvPr id="6" name="Rounded Rectangle 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sp>
        <p:nvSpPr>
          <p:cNvPr id="7" name="Rounded Rectangle 6"/>
          <p:cNvSpPr/>
          <p:nvPr/>
        </p:nvSpPr>
        <p:spPr>
          <a:xfrm>
            <a:off x="6812280" y="2331720"/>
            <a:ext cx="3428999" cy="16002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12280" y="2441448"/>
            <a:ext cx="64008" cy="1380744"/>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0880" y="2423160"/>
            <a:ext cx="3063239" cy="274320"/>
          </a:xfrm>
          <a:prstGeom prst="rect">
            <a:avLst/>
          </a:prstGeom>
          <a:noFill/>
        </p:spPr>
        <p:txBody>
          <a:bodyPr wrap="square" lIns="0" rIns="0" tIns="0" bIns="0" anchor="t">
            <a:spAutoFit/>
          </a:bodyPr>
          <a:lstStyle/>
          <a:p>
            <a:pPr algn="l">
              <a:spcAft>
                <a:spcPts val="0"/>
              </a:spcAft>
            </a:pPr>
            <a:r>
              <a:rPr sz="1200" b="1" i="0">
                <a:solidFill>
                  <a:srgbClr val="2A446F"/>
                </a:solidFill>
              </a:rPr>
              <a:t>MEANWHILE IN THE US</a:t>
            </a:r>
          </a:p>
        </p:txBody>
      </p:sp>
      <p:sp>
        <p:nvSpPr>
          <p:cNvPr id="10" name="TextBox 9"/>
          <p:cNvSpPr txBox="1"/>
          <p:nvPr/>
        </p:nvSpPr>
        <p:spPr>
          <a:xfrm>
            <a:off x="7040880" y="2715768"/>
            <a:ext cx="3063239" cy="1143000"/>
          </a:xfrm>
          <a:prstGeom prst="rect">
            <a:avLst/>
          </a:prstGeom>
          <a:noFill/>
        </p:spPr>
        <p:txBody>
          <a:bodyPr wrap="square" lIns="0" rIns="0" tIns="0" bIns="0" anchor="t">
            <a:spAutoFit/>
          </a:bodyPr>
          <a:lstStyle/>
          <a:p>
            <a:pPr algn="l">
              <a:spcAft>
                <a:spcPts val="0"/>
              </a:spcAft>
            </a:pPr>
            <a:r>
              <a:rPr sz="1100" b="0" i="0">
                <a:solidFill>
                  <a:srgbClr val="1F1F1F"/>
                </a:solidFill>
              </a:rPr>
              <a:t>The “No DeepSeek on Government Devices” bills are proposed or state-level — and target the hosted app, not MIT weights on your own hardware.</a:t>
            </a:r>
          </a:p>
        </p:txBody>
      </p:sp>
      <p:sp>
        <p:nvSpPr>
          <p:cNvPr id="11" name="Rounded Rectangle 10"/>
          <p:cNvSpPr/>
          <p:nvPr/>
        </p:nvSpPr>
        <p:spPr>
          <a:xfrm>
            <a:off x="585216" y="4453128"/>
            <a:ext cx="3005328" cy="54864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1 · the model card</a:t>
            </a:r>
          </a:p>
        </p:txBody>
      </p:sp>
      <p:cxnSp>
        <p:nvCxnSpPr>
          <p:cNvPr id="12" name="Connector 11"/>
          <p:cNvCxnSpPr/>
          <p:nvPr/>
        </p:nvCxnSpPr>
        <p:spPr>
          <a:xfrm>
            <a:off x="3627120" y="4727448"/>
            <a:ext cx="24688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10583" y="4453128"/>
            <a:ext cx="3005328" cy="54864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2 · the licence</a:t>
            </a:r>
          </a:p>
        </p:txBody>
      </p:sp>
      <p:cxnSp>
        <p:nvCxnSpPr>
          <p:cNvPr id="14" name="Connector 13"/>
          <p:cNvCxnSpPr/>
          <p:nvPr/>
        </p:nvCxnSpPr>
        <p:spPr>
          <a:xfrm>
            <a:off x="6952487" y="472744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35952" y="4453128"/>
            <a:ext cx="3005328" cy="54864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3 · the law</a:t>
            </a:r>
          </a:p>
        </p:txBody>
      </p:sp>
      <p:sp>
        <p:nvSpPr>
          <p:cNvPr id="16" name="TextBox 1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One link: artificialintelligenceact.eu — enforcement of Chapter V.</a:t>
            </a:r>
          </a:p>
        </p:txBody>
      </p:sp>
      <p:sp>
        <p:nvSpPr>
          <p:cNvPr id="17" name="TextBox 1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EU AI Act: enforcement of Chapter V · Research: local AI, media &amp; beyond the West, 2026-09-19 · LLM 101 (Day of Data 2026) slides 136–139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magic sauce is the pipeline, not the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One block’s output is the next block’s input — and every block can be swapped.</a:t>
            </a:r>
          </a:p>
        </p:txBody>
      </p:sp>
      <p:sp>
        <p:nvSpPr>
          <p:cNvPr id="5" name="TextBox 4"/>
          <p:cNvSpPr txBox="1"/>
          <p:nvPr/>
        </p:nvSpPr>
        <p:spPr>
          <a:xfrm>
            <a:off x="585216" y="3621024"/>
            <a:ext cx="1280160" cy="237744"/>
          </a:xfrm>
          <a:prstGeom prst="rect">
            <a:avLst/>
          </a:prstGeom>
          <a:noFill/>
        </p:spPr>
        <p:txBody>
          <a:bodyPr wrap="square" lIns="0" rIns="0" tIns="0" bIns="0" anchor="t">
            <a:spAutoFit/>
          </a:bodyPr>
          <a:lstStyle/>
          <a:p>
            <a:pPr algn="l">
              <a:spcAft>
                <a:spcPts val="0"/>
              </a:spcAft>
            </a:pPr>
            <a:r>
              <a:rPr sz="1000" b="1" i="0">
                <a:solidFill>
                  <a:srgbClr val="6B6B6B"/>
                </a:solidFill>
              </a:rPr>
              <a:t>… OR SWAP IN</a:t>
            </a:r>
          </a:p>
        </p:txBody>
      </p:sp>
      <p:sp>
        <p:nvSpPr>
          <p:cNvPr id="6" name="Rounded Rectangle 5"/>
          <p:cNvSpPr/>
          <p:nvPr/>
        </p:nvSpPr>
        <p:spPr>
          <a:xfrm>
            <a:off x="585216"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32332" y="2020824"/>
            <a:ext cx="347472" cy="34747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1</a:t>
            </a:r>
          </a:p>
        </p:txBody>
      </p:sp>
      <p:sp>
        <p:nvSpPr>
          <p:cNvPr id="8" name="TextBox 7"/>
          <p:cNvSpPr txBox="1"/>
          <p:nvPr/>
        </p:nvSpPr>
        <p:spPr>
          <a:xfrm>
            <a:off x="640080"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LLM</a:t>
            </a:r>
          </a:p>
        </p:txBody>
      </p:sp>
      <p:sp>
        <p:nvSpPr>
          <p:cNvPr id="9" name="TextBox 8"/>
          <p:cNvSpPr txBox="1"/>
          <p:nvPr/>
        </p:nvSpPr>
        <p:spPr>
          <a:xfrm>
            <a:off x="640080" y="2743200"/>
            <a:ext cx="1331976" cy="402336"/>
          </a:xfrm>
          <a:prstGeom prst="rect">
            <a:avLst/>
          </a:prstGeom>
          <a:noFill/>
        </p:spPr>
        <p:txBody>
          <a:bodyPr wrap="square" lIns="0" rIns="0" tIns="0" bIns="0" anchor="t">
            <a:spAutoFit/>
          </a:bodyPr>
          <a:lstStyle/>
          <a:p>
            <a:pPr algn="ctr">
              <a:spcAft>
                <a:spcPts val="0"/>
              </a:spcAft>
            </a:pPr>
            <a:r>
              <a:rPr sz="1100" b="1" i="0">
                <a:solidFill>
                  <a:srgbClr val="0078D4"/>
                </a:solidFill>
              </a:rPr>
              <a:t>lyrics + story</a:t>
            </a:r>
          </a:p>
        </p:txBody>
      </p:sp>
      <p:sp>
        <p:nvSpPr>
          <p:cNvPr id="10" name="Rounded Rectangle 9"/>
          <p:cNvSpPr/>
          <p:nvPr/>
        </p:nvSpPr>
        <p:spPr>
          <a:xfrm>
            <a:off x="713232"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text</a:t>
            </a:r>
          </a:p>
        </p:txBody>
      </p:sp>
      <p:sp>
        <p:nvSpPr>
          <p:cNvPr id="11" name="TextBox 10"/>
          <p:cNvSpPr txBox="1"/>
          <p:nvPr/>
        </p:nvSpPr>
        <p:spPr>
          <a:xfrm>
            <a:off x="585216"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any base_url</a:t>
            </a:r>
          </a:p>
        </p:txBody>
      </p:sp>
      <p:cxnSp>
        <p:nvCxnSpPr>
          <p:cNvPr id="12" name="Connector 11"/>
          <p:cNvCxnSpPr/>
          <p:nvPr/>
        </p:nvCxnSpPr>
        <p:spPr>
          <a:xfrm>
            <a:off x="2045207" y="2688336"/>
            <a:ext cx="164593"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28088"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775203" y="2020824"/>
            <a:ext cx="347472" cy="347472"/>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2</a:t>
            </a:r>
          </a:p>
        </p:txBody>
      </p:sp>
      <p:sp>
        <p:nvSpPr>
          <p:cNvPr id="15" name="TextBox 14"/>
          <p:cNvSpPr txBox="1"/>
          <p:nvPr/>
        </p:nvSpPr>
        <p:spPr>
          <a:xfrm>
            <a:off x="2282952"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ACE-Step 1.5</a:t>
            </a:r>
          </a:p>
        </p:txBody>
      </p:sp>
      <p:sp>
        <p:nvSpPr>
          <p:cNvPr id="16" name="TextBox 15"/>
          <p:cNvSpPr txBox="1"/>
          <p:nvPr/>
        </p:nvSpPr>
        <p:spPr>
          <a:xfrm>
            <a:off x="2282952" y="2743200"/>
            <a:ext cx="1331976" cy="402336"/>
          </a:xfrm>
          <a:prstGeom prst="rect">
            <a:avLst/>
          </a:prstGeom>
          <a:noFill/>
        </p:spPr>
        <p:txBody>
          <a:bodyPr wrap="square" lIns="0" rIns="0" tIns="0" bIns="0" anchor="t">
            <a:spAutoFit/>
          </a:bodyPr>
          <a:lstStyle/>
          <a:p>
            <a:pPr algn="ctr">
              <a:spcAft>
                <a:spcPts val="0"/>
              </a:spcAft>
            </a:pPr>
            <a:r>
              <a:rPr sz="1100" b="1" i="0">
                <a:solidFill>
                  <a:srgbClr val="E86A10"/>
                </a:solidFill>
              </a:rPr>
              <a:t>song with vocals</a:t>
            </a:r>
          </a:p>
        </p:txBody>
      </p:sp>
      <p:sp>
        <p:nvSpPr>
          <p:cNvPr id="17" name="Rounded Rectangle 16"/>
          <p:cNvSpPr/>
          <p:nvPr/>
        </p:nvSpPr>
        <p:spPr>
          <a:xfrm>
            <a:off x="2356104"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audio</a:t>
            </a:r>
          </a:p>
        </p:txBody>
      </p:sp>
      <p:sp>
        <p:nvSpPr>
          <p:cNvPr id="18" name="TextBox 17"/>
          <p:cNvSpPr txBox="1"/>
          <p:nvPr/>
        </p:nvSpPr>
        <p:spPr>
          <a:xfrm>
            <a:off x="2228088"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YuE2-3B</a:t>
            </a:r>
          </a:p>
          <a:p>
            <a:pPr algn="ctr">
              <a:spcAft>
                <a:spcPts val="0"/>
              </a:spcAft>
            </a:pPr>
            <a:r>
              <a:rPr sz="1050" b="0" i="0">
                <a:solidFill>
                  <a:srgbClr val="6B6B6B"/>
                </a:solidFill>
              </a:rPr>
              <a:t>(non-commercial)</a:t>
            </a:r>
          </a:p>
        </p:txBody>
      </p:sp>
      <p:cxnSp>
        <p:nvCxnSpPr>
          <p:cNvPr id="19" name="Connector 18"/>
          <p:cNvCxnSpPr/>
          <p:nvPr/>
        </p:nvCxnSpPr>
        <p:spPr>
          <a:xfrm>
            <a:off x="3688079" y="2688336"/>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870959"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418075" y="2020824"/>
            <a:ext cx="347472" cy="347472"/>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3</a:t>
            </a:r>
          </a:p>
        </p:txBody>
      </p:sp>
      <p:sp>
        <p:nvSpPr>
          <p:cNvPr id="22" name="TextBox 21"/>
          <p:cNvSpPr txBox="1"/>
          <p:nvPr/>
        </p:nvSpPr>
        <p:spPr>
          <a:xfrm>
            <a:off x="3925823"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FLUX / SDXL</a:t>
            </a:r>
          </a:p>
        </p:txBody>
      </p:sp>
      <p:sp>
        <p:nvSpPr>
          <p:cNvPr id="23" name="TextBox 22"/>
          <p:cNvSpPr txBox="1"/>
          <p:nvPr/>
        </p:nvSpPr>
        <p:spPr>
          <a:xfrm>
            <a:off x="3925823" y="2743200"/>
            <a:ext cx="1331976" cy="402336"/>
          </a:xfrm>
          <a:prstGeom prst="rect">
            <a:avLst/>
          </a:prstGeom>
          <a:noFill/>
        </p:spPr>
        <p:txBody>
          <a:bodyPr wrap="square" lIns="0" rIns="0" tIns="0" bIns="0" anchor="t">
            <a:spAutoFit/>
          </a:bodyPr>
          <a:lstStyle/>
          <a:p>
            <a:pPr algn="ctr">
              <a:spcAft>
                <a:spcPts val="0"/>
              </a:spcAft>
            </a:pPr>
            <a:r>
              <a:rPr sz="1100" b="1" i="0">
                <a:solidFill>
                  <a:srgbClr val="2A446F"/>
                </a:solidFill>
              </a:rPr>
              <a:t>avatar image</a:t>
            </a:r>
          </a:p>
        </p:txBody>
      </p:sp>
      <p:sp>
        <p:nvSpPr>
          <p:cNvPr id="24" name="Rounded Rectangle 23"/>
          <p:cNvSpPr/>
          <p:nvPr/>
        </p:nvSpPr>
        <p:spPr>
          <a:xfrm>
            <a:off x="3998975"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image</a:t>
            </a:r>
          </a:p>
        </p:txBody>
      </p:sp>
      <p:sp>
        <p:nvSpPr>
          <p:cNvPr id="25" name="TextBox 24"/>
          <p:cNvSpPr txBox="1"/>
          <p:nvPr/>
        </p:nvSpPr>
        <p:spPr>
          <a:xfrm>
            <a:off x="3870959"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Z-Image-Turbo</a:t>
            </a:r>
          </a:p>
        </p:txBody>
      </p:sp>
      <p:cxnSp>
        <p:nvCxnSpPr>
          <p:cNvPr id="26" name="Connector 25"/>
          <p:cNvCxnSpPr/>
          <p:nvPr/>
        </p:nvCxnSpPr>
        <p:spPr>
          <a:xfrm>
            <a:off x="5330951" y="2688336"/>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513831"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060947" y="2020824"/>
            <a:ext cx="347472" cy="347472"/>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4</a:t>
            </a:r>
          </a:p>
        </p:txBody>
      </p:sp>
      <p:sp>
        <p:nvSpPr>
          <p:cNvPr id="29" name="TextBox 28"/>
          <p:cNvSpPr txBox="1"/>
          <p:nvPr/>
        </p:nvSpPr>
        <p:spPr>
          <a:xfrm>
            <a:off x="5568695"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character LoRA</a:t>
            </a:r>
          </a:p>
        </p:txBody>
      </p:sp>
      <p:sp>
        <p:nvSpPr>
          <p:cNvPr id="30" name="TextBox 29"/>
          <p:cNvSpPr txBox="1"/>
          <p:nvPr/>
        </p:nvSpPr>
        <p:spPr>
          <a:xfrm>
            <a:off x="5568695" y="2743200"/>
            <a:ext cx="1331976" cy="402336"/>
          </a:xfrm>
          <a:prstGeom prst="rect">
            <a:avLst/>
          </a:prstGeom>
          <a:noFill/>
        </p:spPr>
        <p:txBody>
          <a:bodyPr wrap="square" lIns="0" rIns="0" tIns="0" bIns="0" anchor="t">
            <a:spAutoFit/>
          </a:bodyPr>
          <a:lstStyle/>
          <a:p>
            <a:pPr algn="ctr">
              <a:spcAft>
                <a:spcPts val="0"/>
              </a:spcAft>
            </a:pPr>
            <a:r>
              <a:rPr sz="1100" b="1" i="0">
                <a:solidFill>
                  <a:srgbClr val="8661C5"/>
                </a:solidFill>
              </a:rPr>
              <a:t>lock the identity</a:t>
            </a:r>
          </a:p>
        </p:txBody>
      </p:sp>
      <p:sp>
        <p:nvSpPr>
          <p:cNvPr id="31" name="Rounded Rectangle 30"/>
          <p:cNvSpPr/>
          <p:nvPr/>
        </p:nvSpPr>
        <p:spPr>
          <a:xfrm>
            <a:off x="5641847"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keyframes</a:t>
            </a:r>
          </a:p>
        </p:txBody>
      </p:sp>
      <p:sp>
        <p:nvSpPr>
          <p:cNvPr id="32" name="TextBox 31"/>
          <p:cNvSpPr txBox="1"/>
          <p:nvPr/>
        </p:nvSpPr>
        <p:spPr>
          <a:xfrm>
            <a:off x="5513831"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IP-Adapter</a:t>
            </a:r>
          </a:p>
        </p:txBody>
      </p:sp>
      <p:cxnSp>
        <p:nvCxnSpPr>
          <p:cNvPr id="33" name="Connector 32"/>
          <p:cNvCxnSpPr/>
          <p:nvPr/>
        </p:nvCxnSpPr>
        <p:spPr>
          <a:xfrm>
            <a:off x="6973823" y="2688336"/>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156703"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703819" y="2020824"/>
            <a:ext cx="347472" cy="347472"/>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5</a:t>
            </a:r>
          </a:p>
        </p:txBody>
      </p:sp>
      <p:sp>
        <p:nvSpPr>
          <p:cNvPr id="36" name="TextBox 35"/>
          <p:cNvSpPr txBox="1"/>
          <p:nvPr/>
        </p:nvSpPr>
        <p:spPr>
          <a:xfrm>
            <a:off x="7211567"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Wan 2.2 I2V</a:t>
            </a:r>
          </a:p>
        </p:txBody>
      </p:sp>
      <p:sp>
        <p:nvSpPr>
          <p:cNvPr id="37" name="TextBox 36"/>
          <p:cNvSpPr txBox="1"/>
          <p:nvPr/>
        </p:nvSpPr>
        <p:spPr>
          <a:xfrm>
            <a:off x="7211567" y="2743200"/>
            <a:ext cx="1331976" cy="402336"/>
          </a:xfrm>
          <a:prstGeom prst="rect">
            <a:avLst/>
          </a:prstGeom>
          <a:noFill/>
        </p:spPr>
        <p:txBody>
          <a:bodyPr wrap="square" lIns="0" rIns="0" tIns="0" bIns="0" anchor="t">
            <a:spAutoFit/>
          </a:bodyPr>
          <a:lstStyle/>
          <a:p>
            <a:pPr algn="ctr">
              <a:spcAft>
                <a:spcPts val="0"/>
              </a:spcAft>
            </a:pPr>
            <a:r>
              <a:rPr sz="1100" b="1" i="0">
                <a:solidFill>
                  <a:srgbClr val="008B8B"/>
                </a:solidFill>
              </a:rPr>
              <a:t>image → video</a:t>
            </a:r>
          </a:p>
        </p:txBody>
      </p:sp>
      <p:sp>
        <p:nvSpPr>
          <p:cNvPr id="38" name="Rounded Rectangle 37"/>
          <p:cNvSpPr/>
          <p:nvPr/>
        </p:nvSpPr>
        <p:spPr>
          <a:xfrm>
            <a:off x="7284719"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clip</a:t>
            </a:r>
          </a:p>
        </p:txBody>
      </p:sp>
      <p:sp>
        <p:nvSpPr>
          <p:cNvPr id="39" name="TextBox 38"/>
          <p:cNvSpPr txBox="1"/>
          <p:nvPr/>
        </p:nvSpPr>
        <p:spPr>
          <a:xfrm>
            <a:off x="7156703"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LTX-2.5 ·</a:t>
            </a:r>
          </a:p>
          <a:p>
            <a:pPr algn="ctr">
              <a:spcAft>
                <a:spcPts val="0"/>
              </a:spcAft>
            </a:pPr>
            <a:r>
              <a:rPr sz="1050" b="0" i="0">
                <a:solidFill>
                  <a:srgbClr val="6B6B6B"/>
                </a:solidFill>
              </a:rPr>
              <a:t>HunyuanVideo 1.5</a:t>
            </a:r>
          </a:p>
        </p:txBody>
      </p:sp>
      <p:cxnSp>
        <p:nvCxnSpPr>
          <p:cNvPr id="40" name="Connector 39"/>
          <p:cNvCxnSpPr/>
          <p:nvPr/>
        </p:nvCxnSpPr>
        <p:spPr>
          <a:xfrm>
            <a:off x="8616695" y="2688336"/>
            <a:ext cx="164593"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799576"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346692" y="2020824"/>
            <a:ext cx="347472" cy="347472"/>
          </a:xfrm>
          <a:prstGeom prst="ellipse">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6</a:t>
            </a:r>
          </a:p>
        </p:txBody>
      </p:sp>
      <p:sp>
        <p:nvSpPr>
          <p:cNvPr id="43" name="TextBox 42"/>
          <p:cNvSpPr txBox="1"/>
          <p:nvPr/>
        </p:nvSpPr>
        <p:spPr>
          <a:xfrm>
            <a:off x="8854440"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Wan 2.2 S2V</a:t>
            </a:r>
          </a:p>
        </p:txBody>
      </p:sp>
      <p:sp>
        <p:nvSpPr>
          <p:cNvPr id="44" name="TextBox 43"/>
          <p:cNvSpPr txBox="1"/>
          <p:nvPr/>
        </p:nvSpPr>
        <p:spPr>
          <a:xfrm>
            <a:off x="8854440" y="2743200"/>
            <a:ext cx="1331976" cy="402336"/>
          </a:xfrm>
          <a:prstGeom prst="rect">
            <a:avLst/>
          </a:prstGeom>
          <a:noFill/>
        </p:spPr>
        <p:txBody>
          <a:bodyPr wrap="square" lIns="0" rIns="0" tIns="0" bIns="0" anchor="t">
            <a:spAutoFit/>
          </a:bodyPr>
          <a:lstStyle/>
          <a:p>
            <a:pPr algn="ctr">
              <a:spcAft>
                <a:spcPts val="0"/>
              </a:spcAft>
            </a:pPr>
            <a:r>
              <a:rPr sz="1100" b="1" i="0">
                <a:solidFill>
                  <a:srgbClr val="2A7F5C"/>
                </a:solidFill>
              </a:rPr>
              <a:t>singing avatar</a:t>
            </a:r>
          </a:p>
        </p:txBody>
      </p:sp>
      <p:sp>
        <p:nvSpPr>
          <p:cNvPr id="45" name="Rounded Rectangle 44"/>
          <p:cNvSpPr/>
          <p:nvPr/>
        </p:nvSpPr>
        <p:spPr>
          <a:xfrm>
            <a:off x="8927592"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music video</a:t>
            </a:r>
          </a:p>
        </p:txBody>
      </p:sp>
      <p:sp>
        <p:nvSpPr>
          <p:cNvPr id="46" name="Rounded Rectangle 45"/>
          <p:cNvSpPr/>
          <p:nvPr/>
        </p:nvSpPr>
        <p:spPr>
          <a:xfrm>
            <a:off x="585216" y="4462272"/>
            <a:ext cx="9656063" cy="502920"/>
          </a:xfrm>
          <a:prstGeom prst="roundRect">
            <a:avLst>
              <a:gd name="adj" fmla="val 20000"/>
            </a:avLst>
          </a:prstGeom>
          <a:solidFill>
            <a:srgbClr val="FFFFFF"/>
          </a:solidFill>
          <a:ln w="12700">
            <a:solidFill>
              <a:srgbClr val="00A4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68096" y="4535424"/>
            <a:ext cx="1097280" cy="365760"/>
          </a:xfrm>
          <a:prstGeom prst="rect">
            <a:avLst/>
          </a:prstGeom>
          <a:noFill/>
        </p:spPr>
        <p:txBody>
          <a:bodyPr wrap="square" lIns="0" rIns="0" tIns="0" bIns="0" anchor="ctr">
            <a:spAutoFit/>
          </a:bodyPr>
          <a:lstStyle/>
          <a:p>
            <a:pPr algn="l">
              <a:spcAft>
                <a:spcPts val="0"/>
              </a:spcAft>
            </a:pPr>
            <a:r>
              <a:rPr sz="1000" b="1" i="0">
                <a:solidFill>
                  <a:srgbClr val="00A4EF"/>
                </a:solidFill>
              </a:rPr>
              <a:t>ARTIFACTS</a:t>
            </a:r>
          </a:p>
        </p:txBody>
      </p:sp>
      <p:sp>
        <p:nvSpPr>
          <p:cNvPr id="48" name="TextBox 47"/>
          <p:cNvSpPr txBox="1"/>
          <p:nvPr/>
        </p:nvSpPr>
        <p:spPr>
          <a:xfrm>
            <a:off x="1819656" y="4535424"/>
            <a:ext cx="8284463" cy="365760"/>
          </a:xfrm>
          <a:prstGeom prst="rect">
            <a:avLst/>
          </a:prstGeom>
          <a:noFill/>
        </p:spPr>
        <p:txBody>
          <a:bodyPr wrap="square" lIns="0" rIns="0" tIns="0" bIns="0" anchor="ctr">
            <a:spAutoFit/>
          </a:bodyPr>
          <a:lstStyle/>
          <a:p>
            <a:pPr algn="l">
              <a:spcAft>
                <a:spcPts val="0"/>
              </a:spcAft>
            </a:pPr>
            <a:r>
              <a:rPr sz="1200" b="0" i="0">
                <a:solidFill>
                  <a:srgbClr val="2A446F"/>
                </a:solidFill>
                <a:latin typeface="Consolas"/>
              </a:rPr>
              <a:t>lyrics.txt → song.wav → avatar.png → character.safetensors → clip.mp4 → music_video.mp4</a:t>
            </a:r>
          </a:p>
        </p:txBody>
      </p:sp>
      <p:sp>
        <p:nvSpPr>
          <p:cNvPr id="49" name="TextBox 4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Magic sauce = the composition of the blocks — not one miracle model.</a:t>
            </a:r>
          </a:p>
        </p:txBody>
      </p:sp>
      <p:sp>
        <p:nvSpPr>
          <p:cNvPr id="50" name="TextBox 4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Model catalog §7 (checked 2026-09-21) · Model catalog §8 (checked 2026-09-21)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sz="2600" b="1"/>
              <a:t>Case: “Vier Tage Sommer” — the DWX chain, block by block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char_portrait_cc2c511ce951.jpg"/>
          <p:cNvPicPr>
            <a:picLocks noChangeAspect="1"/>
          </p:cNvPicPr>
          <p:nvPr/>
        </p:nvPicPr>
        <p:blipFill>
          <a:blip r:embed="rId3"/>
          <a:stretch>
            <a:fillRect/>
          </a:stretch>
        </p:blipFill>
        <p:spPr>
          <a:xfrm>
            <a:off x="585216" y="1371600"/>
            <a:ext cx="1783080" cy="1783080"/>
          </a:xfrm>
          <a:prstGeom prst="roundRect">
            <a:avLst>
              <a:gd name="adj" fmla="val 4000"/>
            </a:avLst>
          </a:prstGeom>
        </p:spPr>
      </p:pic>
      <p:sp>
        <p:nvSpPr>
          <p:cNvPr id="5" name="TextBox 4"/>
          <p:cNvSpPr txBox="1"/>
          <p:nvPr/>
        </p:nvSpPr>
        <p:spPr>
          <a:xfrm>
            <a:off x="585216" y="3209544"/>
            <a:ext cx="1783080" cy="274320"/>
          </a:xfrm>
          <a:prstGeom prst="rect">
            <a:avLst/>
          </a:prstGeom>
          <a:noFill/>
        </p:spPr>
        <p:txBody>
          <a:bodyPr wrap="square" lIns="0" rIns="0" tIns="0" bIns="0" anchor="t">
            <a:spAutoFit/>
          </a:bodyPr>
          <a:lstStyle/>
          <a:p>
            <a:pPr algn="l">
              <a:spcAft>
                <a:spcPts val="0"/>
              </a:spcAft>
            </a:pPr>
            <a:r>
              <a:rPr sz="1100" b="1" i="0">
                <a:solidFill>
                  <a:srgbClr val="2A446F"/>
                </a:solidFill>
              </a:rPr>
              <a:t>1 · avatar (FLUX + FaceID)</a:t>
            </a:r>
          </a:p>
        </p:txBody>
      </p:sp>
      <p:sp>
        <p:nvSpPr>
          <p:cNvPr id="6" name="TextBox 5"/>
          <p:cNvSpPr txBox="1"/>
          <p:nvPr/>
        </p:nvSpPr>
        <p:spPr>
          <a:xfrm>
            <a:off x="585216" y="3465576"/>
            <a:ext cx="1783080"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a:t>
            </a:r>
          </a:p>
        </p:txBody>
      </p:sp>
      <p:pic>
        <p:nvPicPr>
          <p:cNvPr id="7" name="Picture 6" descr="char_sheet_en_899a1b909463.jpg"/>
          <p:cNvPicPr>
            <a:picLocks noChangeAspect="1"/>
          </p:cNvPicPr>
          <p:nvPr/>
        </p:nvPicPr>
        <p:blipFill>
          <a:blip r:embed="rId4"/>
          <a:stretch>
            <a:fillRect/>
          </a:stretch>
        </p:blipFill>
        <p:spPr>
          <a:xfrm>
            <a:off x="2642616" y="1371600"/>
            <a:ext cx="4187784" cy="1783080"/>
          </a:xfrm>
          <a:prstGeom prst="roundRect">
            <a:avLst>
              <a:gd name="adj" fmla="val 4000"/>
            </a:avLst>
          </a:prstGeom>
        </p:spPr>
      </p:pic>
      <p:sp>
        <p:nvSpPr>
          <p:cNvPr id="8" name="TextBox 7"/>
          <p:cNvSpPr txBox="1"/>
          <p:nvPr/>
        </p:nvSpPr>
        <p:spPr>
          <a:xfrm>
            <a:off x="2642616" y="3209544"/>
            <a:ext cx="4187784" cy="274320"/>
          </a:xfrm>
          <a:prstGeom prst="rect">
            <a:avLst/>
          </a:prstGeom>
          <a:noFill/>
        </p:spPr>
        <p:txBody>
          <a:bodyPr wrap="square" lIns="0" rIns="0" tIns="0" bIns="0" anchor="t">
            <a:spAutoFit/>
          </a:bodyPr>
          <a:lstStyle/>
          <a:p>
            <a:pPr algn="l">
              <a:spcAft>
                <a:spcPts val="0"/>
              </a:spcAft>
            </a:pPr>
            <a:r>
              <a:rPr sz="1100" b="1" i="0">
                <a:solidFill>
                  <a:srgbClr val="2A446F"/>
                </a:solidFill>
              </a:rPr>
              <a:t>2 · character sheet → train a character LoRA</a:t>
            </a:r>
          </a:p>
        </p:txBody>
      </p:sp>
      <p:sp>
        <p:nvSpPr>
          <p:cNvPr id="9" name="TextBox 8"/>
          <p:cNvSpPr txBox="1"/>
          <p:nvPr/>
        </p:nvSpPr>
        <p:spPr>
          <a:xfrm>
            <a:off x="2642616" y="3465576"/>
            <a:ext cx="4187784"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a:t>
            </a:r>
          </a:p>
        </p:txBody>
      </p:sp>
      <p:pic>
        <p:nvPicPr>
          <p:cNvPr id="10" name="Picture 9" descr="char_singing_f8b07a88cfd1.jpg"/>
          <p:cNvPicPr>
            <a:picLocks noChangeAspect="1"/>
          </p:cNvPicPr>
          <p:nvPr/>
        </p:nvPicPr>
        <p:blipFill>
          <a:blip r:embed="rId5"/>
          <a:stretch>
            <a:fillRect/>
          </a:stretch>
        </p:blipFill>
        <p:spPr>
          <a:xfrm>
            <a:off x="7104720" y="1371600"/>
            <a:ext cx="3120389" cy="1783080"/>
          </a:xfrm>
          <a:prstGeom prst="roundRect">
            <a:avLst>
              <a:gd name="adj" fmla="val 4000"/>
            </a:avLst>
          </a:prstGeom>
        </p:spPr>
      </p:pic>
      <p:sp>
        <p:nvSpPr>
          <p:cNvPr id="11" name="TextBox 10"/>
          <p:cNvSpPr txBox="1"/>
          <p:nvPr/>
        </p:nvSpPr>
        <p:spPr>
          <a:xfrm>
            <a:off x="7104720" y="3209544"/>
            <a:ext cx="3120389" cy="274320"/>
          </a:xfrm>
          <a:prstGeom prst="rect">
            <a:avLst/>
          </a:prstGeom>
          <a:noFill/>
        </p:spPr>
        <p:txBody>
          <a:bodyPr wrap="square" lIns="0" rIns="0" tIns="0" bIns="0" anchor="t">
            <a:spAutoFit/>
          </a:bodyPr>
          <a:lstStyle/>
          <a:p>
            <a:pPr algn="l">
              <a:spcAft>
                <a:spcPts val="0"/>
              </a:spcAft>
            </a:pPr>
            <a:r>
              <a:rPr sz="1100" b="1" i="0">
                <a:solidFill>
                  <a:srgbClr val="2A446F"/>
                </a:solidFill>
              </a:rPr>
              <a:t>3 · new scenes — same face</a:t>
            </a:r>
          </a:p>
        </p:txBody>
      </p:sp>
      <p:sp>
        <p:nvSpPr>
          <p:cNvPr id="12" name="TextBox 11"/>
          <p:cNvSpPr txBox="1"/>
          <p:nvPr/>
        </p:nvSpPr>
        <p:spPr>
          <a:xfrm>
            <a:off x="7104720" y="3465576"/>
            <a:ext cx="3120389"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a:t>
            </a:r>
          </a:p>
        </p:txBody>
      </p:sp>
      <p:pic>
        <p:nvPicPr>
          <p:cNvPr id="13" name="Picture 12" descr="char_lipsync_strip_9522fd5bcf0d.jpg"/>
          <p:cNvPicPr>
            <a:picLocks noChangeAspect="1"/>
          </p:cNvPicPr>
          <p:nvPr/>
        </p:nvPicPr>
        <p:blipFill>
          <a:blip r:embed="rId6"/>
          <a:stretch>
            <a:fillRect/>
          </a:stretch>
        </p:blipFill>
        <p:spPr>
          <a:xfrm>
            <a:off x="585216" y="3886200"/>
            <a:ext cx="5074920" cy="1691639"/>
          </a:xfrm>
          <a:prstGeom prst="roundRect">
            <a:avLst>
              <a:gd name="adj" fmla="val 4000"/>
            </a:avLst>
          </a:prstGeom>
        </p:spPr>
      </p:pic>
      <p:sp>
        <p:nvSpPr>
          <p:cNvPr id="14" name="TextBox 13"/>
          <p:cNvSpPr txBox="1"/>
          <p:nvPr/>
        </p:nvSpPr>
        <p:spPr>
          <a:xfrm>
            <a:off x="585216" y="5632703"/>
            <a:ext cx="5074920" cy="274320"/>
          </a:xfrm>
          <a:prstGeom prst="rect">
            <a:avLst/>
          </a:prstGeom>
          <a:noFill/>
        </p:spPr>
        <p:txBody>
          <a:bodyPr wrap="square" lIns="0" rIns="0" tIns="0" bIns="0" anchor="t">
            <a:spAutoFit/>
          </a:bodyPr>
          <a:lstStyle/>
          <a:p>
            <a:pPr algn="l">
              <a:spcAft>
                <a:spcPts val="0"/>
              </a:spcAft>
            </a:pPr>
            <a:r>
              <a:rPr sz="1100" b="1" i="0">
                <a:solidFill>
                  <a:srgbClr val="2A446F"/>
                </a:solidFill>
              </a:rPr>
              <a:t>4 · Wan 2.2 S2V: image + audio → a singing, lip-synced clip</a:t>
            </a:r>
          </a:p>
        </p:txBody>
      </p:sp>
      <p:sp>
        <p:nvSpPr>
          <p:cNvPr id="15" name="TextBox 14"/>
          <p:cNvSpPr txBox="1"/>
          <p:nvPr/>
        </p:nvSpPr>
        <p:spPr>
          <a:xfrm>
            <a:off x="4562855" y="5632703"/>
            <a:ext cx="1097280" cy="219456"/>
          </a:xfrm>
          <a:prstGeom prst="rect">
            <a:avLst/>
          </a:prstGeom>
          <a:noFill/>
        </p:spPr>
        <p:txBody>
          <a:bodyPr wrap="square" lIns="0" rIns="0" tIns="0" bIns="0" anchor="t">
            <a:spAutoFit/>
          </a:bodyPr>
          <a:lstStyle/>
          <a:p>
            <a:pPr algn="r">
              <a:spcAft>
                <a:spcPts val="0"/>
              </a:spcAft>
            </a:pPr>
            <a:r>
              <a:rPr sz="1000" b="0" i="1">
                <a:solidFill>
                  <a:srgbClr val="6B6B6B"/>
                </a:solidFill>
              </a:rPr>
              <a:t>AI-generated</a:t>
            </a:r>
          </a:p>
        </p:txBody>
      </p:sp>
      <p:sp>
        <p:nvSpPr>
          <p:cNvPr id="16" name="Rounded Rectangle 15"/>
          <p:cNvSpPr/>
          <p:nvPr/>
        </p:nvSpPr>
        <p:spPr>
          <a:xfrm>
            <a:off x="5934455" y="3886200"/>
            <a:ext cx="4306823" cy="169164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34455" y="3995928"/>
            <a:ext cx="64008" cy="1472184"/>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63055" y="3977639"/>
            <a:ext cx="3941063" cy="274320"/>
          </a:xfrm>
          <a:prstGeom prst="rect">
            <a:avLst/>
          </a:prstGeom>
          <a:noFill/>
        </p:spPr>
        <p:txBody>
          <a:bodyPr wrap="square" lIns="0" rIns="0" tIns="0" bIns="0" anchor="t">
            <a:spAutoFit/>
          </a:bodyPr>
          <a:lstStyle/>
          <a:p>
            <a:pPr algn="l">
              <a:spcAft>
                <a:spcPts val="0"/>
              </a:spcAft>
            </a:pPr>
            <a:r>
              <a:rPr sz="1200" b="1" i="0">
                <a:solidFill>
                  <a:srgbClr val="E86A10"/>
                </a:solidFill>
              </a:rPr>
              <a:t>THE SOUNDTRACK</a:t>
            </a:r>
          </a:p>
        </p:txBody>
      </p:sp>
      <p:sp>
        <p:nvSpPr>
          <p:cNvPr id="19" name="TextBox 18"/>
          <p:cNvSpPr txBox="1"/>
          <p:nvPr/>
        </p:nvSpPr>
        <p:spPr>
          <a:xfrm>
            <a:off x="6163055" y="4270248"/>
            <a:ext cx="3941063" cy="1234440"/>
          </a:xfrm>
          <a:prstGeom prst="rect">
            <a:avLst/>
          </a:prstGeom>
          <a:noFill/>
        </p:spPr>
        <p:txBody>
          <a:bodyPr wrap="square" lIns="0" rIns="0" tIns="0" bIns="0" anchor="t">
            <a:spAutoFit/>
          </a:bodyPr>
          <a:lstStyle/>
          <a:p>
            <a:pPr algn="l">
              <a:spcAft>
                <a:spcPts val="0"/>
              </a:spcAft>
            </a:pPr>
            <a:r>
              <a:rPr sz="1100" b="0" i="0">
                <a:solidFill>
                  <a:srgbClr val="1F1F1F"/>
                </a:solidFill>
              </a:rPr>
              <a:t>An LLM writes tagged lyrics → ACE-Step 1.5 turns them into a full song with vocals, on your own GPU (MIT). Every stage consumed the previous stage’s file.</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Research: Beyond the Slop integration · Model catalog §8 (checked 2026-09-21)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the music-video chain, stage by stage + Wan2GP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Every stage consumed the previous stage’s file — swap one block and the chain survives.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729740"/>
          </a:xfrm>
          <a:prstGeom prst="rect">
            <a:avLst/>
          </a:prstGeom>
          <a:noFill/>
        </p:spPr>
        <p:txBody>
          <a:bodyPr wrap="square" lIns="0" rIns="0" tIns="0" bIns="0" anchor="t">
            <a:spAutoFit/>
          </a:bodyPr>
          <a:lstStyle/>
          <a:p>
            <a:pPr algn="l">
              <a:spcAft>
                <a:spcPts val="900"/>
              </a:spcAft>
            </a:pPr>
            <a:r>
              <a:rPr sz="1400" b="0" i="0">
                <a:solidFill>
                  <a:srgbClr val="1F1F1F"/>
                </a:solidFill>
              </a:rPr>
              <a:t>1. lyrics.txt → song.wav (ACE-Step 1.5)</a:t>
            </a:r>
          </a:p>
          <a:p>
            <a:pPr algn="l">
              <a:spcAft>
                <a:spcPts val="900"/>
              </a:spcAft>
            </a:pPr>
            <a:r>
              <a:rPr sz="1400" b="0" i="0">
                <a:solidFill>
                  <a:srgbClr val="1F1F1F"/>
                </a:solidFill>
              </a:rPr>
              <a:t>2. avatar.png → character sheet → character LoRA</a:t>
            </a:r>
          </a:p>
          <a:p>
            <a:pPr algn="l">
              <a:spcAft>
                <a:spcPts val="900"/>
              </a:spcAft>
            </a:pPr>
            <a:r>
              <a:rPr sz="1400" b="0" i="0">
                <a:solidFill>
                  <a:srgbClr val="1F1F1F"/>
                </a:solidFill>
              </a:rPr>
              <a:t>3. clip.mp4 (Wan 2.2 I2V) → music_video.mp4 (S2V)</a:t>
            </a:r>
          </a:p>
          <a:p>
            <a:pPr algn="l">
              <a:spcAft>
                <a:spcPts val="900"/>
              </a:spcAft>
            </a:pPr>
            <a:r>
              <a:rPr sz="1400" b="0" i="0">
                <a:solidFill>
                  <a:srgbClr val="1F1F1F"/>
                </a:solidFill>
              </a:rPr>
              <a:t>4. Wan2GP: the same video models in a low-VRAM UI</a:t>
            </a:r>
          </a:p>
          <a:p>
            <a:pPr algn="l">
              <a:spcAft>
                <a:spcPts val="900"/>
              </a:spcAft>
            </a:pPr>
            <a:r>
              <a:rPr sz="1400" b="0" i="0">
                <a:solidFill>
                  <a:srgbClr val="1F1F1F"/>
                </a:solidFill>
              </a:rPr>
              <a:t>5. Open the output folder: files, not magic</a:t>
            </a:r>
          </a:p>
        </p:txBody>
      </p:sp>
      <p:sp>
        <p:nvSpPr>
          <p:cNvPr id="11" name="Rounded Rectangle 10"/>
          <p:cNvSpPr/>
          <p:nvPr/>
        </p:nvSpPr>
        <p:spPr>
          <a:xfrm>
            <a:off x="5029200" y="342137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5859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04317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Show the stills of every stage and a Wan2GP screenshot.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Model catalog §7 (checked 2026-09-21) · Wan2GP (GitHub)</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cloud twin: same chain, same client, no GPU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1600200"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TEXT</a:t>
            </a:r>
          </a:p>
        </p:txBody>
      </p:sp>
      <p:sp>
        <p:nvSpPr>
          <p:cNvPr id="5" name="TextBox 4"/>
          <p:cNvSpPr txBox="1"/>
          <p:nvPr/>
        </p:nvSpPr>
        <p:spPr>
          <a:xfrm>
            <a:off x="3829050"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IMAGE</a:t>
            </a:r>
          </a:p>
        </p:txBody>
      </p:sp>
      <p:sp>
        <p:nvSpPr>
          <p:cNvPr id="6" name="TextBox 5"/>
          <p:cNvSpPr txBox="1"/>
          <p:nvPr/>
        </p:nvSpPr>
        <p:spPr>
          <a:xfrm>
            <a:off x="6057899"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VOICE</a:t>
            </a:r>
          </a:p>
        </p:txBody>
      </p:sp>
      <p:sp>
        <p:nvSpPr>
          <p:cNvPr id="7" name="TextBox 6"/>
          <p:cNvSpPr txBox="1"/>
          <p:nvPr/>
        </p:nvSpPr>
        <p:spPr>
          <a:xfrm>
            <a:off x="8286749"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VIDEO</a:t>
            </a:r>
          </a:p>
        </p:txBody>
      </p:sp>
      <p:sp>
        <p:nvSpPr>
          <p:cNvPr id="8" name="TextBox 7"/>
          <p:cNvSpPr txBox="1"/>
          <p:nvPr/>
        </p:nvSpPr>
        <p:spPr>
          <a:xfrm>
            <a:off x="585216" y="1810512"/>
            <a:ext cx="914400" cy="320040"/>
          </a:xfrm>
          <a:prstGeom prst="rect">
            <a:avLst/>
          </a:prstGeom>
          <a:noFill/>
        </p:spPr>
        <p:txBody>
          <a:bodyPr wrap="square" lIns="0" rIns="0" tIns="0" bIns="0" anchor="t">
            <a:spAutoFit/>
          </a:bodyPr>
          <a:lstStyle/>
          <a:p>
            <a:pPr algn="l">
              <a:spcAft>
                <a:spcPts val="0"/>
              </a:spcAft>
            </a:pPr>
            <a:r>
              <a:rPr sz="1200" b="1" i="0">
                <a:solidFill>
                  <a:srgbClr val="E86A10"/>
                </a:solidFill>
              </a:rPr>
              <a:t>LOCAL</a:t>
            </a:r>
          </a:p>
        </p:txBody>
      </p:sp>
      <p:sp>
        <p:nvSpPr>
          <p:cNvPr id="9" name="Rounded Rectangle 8"/>
          <p:cNvSpPr/>
          <p:nvPr/>
        </p:nvSpPr>
        <p:spPr>
          <a:xfrm>
            <a:off x="1600200"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Ollama · LM Studio</a:t>
            </a:r>
          </a:p>
          <a:p>
            <a:pPr algn="ctr"/>
            <a:r>
              <a:rPr sz="1050" b="0" i="0">
                <a:solidFill>
                  <a:srgbClr val="2A446F"/>
                </a:solidFill>
              </a:rPr>
              <a:t>Qwen3.8-27B · Gemma 4</a:t>
            </a:r>
          </a:p>
        </p:txBody>
      </p:sp>
      <p:cxnSp>
        <p:nvCxnSpPr>
          <p:cNvPr id="10" name="Connector 9"/>
          <p:cNvCxnSpPr/>
          <p:nvPr/>
        </p:nvCxnSpPr>
        <p:spPr>
          <a:xfrm>
            <a:off x="3582161" y="1975104"/>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829050"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ComfyUI</a:t>
            </a:r>
          </a:p>
          <a:p>
            <a:pPr algn="ctr"/>
            <a:r>
              <a:rPr sz="1050" b="0" i="0">
                <a:solidFill>
                  <a:srgbClr val="2A446F"/>
                </a:solidFill>
              </a:rPr>
              <a:t>Z-Image · FLUX.2 klein</a:t>
            </a:r>
          </a:p>
        </p:txBody>
      </p:sp>
      <p:cxnSp>
        <p:nvCxnSpPr>
          <p:cNvPr id="12" name="Connector 11"/>
          <p:cNvCxnSpPr/>
          <p:nvPr/>
        </p:nvCxnSpPr>
        <p:spPr>
          <a:xfrm>
            <a:off x="5811012" y="1975104"/>
            <a:ext cx="21945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057899"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Qwen3-TTS</a:t>
            </a:r>
          </a:p>
          <a:p>
            <a:pPr algn="ctr"/>
            <a:r>
              <a:rPr sz="1050" b="0" i="0">
                <a:solidFill>
                  <a:srgbClr val="2A446F"/>
                </a:solidFill>
              </a:rPr>
              <a:t>mlx-audio · GGUF</a:t>
            </a:r>
          </a:p>
        </p:txBody>
      </p:sp>
      <p:cxnSp>
        <p:nvCxnSpPr>
          <p:cNvPr id="14" name="Connector 13"/>
          <p:cNvCxnSpPr/>
          <p:nvPr/>
        </p:nvCxnSpPr>
        <p:spPr>
          <a:xfrm>
            <a:off x="8039861" y="1975104"/>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86749"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Wan2GP</a:t>
            </a:r>
          </a:p>
          <a:p>
            <a:pPr algn="ctr"/>
            <a:r>
              <a:rPr sz="1050" b="0" i="0">
                <a:solidFill>
                  <a:srgbClr val="2A446F"/>
                </a:solidFill>
              </a:rPr>
              <a:t>Wan 2.2 · HunyuanVideo 1.5</a:t>
            </a:r>
          </a:p>
        </p:txBody>
      </p:sp>
      <p:sp>
        <p:nvSpPr>
          <p:cNvPr id="16" name="TextBox 15"/>
          <p:cNvSpPr txBox="1"/>
          <p:nvPr/>
        </p:nvSpPr>
        <p:spPr>
          <a:xfrm>
            <a:off x="585216" y="2615184"/>
            <a:ext cx="914400" cy="320040"/>
          </a:xfrm>
          <a:prstGeom prst="rect">
            <a:avLst/>
          </a:prstGeom>
          <a:noFill/>
        </p:spPr>
        <p:txBody>
          <a:bodyPr wrap="square" lIns="0" rIns="0" tIns="0" bIns="0" anchor="t">
            <a:spAutoFit/>
          </a:bodyPr>
          <a:lstStyle/>
          <a:p>
            <a:pPr algn="l">
              <a:spcAft>
                <a:spcPts val="0"/>
              </a:spcAft>
            </a:pPr>
            <a:r>
              <a:rPr sz="1200" b="1" i="0">
                <a:solidFill>
                  <a:srgbClr val="E86A10"/>
                </a:solidFill>
              </a:rPr>
              <a:t>CLOUD</a:t>
            </a:r>
          </a:p>
        </p:txBody>
      </p:sp>
      <p:sp>
        <p:nvSpPr>
          <p:cNvPr id="17" name="Rounded Rectangle 16"/>
          <p:cNvSpPr/>
          <p:nvPr/>
        </p:nvSpPr>
        <p:spPr>
          <a:xfrm>
            <a:off x="1600200"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Foundry DfA</a:t>
            </a:r>
          </a:p>
          <a:p>
            <a:pPr algn="ctr"/>
            <a:r>
              <a:rPr sz="1050" b="0" i="0">
                <a:solidFill>
                  <a:srgbClr val="2A446F"/>
                </a:solidFill>
              </a:rPr>
              <a:t>gpt-5-mini · DeepSeek</a:t>
            </a:r>
          </a:p>
        </p:txBody>
      </p:sp>
      <p:cxnSp>
        <p:nvCxnSpPr>
          <p:cNvPr id="18" name="Connector 17"/>
          <p:cNvCxnSpPr/>
          <p:nvPr/>
        </p:nvCxnSpPr>
        <p:spPr>
          <a:xfrm>
            <a:off x="3582161" y="2779776"/>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829050"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Foundry DfA</a:t>
            </a:r>
          </a:p>
          <a:p>
            <a:pPr algn="ctr"/>
            <a:r>
              <a:rPr sz="1050" b="0" i="0">
                <a:solidFill>
                  <a:srgbClr val="2A446F"/>
                </a:solidFill>
              </a:rPr>
              <a:t>gpt-image-1-mini · FLUX.2</a:t>
            </a:r>
          </a:p>
        </p:txBody>
      </p:sp>
      <p:cxnSp>
        <p:nvCxnSpPr>
          <p:cNvPr id="20" name="Connector 19"/>
          <p:cNvCxnSpPr/>
          <p:nvPr/>
        </p:nvCxnSpPr>
        <p:spPr>
          <a:xfrm>
            <a:off x="5811012" y="2779776"/>
            <a:ext cx="21945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57899"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Foundry DfA</a:t>
            </a:r>
          </a:p>
          <a:p>
            <a:pPr algn="ctr"/>
            <a:r>
              <a:rPr sz="1050" b="0" i="0">
                <a:solidFill>
                  <a:srgbClr val="2A446F"/>
                </a:solidFill>
              </a:rPr>
              <a:t>gpt-4o-mini-tts</a:t>
            </a:r>
          </a:p>
        </p:txBody>
      </p:sp>
      <p:cxnSp>
        <p:nvCxnSpPr>
          <p:cNvPr id="22" name="Connector 21"/>
          <p:cNvCxnSpPr/>
          <p:nvPr/>
        </p:nvCxnSpPr>
        <p:spPr>
          <a:xfrm>
            <a:off x="8039861" y="2779776"/>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286749"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HF router</a:t>
            </a:r>
          </a:p>
          <a:p>
            <a:pPr algn="ctr"/>
            <a:r>
              <a:rPr sz="1050" b="0" i="0">
                <a:solidFill>
                  <a:srgbClr val="2A446F"/>
                </a:solidFill>
              </a:rPr>
              <a:t>fal · Replicate: Wan 2.2</a:t>
            </a:r>
          </a:p>
        </p:txBody>
      </p:sp>
      <p:sp>
        <p:nvSpPr>
          <p:cNvPr id="24" name="TextBox 23"/>
          <p:cNvSpPr txBox="1"/>
          <p:nvPr/>
        </p:nvSpPr>
        <p:spPr>
          <a:xfrm>
            <a:off x="585216" y="3246120"/>
            <a:ext cx="9656063" cy="237744"/>
          </a:xfrm>
          <a:prstGeom prst="rect">
            <a:avLst/>
          </a:prstGeom>
          <a:noFill/>
        </p:spPr>
        <p:txBody>
          <a:bodyPr wrap="square" lIns="0" rIns="0" tIns="0" bIns="0" anchor="t">
            <a:spAutoFit/>
          </a:bodyPr>
          <a:lstStyle/>
          <a:p>
            <a:pPr algn="l">
              <a:spcAft>
                <a:spcPts val="0"/>
              </a:spcAft>
            </a:pPr>
            <a:r>
              <a:rPr sz="1100" b="0" i="1">
                <a:solidFill>
                  <a:srgbClr val="6B6B6B"/>
                </a:solidFill>
              </a:rPr>
              <a:t>Lab 4 · 05_tts.py — a local TTS server or the workshop endpoint: the same OpenAI client class</a:t>
            </a:r>
          </a:p>
        </p:txBody>
      </p:sp>
      <p:sp>
        <p:nvSpPr>
          <p:cNvPr id="25" name="Rounded Rectangle 24"/>
          <p:cNvSpPr/>
          <p:nvPr/>
        </p:nvSpPr>
        <p:spPr>
          <a:xfrm>
            <a:off x="585216" y="3520440"/>
            <a:ext cx="9656063" cy="17830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52559" y="363016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27" name="TextBox 26"/>
          <p:cNvSpPr txBox="1"/>
          <p:nvPr/>
        </p:nvSpPr>
        <p:spPr>
          <a:xfrm>
            <a:off x="768096" y="3904488"/>
            <a:ext cx="9290303" cy="1280160"/>
          </a:xfrm>
          <a:prstGeom prst="rect">
            <a:avLst/>
          </a:prstGeom>
          <a:noFill/>
        </p:spPr>
        <p:txBody>
          <a:bodyPr wrap="square" lIns="0" rIns="0" tIns="0" bIns="0">
            <a:spAutoFit/>
          </a:bodyPr>
          <a:lstStyle/>
          <a:p>
            <a:pPr>
              <a:spcAft>
                <a:spcPts val="0"/>
              </a:spcAft>
            </a:pPr>
            <a:r>
              <a:rPr sz="1100">
                <a:solidFill>
                  <a:srgbClr val="E8EEF7"/>
                </a:solidFill>
                <a:latin typeface="Consolas"/>
              </a:rPr>
              <a:t>if os.getenv("TTS_BASE_URL"):</a:t>
            </a:r>
          </a:p>
          <a:p>
            <a:pPr>
              <a:spcAft>
                <a:spcPts val="0"/>
              </a:spcAft>
            </a:pPr>
            <a:r>
              <a:rPr sz="1100">
                <a:solidFill>
                  <a:srgbClr val="E8EEF7"/>
                </a:solidFill>
                <a:latin typeface="Consolas"/>
              </a:rPr>
              <a:t>    client, model = OpenAI(base_url=os.environ["TTS_BASE_URL"], api_key="local"), os.environ["TTS_MODEL"]</a:t>
            </a:r>
          </a:p>
          <a:p>
            <a:pPr>
              <a:spcAft>
                <a:spcPts val="0"/>
              </a:spcAft>
            </a:pPr>
            <a:r>
              <a:rPr sz="1100">
                <a:solidFill>
                  <a:srgbClr val="E8EEF7"/>
                </a:solidFill>
                <a:latin typeface="Consolas"/>
              </a:rPr>
              <a:t>else:</a:t>
            </a:r>
          </a:p>
          <a:p>
            <a:pPr>
              <a:spcAft>
                <a:spcPts val="0"/>
              </a:spcAft>
            </a:pPr>
            <a:r>
              <a:rPr sz="1100">
                <a:solidFill>
                  <a:srgbClr val="E8EEF7"/>
                </a:solidFill>
                <a:latin typeface="Consolas"/>
              </a:rPr>
              <a:t>    key = os.environ["GENAI_API_KEY"]</a:t>
            </a:r>
          </a:p>
          <a:p>
            <a:pPr>
              <a:spcAft>
                <a:spcPts val="0"/>
              </a:spcAft>
            </a:pPr>
            <a:r>
              <a:rPr sz="1100">
                <a:solidFill>
                  <a:srgbClr val="E8EEF7"/>
                </a:solidFill>
                <a:latin typeface="Consolas"/>
              </a:rPr>
              <a:t>    headers = {"api-key": key} if os.getenv("GENAI_KEY_HEADER", "api-key") == "api-key" else None</a:t>
            </a:r>
          </a:p>
          <a:p>
            <a:pPr>
              <a:spcAft>
                <a:spcPts val="0"/>
              </a:spcAft>
            </a:pPr>
            <a:r>
              <a:rPr sz="1100">
                <a:solidFill>
                  <a:srgbClr val="E8EEF7"/>
                </a:solidFill>
                <a:latin typeface="Consolas"/>
              </a:rPr>
              <a:t>    client = OpenAI(base_url=os.environ["GENAI_BASE_URL"], api_key=key, default_headers=headers)</a:t>
            </a:r>
          </a:p>
          <a:p>
            <a:pPr>
              <a:spcAft>
                <a:spcPts val="0"/>
              </a:spcAft>
            </a:pPr>
            <a:r>
              <a:rPr sz="1100">
                <a:solidFill>
                  <a:srgbClr val="E8EEF7"/>
                </a:solidFill>
                <a:latin typeface="Consolas"/>
              </a:rPr>
              <a:t>    model = os.getenv("GENAI_TTS_MODEL", "gpt-4o-mini-tts")</a:t>
            </a:r>
          </a:p>
        </p:txBody>
      </p:sp>
      <p:sp>
        <p:nvSpPr>
          <p:cNvPr id="28" name="TextBox 2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client, new base_url and model name — the pipeline doesn’t change.</a:t>
            </a:r>
          </a:p>
        </p:txBody>
      </p:sp>
      <p:sp>
        <p:nvSpPr>
          <p:cNvPr id="29" name="TextBox 2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§10 (checked 2026-09-21) · Model catalog §8 (checked 2026-09-21) · Lab 4 05_tts.py (tested vs mock)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Cockpits: ComfyUI for graphs, Wan2GP for low-VRAM video</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53312"/>
            <a:ext cx="9656063" cy="2697480"/>
          </a:xfrm>
          <a:prstGeom prst="roundRect">
            <a:avLst>
              <a:gd name="adj" fmla="val 4000"/>
            </a:avLst>
          </a:prstGeom>
          <a:solidFill>
            <a:srgbClr val="1B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ire"/>
          <p:cNvSpPr/>
          <p:nvPr/>
        </p:nvSpPr>
        <p:spPr>
          <a:xfrm>
            <a:off x="2414016" y="2276856"/>
            <a:ext cx="2862072" cy="27432"/>
          </a:xfrm>
          <a:custGeom>
            <a:avLst/>
            <a:gdLst/>
            <a:ahLst/>
            <a:cxnLst/>
            <a:rect l="l" t="t" r="r" b="b"/>
            <a:pathLst>
              <a:path w="2862072" h="27432" fill="none">
                <a:moveTo>
                  <a:pt x="0" y="0"/>
                </a:moveTo>
                <a:cubicBezTo>
                  <a:pt x="1431036" y="0"/>
                  <a:pt x="1431036" y="27432"/>
                  <a:pt x="2862072" y="27432"/>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ire"/>
          <p:cNvSpPr/>
          <p:nvPr/>
        </p:nvSpPr>
        <p:spPr>
          <a:xfrm>
            <a:off x="2414016" y="1920240"/>
            <a:ext cx="425195" cy="493776"/>
          </a:xfrm>
          <a:custGeom>
            <a:avLst/>
            <a:gdLst/>
            <a:ahLst/>
            <a:cxnLst/>
            <a:rect l="l" t="t" r="r" b="b"/>
            <a:pathLst>
              <a:path w="425195" h="493776" fill="none">
                <a:moveTo>
                  <a:pt x="0" y="493776"/>
                </a:moveTo>
                <a:cubicBezTo>
                  <a:pt x="212597" y="493776"/>
                  <a:pt x="212597" y="0"/>
                  <a:pt x="425195" y="0"/>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ire"/>
          <p:cNvSpPr/>
          <p:nvPr/>
        </p:nvSpPr>
        <p:spPr>
          <a:xfrm>
            <a:off x="2414016" y="2414016"/>
            <a:ext cx="425195" cy="566928"/>
          </a:xfrm>
          <a:custGeom>
            <a:avLst/>
            <a:gdLst/>
            <a:ahLst/>
            <a:cxnLst/>
            <a:rect l="l" t="t" r="r" b="b"/>
            <a:pathLst>
              <a:path w="425195" h="566928" fill="none">
                <a:moveTo>
                  <a:pt x="0" y="0"/>
                </a:moveTo>
                <a:cubicBezTo>
                  <a:pt x="212597" y="0"/>
                  <a:pt x="212597" y="566928"/>
                  <a:pt x="425195" y="566928"/>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ire"/>
          <p:cNvSpPr/>
          <p:nvPr/>
        </p:nvSpPr>
        <p:spPr>
          <a:xfrm>
            <a:off x="4850892" y="1920240"/>
            <a:ext cx="425196" cy="521208"/>
          </a:xfrm>
          <a:custGeom>
            <a:avLst/>
            <a:gdLst/>
            <a:ahLst/>
            <a:cxnLst/>
            <a:rect l="l" t="t" r="r" b="b"/>
            <a:pathLst>
              <a:path w="425196" h="521208" fill="none">
                <a:moveTo>
                  <a:pt x="0" y="0"/>
                </a:moveTo>
                <a:cubicBezTo>
                  <a:pt x="212598" y="0"/>
                  <a:pt x="212598" y="521208"/>
                  <a:pt x="425196" y="521208"/>
                </a:cubicBezTo>
              </a:path>
            </a:pathLst>
          </a:custGeom>
          <a:noFill/>
          <a:ln w="28575">
            <a:solidFill>
              <a:srgbClr val="7FB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ire"/>
          <p:cNvSpPr/>
          <p:nvPr/>
        </p:nvSpPr>
        <p:spPr>
          <a:xfrm>
            <a:off x="4850892" y="2569464"/>
            <a:ext cx="425196" cy="411480"/>
          </a:xfrm>
          <a:custGeom>
            <a:avLst/>
            <a:gdLst/>
            <a:ahLst/>
            <a:cxnLst/>
            <a:rect l="l" t="t" r="r" b="b"/>
            <a:pathLst>
              <a:path w="425196" h="411480" fill="none">
                <a:moveTo>
                  <a:pt x="0" y="411480"/>
                </a:moveTo>
                <a:cubicBezTo>
                  <a:pt x="212598" y="411480"/>
                  <a:pt x="212598" y="0"/>
                  <a:pt x="425196" y="0"/>
                </a:cubicBezTo>
              </a:path>
            </a:pathLst>
          </a:custGeom>
          <a:noFill/>
          <a:ln w="28575">
            <a:solidFill>
              <a:srgbClr val="E04F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ire"/>
          <p:cNvSpPr/>
          <p:nvPr/>
        </p:nvSpPr>
        <p:spPr>
          <a:xfrm>
            <a:off x="4850892" y="2688336"/>
            <a:ext cx="425196" cy="1042416"/>
          </a:xfrm>
          <a:custGeom>
            <a:avLst/>
            <a:gdLst/>
            <a:ahLst/>
            <a:cxnLst/>
            <a:rect l="l" t="t" r="r" b="b"/>
            <a:pathLst>
              <a:path w="425196" h="1042416" fill="none">
                <a:moveTo>
                  <a:pt x="0" y="1042416"/>
                </a:moveTo>
                <a:cubicBezTo>
                  <a:pt x="212598" y="1042416"/>
                  <a:pt x="212598" y="0"/>
                  <a:pt x="425196" y="0"/>
                </a:cubicBezTo>
              </a:path>
            </a:pathLst>
          </a:custGeom>
          <a:noFill/>
          <a:ln w="28575">
            <a:solidFill>
              <a:srgbClr val="E8A8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ire"/>
          <p:cNvSpPr/>
          <p:nvPr/>
        </p:nvSpPr>
        <p:spPr>
          <a:xfrm>
            <a:off x="7059168" y="2487168"/>
            <a:ext cx="425195" cy="0"/>
          </a:xfrm>
          <a:custGeom>
            <a:avLst/>
            <a:gdLst/>
            <a:ahLst/>
            <a:cxnLst/>
            <a:rect l="l" t="t" r="r" b="b"/>
            <a:pathLst>
              <a:path w="425195" h="0" fill="none">
                <a:moveTo>
                  <a:pt x="0" y="0"/>
                </a:moveTo>
                <a:cubicBezTo>
                  <a:pt x="212597" y="0"/>
                  <a:pt x="212597" y="0"/>
                  <a:pt x="425195" y="0"/>
                </a:cubicBezTo>
              </a:path>
            </a:pathLst>
          </a:custGeom>
          <a:noFill/>
          <a:ln w="28575">
            <a:solidFill>
              <a:srgbClr val="E04F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ire"/>
          <p:cNvSpPr/>
          <p:nvPr/>
        </p:nvSpPr>
        <p:spPr>
          <a:xfrm>
            <a:off x="8810243" y="2487168"/>
            <a:ext cx="425196" cy="0"/>
          </a:xfrm>
          <a:custGeom>
            <a:avLst/>
            <a:gdLst/>
            <a:ahLst/>
            <a:cxnLst/>
            <a:rect l="l" t="t" r="r" b="b"/>
            <a:pathLst>
              <a:path w="425196" h="0" fill="none">
                <a:moveTo>
                  <a:pt x="0" y="0"/>
                </a:moveTo>
                <a:cubicBezTo>
                  <a:pt x="212598" y="0"/>
                  <a:pt x="212598" y="0"/>
                  <a:pt x="425196" y="0"/>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22376" y="1847088"/>
            <a:ext cx="169164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 Same Side Corner Rectangle 13"/>
          <p:cNvSpPr/>
          <p:nvPr/>
        </p:nvSpPr>
        <p:spPr>
          <a:xfrm>
            <a:off x="722376" y="1847088"/>
            <a:ext cx="1691640" cy="274320"/>
          </a:xfrm>
          <a:prstGeom prst="round2Same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 y="1865376"/>
            <a:ext cx="1508760" cy="246888"/>
          </a:xfrm>
          <a:prstGeom prst="rect">
            <a:avLst/>
          </a:prstGeom>
          <a:noFill/>
        </p:spPr>
        <p:txBody>
          <a:bodyPr wrap="square" lIns="0" rIns="0" tIns="0" bIns="0" anchor="ctr">
            <a:spAutoFit/>
          </a:bodyPr>
          <a:lstStyle/>
          <a:p>
            <a:pPr algn="l">
              <a:spcAft>
                <a:spcPts val="0"/>
              </a:spcAft>
            </a:pPr>
            <a:r>
              <a:rPr sz="1100" b="1" i="0">
                <a:solidFill>
                  <a:srgbClr val="141E46"/>
                </a:solidFill>
              </a:rPr>
              <a:t>Load Checkpoint</a:t>
            </a:r>
          </a:p>
        </p:txBody>
      </p:sp>
      <p:sp>
        <p:nvSpPr>
          <p:cNvPr id="16" name="TextBox 15"/>
          <p:cNvSpPr txBox="1"/>
          <p:nvPr/>
        </p:nvSpPr>
        <p:spPr>
          <a:xfrm>
            <a:off x="832104" y="2157984"/>
            <a:ext cx="150876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MODEL · CLIP · VAE</a:t>
            </a:r>
          </a:p>
        </p:txBody>
      </p:sp>
      <p:sp>
        <p:nvSpPr>
          <p:cNvPr id="17" name="Rounded Rectangle 16"/>
          <p:cNvSpPr/>
          <p:nvPr/>
        </p:nvSpPr>
        <p:spPr>
          <a:xfrm>
            <a:off x="2839211" y="1481328"/>
            <a:ext cx="2011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 Same Side Corner Rectangle 17"/>
          <p:cNvSpPr/>
          <p:nvPr/>
        </p:nvSpPr>
        <p:spPr>
          <a:xfrm>
            <a:off x="2839211" y="1481328"/>
            <a:ext cx="2011680" cy="274320"/>
          </a:xfrm>
          <a:prstGeom prst="round2Same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48939" y="1499616"/>
            <a:ext cx="1828800" cy="246888"/>
          </a:xfrm>
          <a:prstGeom prst="rect">
            <a:avLst/>
          </a:prstGeom>
          <a:noFill/>
        </p:spPr>
        <p:txBody>
          <a:bodyPr wrap="square" lIns="0" rIns="0" tIns="0" bIns="0" anchor="ctr">
            <a:spAutoFit/>
          </a:bodyPr>
          <a:lstStyle/>
          <a:p>
            <a:pPr algn="l">
              <a:spcAft>
                <a:spcPts val="0"/>
              </a:spcAft>
            </a:pPr>
            <a:r>
              <a:rPr sz="1100" b="1" i="0">
                <a:solidFill>
                  <a:srgbClr val="141E46"/>
                </a:solidFill>
              </a:rPr>
              <a:t>CLIP Text Encode (+)</a:t>
            </a:r>
          </a:p>
        </p:txBody>
      </p:sp>
      <p:sp>
        <p:nvSpPr>
          <p:cNvPr id="20" name="TextBox 19"/>
          <p:cNvSpPr txBox="1"/>
          <p:nvPr/>
        </p:nvSpPr>
        <p:spPr>
          <a:xfrm>
            <a:off x="2948939" y="1792224"/>
            <a:ext cx="1828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“a red fox, forest”</a:t>
            </a:r>
          </a:p>
        </p:txBody>
      </p:sp>
      <p:sp>
        <p:nvSpPr>
          <p:cNvPr id="21" name="Rounded Rectangle 20"/>
          <p:cNvSpPr/>
          <p:nvPr/>
        </p:nvSpPr>
        <p:spPr>
          <a:xfrm>
            <a:off x="2839211" y="2542032"/>
            <a:ext cx="2011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2839211" y="2542032"/>
            <a:ext cx="2011680" cy="274320"/>
          </a:xfrm>
          <a:prstGeom prst="round2SameRect">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948939" y="2560320"/>
            <a:ext cx="1828800" cy="246888"/>
          </a:xfrm>
          <a:prstGeom prst="rect">
            <a:avLst/>
          </a:prstGeom>
          <a:noFill/>
        </p:spPr>
        <p:txBody>
          <a:bodyPr wrap="square" lIns="0" rIns="0" tIns="0" bIns="0" anchor="ctr">
            <a:spAutoFit/>
          </a:bodyPr>
          <a:lstStyle/>
          <a:p>
            <a:pPr algn="l">
              <a:spcAft>
                <a:spcPts val="0"/>
              </a:spcAft>
            </a:pPr>
            <a:r>
              <a:rPr sz="1100" b="1" i="0">
                <a:solidFill>
                  <a:srgbClr val="FFFFFF"/>
                </a:solidFill>
              </a:rPr>
              <a:t>CLIP Text Encode (−)</a:t>
            </a:r>
          </a:p>
        </p:txBody>
      </p:sp>
      <p:sp>
        <p:nvSpPr>
          <p:cNvPr id="24" name="TextBox 23"/>
          <p:cNvSpPr txBox="1"/>
          <p:nvPr/>
        </p:nvSpPr>
        <p:spPr>
          <a:xfrm>
            <a:off x="2948939" y="2852927"/>
            <a:ext cx="1828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“blurry, lowres”</a:t>
            </a:r>
          </a:p>
        </p:txBody>
      </p:sp>
      <p:sp>
        <p:nvSpPr>
          <p:cNvPr id="25" name="Rounded Rectangle 24"/>
          <p:cNvSpPr/>
          <p:nvPr/>
        </p:nvSpPr>
        <p:spPr>
          <a:xfrm>
            <a:off x="2839211" y="3291840"/>
            <a:ext cx="2011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 Same Side Corner Rectangle 25"/>
          <p:cNvSpPr/>
          <p:nvPr/>
        </p:nvSpPr>
        <p:spPr>
          <a:xfrm>
            <a:off x="2839211" y="3291840"/>
            <a:ext cx="2011680" cy="274320"/>
          </a:xfrm>
          <a:prstGeom prst="round2SameRect">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948939" y="3310128"/>
            <a:ext cx="1828800" cy="246888"/>
          </a:xfrm>
          <a:prstGeom prst="rect">
            <a:avLst/>
          </a:prstGeom>
          <a:noFill/>
        </p:spPr>
        <p:txBody>
          <a:bodyPr wrap="square" lIns="0" rIns="0" tIns="0" bIns="0" anchor="ctr">
            <a:spAutoFit/>
          </a:bodyPr>
          <a:lstStyle/>
          <a:p>
            <a:pPr algn="l">
              <a:spcAft>
                <a:spcPts val="0"/>
              </a:spcAft>
            </a:pPr>
            <a:r>
              <a:rPr sz="1100" b="1" i="0">
                <a:solidFill>
                  <a:srgbClr val="141E46"/>
                </a:solidFill>
              </a:rPr>
              <a:t>Empty Latent</a:t>
            </a:r>
          </a:p>
        </p:txBody>
      </p:sp>
      <p:sp>
        <p:nvSpPr>
          <p:cNvPr id="28" name="TextBox 27"/>
          <p:cNvSpPr txBox="1"/>
          <p:nvPr/>
        </p:nvSpPr>
        <p:spPr>
          <a:xfrm>
            <a:off x="2948939" y="3602736"/>
            <a:ext cx="1828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1024 × 1024</a:t>
            </a:r>
          </a:p>
        </p:txBody>
      </p:sp>
      <p:sp>
        <p:nvSpPr>
          <p:cNvPr id="29" name="Rounded Rectangle 28"/>
          <p:cNvSpPr/>
          <p:nvPr/>
        </p:nvSpPr>
        <p:spPr>
          <a:xfrm>
            <a:off x="5276088" y="1938528"/>
            <a:ext cx="1783080" cy="822959"/>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 Same Side Corner Rectangle 29"/>
          <p:cNvSpPr/>
          <p:nvPr/>
        </p:nvSpPr>
        <p:spPr>
          <a:xfrm>
            <a:off x="5276088" y="1938528"/>
            <a:ext cx="1783080" cy="274320"/>
          </a:xfrm>
          <a:prstGeom prst="round2SameRect">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385816" y="1956816"/>
            <a:ext cx="1600200" cy="246888"/>
          </a:xfrm>
          <a:prstGeom prst="rect">
            <a:avLst/>
          </a:prstGeom>
          <a:noFill/>
        </p:spPr>
        <p:txBody>
          <a:bodyPr wrap="square" lIns="0" rIns="0" tIns="0" bIns="0" anchor="ctr">
            <a:spAutoFit/>
          </a:bodyPr>
          <a:lstStyle/>
          <a:p>
            <a:pPr algn="l">
              <a:spcAft>
                <a:spcPts val="0"/>
              </a:spcAft>
            </a:pPr>
            <a:r>
              <a:rPr sz="1100" b="1" i="0">
                <a:solidFill>
                  <a:srgbClr val="FFFFFF"/>
                </a:solidFill>
              </a:rPr>
              <a:t>KSampler</a:t>
            </a:r>
          </a:p>
        </p:txBody>
      </p:sp>
      <p:sp>
        <p:nvSpPr>
          <p:cNvPr id="32" name="TextBox 31"/>
          <p:cNvSpPr txBox="1"/>
          <p:nvPr/>
        </p:nvSpPr>
        <p:spPr>
          <a:xfrm>
            <a:off x="5385816" y="2249424"/>
            <a:ext cx="1600200" cy="493776"/>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steps 25 · cfg 5</a:t>
            </a:r>
          </a:p>
          <a:p>
            <a:pPr algn="l">
              <a:spcAft>
                <a:spcPts val="0"/>
              </a:spcAft>
            </a:pPr>
            <a:r>
              <a:rPr sz="1000" b="0" i="0">
                <a:solidFill>
                  <a:srgbClr val="C8D0E0"/>
                </a:solidFill>
                <a:latin typeface="Consolas"/>
              </a:rPr>
              <a:t>euler · seed 42</a:t>
            </a:r>
          </a:p>
        </p:txBody>
      </p:sp>
      <p:sp>
        <p:nvSpPr>
          <p:cNvPr id="33" name="Rounded Rectangle 32"/>
          <p:cNvSpPr/>
          <p:nvPr/>
        </p:nvSpPr>
        <p:spPr>
          <a:xfrm>
            <a:off x="7484363" y="2048255"/>
            <a:ext cx="13258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 Same Side Corner Rectangle 33"/>
          <p:cNvSpPr/>
          <p:nvPr/>
        </p:nvSpPr>
        <p:spPr>
          <a:xfrm>
            <a:off x="7484363" y="2048255"/>
            <a:ext cx="1325880" cy="274320"/>
          </a:xfrm>
          <a:prstGeom prst="round2Same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594091" y="2066543"/>
            <a:ext cx="1143000" cy="246888"/>
          </a:xfrm>
          <a:prstGeom prst="rect">
            <a:avLst/>
          </a:prstGeom>
          <a:noFill/>
        </p:spPr>
        <p:txBody>
          <a:bodyPr wrap="square" lIns="0" rIns="0" tIns="0" bIns="0" anchor="ctr">
            <a:spAutoFit/>
          </a:bodyPr>
          <a:lstStyle/>
          <a:p>
            <a:pPr algn="l">
              <a:spcAft>
                <a:spcPts val="0"/>
              </a:spcAft>
            </a:pPr>
            <a:r>
              <a:rPr sz="1100" b="1" i="0">
                <a:solidFill>
                  <a:srgbClr val="141E46"/>
                </a:solidFill>
              </a:rPr>
              <a:t>VAE Decode</a:t>
            </a:r>
          </a:p>
        </p:txBody>
      </p:sp>
      <p:sp>
        <p:nvSpPr>
          <p:cNvPr id="36" name="TextBox 35"/>
          <p:cNvSpPr txBox="1"/>
          <p:nvPr/>
        </p:nvSpPr>
        <p:spPr>
          <a:xfrm>
            <a:off x="7594091" y="2359151"/>
            <a:ext cx="11430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latent → pixels</a:t>
            </a:r>
          </a:p>
        </p:txBody>
      </p:sp>
      <p:sp>
        <p:nvSpPr>
          <p:cNvPr id="37" name="Rounded Rectangle 36"/>
          <p:cNvSpPr/>
          <p:nvPr/>
        </p:nvSpPr>
        <p:spPr>
          <a:xfrm>
            <a:off x="9235439" y="2048255"/>
            <a:ext cx="868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 Same Side Corner Rectangle 37"/>
          <p:cNvSpPr/>
          <p:nvPr/>
        </p:nvSpPr>
        <p:spPr>
          <a:xfrm>
            <a:off x="9235439" y="2048255"/>
            <a:ext cx="868680" cy="274320"/>
          </a:xfrm>
          <a:prstGeom prst="round2Same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45167" y="2066543"/>
            <a:ext cx="685800" cy="246888"/>
          </a:xfrm>
          <a:prstGeom prst="rect">
            <a:avLst/>
          </a:prstGeom>
          <a:noFill/>
        </p:spPr>
        <p:txBody>
          <a:bodyPr wrap="square" lIns="0" rIns="0" tIns="0" bIns="0" anchor="ctr">
            <a:spAutoFit/>
          </a:bodyPr>
          <a:lstStyle/>
          <a:p>
            <a:pPr algn="l">
              <a:spcAft>
                <a:spcPts val="0"/>
              </a:spcAft>
            </a:pPr>
            <a:r>
              <a:rPr sz="1100" b="1" i="0">
                <a:solidFill>
                  <a:srgbClr val="141E46"/>
                </a:solidFill>
              </a:rPr>
              <a:t>Save</a:t>
            </a:r>
          </a:p>
        </p:txBody>
      </p:sp>
      <p:sp>
        <p:nvSpPr>
          <p:cNvPr id="40" name="TextBox 39"/>
          <p:cNvSpPr txBox="1"/>
          <p:nvPr/>
        </p:nvSpPr>
        <p:spPr>
          <a:xfrm>
            <a:off x="9345167" y="2359151"/>
            <a:ext cx="685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PNG</a:t>
            </a:r>
          </a:p>
        </p:txBody>
      </p:sp>
      <p:sp>
        <p:nvSpPr>
          <p:cNvPr id="41" name="Oval 40"/>
          <p:cNvSpPr/>
          <p:nvPr/>
        </p:nvSpPr>
        <p:spPr>
          <a:xfrm>
            <a:off x="2368296" y="2231136"/>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5230368" y="2258568"/>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2368296" y="2368296"/>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793491" y="1874520"/>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2368296" y="2368296"/>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2793491" y="2935224"/>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4805172" y="1874520"/>
            <a:ext cx="91440" cy="91440"/>
          </a:xfrm>
          <a:prstGeom prst="ellipse">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230368" y="2395728"/>
            <a:ext cx="91440" cy="91440"/>
          </a:xfrm>
          <a:prstGeom prst="ellipse">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4805172" y="2935224"/>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230368" y="2523744"/>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4805172" y="3685032"/>
            <a:ext cx="91440" cy="91440"/>
          </a:xfrm>
          <a:prstGeom prst="ellipse">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5230368" y="2642616"/>
            <a:ext cx="91440" cy="91440"/>
          </a:xfrm>
          <a:prstGeom prst="ellipse">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7013448" y="2441448"/>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7438643" y="2441448"/>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764523" y="2441448"/>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9189719" y="2441448"/>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585216" y="4187952"/>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86384" y="4352544"/>
            <a:ext cx="2694431" cy="411480"/>
          </a:xfrm>
          <a:prstGeom prst="rect">
            <a:avLst/>
          </a:prstGeom>
          <a:noFill/>
        </p:spPr>
        <p:txBody>
          <a:bodyPr wrap="square" lIns="0" rIns="0" tIns="0" bIns="0" anchor="t">
            <a:spAutoFit/>
          </a:bodyPr>
          <a:lstStyle/>
          <a:p>
            <a:pPr algn="l">
              <a:spcAft>
                <a:spcPts val="0"/>
              </a:spcAft>
            </a:pPr>
            <a:r>
              <a:rPr sz="1400" b="1" i="0">
                <a:solidFill>
                  <a:srgbClr val="E86A10"/>
                </a:solidFill>
              </a:rPr>
              <a:t>ComfyUI v0.37</a:t>
            </a:r>
          </a:p>
        </p:txBody>
      </p:sp>
      <p:sp>
        <p:nvSpPr>
          <p:cNvPr id="59" name="TextBox 58"/>
          <p:cNvSpPr txBox="1"/>
          <p:nvPr/>
        </p:nvSpPr>
        <p:spPr>
          <a:xfrm>
            <a:off x="786384" y="4809744"/>
            <a:ext cx="2694431" cy="365760"/>
          </a:xfrm>
          <a:prstGeom prst="rect">
            <a:avLst/>
          </a:prstGeom>
          <a:noFill/>
        </p:spPr>
        <p:txBody>
          <a:bodyPr wrap="square" lIns="0" rIns="0" tIns="0" bIns="0" anchor="t">
            <a:spAutoFit/>
          </a:bodyPr>
          <a:lstStyle/>
          <a:p>
            <a:pPr algn="l">
              <a:spcAft>
                <a:spcPts val="0"/>
              </a:spcAft>
            </a:pPr>
            <a:r>
              <a:rPr sz="1100" b="0" i="0">
                <a:solidFill>
                  <a:srgbClr val="1F1F1F"/>
                </a:solidFill>
              </a:rPr>
              <a:t>Workflows are JSON: export the API format, run it from code (POST /prompt).</a:t>
            </a:r>
          </a:p>
        </p:txBody>
      </p:sp>
      <p:sp>
        <p:nvSpPr>
          <p:cNvPr id="60" name="Rounded Rectangle 59"/>
          <p:cNvSpPr/>
          <p:nvPr/>
        </p:nvSpPr>
        <p:spPr>
          <a:xfrm>
            <a:off x="3864864" y="4187952"/>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4066031" y="4352544"/>
            <a:ext cx="2694431" cy="411480"/>
          </a:xfrm>
          <a:prstGeom prst="rect">
            <a:avLst/>
          </a:prstGeom>
          <a:noFill/>
        </p:spPr>
        <p:txBody>
          <a:bodyPr wrap="square" lIns="0" rIns="0" tIns="0" bIns="0" anchor="t">
            <a:spAutoFit/>
          </a:bodyPr>
          <a:lstStyle/>
          <a:p>
            <a:pPr algn="l">
              <a:spcAft>
                <a:spcPts val="0"/>
              </a:spcAft>
            </a:pPr>
            <a:r>
              <a:rPr sz="1400" b="1" i="0">
                <a:solidFill>
                  <a:srgbClr val="8661C5"/>
                </a:solidFill>
              </a:rPr>
              <a:t>Wan2GP 12.61</a:t>
            </a:r>
          </a:p>
        </p:txBody>
      </p:sp>
      <p:sp>
        <p:nvSpPr>
          <p:cNvPr id="62" name="TextBox 61"/>
          <p:cNvSpPr txBox="1"/>
          <p:nvPr/>
        </p:nvSpPr>
        <p:spPr>
          <a:xfrm>
            <a:off x="4066031" y="4809744"/>
            <a:ext cx="2694431" cy="365760"/>
          </a:xfrm>
          <a:prstGeom prst="rect">
            <a:avLst/>
          </a:prstGeom>
          <a:noFill/>
        </p:spPr>
        <p:txBody>
          <a:bodyPr wrap="square" lIns="0" rIns="0" tIns="0" bIns="0" anchor="t">
            <a:spAutoFit/>
          </a:bodyPr>
          <a:lstStyle/>
          <a:p>
            <a:pPr algn="l">
              <a:spcAft>
                <a:spcPts val="0"/>
              </a:spcAft>
            </a:pPr>
            <a:r>
              <a:rPr sz="1100" b="0" i="0">
                <a:solidFill>
                  <a:srgbClr val="1F1F1F"/>
                </a:solidFill>
              </a:rPr>
              <a:t>One low-VRAM UI for Wan 2.2,</a:t>
            </a:r>
          </a:p>
          <a:p>
            <a:pPr algn="l">
              <a:spcAft>
                <a:spcPts val="0"/>
              </a:spcAft>
            </a:pPr>
            <a:r>
              <a:rPr sz="1100" b="0" i="0">
                <a:solidFill>
                  <a:srgbClr val="1F1F1F"/>
                </a:solidFill>
              </a:rPr>
              <a:t>HunyuanVideo 1.5, LTX, ACE-Step</a:t>
            </a:r>
          </a:p>
        </p:txBody>
      </p:sp>
      <p:sp>
        <p:nvSpPr>
          <p:cNvPr id="63" name="Rounded Rectangle 62"/>
          <p:cNvSpPr/>
          <p:nvPr/>
        </p:nvSpPr>
        <p:spPr>
          <a:xfrm>
            <a:off x="7144511" y="4187952"/>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345680" y="4352544"/>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Lab 4 handouts</a:t>
            </a:r>
          </a:p>
        </p:txBody>
      </p:sp>
      <p:sp>
        <p:nvSpPr>
          <p:cNvPr id="65" name="TextBox 64"/>
          <p:cNvSpPr txBox="1"/>
          <p:nvPr/>
        </p:nvSpPr>
        <p:spPr>
          <a:xfrm>
            <a:off x="7345680" y="4809744"/>
            <a:ext cx="2694431" cy="365760"/>
          </a:xfrm>
          <a:prstGeom prst="rect">
            <a:avLst/>
          </a:prstGeom>
          <a:noFill/>
        </p:spPr>
        <p:txBody>
          <a:bodyPr wrap="square" lIns="0" rIns="0" tIns="0" bIns="0" anchor="t">
            <a:spAutoFit/>
          </a:bodyPr>
          <a:lstStyle/>
          <a:p>
            <a:pPr algn="l">
              <a:spcAft>
                <a:spcPts val="0"/>
              </a:spcAft>
            </a:pPr>
            <a:r>
              <a:rPr sz="1100" b="0" i="0">
                <a:solidFill>
                  <a:srgbClr val="1F1F1F"/>
                </a:solidFill>
              </a:rPr>
              <a:t>txt2img · pose + LoRA · inpaint · upscale · image → 3D, as ComfyUI workflows</a:t>
            </a:r>
          </a:p>
        </p:txBody>
      </p:sp>
      <p:sp>
        <p:nvSpPr>
          <p:cNvPr id="66" name="TextBox 6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graph IS the documentation — share the JSON, not a screenshot.</a:t>
            </a:r>
          </a:p>
        </p:txBody>
      </p:sp>
      <p:sp>
        <p:nvSpPr>
          <p:cNvPr id="67" name="TextBox 6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§0 (checked 2026-09-21) · Research: local AI, media &amp; beyond the West, 2026-09-19 · Beyond the Slop (daenet, Jul 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4 — Local &amp; multimodal: the craft lab</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HANDS-ON LAB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Run your Lab 1 code on your own machine, then drive image generation from code like a craftsperson.</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Core = steps 1–3 (no GPU: 1, 4, 5). Done when a PNG + .json with its seed re-renders the same image.</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06_chain.py — LLM → image → voice; swap any block, the chain stays.</a:t>
            </a:r>
          </a:p>
        </p:txBody>
      </p:sp>
      <p:sp>
        <p:nvSpPr>
          <p:cNvPr id="12" name="TextBox 11"/>
          <p:cNvSpPr txBox="1"/>
          <p:nvPr/>
        </p:nvSpPr>
        <p:spPr>
          <a:xfrm>
            <a:off x="5074920" y="1417320"/>
            <a:ext cx="5074920" cy="2456180"/>
          </a:xfrm>
          <a:prstGeom prst="rect">
            <a:avLst/>
          </a:prstGeom>
          <a:noFill/>
        </p:spPr>
        <p:txBody>
          <a:bodyPr wrap="square" lIns="0" rIns="0" tIns="0" bIns="0" anchor="t">
            <a:spAutoFit/>
          </a:bodyPr>
          <a:lstStyle/>
          <a:p>
            <a:pPr algn="l">
              <a:spcAft>
                <a:spcPts val="700"/>
              </a:spcAft>
            </a:pPr>
            <a:r>
              <a:rPr sz="1400" b="0" i="0">
                <a:solidFill>
                  <a:srgbClr val="1F1F1F"/>
                </a:solidFill>
              </a:rPr>
              <a:t>1. </a:t>
            </a:r>
            <a:r>
              <a:rPr sz="1400" b="1" i="0">
                <a:solidFill>
                  <a:srgbClr val="1F1F1F"/>
                </a:solidFill>
              </a:rPr>
              <a:t>Your machine</a:t>
            </a:r>
            <a:r>
              <a:rPr sz="1400" b="0" i="0">
                <a:solidFill>
                  <a:srgbClr val="1F1F1F"/>
                </a:solidFill>
              </a:rPr>
              <a:t> · 01_local_models.py: TTFT, tok/s, tools</a:t>
            </a:r>
          </a:p>
          <a:p>
            <a:pPr algn="l">
              <a:spcAft>
                <a:spcPts val="700"/>
              </a:spcAft>
            </a:pPr>
            <a:r>
              <a:rPr sz="1400" b="0" i="0">
                <a:solidFill>
                  <a:srgbClr val="1F1F1F"/>
                </a:solidFill>
              </a:rPr>
              <a:t>2. </a:t>
            </a:r>
            <a:r>
              <a:rPr sz="1400" b="1" i="0">
                <a:solidFill>
                  <a:srgbClr val="1F1F1F"/>
                </a:solidFill>
              </a:rPr>
              <a:t>ComfyUI from code</a:t>
            </a:r>
            <a:r>
              <a:rPr sz="1400" b="0" i="0">
                <a:solidFill>
                  <a:srgbClr val="1F1F1F"/>
                </a:solidFill>
              </a:rPr>
              <a:t> · 02_comfy_run.py: log the seed</a:t>
            </a:r>
          </a:p>
          <a:p>
            <a:pPr algn="l">
              <a:spcAft>
                <a:spcPts val="700"/>
              </a:spcAft>
            </a:pPr>
            <a:r>
              <a:rPr sz="1400" b="0" i="0">
                <a:solidFill>
                  <a:srgbClr val="1F1F1F"/>
                </a:solidFill>
              </a:rPr>
              <a:t>3. </a:t>
            </a:r>
            <a:r>
              <a:rPr sz="1400" b="1" i="0">
                <a:solidFill>
                  <a:srgbClr val="1F1F1F"/>
                </a:solidFill>
              </a:rPr>
              <a:t>One knob</a:t>
            </a:r>
            <a:r>
              <a:rPr sz="1400" b="0" i="0">
                <a:solidFill>
                  <a:srgbClr val="1F1F1F"/>
                </a:solidFill>
              </a:rPr>
              <a:t> · 03_one_knob.py (TODO 1): contact sheet</a:t>
            </a:r>
          </a:p>
          <a:p>
            <a:pPr algn="l">
              <a:spcAft>
                <a:spcPts val="700"/>
              </a:spcAft>
            </a:pPr>
            <a:r>
              <a:rPr sz="1400" b="0" i="0">
                <a:solidFill>
                  <a:srgbClr val="1F1F1F"/>
                </a:solidFill>
              </a:rPr>
              <a:t>4. </a:t>
            </a:r>
            <a:r>
              <a:rPr sz="1400" b="1" i="0">
                <a:solidFill>
                  <a:srgbClr val="1F1F1F"/>
                </a:solidFill>
              </a:rPr>
              <a:t>No GPU</a:t>
            </a:r>
            <a:r>
              <a:rPr sz="1400" b="0" i="0">
                <a:solidFill>
                  <a:srgbClr val="1F1F1F"/>
                </a:solidFill>
              </a:rPr>
              <a:t> · 04_cloud_image.py on the workshop endpoint</a:t>
            </a:r>
          </a:p>
          <a:p>
            <a:pPr algn="l">
              <a:spcAft>
                <a:spcPts val="700"/>
              </a:spcAft>
            </a:pPr>
            <a:r>
              <a:rPr sz="1400" b="0" i="0">
                <a:solidFill>
                  <a:srgbClr val="1F1F1F"/>
                </a:solidFill>
              </a:rPr>
              <a:t>5. </a:t>
            </a:r>
            <a:r>
              <a:rPr sz="1400" b="1" i="0">
                <a:solidFill>
                  <a:srgbClr val="1F1F1F"/>
                </a:solidFill>
              </a:rPr>
              <a:t>Speech</a:t>
            </a:r>
            <a:r>
              <a:rPr sz="1400" b="0" i="0">
                <a:solidFill>
                  <a:srgbClr val="1F1F1F"/>
                </a:solidFill>
              </a:rPr>
              <a:t> · 05_tts.py (TODO 1): cloud or local TTS</a:t>
            </a:r>
          </a:p>
        </p:txBody>
      </p:sp>
      <p:sp>
        <p:nvSpPr>
          <p:cNvPr id="13" name="Rounded Rectangle 12"/>
          <p:cNvSpPr/>
          <p:nvPr/>
        </p:nvSpPr>
        <p:spPr>
          <a:xfrm>
            <a:off x="5074920" y="4147820"/>
            <a:ext cx="5074920" cy="1107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4312412"/>
            <a:ext cx="4663440" cy="833119"/>
          </a:xfrm>
          <a:prstGeom prst="rect">
            <a:avLst/>
          </a:prstGeom>
          <a:noFill/>
        </p:spPr>
        <p:txBody>
          <a:bodyPr wrap="square" lIns="0" rIns="0" tIns="0" bIns="0" anchor="t">
            <a:spAutoFit/>
          </a:bodyPr>
          <a:lstStyle/>
          <a:p>
            <a:pPr algn="l">
              <a:spcAft>
                <a:spcPts val="600"/>
              </a:spcAft>
            </a:pPr>
            <a:r>
              <a:rPr sz="1200" b="1" i="0">
                <a:solidFill>
                  <a:srgbClr val="2A446F"/>
                </a:solidFill>
              </a:rPr>
              <a:t>Code: labs/04-local-media</a:t>
            </a:r>
          </a:p>
          <a:p>
            <a:pPr algn="l">
              <a:spcAft>
                <a:spcPts val="600"/>
              </a:spcAft>
            </a:pPr>
            <a:r>
              <a:rPr sz="1100" b="0" i="0">
                <a:solidFill>
                  <a:srgbClr val="1F1F1F"/>
                </a:solidFill>
              </a:rPr>
              <a:t>Fallback: no GPU → steps 4–5; _tools/comfy_mock.py stands in for ComfyUI</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4 README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Where it still breaks — and what to tell the customer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ex_hand_slop7_49e7ef7a50d9.jpg"/>
          <p:cNvPicPr>
            <a:picLocks noChangeAspect="1"/>
          </p:cNvPicPr>
          <p:nvPr/>
        </p:nvPicPr>
        <p:blipFill>
          <a:blip r:embed="rId3"/>
          <a:stretch>
            <a:fillRect/>
          </a:stretch>
        </p:blipFill>
        <p:spPr>
          <a:xfrm>
            <a:off x="585216" y="1417320"/>
            <a:ext cx="2514600" cy="2514600"/>
          </a:xfrm>
          <a:prstGeom prst="roundRect">
            <a:avLst>
              <a:gd name="adj" fmla="val 4000"/>
            </a:avLst>
          </a:prstGeom>
        </p:spPr>
      </p:pic>
      <p:sp>
        <p:nvSpPr>
          <p:cNvPr id="5" name="TextBox 4"/>
          <p:cNvSpPr txBox="1"/>
          <p:nvPr/>
        </p:nvSpPr>
        <p:spPr>
          <a:xfrm>
            <a:off x="585216" y="3977639"/>
            <a:ext cx="2514600"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 · the classic: bonus fingers</a:t>
            </a:r>
          </a:p>
        </p:txBody>
      </p:sp>
      <p:sp>
        <p:nvSpPr>
          <p:cNvPr id="6" name="Rounded Rectangle 5"/>
          <p:cNvSpPr/>
          <p:nvPr/>
        </p:nvSpPr>
        <p:spPr>
          <a:xfrm>
            <a:off x="3374136" y="1417320"/>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374136" y="1527048"/>
            <a:ext cx="64008" cy="1078992"/>
          </a:xfrm>
          <a:prstGeom prst="rect">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02736" y="1508760"/>
            <a:ext cx="2976372" cy="274320"/>
          </a:xfrm>
          <a:prstGeom prst="rect">
            <a:avLst/>
          </a:prstGeom>
          <a:noFill/>
        </p:spPr>
        <p:txBody>
          <a:bodyPr wrap="square" lIns="0" rIns="0" tIns="0" bIns="0" anchor="t">
            <a:spAutoFit/>
          </a:bodyPr>
          <a:lstStyle/>
          <a:p>
            <a:pPr algn="l">
              <a:spcAft>
                <a:spcPts val="0"/>
              </a:spcAft>
            </a:pPr>
            <a:r>
              <a:rPr sz="1200" b="1" i="0">
                <a:solidFill>
                  <a:srgbClr val="C52B2B"/>
                </a:solidFill>
              </a:rPr>
              <a:t>ANATOMY — hands, teeth, text</a:t>
            </a:r>
          </a:p>
        </p:txBody>
      </p:sp>
      <p:sp>
        <p:nvSpPr>
          <p:cNvPr id="9" name="TextBox 8"/>
          <p:cNvSpPr txBox="1"/>
          <p:nvPr/>
        </p:nvSpPr>
        <p:spPr>
          <a:xfrm>
            <a:off x="3602736" y="1801368"/>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Better in 2026, not solved. Fix: inpaint + FaceDetailer, DWPose with hand keypoints.</a:t>
            </a:r>
          </a:p>
        </p:txBody>
      </p:sp>
      <p:sp>
        <p:nvSpPr>
          <p:cNvPr id="10" name="Rounded Rectangle 9"/>
          <p:cNvSpPr/>
          <p:nvPr/>
        </p:nvSpPr>
        <p:spPr>
          <a:xfrm>
            <a:off x="6899148" y="1417320"/>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899148" y="1527048"/>
            <a:ext cx="64008" cy="10789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27748" y="1508760"/>
            <a:ext cx="2976372" cy="274320"/>
          </a:xfrm>
          <a:prstGeom prst="rect">
            <a:avLst/>
          </a:prstGeom>
          <a:noFill/>
        </p:spPr>
        <p:txBody>
          <a:bodyPr wrap="square" lIns="0" rIns="0" tIns="0" bIns="0" anchor="t">
            <a:spAutoFit/>
          </a:bodyPr>
          <a:lstStyle/>
          <a:p>
            <a:pPr algn="l">
              <a:spcAft>
                <a:spcPts val="0"/>
              </a:spcAft>
            </a:pPr>
            <a:r>
              <a:rPr sz="1200" b="1" i="0">
                <a:solidFill>
                  <a:srgbClr val="8661C5"/>
                </a:solidFill>
              </a:rPr>
              <a:t>DRIFT — identity &amp; style</a:t>
            </a:r>
          </a:p>
        </p:txBody>
      </p:sp>
      <p:sp>
        <p:nvSpPr>
          <p:cNvPr id="13" name="TextBox 12"/>
          <p:cNvSpPr txBox="1"/>
          <p:nvPr/>
        </p:nvSpPr>
        <p:spPr>
          <a:xfrm>
            <a:off x="7127748" y="1801368"/>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Zero-shot identity drifts over many shots. Fix: character LoRA, fixed seeds, reference frames.</a:t>
            </a:r>
          </a:p>
        </p:txBody>
      </p:sp>
      <p:sp>
        <p:nvSpPr>
          <p:cNvPr id="14" name="Rounded Rectangle 13"/>
          <p:cNvSpPr/>
          <p:nvPr/>
        </p:nvSpPr>
        <p:spPr>
          <a:xfrm>
            <a:off x="3374136" y="2852928"/>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74136" y="2962656"/>
            <a:ext cx="64008" cy="10789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02736" y="2944368"/>
            <a:ext cx="2976372" cy="274320"/>
          </a:xfrm>
          <a:prstGeom prst="rect">
            <a:avLst/>
          </a:prstGeom>
          <a:noFill/>
        </p:spPr>
        <p:txBody>
          <a:bodyPr wrap="square" lIns="0" rIns="0" tIns="0" bIns="0" anchor="t">
            <a:spAutoFit/>
          </a:bodyPr>
          <a:lstStyle/>
          <a:p>
            <a:pPr algn="l">
              <a:spcAft>
                <a:spcPts val="0"/>
              </a:spcAft>
            </a:pPr>
            <a:r>
              <a:rPr sz="1200" b="1" i="0">
                <a:solidFill>
                  <a:srgbClr val="0078D4"/>
                </a:solidFill>
              </a:rPr>
              <a:t>COHERENCE — long videos</a:t>
            </a:r>
          </a:p>
        </p:txBody>
      </p:sp>
      <p:sp>
        <p:nvSpPr>
          <p:cNvPr id="17" name="TextBox 16"/>
          <p:cNvSpPr txBox="1"/>
          <p:nvPr/>
        </p:nvSpPr>
        <p:spPr>
          <a:xfrm>
            <a:off x="3602736" y="3236976"/>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Motion falls apart in long clips. Fix: keyframe chains, VACE control, cuts.</a:t>
            </a:r>
          </a:p>
        </p:txBody>
      </p:sp>
      <p:sp>
        <p:nvSpPr>
          <p:cNvPr id="18" name="Rounded Rectangle 17"/>
          <p:cNvSpPr/>
          <p:nvPr/>
        </p:nvSpPr>
        <p:spPr>
          <a:xfrm>
            <a:off x="6899148" y="2852928"/>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899148" y="2962656"/>
            <a:ext cx="64008" cy="1078992"/>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27748" y="2944368"/>
            <a:ext cx="2976372" cy="274320"/>
          </a:xfrm>
          <a:prstGeom prst="rect">
            <a:avLst/>
          </a:prstGeom>
          <a:noFill/>
        </p:spPr>
        <p:txBody>
          <a:bodyPr wrap="square" lIns="0" rIns="0" tIns="0" bIns="0" anchor="t">
            <a:spAutoFit/>
          </a:bodyPr>
          <a:lstStyle/>
          <a:p>
            <a:pPr algn="l">
              <a:spcAft>
                <a:spcPts val="0"/>
              </a:spcAft>
            </a:pPr>
            <a:r>
              <a:rPr sz="1200" b="1" i="0">
                <a:solidFill>
                  <a:srgbClr val="008B8B"/>
                </a:solidFill>
              </a:rPr>
              <a:t>COMPUTE — time &amp; VRAM</a:t>
            </a:r>
          </a:p>
        </p:txBody>
      </p:sp>
      <p:sp>
        <p:nvSpPr>
          <p:cNvPr id="21" name="TextBox 20"/>
          <p:cNvSpPr txBox="1"/>
          <p:nvPr/>
        </p:nvSpPr>
        <p:spPr>
          <a:xfrm>
            <a:off x="7127748" y="3236976"/>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Video eats GPUs for breakfast. Fix: quantization, low-res drafts, upscale the winner.</a:t>
            </a:r>
          </a:p>
        </p:txBody>
      </p:sp>
      <p:sp>
        <p:nvSpPr>
          <p:cNvPr id="22" name="Rounded Rectangle 21"/>
          <p:cNvSpPr/>
          <p:nvPr/>
        </p:nvSpPr>
        <p:spPr>
          <a:xfrm>
            <a:off x="3374136" y="4288536"/>
            <a:ext cx="6867144"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374136" y="4398264"/>
            <a:ext cx="64008" cy="694944"/>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02736" y="4379975"/>
            <a:ext cx="6501383" cy="274320"/>
          </a:xfrm>
          <a:prstGeom prst="rect">
            <a:avLst/>
          </a:prstGeom>
          <a:noFill/>
        </p:spPr>
        <p:txBody>
          <a:bodyPr wrap="square" lIns="0" rIns="0" tIns="0" bIns="0" anchor="t">
            <a:spAutoFit/>
          </a:bodyPr>
          <a:lstStyle/>
          <a:p>
            <a:pPr algn="l">
              <a:spcAft>
                <a:spcPts val="0"/>
              </a:spcAft>
            </a:pPr>
            <a:r>
              <a:rPr sz="1200" b="1" i="0">
                <a:solidFill>
                  <a:srgbClr val="E86A10"/>
                </a:solidFill>
              </a:rPr>
              <a:t>LICENCES — the one you can’t inpaint</a:t>
            </a:r>
          </a:p>
        </p:txBody>
      </p:sp>
      <p:sp>
        <p:nvSpPr>
          <p:cNvPr id="25" name="TextBox 24"/>
          <p:cNvSpPr txBox="1"/>
          <p:nvPr/>
        </p:nvSpPr>
        <p:spPr>
          <a:xfrm>
            <a:off x="3602736" y="4672583"/>
            <a:ext cx="6501383" cy="457200"/>
          </a:xfrm>
          <a:prstGeom prst="rect">
            <a:avLst/>
          </a:prstGeom>
          <a:noFill/>
        </p:spPr>
        <p:txBody>
          <a:bodyPr wrap="square" lIns="0" rIns="0" tIns="0" bIns="0" anchor="t">
            <a:spAutoFit/>
          </a:bodyPr>
          <a:lstStyle/>
          <a:p>
            <a:pPr algn="l">
              <a:spcAft>
                <a:spcPts val="0"/>
              </a:spcAft>
            </a:pPr>
            <a:r>
              <a:rPr sz="1100" b="0" i="0">
                <a:solidFill>
                  <a:srgbClr val="1F1F1F"/>
                </a:solidFill>
              </a:rPr>
              <a:t>Check every LoRA’s base model and every model card before it reaches a client.</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Tell the customer: the first roll is slop — the craft is the iteration.</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Five craft principles — tape them to your monitor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ectangle 3"/>
          <p:cNvSpPr/>
          <p:nvPr/>
        </p:nvSpPr>
        <p:spPr>
          <a:xfrm rot="21528000">
            <a:off x="585216"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rot="180000">
            <a:off x="1073505"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1</a:t>
            </a:r>
          </a:p>
        </p:txBody>
      </p:sp>
      <p:sp>
        <p:nvSpPr>
          <p:cNvPr id="7" name="TextBox 6"/>
          <p:cNvSpPr txBox="1"/>
          <p:nvPr/>
        </p:nvSpPr>
        <p:spPr>
          <a:xfrm>
            <a:off x="749808"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Log the seed</a:t>
            </a:r>
          </a:p>
        </p:txBody>
      </p:sp>
      <p:sp>
        <p:nvSpPr>
          <p:cNvPr id="8" name="TextBox 7"/>
          <p:cNvSpPr txBox="1"/>
          <p:nvPr/>
        </p:nvSpPr>
        <p:spPr>
          <a:xfrm>
            <a:off x="749808"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Reproducibility is the difference between craft and gambling.</a:t>
            </a:r>
          </a:p>
        </p:txBody>
      </p:sp>
      <p:sp>
        <p:nvSpPr>
          <p:cNvPr id="9" name="Rectangle 8"/>
          <p:cNvSpPr/>
          <p:nvPr/>
        </p:nvSpPr>
        <p:spPr>
          <a:xfrm rot="54000">
            <a:off x="2549347"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rot="21360000">
            <a:off x="3037636"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713939"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2</a:t>
            </a:r>
          </a:p>
        </p:txBody>
      </p:sp>
      <p:sp>
        <p:nvSpPr>
          <p:cNvPr id="12" name="TextBox 11"/>
          <p:cNvSpPr txBox="1"/>
          <p:nvPr/>
        </p:nvSpPr>
        <p:spPr>
          <a:xfrm>
            <a:off x="2713939"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Change one knob</a:t>
            </a:r>
          </a:p>
        </p:txBody>
      </p:sp>
      <p:sp>
        <p:nvSpPr>
          <p:cNvPr id="13" name="TextBox 12"/>
          <p:cNvSpPr txBox="1"/>
          <p:nvPr/>
        </p:nvSpPr>
        <p:spPr>
          <a:xfrm>
            <a:off x="2713939"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Seed fixed, one change, compare: debugging, not magic.</a:t>
            </a:r>
          </a:p>
        </p:txBody>
      </p:sp>
      <p:sp>
        <p:nvSpPr>
          <p:cNvPr id="14" name="Rectangle 13"/>
          <p:cNvSpPr/>
          <p:nvPr/>
        </p:nvSpPr>
        <p:spPr>
          <a:xfrm rot="21564000">
            <a:off x="4513478"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rot="120000">
            <a:off x="5001767"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78070"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3</a:t>
            </a:r>
          </a:p>
        </p:txBody>
      </p:sp>
      <p:sp>
        <p:nvSpPr>
          <p:cNvPr id="17" name="TextBox 16"/>
          <p:cNvSpPr txBox="1"/>
          <p:nvPr/>
        </p:nvSpPr>
        <p:spPr>
          <a:xfrm>
            <a:off x="4678070"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Control before prompt</a:t>
            </a:r>
          </a:p>
        </p:txBody>
      </p:sp>
      <p:sp>
        <p:nvSpPr>
          <p:cNvPr id="18" name="TextBox 17"/>
          <p:cNvSpPr txBox="1"/>
          <p:nvPr/>
        </p:nvSpPr>
        <p:spPr>
          <a:xfrm>
            <a:off x="4678070"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A pose skeleton or a reference image beats fifty adjectives.</a:t>
            </a:r>
          </a:p>
        </p:txBody>
      </p:sp>
      <p:sp>
        <p:nvSpPr>
          <p:cNvPr id="19" name="Rectangle 18"/>
          <p:cNvSpPr/>
          <p:nvPr/>
        </p:nvSpPr>
        <p:spPr>
          <a:xfrm rot="66000">
            <a:off x="6477609"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rot="21420000">
            <a:off x="6965899"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642201"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4</a:t>
            </a:r>
          </a:p>
        </p:txBody>
      </p:sp>
      <p:sp>
        <p:nvSpPr>
          <p:cNvPr id="22" name="TextBox 21"/>
          <p:cNvSpPr txBox="1"/>
          <p:nvPr/>
        </p:nvSpPr>
        <p:spPr>
          <a:xfrm>
            <a:off x="6642201"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Fix, don’t regenerate</a:t>
            </a:r>
          </a:p>
        </p:txBody>
      </p:sp>
      <p:sp>
        <p:nvSpPr>
          <p:cNvPr id="23" name="TextBox 22"/>
          <p:cNvSpPr txBox="1"/>
          <p:nvPr/>
        </p:nvSpPr>
        <p:spPr>
          <a:xfrm>
            <a:off x="6642201"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Inpaint the hand; keep the seed and the rest of the image.</a:t>
            </a:r>
          </a:p>
        </p:txBody>
      </p:sp>
      <p:sp>
        <p:nvSpPr>
          <p:cNvPr id="24" name="Rectangle 23"/>
          <p:cNvSpPr/>
          <p:nvPr/>
        </p:nvSpPr>
        <p:spPr>
          <a:xfrm rot="21546000">
            <a:off x="8441740"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rot="240000">
            <a:off x="8930030"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06332"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5</a:t>
            </a:r>
          </a:p>
        </p:txBody>
      </p:sp>
      <p:sp>
        <p:nvSpPr>
          <p:cNvPr id="27" name="TextBox 26"/>
          <p:cNvSpPr txBox="1"/>
          <p:nvPr/>
        </p:nvSpPr>
        <p:spPr>
          <a:xfrm>
            <a:off x="8606332"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Keep the pipeline, swap the model</a:t>
            </a:r>
          </a:p>
        </p:txBody>
      </p:sp>
      <p:sp>
        <p:nvSpPr>
          <p:cNvPr id="28" name="TextBox 27"/>
          <p:cNvSpPr txBox="1"/>
          <p:nvPr/>
        </p:nvSpPr>
        <p:spPr>
          <a:xfrm>
            <a:off x="8606332"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The graph is the asset; the models rotate.</a:t>
            </a:r>
          </a:p>
        </p:txBody>
      </p:sp>
      <p:sp>
        <p:nvSpPr>
          <p:cNvPr id="29" name="TextBox 28"/>
          <p:cNvSpPr txBox="1"/>
          <p:nvPr/>
        </p:nvSpPr>
        <p:spPr>
          <a:xfrm>
            <a:off x="585216" y="5230368"/>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Lab 4 checks the first two: a seed in every .json, one knob per contact sheet.</a:t>
            </a:r>
          </a:p>
        </p:txBody>
      </p:sp>
      <p:sp>
        <p:nvSpPr>
          <p:cNvPr id="30" name="TextBox 2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Lab 4 README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Bet on the loop, not the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4 · LOCAL AI, MEDIA &amp; BEYOND THE WEST</a:t>
            </a:r>
          </a:p>
        </p:txBody>
      </p:sp>
      <p:sp>
        <p:nvSpPr>
          <p:cNvPr id="4" name="TextBox 3"/>
          <p:cNvSpPr txBox="1"/>
          <p:nvPr/>
        </p:nvSpPr>
        <p:spPr>
          <a:xfrm>
            <a:off x="585216" y="1508760"/>
            <a:ext cx="9656063" cy="822960"/>
          </a:xfrm>
          <a:prstGeom prst="rect">
            <a:avLst/>
          </a:prstGeom>
          <a:noFill/>
        </p:spPr>
        <p:txBody>
          <a:bodyPr wrap="square" lIns="0" rIns="0" tIns="0" bIns="0" anchor="t">
            <a:spAutoFit/>
          </a:bodyPr>
          <a:lstStyle/>
          <a:p>
            <a:pPr algn="l">
              <a:spcAft>
                <a:spcPts val="0"/>
              </a:spcAft>
            </a:pPr>
            <a:r>
              <a:rPr sz="1800" b="0" i="0">
                <a:solidFill>
                  <a:srgbClr val="FFFFFF"/>
                </a:solidFill>
              </a:rPr>
              <a:t>Models rotate every quarter. The loop — encoder → latent → denoiser → VAE — has been stable for years.</a:t>
            </a:r>
          </a:p>
        </p:txBody>
      </p:sp>
      <p:sp>
        <p:nvSpPr>
          <p:cNvPr id="5" name="Rounded Rectangle 4"/>
          <p:cNvSpPr/>
          <p:nvPr/>
        </p:nvSpPr>
        <p:spPr>
          <a:xfrm>
            <a:off x="585216"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770632"/>
            <a:ext cx="1874519" cy="411480"/>
          </a:xfrm>
          <a:prstGeom prst="rect">
            <a:avLst/>
          </a:prstGeom>
          <a:noFill/>
        </p:spPr>
        <p:txBody>
          <a:bodyPr wrap="square" lIns="0" rIns="0" tIns="0" bIns="0" anchor="t">
            <a:spAutoFit/>
          </a:bodyPr>
          <a:lstStyle/>
          <a:p>
            <a:pPr algn="l">
              <a:spcAft>
                <a:spcPts val="0"/>
              </a:spcAft>
            </a:pPr>
            <a:r>
              <a:rPr sz="1500" b="1" i="0">
                <a:solidFill>
                  <a:srgbClr val="FFB900"/>
                </a:solidFill>
              </a:rPr>
              <a:t>THE LOOP</a:t>
            </a:r>
          </a:p>
        </p:txBody>
      </p:sp>
      <p:sp>
        <p:nvSpPr>
          <p:cNvPr id="7" name="TextBox 6"/>
          <p:cNvSpPr txBox="1"/>
          <p:nvPr/>
        </p:nvSpPr>
        <p:spPr>
          <a:xfrm>
            <a:off x="786384"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The blocks and knobs you learned today outlive every model release.</a:t>
            </a:r>
          </a:p>
        </p:txBody>
      </p:sp>
      <p:sp>
        <p:nvSpPr>
          <p:cNvPr id="8" name="Rounded Rectangle 7"/>
          <p:cNvSpPr/>
          <p:nvPr/>
        </p:nvSpPr>
        <p:spPr>
          <a:xfrm>
            <a:off x="3044952"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246120" y="2770632"/>
            <a:ext cx="1874519" cy="411480"/>
          </a:xfrm>
          <a:prstGeom prst="rect">
            <a:avLst/>
          </a:prstGeom>
          <a:noFill/>
        </p:spPr>
        <p:txBody>
          <a:bodyPr wrap="square" lIns="0" rIns="0" tIns="0" bIns="0" anchor="t">
            <a:spAutoFit/>
          </a:bodyPr>
          <a:lstStyle/>
          <a:p>
            <a:pPr algn="l">
              <a:spcAft>
                <a:spcPts val="0"/>
              </a:spcAft>
            </a:pPr>
            <a:r>
              <a:rPr sz="1500" b="1" i="0">
                <a:solidFill>
                  <a:srgbClr val="B9A2F2"/>
                </a:solidFill>
              </a:rPr>
              <a:t>ADAPTERS</a:t>
            </a:r>
          </a:p>
        </p:txBody>
      </p:sp>
      <p:sp>
        <p:nvSpPr>
          <p:cNvPr id="10" name="TextBox 9"/>
          <p:cNvSpPr txBox="1"/>
          <p:nvPr/>
        </p:nvSpPr>
        <p:spPr>
          <a:xfrm>
            <a:off x="3246120"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LoRA, ControlNet, IP-Adapter survive model generations — your skills transfer.</a:t>
            </a:r>
          </a:p>
        </p:txBody>
      </p:sp>
      <p:sp>
        <p:nvSpPr>
          <p:cNvPr id="11" name="Rounded Rectangle 10"/>
          <p:cNvSpPr/>
          <p:nvPr/>
        </p:nvSpPr>
        <p:spPr>
          <a:xfrm>
            <a:off x="5504688"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705855" y="2770632"/>
            <a:ext cx="1874519" cy="411480"/>
          </a:xfrm>
          <a:prstGeom prst="rect">
            <a:avLst/>
          </a:prstGeom>
          <a:noFill/>
        </p:spPr>
        <p:txBody>
          <a:bodyPr wrap="square" lIns="0" rIns="0" tIns="0" bIns="0" anchor="t">
            <a:spAutoFit/>
          </a:bodyPr>
          <a:lstStyle/>
          <a:p>
            <a:pPr algn="l">
              <a:spcAft>
                <a:spcPts val="0"/>
              </a:spcAft>
            </a:pPr>
            <a:r>
              <a:rPr sz="1500" b="1" i="0">
                <a:solidFill>
                  <a:srgbClr val="8CC83C"/>
                </a:solidFill>
              </a:rPr>
              <a:t>OPEN WEIGHTS</a:t>
            </a:r>
          </a:p>
        </p:txBody>
      </p:sp>
      <p:sp>
        <p:nvSpPr>
          <p:cNvPr id="13" name="TextBox 12"/>
          <p:cNvSpPr txBox="1"/>
          <p:nvPr/>
        </p:nvSpPr>
        <p:spPr>
          <a:xfrm>
            <a:off x="5705855"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They can’t be discontinued — and in 2026 they are genuinely good.</a:t>
            </a:r>
          </a:p>
        </p:txBody>
      </p:sp>
      <p:sp>
        <p:nvSpPr>
          <p:cNvPr id="14" name="Rounded Rectangle 13"/>
          <p:cNvSpPr/>
          <p:nvPr/>
        </p:nvSpPr>
        <p:spPr>
          <a:xfrm>
            <a:off x="7964424"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65592" y="2770632"/>
            <a:ext cx="1874519" cy="411480"/>
          </a:xfrm>
          <a:prstGeom prst="rect">
            <a:avLst/>
          </a:prstGeom>
          <a:noFill/>
        </p:spPr>
        <p:txBody>
          <a:bodyPr wrap="square" lIns="0" rIns="0" tIns="0" bIns="0" anchor="t">
            <a:spAutoFit/>
          </a:bodyPr>
          <a:lstStyle/>
          <a:p>
            <a:pPr algn="l">
              <a:spcAft>
                <a:spcPts val="0"/>
              </a:spcAft>
            </a:pPr>
            <a:r>
              <a:rPr sz="1500" b="1" i="0">
                <a:solidFill>
                  <a:srgbClr val="00A4EF"/>
                </a:solidFill>
              </a:rPr>
              <a:t>PIPELINES</a:t>
            </a:r>
          </a:p>
        </p:txBody>
      </p:sp>
      <p:sp>
        <p:nvSpPr>
          <p:cNvPr id="16" name="TextBox 15"/>
          <p:cNvSpPr txBox="1"/>
          <p:nvPr/>
        </p:nvSpPr>
        <p:spPr>
          <a:xfrm>
            <a:off x="8165592"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Composition is the moat: anyone can prompt, few can build the chain.</a:t>
            </a:r>
          </a:p>
        </p:txBody>
      </p:sp>
      <p:sp>
        <p:nvSpPr>
          <p:cNvPr id="17" name="TextBox 16"/>
          <p:cNvSpPr txBox="1"/>
          <p:nvPr/>
        </p:nvSpPr>
        <p:spPr>
          <a:xfrm>
            <a:off x="585216" y="4983480"/>
            <a:ext cx="9656063" cy="457200"/>
          </a:xfrm>
          <a:prstGeom prst="rect">
            <a:avLst/>
          </a:prstGeom>
          <a:noFill/>
        </p:spPr>
        <p:txBody>
          <a:bodyPr wrap="square" lIns="0" rIns="0" tIns="0" bIns="0" anchor="t">
            <a:spAutoFit/>
          </a:bodyPr>
          <a:lstStyle/>
          <a:p>
            <a:pPr algn="l">
              <a:spcAft>
                <a:spcPts val="0"/>
              </a:spcAft>
            </a:pPr>
            <a:r>
              <a:rPr sz="1800" b="1" i="0">
                <a:solidFill>
                  <a:srgbClr val="FFB900"/>
                </a:solidFill>
              </a:rPr>
              <a:t>The same bet as the whole day: the blocks stay, the models rotate.</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Beyond the Slop (daenet, Jul 2026)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Economics: the nerf cycle, and why open weights are the hedge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5989320" cy="640080"/>
          </a:xfrm>
          <a:prstGeom prst="rect">
            <a:avLst/>
          </a:prstGeom>
          <a:noFill/>
        </p:spPr>
        <p:txBody>
          <a:bodyPr wrap="square" lIns="0" rIns="0" tIns="0" bIns="0" anchor="t">
            <a:spAutoFit/>
          </a:bodyPr>
          <a:lstStyle/>
          <a:p>
            <a:pPr algn="l">
              <a:spcAft>
                <a:spcPts val="0"/>
              </a:spcAft>
            </a:pPr>
            <a:r>
              <a:rPr sz="1700" b="0" i="0">
                <a:solidFill>
                  <a:srgbClr val="2A446F"/>
                </a:solidFill>
              </a:rPr>
              <a:t>The pattern: launch flat-rate → reach saturation → meter the agent users.</a:t>
            </a:r>
          </a:p>
        </p:txBody>
      </p:sp>
      <p:graphicFrame>
        <p:nvGraphicFramePr>
          <p:cNvPr id="5" name="Table 4"/>
          <p:cNvGraphicFramePr>
            <a:graphicFrameLocks noGrp="1"/>
          </p:cNvGraphicFramePr>
          <p:nvPr/>
        </p:nvGraphicFramePr>
        <p:xfrm>
          <a:off x="585216" y="2103120"/>
          <a:ext cx="5989320" cy="1865376"/>
        </p:xfrm>
        <a:graphic>
          <a:graphicData uri="http://schemas.openxmlformats.org/drawingml/2006/table">
            <a:tbl>
              <a:tblPr firstRow="1" bandRow="1">
                <a:tableStyleId>{5C22544A-7EE6-4342-B048-85BDC9FD1C3A}</a:tableStyleId>
              </a:tblPr>
              <a:tblGrid>
                <a:gridCol w="1097280"/>
                <a:gridCol w="1737360"/>
                <a:gridCol w="3154680"/>
              </a:tblGrid>
              <a:tr h="292608">
                <a:tc>
                  <a:txBody>
                    <a:bodyPr/>
                    <a:lstStyle/>
                    <a:p>
                      <a:r>
                        <a:rPr sz="1100" b="1">
                          <a:solidFill>
                            <a:srgbClr val="FFFFFF"/>
                          </a:solidFill>
                        </a:rPr>
                        <a:t>When</a:t>
                      </a:r>
                    </a:p>
                  </a:txBody>
                  <a:tcPr anchor="ctr" marT="36576" marB="36576">
                    <a:solidFill>
                      <a:srgbClr val="2A446F"/>
                    </a:solidFill>
                  </a:tcPr>
                </a:tc>
                <a:tc>
                  <a:txBody>
                    <a:bodyPr/>
                    <a:lstStyle/>
                    <a:p>
                      <a:r>
                        <a:rPr sz="1100" b="1">
                          <a:solidFill>
                            <a:srgbClr val="FFFFFF"/>
                          </a:solidFill>
                        </a:rPr>
                        <a:t>Who</a:t>
                      </a:r>
                    </a:p>
                  </a:txBody>
                  <a:tcPr anchor="ctr" marT="36576" marB="36576">
                    <a:solidFill>
                      <a:srgbClr val="2A446F"/>
                    </a:solidFill>
                  </a:tcPr>
                </a:tc>
                <a:tc>
                  <a:txBody>
                    <a:bodyPr/>
                    <a:lstStyle/>
                    <a:p>
                      <a:r>
                        <a:rPr sz="1100" b="1">
                          <a:solidFill>
                            <a:srgbClr val="FFFFFF"/>
                          </a:solidFill>
                        </a:rPr>
                        <a:t>What changed</a:t>
                      </a:r>
                    </a:p>
                  </a:txBody>
                  <a:tcPr anchor="ctr" marT="36576" marB="36576">
                    <a:solidFill>
                      <a:srgbClr val="2A446F"/>
                    </a:solidFill>
                  </a:tcPr>
                </a:tc>
              </a:tr>
              <a:tr h="292608">
                <a:tc>
                  <a:txBody>
                    <a:bodyPr/>
                    <a:lstStyle/>
                    <a:p>
                      <a:r>
                        <a:rPr sz="1100" b="1">
                          <a:solidFill>
                            <a:srgbClr val="1F1F1F"/>
                          </a:solidFill>
                        </a:rPr>
                        <a:t>2025-08</a:t>
                      </a:r>
                    </a:p>
                  </a:txBody>
                  <a:tcPr anchor="ctr" marT="36576" marB="36576">
                    <a:solidFill>
                      <a:srgbClr val="FFFFFF"/>
                    </a:solidFill>
                  </a:tcPr>
                </a:tc>
                <a:tc>
                  <a:txBody>
                    <a:bodyPr/>
                    <a:lstStyle/>
                    <a:p>
                      <a:r>
                        <a:rPr sz="1100" b="0">
                          <a:solidFill>
                            <a:srgbClr val="1F1F1F"/>
                          </a:solidFill>
                        </a:rPr>
                        <a:t>Anthropic</a:t>
                      </a:r>
                    </a:p>
                  </a:txBody>
                  <a:tcPr anchor="ctr" marT="36576" marB="36576">
                    <a:solidFill>
                      <a:srgbClr val="FFFFFF"/>
                    </a:solidFill>
                  </a:tcPr>
                </a:tc>
                <a:tc>
                  <a:txBody>
                    <a:bodyPr/>
                    <a:lstStyle/>
                    <a:p>
                      <a:r>
                        <a:rPr sz="1100" b="0">
                          <a:solidFill>
                            <a:srgbClr val="1F1F1F"/>
                          </a:solidFill>
                        </a:rPr>
                        <a:t>weekly limits on Claude Pro / Max</a:t>
                      </a:r>
                    </a:p>
                  </a:txBody>
                  <a:tcPr anchor="ctr" marT="36576" marB="36576">
                    <a:solidFill>
                      <a:srgbClr val="FFFFFF"/>
                    </a:solidFill>
                  </a:tcPr>
                </a:tc>
              </a:tr>
              <a:tr h="426720">
                <a:tc>
                  <a:txBody>
                    <a:bodyPr/>
                    <a:lstStyle/>
                    <a:p>
                      <a:r>
                        <a:rPr sz="1100" b="1">
                          <a:solidFill>
                            <a:srgbClr val="1F1F1F"/>
                          </a:solidFill>
                        </a:rPr>
                        <a:t>2026-06-01</a:t>
                      </a:r>
                    </a:p>
                  </a:txBody>
                  <a:tcPr anchor="ctr" marT="36576" marB="36576">
                    <a:solidFill>
                      <a:srgbClr val="F3F4F8"/>
                    </a:solidFill>
                  </a:tcPr>
                </a:tc>
                <a:tc>
                  <a:txBody>
                    <a:bodyPr/>
                    <a:lstStyle/>
                    <a:p>
                      <a:r>
                        <a:rPr sz="1100" b="0">
                          <a:solidFill>
                            <a:srgbClr val="1F1F1F"/>
                          </a:solidFill>
                        </a:rPr>
                        <a:t>GitHub Copilot</a:t>
                      </a:r>
                    </a:p>
                  </a:txBody>
                  <a:tcPr anchor="ctr" marT="36576" marB="36576">
                    <a:solidFill>
                      <a:srgbClr val="F3F4F8"/>
                    </a:solidFill>
                  </a:tcPr>
                </a:tc>
                <a:tc>
                  <a:txBody>
                    <a:bodyPr/>
                    <a:lstStyle/>
                    <a:p>
                      <a:r>
                        <a:rPr sz="1100" b="0">
                          <a:solidFill>
                            <a:srgbClr val="1F1F1F"/>
                          </a:solidFill>
                        </a:rPr>
                        <a:t>premium requests → token-based AI Credits</a:t>
                      </a:r>
                    </a:p>
                  </a:txBody>
                  <a:tcPr anchor="ctr" marT="36576" marB="36576">
                    <a:solidFill>
                      <a:srgbClr val="F3F4F8"/>
                    </a:solidFill>
                  </a:tcPr>
                </a:tc>
              </a:tr>
              <a:tr h="426720">
                <a:tc>
                  <a:txBody>
                    <a:bodyPr/>
                    <a:lstStyle/>
                    <a:p>
                      <a:r>
                        <a:rPr sz="1100" b="1">
                          <a:solidFill>
                            <a:srgbClr val="1F1F1F"/>
                          </a:solidFill>
                        </a:rPr>
                        <a:t>2025–26</a:t>
                      </a:r>
                    </a:p>
                  </a:txBody>
                  <a:tcPr anchor="ctr" marT="36576" marB="36576">
                    <a:solidFill>
                      <a:srgbClr val="FFFFFF"/>
                    </a:solidFill>
                  </a:tcPr>
                </a:tc>
                <a:tc>
                  <a:txBody>
                    <a:bodyPr/>
                    <a:lstStyle/>
                    <a:p>
                      <a:r>
                        <a:rPr sz="1100" b="0">
                          <a:solidFill>
                            <a:srgbClr val="1F1F1F"/>
                          </a:solidFill>
                        </a:rPr>
                        <a:t>OpenAI</a:t>
                      </a:r>
                    </a:p>
                  </a:txBody>
                  <a:tcPr anchor="ctr" marT="36576" marB="36576">
                    <a:solidFill>
                      <a:srgbClr val="FFFFFF"/>
                    </a:solidFill>
                  </a:tcPr>
                </a:tc>
                <a:tc>
                  <a:txBody>
                    <a:bodyPr/>
                    <a:lstStyle/>
                    <a:p>
                      <a:r>
                        <a:rPr sz="1100" b="0">
                          <a:solidFill>
                            <a:srgbClr val="1F1F1F"/>
                          </a:solidFill>
                        </a:rPr>
                        <a:t>ChatGPT Plus message caps tightened,</a:t>
                      </a:r>
                    </a:p>
                    <a:p>
                      <a:r>
                        <a:rPr sz="1100" b="0">
                          <a:solidFill>
                            <a:srgbClr val="1F1F1F"/>
                          </a:solidFill>
                        </a:rPr>
                        <a:t>several times</a:t>
                      </a:r>
                    </a:p>
                  </a:txBody>
                  <a:tcPr anchor="ctr" marT="36576" marB="36576">
                    <a:solidFill>
                      <a:srgbClr val="FFFFFF"/>
                    </a:solidFill>
                  </a:tcPr>
                </a:tc>
              </a:tr>
              <a:tr h="426720">
                <a:tc>
                  <a:txBody>
                    <a:bodyPr/>
                    <a:lstStyle/>
                    <a:p>
                      <a:r>
                        <a:rPr sz="1100" b="1">
                          <a:solidFill>
                            <a:srgbClr val="1F1F1F"/>
                          </a:solidFill>
                        </a:rPr>
                        <a:t>–</a:t>
                      </a:r>
                    </a:p>
                  </a:txBody>
                  <a:tcPr anchor="ctr" marT="36576" marB="36576">
                    <a:solidFill>
                      <a:srgbClr val="F3F4F8"/>
                    </a:solidFill>
                  </a:tcPr>
                </a:tc>
                <a:tc>
                  <a:txBody>
                    <a:bodyPr/>
                    <a:lstStyle/>
                    <a:p>
                      <a:r>
                        <a:rPr sz="1100" b="0">
                          <a:solidFill>
                            <a:srgbClr val="1F1F1F"/>
                          </a:solidFill>
                        </a:rPr>
                        <a:t>Cursor · Windsurf ·</a:t>
                      </a:r>
                    </a:p>
                    <a:p>
                      <a:r>
                        <a:rPr sz="1100" b="0">
                          <a:solidFill>
                            <a:srgbClr val="1F1F1F"/>
                          </a:solidFill>
                        </a:rPr>
                        <a:t>Replit Agent</a:t>
                      </a:r>
                    </a:p>
                  </a:txBody>
                  <a:tcPr anchor="ctr" marT="36576" marB="36576">
                    <a:solidFill>
                      <a:srgbClr val="F3F4F8"/>
                    </a:solidFill>
                  </a:tcPr>
                </a:tc>
                <a:tc>
                  <a:txBody>
                    <a:bodyPr/>
                    <a:lstStyle/>
                    <a:p>
                      <a:r>
                        <a:rPr sz="1100" b="0">
                          <a:solidFill>
                            <a:srgbClr val="1F1F1F"/>
                          </a:solidFill>
                        </a:rPr>
                        <a:t>“unlimited” → “fair use” → caps</a:t>
                      </a:r>
                    </a:p>
                  </a:txBody>
                  <a:tcPr anchor="ctr" marT="36576" marB="36576">
                    <a:solidFill>
                      <a:srgbClr val="F3F4F8"/>
                    </a:solidFill>
                  </a:tcPr>
                </a:tc>
              </a:tr>
            </a:tbl>
          </a:graphicData>
        </a:graphic>
      </p:graphicFrame>
      <p:sp>
        <p:nvSpPr>
          <p:cNvPr id="6" name="Rounded Rectangle 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sp>
        <p:nvSpPr>
          <p:cNvPr id="7" name="TextBox 6"/>
          <p:cNvSpPr txBox="1"/>
          <p:nvPr/>
        </p:nvSpPr>
        <p:spPr>
          <a:xfrm>
            <a:off x="585216" y="4197096"/>
            <a:ext cx="5989320" cy="1325880"/>
          </a:xfrm>
          <a:prstGeom prst="rect">
            <a:avLst/>
          </a:prstGeom>
          <a:noFill/>
        </p:spPr>
        <p:txBody>
          <a:bodyPr wrap="square" lIns="0" rIns="0" tIns="0" bIns="0" anchor="t">
            <a:spAutoFit/>
          </a:bodyPr>
          <a:lstStyle/>
          <a:p>
            <a:pPr algn="l" marL="256032" indent="-256032">
              <a:spcAft>
                <a:spcPts val="600"/>
              </a:spcAft>
              <a:buClr>
                <a:srgbClr val="0078D4"/>
              </a:buClr>
              <a:buChar char="•"/>
            </a:pPr>
            <a:r>
              <a:rPr sz="1300" b="1" i="0">
                <a:solidFill>
                  <a:srgbClr val="1F1F1F"/>
                </a:solidFill>
              </a:rPr>
              <a:t>Route</a:t>
            </a:r>
            <a:r>
              <a:rPr sz="1300" b="0" i="0">
                <a:solidFill>
                  <a:srgbClr val="1F1F1F"/>
                </a:solidFill>
              </a:rPr>
              <a:t> — cheap model first, escalate when needed</a:t>
            </a:r>
          </a:p>
          <a:p>
            <a:pPr algn="l" marL="256032" indent="-256032">
              <a:spcAft>
                <a:spcPts val="600"/>
              </a:spcAft>
              <a:buClr>
                <a:srgbClr val="0078D4"/>
              </a:buClr>
              <a:buChar char="•"/>
            </a:pPr>
            <a:r>
              <a:rPr sz="1300" b="1" i="0">
                <a:solidFill>
                  <a:srgbClr val="1F1F1F"/>
                </a:solidFill>
              </a:rPr>
              <a:t>Own the catalog</a:t>
            </a:r>
            <a:r>
              <a:rPr sz="1300" b="0" i="0">
                <a:solidFill>
                  <a:srgbClr val="1F1F1F"/>
                </a:solidFill>
              </a:rPr>
              <a:t> — a base_url and a model list you control</a:t>
            </a:r>
          </a:p>
          <a:p>
            <a:pPr algn="l" marL="256032" indent="-256032">
              <a:spcAft>
                <a:spcPts val="600"/>
              </a:spcAft>
              <a:buClr>
                <a:srgbClr val="0078D4"/>
              </a:buClr>
              <a:buChar char="•"/>
            </a:pPr>
            <a:r>
              <a:rPr sz="1300" b="1" i="0">
                <a:solidFill>
                  <a:srgbClr val="1F1F1F"/>
                </a:solidFill>
              </a:rPr>
              <a:t>Keep an open fallback</a:t>
            </a:r>
            <a:r>
              <a:rPr sz="1300" b="0" i="0">
                <a:solidFill>
                  <a:srgbClr val="1F1F1F"/>
                </a:solidFill>
              </a:rPr>
              <a:t> — open weights on your hardware = predictable cost</a:t>
            </a:r>
          </a:p>
        </p:txBody>
      </p:sp>
      <p:pic>
        <p:nvPicPr>
          <p:cNvPr id="8" name="Picture 7" descr="s4_nerf_balloon.jpg"/>
          <p:cNvPicPr>
            <a:picLocks noChangeAspect="1"/>
          </p:cNvPicPr>
          <p:nvPr/>
        </p:nvPicPr>
        <p:blipFill>
          <a:blip r:embed="rId3"/>
          <a:stretch>
            <a:fillRect/>
          </a:stretch>
        </p:blipFill>
        <p:spPr>
          <a:xfrm>
            <a:off x="6903720" y="1417320"/>
            <a:ext cx="3291840" cy="3291840"/>
          </a:xfrm>
          <a:prstGeom prst="roundRect">
            <a:avLst>
              <a:gd name="adj" fmla="val 4000"/>
            </a:avLst>
          </a:prstGeom>
        </p:spPr>
      </p:pic>
      <p:sp>
        <p:nvSpPr>
          <p:cNvPr id="9" name="TextBox 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Architect for choice: a base_url plus a catalog you own is the hedge.</a:t>
            </a:r>
          </a:p>
        </p:txBody>
      </p:sp>
      <p:sp>
        <p:nvSpPr>
          <p:cNvPr id="10" name="TextBox 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(Day of Data 2026) slides 136–139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Closer: an ACE-Step song about today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Lab 1 code turns today’s agenda into lyrics; ACE-Step 1.5 sings them — on one GPU, under MIT.</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48840"/>
          </a:xfrm>
          <a:prstGeom prst="rect">
            <a:avLst/>
          </a:prstGeom>
          <a:noFill/>
        </p:spPr>
        <p:txBody>
          <a:bodyPr wrap="square" lIns="0" rIns="0" tIns="0" bIns="0" anchor="t">
            <a:spAutoFit/>
          </a:bodyPr>
          <a:lstStyle/>
          <a:p>
            <a:pPr algn="l">
              <a:spcAft>
                <a:spcPts val="900"/>
              </a:spcAft>
            </a:pPr>
            <a:r>
              <a:rPr sz="1500" b="0" i="0">
                <a:solidFill>
                  <a:srgbClr val="1F1F1F"/>
                </a:solidFill>
              </a:rPr>
              <a:t>1. Chat model → tagged lyrics from the agenda (Lab 1 style)</a:t>
            </a:r>
          </a:p>
          <a:p>
            <a:pPr algn="l">
              <a:spcAft>
                <a:spcPts val="900"/>
              </a:spcAft>
            </a:pPr>
            <a:r>
              <a:rPr sz="1500" b="0" i="0">
                <a:solidFill>
                  <a:srgbClr val="1F1F1F"/>
                </a:solidFill>
              </a:rPr>
              <a:t>2. ACE-Step 1.5: lyrics + style → a full song with vocals</a:t>
            </a:r>
          </a:p>
          <a:p>
            <a:pPr algn="l">
              <a:spcAft>
                <a:spcPts val="900"/>
              </a:spcAft>
            </a:pPr>
            <a:r>
              <a:rPr sz="1500" b="0" i="0">
                <a:solidFill>
                  <a:srgbClr val="1F1F1F"/>
                </a:solidFill>
              </a:rPr>
              <a:t>3. Log the seed next to the WAV (craft principle #1)</a:t>
            </a:r>
          </a:p>
          <a:p>
            <a:pPr algn="l">
              <a:spcAft>
                <a:spcPts val="900"/>
              </a:spcAft>
            </a:pPr>
            <a:r>
              <a:rPr sz="1500" b="0" i="0">
                <a:solidFill>
                  <a:srgbClr val="1F1F1F"/>
                </a:solidFill>
              </a:rPr>
              <a:t>4. Play it — the outro of Segment 4</a:t>
            </a:r>
          </a:p>
        </p:txBody>
      </p:sp>
      <p:sp>
        <p:nvSpPr>
          <p:cNvPr id="11" name="Rounded Rectangle 10"/>
          <p:cNvSpPr/>
          <p:nvPr/>
        </p:nvSpPr>
        <p:spPr>
          <a:xfrm>
            <a:off x="5029200" y="384048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050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2272"/>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Play the pre-rendered song.</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 · ACE-Step 1.5 (GitHub)</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settings you now control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WRAP-UP</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One knob per block — you turned every one of them today.</a:t>
            </a:r>
          </a:p>
        </p:txBody>
      </p:sp>
      <p:sp>
        <p:nvSpPr>
          <p:cNvPr id="5" name="Rounded Rectangle 4"/>
          <p:cNvSpPr/>
          <p:nvPr/>
        </p:nvSpPr>
        <p:spPr>
          <a:xfrm>
            <a:off x="585216"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tokens</a:t>
            </a:r>
          </a:p>
        </p:txBody>
      </p:sp>
      <p:cxnSp>
        <p:nvCxnSpPr>
          <p:cNvPr id="6" name="Connector 5"/>
          <p:cNvCxnSpPr/>
          <p:nvPr/>
        </p:nvCxnSpPr>
        <p:spPr>
          <a:xfrm>
            <a:off x="166877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chat API</a:t>
            </a:r>
          </a:p>
        </p:txBody>
      </p:sp>
      <p:cxnSp>
        <p:nvCxnSpPr>
          <p:cNvPr id="8" name="Connector 7"/>
          <p:cNvCxnSpPr/>
          <p:nvPr/>
        </p:nvCxnSpPr>
        <p:spPr>
          <a:xfrm>
            <a:off x="2898648"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structured output</a:t>
            </a:r>
          </a:p>
        </p:txBody>
      </p:sp>
      <p:cxnSp>
        <p:nvCxnSpPr>
          <p:cNvPr id="10" name="Connector 9"/>
          <p:cNvCxnSpPr/>
          <p:nvPr/>
        </p:nvCxnSpPr>
        <p:spPr>
          <a:xfrm>
            <a:off x="4128515" y="251460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tools</a:t>
            </a:r>
          </a:p>
        </p:txBody>
      </p:sp>
      <p:cxnSp>
        <p:nvCxnSpPr>
          <p:cNvPr id="12" name="Connector 11"/>
          <p:cNvCxnSpPr/>
          <p:nvPr/>
        </p:nvCxnSpPr>
        <p:spPr>
          <a:xfrm>
            <a:off x="5358383"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MCP / skills</a:t>
            </a:r>
          </a:p>
        </p:txBody>
      </p:sp>
      <p:cxnSp>
        <p:nvCxnSpPr>
          <p:cNvPr id="14" name="Connector 13"/>
          <p:cNvCxnSpPr/>
          <p:nvPr/>
        </p:nvCxnSpPr>
        <p:spPr>
          <a:xfrm>
            <a:off x="6588251"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agent loop</a:t>
            </a:r>
          </a:p>
        </p:txBody>
      </p:sp>
      <p:cxnSp>
        <p:nvCxnSpPr>
          <p:cNvPr id="16" name="Connector 15"/>
          <p:cNvCxnSpPr/>
          <p:nvPr/>
        </p:nvCxnSpPr>
        <p:spPr>
          <a:xfrm>
            <a:off x="781811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workflow</a:t>
            </a:r>
          </a:p>
        </p:txBody>
      </p:sp>
      <p:cxnSp>
        <p:nvCxnSpPr>
          <p:cNvPr id="18" name="Connector 17"/>
          <p:cNvCxnSpPr/>
          <p:nvPr/>
        </p:nvCxnSpPr>
        <p:spPr>
          <a:xfrm>
            <a:off x="9047987"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media pipeline</a:t>
            </a:r>
          </a:p>
        </p:txBody>
      </p:sp>
      <p:sp>
        <p:nvSpPr>
          <p:cNvPr id="20" name="TextBox 19"/>
          <p:cNvSpPr txBox="1"/>
          <p:nvPr/>
        </p:nvSpPr>
        <p:spPr>
          <a:xfrm>
            <a:off x="585216"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vocabulary</a:t>
            </a:r>
          </a:p>
        </p:txBody>
      </p:sp>
      <p:sp>
        <p:nvSpPr>
          <p:cNvPr id="21" name="TextBox 20"/>
          <p:cNvSpPr txBox="1"/>
          <p:nvPr/>
        </p:nvSpPr>
        <p:spPr>
          <a:xfrm>
            <a:off x="1815084"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temperature</a:t>
            </a:r>
          </a:p>
        </p:txBody>
      </p:sp>
      <p:sp>
        <p:nvSpPr>
          <p:cNvPr id="22" name="TextBox 21"/>
          <p:cNvSpPr txBox="1"/>
          <p:nvPr/>
        </p:nvSpPr>
        <p:spPr>
          <a:xfrm>
            <a:off x="3044951"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JSON schema</a:t>
            </a:r>
          </a:p>
        </p:txBody>
      </p:sp>
      <p:sp>
        <p:nvSpPr>
          <p:cNvPr id="23" name="TextBox 22"/>
          <p:cNvSpPr txBox="1"/>
          <p:nvPr/>
        </p:nvSpPr>
        <p:spPr>
          <a:xfrm>
            <a:off x="4274819"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tool list</a:t>
            </a:r>
          </a:p>
        </p:txBody>
      </p:sp>
      <p:sp>
        <p:nvSpPr>
          <p:cNvPr id="24" name="TextBox 23"/>
          <p:cNvSpPr txBox="1"/>
          <p:nvPr/>
        </p:nvSpPr>
        <p:spPr>
          <a:xfrm>
            <a:off x="5504687"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server / SKILL.md</a:t>
            </a:r>
          </a:p>
        </p:txBody>
      </p:sp>
      <p:sp>
        <p:nvSpPr>
          <p:cNvPr id="25" name="TextBox 24"/>
          <p:cNvSpPr txBox="1"/>
          <p:nvPr/>
        </p:nvSpPr>
        <p:spPr>
          <a:xfrm>
            <a:off x="6734555"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session · budget</a:t>
            </a:r>
          </a:p>
        </p:txBody>
      </p:sp>
      <p:sp>
        <p:nvSpPr>
          <p:cNvPr id="26" name="TextBox 25"/>
          <p:cNvSpPr txBox="1"/>
          <p:nvPr/>
        </p:nvSpPr>
        <p:spPr>
          <a:xfrm>
            <a:off x="7964423"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orchestration</a:t>
            </a:r>
          </a:p>
        </p:txBody>
      </p:sp>
      <p:sp>
        <p:nvSpPr>
          <p:cNvPr id="27" name="TextBox 26"/>
          <p:cNvSpPr txBox="1"/>
          <p:nvPr/>
        </p:nvSpPr>
        <p:spPr>
          <a:xfrm>
            <a:off x="9194292"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seed · CFG</a:t>
            </a:r>
          </a:p>
        </p:txBody>
      </p:sp>
      <p:sp>
        <p:nvSpPr>
          <p:cNvPr id="28" name="Rounded Rectangle 27"/>
          <p:cNvSpPr/>
          <p:nvPr/>
        </p:nvSpPr>
        <p:spPr>
          <a:xfrm>
            <a:off x="585216" y="3630168"/>
            <a:ext cx="4736591" cy="292608"/>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S1 · LAB 1</a:t>
            </a:r>
          </a:p>
        </p:txBody>
      </p:sp>
      <p:sp>
        <p:nvSpPr>
          <p:cNvPr id="29" name="Rounded Rectangle 28"/>
          <p:cNvSpPr/>
          <p:nvPr/>
        </p:nvSpPr>
        <p:spPr>
          <a:xfrm>
            <a:off x="6734555" y="3630168"/>
            <a:ext cx="2276856" cy="292608"/>
          </a:xfrm>
          <a:prstGeom prst="roundRect">
            <a:avLst>
              <a:gd name="adj" fmla="val 3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S3 · LAB 3</a:t>
            </a:r>
          </a:p>
        </p:txBody>
      </p:sp>
      <p:sp>
        <p:nvSpPr>
          <p:cNvPr id="30" name="Rounded Rectangle 29"/>
          <p:cNvSpPr/>
          <p:nvPr/>
        </p:nvSpPr>
        <p:spPr>
          <a:xfrm>
            <a:off x="3044951" y="4014215"/>
            <a:ext cx="3506723" cy="292608"/>
          </a:xfrm>
          <a:prstGeom prst="roundRect">
            <a:avLst>
              <a:gd name="adj" fmla="val 3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S2 · LAB 2</a:t>
            </a:r>
          </a:p>
        </p:txBody>
      </p:sp>
      <p:sp>
        <p:nvSpPr>
          <p:cNvPr id="31" name="Rounded Rectangle 30"/>
          <p:cNvSpPr/>
          <p:nvPr/>
        </p:nvSpPr>
        <p:spPr>
          <a:xfrm>
            <a:off x="9194292" y="4014215"/>
            <a:ext cx="1046987" cy="292608"/>
          </a:xfrm>
          <a:prstGeom prst="roundRect">
            <a:avLst>
              <a:gd name="adj" fmla="val 3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S4 · LAB 4</a:t>
            </a:r>
          </a:p>
        </p:txBody>
      </p:sp>
      <p:sp>
        <p:nvSpPr>
          <p:cNvPr id="32" name="TextBox 31"/>
          <p:cNvSpPr txBox="1"/>
          <p:nvPr/>
        </p:nvSpPr>
        <p:spPr>
          <a:xfrm>
            <a:off x="585216" y="489204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blocks, many vendors, your machine: the knobs travel with your code.</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Narrative plan v001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What you can do now: this morning’s checklist, ticked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WRAP-UP</a:t>
            </a:r>
          </a:p>
        </p:txBody>
      </p:sp>
      <p:sp>
        <p:nvSpPr>
          <p:cNvPr id="4" name="Rounded Rectangle 3"/>
          <p:cNvSpPr/>
          <p:nvPr/>
        </p:nvSpPr>
        <p:spPr>
          <a:xfrm>
            <a:off x="585216" y="1536192"/>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5" name="TextBox 4"/>
          <p:cNvSpPr txBox="1"/>
          <p:nvPr/>
        </p:nvSpPr>
        <p:spPr>
          <a:xfrm>
            <a:off x="1225295" y="1554480"/>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Explain</a:t>
            </a:r>
            <a:r>
              <a:rPr sz="1600" b="0" i="0">
                <a:solidFill>
                  <a:srgbClr val="2A446F"/>
                </a:solidFill>
              </a:rPr>
              <a:t> how a model is made, and what is model vs. PaaS on top</a:t>
            </a:r>
          </a:p>
        </p:txBody>
      </p:sp>
      <p:sp>
        <p:nvSpPr>
          <p:cNvPr id="6" name="Rounded Rectangle 5"/>
          <p:cNvSpPr/>
          <p:nvPr/>
        </p:nvSpPr>
        <p:spPr>
          <a:xfrm>
            <a:off x="8823959" y="1591056"/>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SEGMENT 1</a:t>
            </a:r>
          </a:p>
        </p:txBody>
      </p:sp>
      <p:sp>
        <p:nvSpPr>
          <p:cNvPr id="7" name="Rectangle 6"/>
          <p:cNvSpPr/>
          <p:nvPr/>
        </p:nvSpPr>
        <p:spPr>
          <a:xfrm>
            <a:off x="585216" y="2029968"/>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85216" y="2139696"/>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9" name="TextBox 8"/>
          <p:cNvSpPr txBox="1"/>
          <p:nvPr/>
        </p:nvSpPr>
        <p:spPr>
          <a:xfrm>
            <a:off x="1225295" y="2157984"/>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Call</a:t>
            </a:r>
            <a:r>
              <a:rPr sz="1600" b="0" i="0">
                <a:solidFill>
                  <a:srgbClr val="2A446F"/>
                </a:solidFill>
              </a:rPr>
              <a:t> any OpenAI-compatible endpoint with knobs, schemas and tools</a:t>
            </a:r>
          </a:p>
        </p:txBody>
      </p:sp>
      <p:sp>
        <p:nvSpPr>
          <p:cNvPr id="10" name="Rounded Rectangle 9"/>
          <p:cNvSpPr/>
          <p:nvPr/>
        </p:nvSpPr>
        <p:spPr>
          <a:xfrm>
            <a:off x="8823959" y="2194560"/>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1</a:t>
            </a:r>
          </a:p>
        </p:txBody>
      </p:sp>
      <p:sp>
        <p:nvSpPr>
          <p:cNvPr id="11" name="Rectangle 10"/>
          <p:cNvSpPr/>
          <p:nvPr/>
        </p:nvSpPr>
        <p:spPr>
          <a:xfrm>
            <a:off x="585216" y="2633472"/>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85216" y="2743200"/>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13" name="TextBox 12"/>
          <p:cNvSpPr txBox="1"/>
          <p:nvPr/>
        </p:nvSpPr>
        <p:spPr>
          <a:xfrm>
            <a:off x="1225295" y="2761488"/>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Build</a:t>
            </a:r>
            <a:r>
              <a:rPr sz="1600" b="0" i="0">
                <a:solidFill>
                  <a:srgbClr val="2A446F"/>
                </a:solidFill>
              </a:rPr>
              <a:t> a RAG and expose it as an MCP server or a skill</a:t>
            </a:r>
          </a:p>
        </p:txBody>
      </p:sp>
      <p:sp>
        <p:nvSpPr>
          <p:cNvPr id="14" name="Rounded Rectangle 13"/>
          <p:cNvSpPr/>
          <p:nvPr/>
        </p:nvSpPr>
        <p:spPr>
          <a:xfrm>
            <a:off x="8823959" y="2798064"/>
            <a:ext cx="141732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2</a:t>
            </a:r>
          </a:p>
        </p:txBody>
      </p:sp>
      <p:sp>
        <p:nvSpPr>
          <p:cNvPr id="15" name="Rectangle 14"/>
          <p:cNvSpPr/>
          <p:nvPr/>
        </p:nvSpPr>
        <p:spPr>
          <a:xfrm>
            <a:off x="585216" y="3236976"/>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85216" y="3346704"/>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17" name="TextBox 16"/>
          <p:cNvSpPr txBox="1"/>
          <p:nvPr/>
        </p:nvSpPr>
        <p:spPr>
          <a:xfrm>
            <a:off x="1225295" y="3364992"/>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Build</a:t>
            </a:r>
            <a:r>
              <a:rPr sz="1600" b="0" i="0">
                <a:solidFill>
                  <a:srgbClr val="2A446F"/>
                </a:solidFill>
              </a:rPr>
              <a:t> a two-agent workflow (MAF, LangGraph), know how to deploy it</a:t>
            </a:r>
          </a:p>
        </p:txBody>
      </p:sp>
      <p:sp>
        <p:nvSpPr>
          <p:cNvPr id="18" name="Rounded Rectangle 17"/>
          <p:cNvSpPr/>
          <p:nvPr/>
        </p:nvSpPr>
        <p:spPr>
          <a:xfrm>
            <a:off x="8823959" y="3401568"/>
            <a:ext cx="141732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3</a:t>
            </a:r>
          </a:p>
        </p:txBody>
      </p:sp>
      <p:sp>
        <p:nvSpPr>
          <p:cNvPr id="19" name="Rectangle 18"/>
          <p:cNvSpPr/>
          <p:nvPr/>
        </p:nvSpPr>
        <p:spPr>
          <a:xfrm>
            <a:off x="585216" y="3840480"/>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85216" y="3950208"/>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21" name="TextBox 20"/>
          <p:cNvSpPr txBox="1"/>
          <p:nvPr/>
        </p:nvSpPr>
        <p:spPr>
          <a:xfrm>
            <a:off x="1225295" y="3968496"/>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Run</a:t>
            </a:r>
            <a:r>
              <a:rPr sz="1600" b="0" i="0">
                <a:solidFill>
                  <a:srgbClr val="2A446F"/>
                </a:solidFill>
              </a:rPr>
              <a:t> text, image, speech and video models locally, and mix them</a:t>
            </a:r>
          </a:p>
        </p:txBody>
      </p:sp>
      <p:sp>
        <p:nvSpPr>
          <p:cNvPr id="22" name="Rounded Rectangle 21"/>
          <p:cNvSpPr/>
          <p:nvPr/>
        </p:nvSpPr>
        <p:spPr>
          <a:xfrm>
            <a:off x="8823959" y="4005072"/>
            <a:ext cx="141732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4</a:t>
            </a:r>
          </a:p>
        </p:txBody>
      </p:sp>
      <p:sp>
        <p:nvSpPr>
          <p:cNvPr id="23" name="Rectangle 22"/>
          <p:cNvSpPr/>
          <p:nvPr/>
        </p:nvSpPr>
        <p:spPr>
          <a:xfrm>
            <a:off x="585216" y="4443984"/>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85216" y="4553712"/>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25" name="TextBox 24"/>
          <p:cNvSpPr txBox="1"/>
          <p:nvPr/>
        </p:nvSpPr>
        <p:spPr>
          <a:xfrm>
            <a:off x="1225295" y="4572000"/>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Judge</a:t>
            </a:r>
            <a:r>
              <a:rPr sz="1600" b="0" i="0">
                <a:solidFill>
                  <a:srgbClr val="2A446F"/>
                </a:solidFill>
              </a:rPr>
              <a:t> vendor claims with sources</a:t>
            </a:r>
          </a:p>
        </p:txBody>
      </p:sp>
      <p:sp>
        <p:nvSpPr>
          <p:cNvPr id="26" name="Rounded Rectangle 25"/>
          <p:cNvSpPr/>
          <p:nvPr/>
        </p:nvSpPr>
        <p:spPr>
          <a:xfrm>
            <a:off x="8823959" y="4608576"/>
            <a:ext cx="1417320" cy="274320"/>
          </a:xfrm>
          <a:prstGeom prst="roundRect">
            <a:avLst>
              <a:gd name="adj" fmla="val 5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ALL DAY</a:t>
            </a:r>
          </a:p>
        </p:txBody>
      </p:sp>
      <p:sp>
        <p:nvSpPr>
          <p:cNvPr id="27" name="TextBox 26"/>
          <p:cNvSpPr txBox="1"/>
          <p:nvPr/>
        </p:nvSpPr>
        <p:spPr>
          <a:xfrm>
            <a:off x="585216" y="530352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Something unticked? Every lab has a solution folder and runs on Ollama or the offline mock.</a:t>
            </a:r>
          </a:p>
        </p:txBody>
      </p:sp>
      <p:sp>
        <p:nvSpPr>
          <p:cNvPr id="28" name="TextBox 2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 labs/README.md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Take-home: the labs, the catalog, and how to re-check both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WRAP-UP</a:t>
            </a:r>
          </a:p>
        </p:txBody>
      </p:sp>
      <p:sp>
        <p:nvSpPr>
          <p:cNvPr id="4" name="Rounded Rectangle 3"/>
          <p:cNvSpPr/>
          <p:nvPr/>
        </p:nvSpPr>
        <p:spPr>
          <a:xfrm>
            <a:off x="585216" y="1417320"/>
            <a:ext cx="585216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81912"/>
            <a:ext cx="5449824" cy="411480"/>
          </a:xfrm>
          <a:prstGeom prst="rect">
            <a:avLst/>
          </a:prstGeom>
          <a:noFill/>
        </p:spPr>
        <p:txBody>
          <a:bodyPr wrap="square" lIns="0" rIns="0" tIns="0" bIns="0" anchor="t">
            <a:spAutoFit/>
          </a:bodyPr>
          <a:lstStyle/>
          <a:p>
            <a:pPr algn="l">
              <a:spcAft>
                <a:spcPts val="0"/>
              </a:spcAft>
            </a:pPr>
            <a:r>
              <a:rPr sz="1300" b="1" i="0">
                <a:solidFill>
                  <a:srgbClr val="0078D4"/>
                </a:solidFill>
              </a:rPr>
              <a:t>THE LABS</a:t>
            </a:r>
          </a:p>
        </p:txBody>
      </p:sp>
      <p:sp>
        <p:nvSpPr>
          <p:cNvPr id="6" name="TextBox 5"/>
          <p:cNvSpPr txBox="1"/>
          <p:nvPr/>
        </p:nvSpPr>
        <p:spPr>
          <a:xfrm>
            <a:off x="786384" y="2039112"/>
            <a:ext cx="5449824" cy="457200"/>
          </a:xfrm>
          <a:prstGeom prst="rect">
            <a:avLst/>
          </a:prstGeom>
          <a:noFill/>
        </p:spPr>
        <p:txBody>
          <a:bodyPr wrap="square" lIns="0" rIns="0" tIns="0" bIns="0" anchor="t">
            <a:spAutoFit/>
          </a:bodyPr>
          <a:lstStyle/>
          <a:p>
            <a:pPr algn="l">
              <a:spcAft>
                <a:spcPts val="0"/>
              </a:spcAft>
            </a:pPr>
            <a:r>
              <a:rPr sz="1300" b="0" i="0">
                <a:solidFill>
                  <a:srgbClr val="1F1F1F"/>
                </a:solidFill>
              </a:rPr>
              <a:t>labs/ — four labs in Python, C# and TypeScript (Lab 4 Python-first), each with its solution; they also run on Ollama or the offline mock.</a:t>
            </a:r>
          </a:p>
        </p:txBody>
      </p:sp>
      <p:sp>
        <p:nvSpPr>
          <p:cNvPr id="7" name="Rounded Rectangle 6"/>
          <p:cNvSpPr/>
          <p:nvPr/>
        </p:nvSpPr>
        <p:spPr>
          <a:xfrm>
            <a:off x="585216" y="2788920"/>
            <a:ext cx="585216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2953512"/>
            <a:ext cx="5449824" cy="411480"/>
          </a:xfrm>
          <a:prstGeom prst="rect">
            <a:avLst/>
          </a:prstGeom>
          <a:noFill/>
        </p:spPr>
        <p:txBody>
          <a:bodyPr wrap="square" lIns="0" rIns="0" tIns="0" bIns="0" anchor="t">
            <a:spAutoFit/>
          </a:bodyPr>
          <a:lstStyle/>
          <a:p>
            <a:pPr algn="l">
              <a:spcAft>
                <a:spcPts val="0"/>
              </a:spcAft>
            </a:pPr>
            <a:r>
              <a:rPr sz="1300" b="1" i="0">
                <a:solidFill>
                  <a:srgbClr val="E86A10"/>
                </a:solidFill>
              </a:rPr>
              <a:t>THE CATALOG</a:t>
            </a:r>
          </a:p>
        </p:txBody>
      </p:sp>
      <p:sp>
        <p:nvSpPr>
          <p:cNvPr id="9" name="TextBox 8"/>
          <p:cNvSpPr txBox="1"/>
          <p:nvPr/>
        </p:nvSpPr>
        <p:spPr>
          <a:xfrm>
            <a:off x="786384" y="3410712"/>
            <a:ext cx="5449824" cy="457200"/>
          </a:xfrm>
          <a:prstGeom prst="rect">
            <a:avLst/>
          </a:prstGeom>
          <a:noFill/>
        </p:spPr>
        <p:txBody>
          <a:bodyPr wrap="square" lIns="0" rIns="0" tIns="0" bIns="0" anchor="t">
            <a:spAutoFit/>
          </a:bodyPr>
          <a:lstStyle/>
          <a:p>
            <a:pPr algn="l">
              <a:spcAft>
                <a:spcPts val="0"/>
              </a:spcAft>
            </a:pPr>
            <a:r>
              <a:rPr sz="1300" b="0" i="0">
                <a:solidFill>
                  <a:srgbClr val="1F1F1F"/>
                </a:solidFill>
              </a:rPr>
              <a:t>05_Model_Catalog_2026-09: names, prices, licences and where to run — checked 2026-09-21, with a half-life of weeks.</a:t>
            </a:r>
          </a:p>
        </p:txBody>
      </p:sp>
      <p:sp>
        <p:nvSpPr>
          <p:cNvPr id="10" name="Rounded Rectangle 9"/>
          <p:cNvSpPr/>
          <p:nvPr/>
        </p:nvSpPr>
        <p:spPr>
          <a:xfrm>
            <a:off x="585216" y="4160520"/>
            <a:ext cx="585216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4325112"/>
            <a:ext cx="5449824" cy="411480"/>
          </a:xfrm>
          <a:prstGeom prst="rect">
            <a:avLst/>
          </a:prstGeom>
          <a:noFill/>
        </p:spPr>
        <p:txBody>
          <a:bodyPr wrap="square" lIns="0" rIns="0" tIns="0" bIns="0" anchor="t">
            <a:spAutoFit/>
          </a:bodyPr>
          <a:lstStyle/>
          <a:p>
            <a:pPr algn="l">
              <a:spcAft>
                <a:spcPts val="0"/>
              </a:spcAft>
            </a:pPr>
            <a:r>
              <a:rPr sz="1300" b="1" i="0">
                <a:solidFill>
                  <a:srgbClr val="8661C5"/>
                </a:solidFill>
              </a:rPr>
              <a:t>THE RECIPE</a:t>
            </a:r>
          </a:p>
        </p:txBody>
      </p:sp>
      <p:sp>
        <p:nvSpPr>
          <p:cNvPr id="12" name="TextBox 11"/>
          <p:cNvSpPr txBox="1"/>
          <p:nvPr/>
        </p:nvSpPr>
        <p:spPr>
          <a:xfrm>
            <a:off x="786384" y="4782312"/>
            <a:ext cx="5449824" cy="457200"/>
          </a:xfrm>
          <a:prstGeom prst="rect">
            <a:avLst/>
          </a:prstGeom>
          <a:noFill/>
        </p:spPr>
        <p:txBody>
          <a:bodyPr wrap="square" lIns="0" rIns="0" tIns="0" bIns="0" anchor="t">
            <a:spAutoFit/>
          </a:bodyPr>
          <a:lstStyle/>
          <a:p>
            <a:pPr algn="l">
              <a:spcAft>
                <a:spcPts val="0"/>
              </a:spcAft>
            </a:pPr>
            <a:r>
              <a:rPr sz="1300" b="0" i="0">
                <a:solidFill>
                  <a:srgbClr val="1F1F1F"/>
                </a:solidFill>
              </a:rPr>
              <a:t>Before you quote a fact: registries for versions, Azure retail prices for prices, the model card for the licence — and write the date next to it.</a:t>
            </a:r>
          </a:p>
        </p:txBody>
      </p:sp>
      <p:pic>
        <p:nvPicPr>
          <p:cNvPr id="13" name="Picture 12" descr="e_toolbox_takehome.jpg"/>
          <p:cNvPicPr>
            <a:picLocks noChangeAspect="1"/>
          </p:cNvPicPr>
          <p:nvPr/>
        </p:nvPicPr>
        <p:blipFill>
          <a:blip r:embed="rId3"/>
          <a:stretch>
            <a:fillRect/>
          </a:stretch>
        </p:blipFill>
        <p:spPr>
          <a:xfrm>
            <a:off x="6675120" y="1417320"/>
            <a:ext cx="3474720" cy="2316480"/>
          </a:xfrm>
          <a:prstGeom prst="roundRect">
            <a:avLst>
              <a:gd name="adj" fmla="val 4000"/>
            </a:avLst>
          </a:prstGeom>
        </p:spPr>
      </p:pic>
      <p:sp>
        <p:nvSpPr>
          <p:cNvPr id="14" name="Rounded Rectangle 13"/>
          <p:cNvSpPr/>
          <p:nvPr/>
        </p:nvSpPr>
        <p:spPr>
          <a:xfrm>
            <a:off x="6675120" y="3977639"/>
            <a:ext cx="3474720" cy="1325880"/>
          </a:xfrm>
          <a:prstGeom prst="roundRect">
            <a:avLst>
              <a:gd name="adj" fmla="val 8000"/>
            </a:avLst>
          </a:prstGeom>
          <a:solidFill>
            <a:srgbClr val="F3F4F8"/>
          </a:solidFill>
          <a:ln w="12700">
            <a:solidFill>
              <a:srgbClr val="6B6B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1">
                <a:solidFill>
                  <a:srgbClr val="6B6B6B"/>
                </a:solidFill>
              </a:rPr>
              <a:t>REPO LINK + FEEDBACK QR</a:t>
            </a:r>
          </a:p>
          <a:p>
            <a:pPr algn="ctr"/>
            <a:r>
              <a:rPr sz="1200" b="0" i="1">
                <a:solidFill>
                  <a:srgbClr val="6B6B6B"/>
                </a:solidFill>
              </a:rPr>
              <a:t>to be added</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labs/README.md · Model catalog §0 (checked 2026-09-21) · genai-landscape-research skill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Thank you</a:t>
            </a:r>
          </a:p>
        </p:txBody>
      </p:sp>
      <p:sp>
        <p:nvSpPr>
          <p:cNvPr id="3" name="Text Placeholder 2"/>
          <p:cNvSpPr>
            <a:spLocks noGrp="1"/>
          </p:cNvSpPr>
          <p:nvPr>
            <p:ph type="body" idx="12" sz="quarter"/>
          </p:nvPr>
        </p:nvSpPr>
        <p:spPr/>
        <p:txBody>
          <a:bodyPr/>
          <a:lstStyle/>
          <a:p>
            <a:r>
              <a:rPr sz="1800">
                <a:solidFill>
                  <a:srgbClr val="C8D0E8"/>
                </a:solidFill>
              </a:rPr>
              <a:t>daenet — an ACP Digital company</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300" b="0" i="0">
                <a:solidFill>
                  <a:srgbClr val="FFFFFF"/>
                </a:solidFill>
              </a:rPr>
              <a:t>Every source of today: appendix A-01 (References).</a:t>
            </a:r>
          </a:p>
          <a:p>
            <a:pPr algn="l">
              <a:spcAft>
                <a:spcPts val="600"/>
              </a:spcAft>
            </a:pPr>
            <a:r>
              <a:rPr sz="1200" b="0" i="0">
                <a:solidFill>
                  <a:srgbClr val="9AA6C2"/>
                </a:solidFill>
              </a:rPr>
              <a:t>Building Stuff with GenAI · the open-minded workshop beyond OpenAI</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
        <p:nvSpPr>
          <p:cNvPr id="6" name="Rounded Rectangle 5"/>
          <p:cNvSpPr/>
          <p:nvPr/>
        </p:nvSpPr>
        <p:spPr>
          <a:xfrm>
            <a:off x="585216" y="4434840"/>
            <a:ext cx="5120640" cy="548640"/>
          </a:xfrm>
          <a:prstGeom prst="roundRect">
            <a:avLst>
              <a:gd name="adj" fmla="val 8000"/>
            </a:avLst>
          </a:prstGeom>
          <a:solidFill>
            <a:srgbClr val="141E46"/>
          </a:solidFill>
          <a:ln w="12700">
            <a:solidFill>
              <a:srgbClr val="9AA6C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1">
                <a:solidFill>
                  <a:srgbClr val="9AA6C2"/>
                </a:solidFill>
              </a:rPr>
              <a:t>CONTACT · E-MAIL · QR — to be added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Appendix</a:t>
            </a:r>
          </a:p>
        </p:txBody>
      </p:sp>
      <p:sp>
        <p:nvSpPr>
          <p:cNvPr id="3" name="Text Placeholder 2"/>
          <p:cNvSpPr>
            <a:spLocks noGrp="1"/>
          </p:cNvSpPr>
          <p:nvPr>
            <p:ph type="body" idx="12" sz="quarter"/>
          </p:nvPr>
        </p:nvSpPr>
        <p:spPr/>
        <p:txBody>
          <a:bodyPr/>
          <a:lstStyle/>
          <a:p>
            <a:r>
              <a:rPr sz="1800">
                <a:solidFill>
                  <a:srgbClr val="C8D0E8"/>
                </a:solidFill>
              </a:rPr>
              <a:t>Reference slides — not presented</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BUILDING STUFF WITH GENAI</a:t>
            </a:r>
          </a:p>
        </p:txBody>
      </p:sp>
      <p:sp>
        <p:nvSpPr>
          <p:cNvPr id="5" name="TextBox 4"/>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Facts as of 2026-09-21 · built 2026-09-23</a:t>
            </a:r>
          </a:p>
        </p:txBody>
      </p:sp>
      <p:sp>
        <p:nvSpPr>
          <p:cNvPr id="6" name="TextBox 5"/>
          <p:cNvSpPr txBox="1"/>
          <p:nvPr/>
        </p:nvSpPr>
        <p:spPr>
          <a:xfrm>
            <a:off x="6492240" y="1143000"/>
            <a:ext cx="2926080" cy="320040"/>
          </a:xfrm>
          <a:prstGeom prst="rect">
            <a:avLst/>
          </a:prstGeom>
          <a:noFill/>
        </p:spPr>
        <p:txBody>
          <a:bodyPr wrap="square" lIns="0" rIns="0" tIns="0" bIns="0" anchor="t">
            <a:spAutoFit/>
          </a:bodyPr>
          <a:lstStyle/>
          <a:p>
            <a:pPr algn="l">
              <a:spcAft>
                <a:spcPts val="0"/>
              </a:spcAft>
            </a:pPr>
            <a:r>
              <a:rPr sz="1200" b="1" i="0">
                <a:solidFill>
                  <a:srgbClr val="FFB900"/>
                </a:solidFill>
              </a:rPr>
              <a:t>IN THIS APPENDIX</a:t>
            </a:r>
          </a:p>
        </p:txBody>
      </p:sp>
      <p:sp>
        <p:nvSpPr>
          <p:cNvPr id="7" name="TextBox 6"/>
          <p:cNvSpPr txBox="1"/>
          <p:nvPr/>
        </p:nvSpPr>
        <p:spPr>
          <a:xfrm>
            <a:off x="6492240" y="1554480"/>
            <a:ext cx="2926080" cy="4206240"/>
          </a:xfrm>
          <a:prstGeom prst="rect">
            <a:avLst/>
          </a:prstGeom>
          <a:noFill/>
        </p:spPr>
        <p:txBody>
          <a:bodyPr wrap="square" lIns="0" rIns="0" tIns="0" bIns="0" anchor="t">
            <a:spAutoFit/>
          </a:bodyPr>
          <a:lstStyle/>
          <a:p>
            <a:pPr algn="l">
              <a:spcAft>
                <a:spcPts val="700"/>
              </a:spcAft>
            </a:pPr>
            <a:r>
              <a:rPr sz="1300" b="1" i="0">
                <a:solidFill>
                  <a:srgbClr val="FFFFFF"/>
                </a:solidFill>
              </a:rPr>
              <a:t>A-01</a:t>
            </a:r>
            <a:r>
              <a:rPr sz="1300" b="0" i="0">
                <a:solidFill>
                  <a:srgbClr val="FFFFFF"/>
                </a:solidFill>
              </a:rPr>
              <a:t>   References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(1/3)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Workshop plan v001</a:t>
                      </a:r>
                    </a:p>
                  </a:txBody>
                  <a:tcPr marL="54864" marR="54864" marT="32004" marB="32004" anchor="t">
                    <a:solidFill>
                      <a:srgbClr val="FFFFFF"/>
                    </a:solidFill>
                  </a:tcPr>
                </a:tc>
                <a:tc>
                  <a:txBody>
                    <a:bodyPr/>
                    <a:lstStyle/>
                    <a:p>
                      <a:r>
                        <a:rPr sz="1000" b="0">
                          <a:solidFill>
                            <a:srgbClr val="1F1F1F"/>
                          </a:solidFill>
                        </a:rPr>
                        <a:t>00_Workshop_Plan.md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F-04-S4, E-02</a:t>
                      </a:r>
                    </a:p>
                  </a:txBody>
                  <a:tcPr marL="54864" marR="54864" marT="32004" marB="32004" anchor="t">
                    <a:solidFill>
                      <a:srgbClr val="FFFFFF"/>
                    </a:solidFill>
                  </a:tcPr>
                </a:tc>
              </a:tr>
              <a:tr h="225551">
                <a:tc>
                  <a:txBody>
                    <a:bodyPr/>
                    <a:lstStyle/>
                    <a:p>
                      <a:r>
                        <a:rPr sz="1000" b="0">
                          <a:solidFill>
                            <a:srgbClr val="1F1F1F"/>
                          </a:solidFill>
                        </a:rPr>
                        <a:t>labs/.env.example</a:t>
                      </a:r>
                    </a:p>
                  </a:txBody>
                  <a:tcPr marL="54864" marR="54864" marT="32004" marB="32004" anchor="t">
                    <a:solidFill>
                      <a:srgbClr val="F3F4F8"/>
                    </a:solidFill>
                  </a:tcPr>
                </a:tc>
                <a:tc>
                  <a:txBody>
                    <a:bodyPr/>
                    <a:lstStyle/>
                    <a:p>
                      <a:r>
                        <a:rPr sz="1000" b="0">
                          <a:solidFill>
                            <a:srgbClr val="1F1F1F"/>
                          </a:solidFill>
                        </a:rPr>
                        <a:t>labs/.env.example</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F-05-S4</a:t>
                      </a:r>
                    </a:p>
                  </a:txBody>
                  <a:tcPr marL="54864" marR="54864" marT="32004" marB="32004" anchor="t">
                    <a:solidFill>
                      <a:srgbClr val="F3F4F8"/>
                    </a:solidFill>
                  </a:tcPr>
                </a:tc>
              </a:tr>
              <a:tr h="225551">
                <a:tc>
                  <a:txBody>
                    <a:bodyPr/>
                    <a:lstStyle/>
                    <a:p>
                      <a:r>
                        <a:rPr sz="1000" b="0">
                          <a:solidFill>
                            <a:srgbClr val="1F1F1F"/>
                          </a:solidFill>
                        </a:rPr>
                        <a:t>labs/00-setup/SETUP.md</a:t>
                      </a:r>
                    </a:p>
                  </a:txBody>
                  <a:tcPr marL="54864" marR="54864" marT="32004" marB="32004" anchor="t">
                    <a:solidFill>
                      <a:srgbClr val="FFFFFF"/>
                    </a:solidFill>
                  </a:tcPr>
                </a:tc>
                <a:tc>
                  <a:txBody>
                    <a:bodyPr/>
                    <a:lstStyle/>
                    <a:p>
                      <a:r>
                        <a:rPr sz="1000" b="0">
                          <a:solidFill>
                            <a:srgbClr val="1F1F1F"/>
                          </a:solidFill>
                        </a:rPr>
                        <a:t>labs/00-setup/SETUP.md</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F-05-S4, S4‑05, S4‑07</a:t>
                      </a:r>
                    </a:p>
                  </a:txBody>
                  <a:tcPr marL="54864" marR="54864" marT="32004" marB="32004" anchor="t">
                    <a:solidFill>
                      <a:srgbClr val="FFFFFF"/>
                    </a:solidFill>
                  </a:tcPr>
                </a:tc>
              </a:tr>
              <a:tr h="225551">
                <a:tc>
                  <a:txBody>
                    <a:bodyPr/>
                    <a:lstStyle/>
                    <a:p>
                      <a:r>
                        <a:rPr sz="1000" b="0">
                          <a:solidFill>
                            <a:srgbClr val="1F1F1F"/>
                          </a:solidFill>
                        </a:rPr>
                        <a:t>Gateway policy attendee-policy.xml</a:t>
                      </a:r>
                    </a:p>
                  </a:txBody>
                  <a:tcPr marL="54864" marR="54864" marT="32004" marB="32004" anchor="t">
                    <a:solidFill>
                      <a:srgbClr val="F3F4F8"/>
                    </a:solidFill>
                  </a:tcPr>
                </a:tc>
                <a:tc>
                  <a:txBody>
                    <a:bodyPr/>
                    <a:lstStyle/>
                    <a:p>
                      <a:r>
                        <a:rPr sz="1000" b="0">
                          <a:solidFill>
                            <a:srgbClr val="1F1F1F"/>
                          </a:solidFill>
                        </a:rPr>
                        <a:t>infra/policies/attendee-policy.xml</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F-05-S4</a:t>
                      </a:r>
                    </a:p>
                  </a:txBody>
                  <a:tcPr marL="54864" marR="54864" marT="32004" marB="32004" anchor="t">
                    <a:solidFill>
                      <a:srgbClr val="F3F4F8"/>
                    </a:solidFill>
                  </a:tcPr>
                </a:tc>
              </a:tr>
              <a:tr h="225551">
                <a:tc>
                  <a:txBody>
                    <a:bodyPr/>
                    <a:lstStyle/>
                    <a:p>
                      <a:r>
                        <a:rPr sz="1000" b="0">
                          <a:solidFill>
                            <a:srgbClr val="1F1F1F"/>
                          </a:solidFill>
                        </a:rPr>
                        <a:t>Beyond the Slop (daenet, Jul 2026)</a:t>
                      </a:r>
                    </a:p>
                  </a:txBody>
                  <a:tcPr marL="54864" marR="54864" marT="32004" marB="32004" anchor="t">
                    <a:solidFill>
                      <a:srgbClr val="FFFFFF"/>
                    </a:solidFill>
                  </a:tcPr>
                </a:tc>
                <a:tc>
                  <a:txBody>
                    <a:bodyPr/>
                    <a:lstStyle/>
                    <a:p>
                      <a:r>
                        <a:rPr sz="1000" b="0">
                          <a:solidFill>
                            <a:srgbClr val="1F1F1F"/>
                          </a:solidFill>
                        </a:rPr>
                        <a:t>research/beyond_the_slop/Beyond_the_Slop_…6_slide_text.txt</a:t>
                      </a:r>
                    </a:p>
                  </a:txBody>
                  <a:tcPr marL="54864" marR="54864" marT="32004" marB="32004" anchor="t">
                    <a:solidFill>
                      <a:srgbClr val="FFFFFF"/>
                    </a:solidFill>
                  </a:tcPr>
                </a:tc>
                <a:tc>
                  <a:txBody>
                    <a:bodyPr/>
                    <a:lstStyle/>
                    <a:p>
                      <a:r>
                        <a:rPr sz="1000" b="0">
                          <a:solidFill>
                            <a:srgbClr val="1F1F1F"/>
                          </a:solidFill>
                        </a:rPr>
                        <a:t>2026‑07‑14</a:t>
                      </a:r>
                    </a:p>
                  </a:txBody>
                  <a:tcPr marL="54864" marR="54864" marT="32004" marB="32004" anchor="t">
                    <a:solidFill>
                      <a:srgbClr val="FFFFFF"/>
                    </a:solidFill>
                  </a:tcPr>
                </a:tc>
                <a:tc>
                  <a:txBody>
                    <a:bodyPr/>
                    <a:lstStyle/>
                    <a:p>
                      <a:r>
                        <a:rPr sz="1000" b="0">
                          <a:solidFill>
                            <a:srgbClr val="1F1F1F"/>
                          </a:solidFill>
                        </a:rPr>
                        <a:t>S4‑02, S4‑03, S4‑07 +20</a:t>
                      </a:r>
                    </a:p>
                  </a:txBody>
                  <a:tcPr marL="54864" marR="54864" marT="32004" marB="32004" anchor="t">
                    <a:solidFill>
                      <a:srgbClr val="FFFFFF"/>
                    </a:solidFill>
                  </a:tcPr>
                </a:tc>
              </a:tr>
              <a:tr h="225551">
                <a:tc>
                  <a:txBody>
                    <a:bodyPr/>
                    <a:lstStyle/>
                    <a:p>
                      <a:r>
                        <a:rPr sz="1000" b="0">
                          <a:solidFill>
                            <a:srgbClr val="1F1F1F"/>
                          </a:solidFill>
                        </a:rPr>
                        <a:t>Model catalog §7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S4‑03, S4‑20, S4‑21b +2</a:t>
                      </a:r>
                    </a:p>
                  </a:txBody>
                  <a:tcPr marL="54864" marR="54864" marT="32004" marB="32004" anchor="t">
                    <a:solidFill>
                      <a:srgbClr val="F3F4F8"/>
                    </a:solidFill>
                  </a:tcPr>
                </a:tc>
              </a:tr>
              <a:tr h="225551">
                <a:tc>
                  <a:txBody>
                    <a:bodyPr/>
                    <a:lstStyle/>
                    <a:p>
                      <a:r>
                        <a:rPr sz="1000" b="0">
                          <a:solidFill>
                            <a:srgbClr val="1F1F1F"/>
                          </a:solidFill>
                        </a:rPr>
                        <a:t>Model catalog §11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S4‑03, S4‑14, S4‑19 +8</a:t>
                      </a:r>
                    </a:p>
                  </a:txBody>
                  <a:tcPr marL="54864" marR="54864" marT="32004" marB="32004" anchor="t">
                    <a:solidFill>
                      <a:srgbClr val="FFFFFF"/>
                    </a:solidFill>
                  </a:tcPr>
                </a:tc>
              </a:tr>
              <a:tr h="225551">
                <a:tc>
                  <a:txBody>
                    <a:bodyPr/>
                    <a:lstStyle/>
                    <a:p>
                      <a:r>
                        <a:rPr sz="1000" b="0">
                          <a:solidFill>
                            <a:srgbClr val="1F1F1F"/>
                          </a:solidFill>
                        </a:rPr>
                        <a:t>LLM 101 (Day of Data 2026) slide 131</a:t>
                      </a:r>
                    </a:p>
                  </a:txBody>
                  <a:tcPr marL="54864" marR="54864" marT="32004" marB="32004" anchor="t">
                    <a:solidFill>
                      <a:srgbClr val="F3F4F8"/>
                    </a:solidFill>
                  </a:tcPr>
                </a:tc>
                <a:tc>
                  <a:txBody>
                    <a:bodyPr/>
                    <a:lstStyle/>
                    <a:p>
                      <a:r>
                        <a:rPr sz="1000" b="0">
                          <a:solidFill>
                            <a:srgbClr val="1F1F1F"/>
                          </a:solidFill>
                        </a:rPr>
                        <a:t>DayOfData2026/LLM_101/LLM_101_100.pptx</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S4‑03, S4‑04, S4‑06, S4‑07</a:t>
                      </a:r>
                    </a:p>
                  </a:txBody>
                  <a:tcPr marL="54864" marR="54864" marT="32004" marB="32004" anchor="t">
                    <a:solidFill>
                      <a:srgbClr val="F3F4F8"/>
                    </a:solidFill>
                  </a:tcPr>
                </a:tc>
              </a:tr>
              <a:tr h="225551">
                <a:tc>
                  <a:txBody>
                    <a:bodyPr/>
                    <a:lstStyle/>
                    <a:p>
                      <a:r>
                        <a:rPr sz="1000" b="0">
                          <a:solidFill>
                            <a:srgbClr val="1F1F1F"/>
                          </a:solidFill>
                        </a:rPr>
                        <a:t>Model catalog §0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S4‑04, S4‑32, E-03</a:t>
                      </a:r>
                    </a:p>
                  </a:txBody>
                  <a:tcPr marL="54864" marR="54864" marT="32004" marB="32004" anchor="t">
                    <a:solidFill>
                      <a:srgbClr val="FFFFFF"/>
                    </a:solidFill>
                  </a:tcPr>
                </a:tc>
              </a:tr>
              <a:tr h="225551">
                <a:tc>
                  <a:txBody>
                    <a:bodyPr/>
                    <a:lstStyle/>
                    <a:p>
                      <a:r>
                        <a:rPr sz="1000" b="0">
                          <a:solidFill>
                            <a:srgbClr val="1F1F1F"/>
                          </a:solidFill>
                        </a:rPr>
                        <a:t>Model catalog §10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S4‑04, S4-D2, S4‑19b +2</a:t>
                      </a:r>
                    </a:p>
                  </a:txBody>
                  <a:tcPr marL="54864" marR="54864" marT="32004" marB="32004" anchor="t">
                    <a:solidFill>
                      <a:srgbClr val="F3F4F8"/>
                    </a:solidFill>
                  </a:tcPr>
                </a:tc>
              </a:tr>
              <a:tr h="225551">
                <a:tc>
                  <a:txBody>
                    <a:bodyPr/>
                    <a:lstStyle/>
                    <a:p>
                      <a:r>
                        <a:rPr sz="1000" b="0">
                          <a:solidFill>
                            <a:srgbClr val="1F1F1F"/>
                          </a:solidFill>
                        </a:rPr>
                        <a:t>Research: local AI, media &amp; beyond the West, 2026‑09‑19</a:t>
                      </a:r>
                    </a:p>
                  </a:txBody>
                  <a:tcPr marL="54864" marR="54864" marT="32004" marB="32004" anchor="t">
                    <a:solidFill>
                      <a:srgbClr val="FFFFFF"/>
                    </a:solidFill>
                  </a:tcPr>
                </a:tc>
                <a:tc>
                  <a:txBody>
                    <a:bodyPr/>
                    <a:lstStyle/>
                    <a:p>
                      <a:r>
                        <a:rPr sz="1000" b="0">
                          <a:solidFill>
                            <a:srgbClr val="1F1F1F"/>
                          </a:solidFill>
                        </a:rPr>
                        <a:t>research/2026‑09‑19_local-ai-media-beyond-west.md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S4‑04, S4‑08, S4‑20 +5</a:t>
                      </a:r>
                    </a:p>
                  </a:txBody>
                  <a:tcPr marL="54864" marR="54864" marT="32004" marB="32004" anchor="t">
                    <a:solidFill>
                      <a:srgbClr val="FFFFFF"/>
                    </a:solidFill>
                  </a:tcPr>
                </a:tc>
              </a:tr>
              <a:tr h="225551">
                <a:tc>
                  <a:txBody>
                    <a:bodyPr/>
                    <a:lstStyle/>
                    <a:p>
                      <a:r>
                        <a:rPr sz="1000" b="0">
                          <a:solidFill>
                            <a:srgbClr val="1F1F1F"/>
                          </a:solidFill>
                        </a:rPr>
                        <a:t>Foundry Local docs</a:t>
                      </a:r>
                    </a:p>
                  </a:txBody>
                  <a:tcPr marL="54864" marR="54864" marT="32004" marB="32004" anchor="t">
                    <a:solidFill>
                      <a:srgbClr val="F3F4F8"/>
                    </a:solidFill>
                  </a:tcPr>
                </a:tc>
                <a:tc>
                  <a:txBody>
                    <a:bodyPr/>
                    <a:lstStyle/>
                    <a:p>
                      <a:r>
                        <a:rPr sz="1000" b="0">
                          <a:solidFill>
                            <a:srgbClr val="1F1F1F"/>
                          </a:solidFill>
                          <a:hlinkClick r:id="rId3"/>
                        </a:rPr>
                        <a:t>learn.microsoft.com/en-us/azure/foundry-l…is-foundry-local</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S4‑04, S4-D2, S4‑07</a:t>
                      </a:r>
                    </a:p>
                  </a:txBody>
                  <a:tcPr marL="54864" marR="54864" marT="32004" marB="32004" anchor="t">
                    <a:solidFill>
                      <a:srgbClr val="F3F4F8"/>
                    </a:solidFill>
                  </a:tcPr>
                </a:tc>
              </a:tr>
              <a:tr h="225551">
                <a:tc>
                  <a:txBody>
                    <a:bodyPr/>
                    <a:lstStyle/>
                    <a:p>
                      <a:r>
                        <a:rPr sz="1000" b="0">
                          <a:solidFill>
                            <a:srgbClr val="1F1F1F"/>
                          </a:solidFill>
                        </a:rPr>
                        <a:t>Framework verification 2026‑09‑22 §7</a:t>
                      </a:r>
                    </a:p>
                  </a:txBody>
                  <a:tcPr marL="54864" marR="54864" marT="32004" marB="32004" anchor="t">
                    <a:solidFill>
                      <a:srgbClr val="FFFFFF"/>
                    </a:solidFill>
                  </a:tcPr>
                </a:tc>
                <a:tc>
                  <a:txBody>
                    <a:bodyPr/>
                    <a:lstStyle/>
                    <a:p>
                      <a:r>
                        <a:rPr sz="1000" b="0">
                          <a:solidFill>
                            <a:srgbClr val="1F1F1F"/>
                          </a:solidFill>
                        </a:rPr>
                        <a:t>research/2026‑09‑22_framework-snippet-verification.md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S4‑05, S4-D3</a:t>
                      </a:r>
                    </a:p>
                  </a:txBody>
                  <a:tcPr marL="54864" marR="54864" marT="32004" marB="32004" anchor="t">
                    <a:solidFill>
                      <a:srgbClr val="FFFFFF"/>
                    </a:solidFill>
                  </a:tcPr>
                </a:tc>
              </a:tr>
              <a:tr h="225551">
                <a:tc>
                  <a:txBody>
                    <a:bodyPr/>
                    <a:lstStyle/>
                    <a:p>
                      <a:r>
                        <a:rPr sz="1000" b="0">
                          <a:solidFill>
                            <a:srgbClr val="1F1F1F"/>
                          </a:solidFill>
                        </a:rPr>
                        <a:t>Lab 1 01_hello.py (tested)</a:t>
                      </a:r>
                    </a:p>
                  </a:txBody>
                  <a:tcPr marL="54864" marR="54864" marT="32004" marB="32004" anchor="t">
                    <a:solidFill>
                      <a:srgbClr val="F3F4F8"/>
                    </a:solidFill>
                  </a:tcPr>
                </a:tc>
                <a:tc>
                  <a:txBody>
                    <a:bodyPr/>
                    <a:lstStyle/>
                    <a:p>
                      <a:r>
                        <a:rPr sz="1000" b="0">
                          <a:solidFill>
                            <a:srgbClr val="1F1F1F"/>
                          </a:solidFill>
                        </a:rPr>
                        <a:t>labs/01-hello-model/python/solution/01_hello.py</a:t>
                      </a:r>
                    </a:p>
                  </a:txBody>
                  <a:tcPr marL="54864" marR="54864" marT="32004" marB="32004" anchor="t">
                    <a:solidFill>
                      <a:srgbClr val="F3F4F8"/>
                    </a:solidFill>
                  </a:tcPr>
                </a:tc>
                <a:tc>
                  <a:txBody>
                    <a:bodyPr/>
                    <a:lstStyle/>
                    <a:p>
                      <a:r>
                        <a:rPr sz="1000" b="0">
                          <a:solidFill>
                            <a:srgbClr val="1F1F1F"/>
                          </a:solidFill>
                        </a:rPr>
                        <a:t>2026‑09‑22</a:t>
                      </a:r>
                    </a:p>
                  </a:txBody>
                  <a:tcPr marL="54864" marR="54864" marT="32004" marB="32004" anchor="t">
                    <a:solidFill>
                      <a:srgbClr val="F3F4F8"/>
                    </a:solidFill>
                  </a:tcPr>
                </a:tc>
                <a:tc>
                  <a:txBody>
                    <a:bodyPr/>
                    <a:lstStyle/>
                    <a:p>
                      <a:r>
                        <a:rPr sz="1000" b="0">
                          <a:solidFill>
                            <a:srgbClr val="1F1F1F"/>
                          </a:solidFill>
                        </a:rPr>
                        <a:t>S4‑05</a:t>
                      </a:r>
                    </a:p>
                  </a:txBody>
                  <a:tcPr marL="54864" marR="54864" marT="32004" marB="32004" anchor="t">
                    <a:solidFill>
                      <a:srgbClr val="F3F4F8"/>
                    </a:solidFill>
                  </a:tcPr>
                </a:tc>
              </a:tr>
              <a:tr h="225551">
                <a:tc>
                  <a:txBody>
                    <a:bodyPr/>
                    <a:lstStyle/>
                    <a:p>
                      <a:r>
                        <a:rPr sz="1000" b="0">
                          <a:solidFill>
                            <a:srgbClr val="1F1F1F"/>
                          </a:solidFill>
                        </a:rPr>
                        <a:t>Model catalog §3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S4-D1, S4‑06, S4‑07 +3</a:t>
                      </a:r>
                    </a:p>
                  </a:txBody>
                  <a:tcPr marL="54864" marR="54864" marT="32004" marB="32004" anchor="t">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(2/3)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Qwen3.8‑27B model card</a:t>
                      </a:r>
                    </a:p>
                  </a:txBody>
                  <a:tcPr marL="54864" marR="54864" marT="32004" marB="32004" anchor="t">
                    <a:solidFill>
                      <a:srgbClr val="FFFFFF"/>
                    </a:solidFill>
                  </a:tcPr>
                </a:tc>
                <a:tc>
                  <a:txBody>
                    <a:bodyPr/>
                    <a:lstStyle/>
                    <a:p>
                      <a:r>
                        <a:rPr sz="1000" b="0">
                          <a:solidFill>
                            <a:srgbClr val="1F1F1F"/>
                          </a:solidFill>
                          <a:hlinkClick r:id="rId3"/>
                        </a:rPr>
                        <a:t>huggingface.co/Qwen/Qwen3.8‑27B</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S4-D1, S4‑09</a:t>
                      </a:r>
                    </a:p>
                  </a:txBody>
                  <a:tcPr marL="54864" marR="54864" marT="32004" marB="32004" anchor="t">
                    <a:solidFill>
                      <a:srgbClr val="FFFFFF"/>
                    </a:solidFill>
                  </a:tcPr>
                </a:tc>
              </a:tr>
              <a:tr h="225551">
                <a:tc>
                  <a:txBody>
                    <a:bodyPr/>
                    <a:lstStyle/>
                    <a:p>
                      <a:r>
                        <a:rPr sz="1000" b="0">
                          <a:solidFill>
                            <a:srgbClr val="1F1F1F"/>
                          </a:solidFill>
                        </a:rPr>
                        <a:t>Research: hardware sizing &amp; Chinese models, 2026‑09‑21</a:t>
                      </a:r>
                    </a:p>
                  </a:txBody>
                  <a:tcPr marL="54864" marR="54864" marT="32004" marB="32004" anchor="t">
                    <a:solidFill>
                      <a:srgbClr val="F3F4F8"/>
                    </a:solidFill>
                  </a:tcPr>
                </a:tc>
                <a:tc>
                  <a:txBody>
                    <a:bodyPr/>
                    <a:lstStyle/>
                    <a:p>
                      <a:r>
                        <a:rPr sz="1000" b="0">
                          <a:solidFill>
                            <a:srgbClr val="1F1F1F"/>
                          </a:solidFill>
                        </a:rPr>
                        <a:t>research/2026‑09‑21_local-hardware-sizing…hinese-models.md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S4-D1, S4‑08</a:t>
                      </a:r>
                    </a:p>
                  </a:txBody>
                  <a:tcPr marL="54864" marR="54864" marT="32004" marB="32004" anchor="t">
                    <a:solidFill>
                      <a:srgbClr val="F3F4F8"/>
                    </a:solidFill>
                  </a:tcPr>
                </a:tc>
              </a:tr>
              <a:tr h="225551">
                <a:tc>
                  <a:txBody>
                    <a:bodyPr/>
                    <a:lstStyle/>
                    <a:p>
                      <a:r>
                        <a:rPr sz="1000" b="0">
                          <a:solidFill>
                            <a:srgbClr val="1F1F1F"/>
                          </a:solidFill>
                        </a:rPr>
                        <a:t>Lab 4 README</a:t>
                      </a:r>
                    </a:p>
                  </a:txBody>
                  <a:tcPr marL="54864" marR="54864" marT="32004" marB="32004" anchor="t">
                    <a:solidFill>
                      <a:srgbClr val="FFFFFF"/>
                    </a:solidFill>
                  </a:tcPr>
                </a:tc>
                <a:tc>
                  <a:txBody>
                    <a:bodyPr/>
                    <a:lstStyle/>
                    <a:p>
                      <a:r>
                        <a:rPr sz="1000" b="0">
                          <a:solidFill>
                            <a:srgbClr val="1F1F1F"/>
                          </a:solidFill>
                        </a:rPr>
                        <a:t>labs/04-local-media/README.md</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S4-D2, S4-D4, S4‑15 +2</a:t>
                      </a:r>
                    </a:p>
                  </a:txBody>
                  <a:tcPr marL="54864" marR="54864" marT="32004" marB="32004" anchor="t">
                    <a:solidFill>
                      <a:srgbClr val="FFFFFF"/>
                    </a:solidFill>
                  </a:tcPr>
                </a:tc>
              </a:tr>
              <a:tr h="225551">
                <a:tc>
                  <a:txBody>
                    <a:bodyPr/>
                    <a:lstStyle/>
                    <a:p>
                      <a:r>
                        <a:rPr sz="1000" b="0">
                          <a:solidFill>
                            <a:srgbClr val="1F1F1F"/>
                          </a:solidFill>
                        </a:rPr>
                        <a:t>Apple Newsroom 2026‑08‑25 (Mac Studio M5)</a:t>
                      </a:r>
                    </a:p>
                  </a:txBody>
                  <a:tcPr marL="54864" marR="54864" marT="32004" marB="32004" anchor="t">
                    <a:solidFill>
                      <a:srgbClr val="F3F4F8"/>
                    </a:solidFill>
                  </a:tcPr>
                </a:tc>
                <a:tc>
                  <a:txBody>
                    <a:bodyPr/>
                    <a:lstStyle/>
                    <a:p>
                      <a:r>
                        <a:rPr sz="1000" b="0">
                          <a:solidFill>
                            <a:srgbClr val="1F1F1F"/>
                          </a:solidFill>
                          <a:hlinkClick r:id="rId4"/>
                        </a:rPr>
                        <a:t>apple.com/newsroom/2026/08/apple-introduc…ax-and-m5-ultra/</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S4‑06</a:t>
                      </a:r>
                    </a:p>
                  </a:txBody>
                  <a:tcPr marL="54864" marR="54864" marT="32004" marB="32004" anchor="t">
                    <a:solidFill>
                      <a:srgbClr val="F3F4F8"/>
                    </a:solidFill>
                  </a:tcPr>
                </a:tc>
              </a:tr>
              <a:tr h="225551">
                <a:tc>
                  <a:txBody>
                    <a:bodyPr/>
                    <a:lstStyle/>
                    <a:p>
                      <a:r>
                        <a:rPr sz="1000" b="0">
                          <a:solidFill>
                            <a:srgbClr val="1F1F1F"/>
                          </a:solidFill>
                        </a:rPr>
                        <a:t>Tom’s Hardware: DRAM at a 15-year high</a:t>
                      </a:r>
                    </a:p>
                  </a:txBody>
                  <a:tcPr marL="54864" marR="54864" marT="32004" marB="32004" anchor="t">
                    <a:solidFill>
                      <a:srgbClr val="FFFFFF"/>
                    </a:solidFill>
                  </a:tcPr>
                </a:tc>
                <a:tc>
                  <a:txBody>
                    <a:bodyPr/>
                    <a:lstStyle/>
                    <a:p>
                      <a:r>
                        <a:rPr sz="1000" b="0">
                          <a:solidFill>
                            <a:srgbClr val="1F1F1F"/>
                          </a:solidFill>
                          <a:hlinkClick r:id="rId5"/>
                        </a:rPr>
                        <a:t>tomshardware.com/pc-components/dram/amds-…hit-15-year-high</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S4‑06</a:t>
                      </a:r>
                    </a:p>
                  </a:txBody>
                  <a:tcPr marL="54864" marR="54864" marT="32004" marB="32004" anchor="t">
                    <a:solidFill>
                      <a:srgbClr val="FFFFFF"/>
                    </a:solidFill>
                  </a:tcPr>
                </a:tc>
              </a:tr>
              <a:tr h="225551">
                <a:tc>
                  <a:txBody>
                    <a:bodyPr/>
                    <a:lstStyle/>
                    <a:p>
                      <a:r>
                        <a:rPr sz="1000" b="0">
                          <a:solidFill>
                            <a:srgbClr val="1F1F1F"/>
                          </a:solidFill>
                        </a:rPr>
                        <a:t>Gemma 4 model card</a:t>
                      </a:r>
                    </a:p>
                  </a:txBody>
                  <a:tcPr marL="54864" marR="54864" marT="32004" marB="32004" anchor="t">
                    <a:solidFill>
                      <a:srgbClr val="F3F4F8"/>
                    </a:solidFill>
                  </a:tcPr>
                </a:tc>
                <a:tc>
                  <a:txBody>
                    <a:bodyPr/>
                    <a:lstStyle/>
                    <a:p>
                      <a:r>
                        <a:rPr sz="1000" b="0">
                          <a:solidFill>
                            <a:srgbClr val="1F1F1F"/>
                          </a:solidFill>
                          <a:hlinkClick r:id="rId6"/>
                        </a:rPr>
                        <a:t>ai.google.dev/gemma/docs/core/model_card_4</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S4‑09, S4-D3</a:t>
                      </a:r>
                    </a:p>
                  </a:txBody>
                  <a:tcPr marL="54864" marR="54864" marT="32004" marB="32004" anchor="t">
                    <a:solidFill>
                      <a:srgbClr val="F3F4F8"/>
                    </a:solidFill>
                  </a:tcPr>
                </a:tc>
              </a:tr>
              <a:tr h="225551">
                <a:tc>
                  <a:txBody>
                    <a:bodyPr/>
                    <a:lstStyle/>
                    <a:p>
                      <a:r>
                        <a:rPr sz="1000" b="0">
                          <a:solidFill>
                            <a:srgbClr val="1F1F1F"/>
                          </a:solidFill>
                        </a:rPr>
                        <a:t>Model catalog §6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S4‑11, S4-D4, S4‑14 +2</a:t>
                      </a:r>
                    </a:p>
                  </a:txBody>
                  <a:tcPr marL="54864" marR="54864" marT="32004" marB="32004" anchor="t">
                    <a:solidFill>
                      <a:srgbClr val="FFFFFF"/>
                    </a:solidFill>
                  </a:tcPr>
                </a:tc>
              </a:tr>
              <a:tr h="225551">
                <a:tc>
                  <a:txBody>
                    <a:bodyPr/>
                    <a:lstStyle/>
                    <a:p>
                      <a:r>
                        <a:rPr sz="1000" b="0">
                          <a:solidFill>
                            <a:srgbClr val="1F1F1F"/>
                          </a:solidFill>
                        </a:rPr>
                        <a:t>Lab 4 ComfyUI handouts</a:t>
                      </a:r>
                    </a:p>
                  </a:txBody>
                  <a:tcPr marL="54864" marR="54864" marT="32004" marB="32004" anchor="t">
                    <a:solidFill>
                      <a:srgbClr val="F3F4F8"/>
                    </a:solidFill>
                  </a:tcPr>
                </a:tc>
                <a:tc>
                  <a:txBody>
                    <a:bodyPr/>
                    <a:lstStyle/>
                    <a:p>
                      <a:r>
                        <a:rPr sz="1000" b="0">
                          <a:solidFill>
                            <a:srgbClr val="1F1F1F"/>
                          </a:solidFill>
                        </a:rPr>
                        <a:t>labs/04-local-media/comfyui_workflows/README_EN.md</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S4‑12, S4-D4, S4‑16 +2</a:t>
                      </a:r>
                    </a:p>
                  </a:txBody>
                  <a:tcPr marL="54864" marR="54864" marT="32004" marB="32004" anchor="t">
                    <a:solidFill>
                      <a:srgbClr val="F3F4F8"/>
                    </a:solidFill>
                  </a:tcPr>
                </a:tc>
              </a:tr>
              <a:tr h="225551">
                <a:tc>
                  <a:txBody>
                    <a:bodyPr/>
                    <a:lstStyle/>
                    <a:p>
                      <a:r>
                        <a:rPr sz="1000" b="0">
                          <a:solidFill>
                            <a:srgbClr val="1F1F1F"/>
                          </a:solidFill>
                        </a:rPr>
                        <a:t>Z-Image-Turbo model card</a:t>
                      </a:r>
                    </a:p>
                  </a:txBody>
                  <a:tcPr marL="54864" marR="54864" marT="32004" marB="32004" anchor="t">
                    <a:solidFill>
                      <a:srgbClr val="FFFFFF"/>
                    </a:solidFill>
                  </a:tcPr>
                </a:tc>
                <a:tc>
                  <a:txBody>
                    <a:bodyPr/>
                    <a:lstStyle/>
                    <a:p>
                      <a:r>
                        <a:rPr sz="1000" b="0">
                          <a:solidFill>
                            <a:srgbClr val="1F1F1F"/>
                          </a:solidFill>
                          <a:hlinkClick r:id="rId7"/>
                        </a:rPr>
                        <a:t>huggingface.co/Tongyi-MAI/Z-Image-Turbo</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S4-D4</a:t>
                      </a:r>
                    </a:p>
                  </a:txBody>
                  <a:tcPr marL="54864" marR="54864" marT="32004" marB="32004" anchor="t">
                    <a:solidFill>
                      <a:srgbClr val="FFFFFF"/>
                    </a:solidFill>
                  </a:tcPr>
                </a:tc>
              </a:tr>
              <a:tr h="225551">
                <a:tc>
                  <a:txBody>
                    <a:bodyPr/>
                    <a:lstStyle/>
                    <a:p>
                      <a:r>
                        <a:rPr sz="1000" b="0">
                          <a:solidFill>
                            <a:srgbClr val="1F1F1F"/>
                          </a:solidFill>
                        </a:rPr>
                        <a:t>Zhang &amp; Agrawala 2023, ControlNet</a:t>
                      </a:r>
                    </a:p>
                  </a:txBody>
                  <a:tcPr marL="54864" marR="54864" marT="32004" marB="32004" anchor="t">
                    <a:solidFill>
                      <a:srgbClr val="F3F4F8"/>
                    </a:solidFill>
                  </a:tcPr>
                </a:tc>
                <a:tc>
                  <a:txBody>
                    <a:bodyPr/>
                    <a:lstStyle/>
                    <a:p>
                      <a:r>
                        <a:rPr sz="1000" b="0">
                          <a:solidFill>
                            <a:srgbClr val="1F1F1F"/>
                          </a:solidFill>
                          <a:hlinkClick r:id="rId8"/>
                        </a:rPr>
                        <a:t>arxiv.org/abs/2302.05543</a:t>
                      </a:r>
                    </a:p>
                  </a:txBody>
                  <a:tcPr marL="54864" marR="54864" marT="32004" marB="32004" anchor="t">
                    <a:solidFill>
                      <a:srgbClr val="F3F4F8"/>
                    </a:solidFill>
                  </a:tcPr>
                </a:tc>
                <a:tc>
                  <a:txBody>
                    <a:bodyPr/>
                    <a:lstStyle/>
                    <a:p>
                      <a:r>
                        <a:rPr sz="1000" b="0">
                          <a:solidFill>
                            <a:srgbClr val="1F1F1F"/>
                          </a:solidFill>
                        </a:rPr>
                        <a:t>2026‑07‑02</a:t>
                      </a:r>
                    </a:p>
                  </a:txBody>
                  <a:tcPr marL="54864" marR="54864" marT="32004" marB="32004" anchor="t">
                    <a:solidFill>
                      <a:srgbClr val="F3F4F8"/>
                    </a:solidFill>
                  </a:tcPr>
                </a:tc>
                <a:tc>
                  <a:txBody>
                    <a:bodyPr/>
                    <a:lstStyle/>
                    <a:p>
                      <a:r>
                        <a:rPr sz="1000" b="0">
                          <a:solidFill>
                            <a:srgbClr val="1F1F1F"/>
                          </a:solidFill>
                        </a:rPr>
                        <a:t>S4‑16</a:t>
                      </a:r>
                    </a:p>
                  </a:txBody>
                  <a:tcPr marL="54864" marR="54864" marT="32004" marB="32004" anchor="t">
                    <a:solidFill>
                      <a:srgbClr val="F3F4F8"/>
                    </a:solidFill>
                  </a:tcPr>
                </a:tc>
              </a:tr>
              <a:tr h="225551">
                <a:tc>
                  <a:txBody>
                    <a:bodyPr/>
                    <a:lstStyle/>
                    <a:p>
                      <a:r>
                        <a:rPr sz="1000" b="0">
                          <a:solidFill>
                            <a:srgbClr val="1F1F1F"/>
                          </a:solidFill>
                        </a:rPr>
                        <a:t>Ye et al. 2023, IP-Adapter</a:t>
                      </a:r>
                    </a:p>
                  </a:txBody>
                  <a:tcPr marL="54864" marR="54864" marT="32004" marB="32004" anchor="t">
                    <a:solidFill>
                      <a:srgbClr val="FFFFFF"/>
                    </a:solidFill>
                  </a:tcPr>
                </a:tc>
                <a:tc>
                  <a:txBody>
                    <a:bodyPr/>
                    <a:lstStyle/>
                    <a:p>
                      <a:r>
                        <a:rPr sz="1000" b="0">
                          <a:solidFill>
                            <a:srgbClr val="1F1F1F"/>
                          </a:solidFill>
                          <a:hlinkClick r:id="rId9"/>
                        </a:rPr>
                        <a:t>arxiv.org/abs/2308.06721</a:t>
                      </a:r>
                    </a:p>
                  </a:txBody>
                  <a:tcPr marL="54864" marR="54864" marT="32004" marB="32004" anchor="t">
                    <a:solidFill>
                      <a:srgbClr val="FFFFFF"/>
                    </a:solidFill>
                  </a:tcPr>
                </a:tc>
                <a:tc>
                  <a:txBody>
                    <a:bodyPr/>
                    <a:lstStyle/>
                    <a:p>
                      <a:r>
                        <a:rPr sz="1000" b="0">
                          <a:solidFill>
                            <a:srgbClr val="1F1F1F"/>
                          </a:solidFill>
                        </a:rPr>
                        <a:t>2026‑07‑02</a:t>
                      </a:r>
                    </a:p>
                  </a:txBody>
                  <a:tcPr marL="54864" marR="54864" marT="32004" marB="32004" anchor="t">
                    <a:solidFill>
                      <a:srgbClr val="FFFFFF"/>
                    </a:solidFill>
                  </a:tcPr>
                </a:tc>
                <a:tc>
                  <a:txBody>
                    <a:bodyPr/>
                    <a:lstStyle/>
                    <a:p>
                      <a:r>
                        <a:rPr sz="1000" b="0">
                          <a:solidFill>
                            <a:srgbClr val="1F1F1F"/>
                          </a:solidFill>
                        </a:rPr>
                        <a:t>S4‑17</a:t>
                      </a:r>
                    </a:p>
                  </a:txBody>
                  <a:tcPr marL="54864" marR="54864" marT="32004" marB="32004" anchor="t">
                    <a:solidFill>
                      <a:srgbClr val="FFFFFF"/>
                    </a:solidFill>
                  </a:tcPr>
                </a:tc>
              </a:tr>
              <a:tr h="225551">
                <a:tc>
                  <a:txBody>
                    <a:bodyPr/>
                    <a:lstStyle/>
                    <a:p>
                      <a:r>
                        <a:rPr sz="1000" b="0">
                          <a:solidFill>
                            <a:srgbClr val="1F1F1F"/>
                          </a:solidFill>
                        </a:rPr>
                        <a:t>Research: Beyond the Slop integration</a:t>
                      </a:r>
                    </a:p>
                  </a:txBody>
                  <a:tcPr marL="54864" marR="54864" marT="32004" marB="32004" anchor="t">
                    <a:solidFill>
                      <a:srgbClr val="F3F4F8"/>
                    </a:solidFill>
                  </a:tcPr>
                </a:tc>
                <a:tc>
                  <a:txBody>
                    <a:bodyPr/>
                    <a:lstStyle/>
                    <a:p>
                      <a:r>
                        <a:rPr sz="1000" b="0">
                          <a:solidFill>
                            <a:srgbClr val="1F1F1F"/>
                          </a:solidFill>
                        </a:rPr>
                        <a:t>research/2026‑09‑19_beyond-the-slop-integration.md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S4‑19, S4‑30</a:t>
                      </a:r>
                    </a:p>
                  </a:txBody>
                  <a:tcPr marL="54864" marR="54864" marT="32004" marB="32004" anchor="t">
                    <a:solidFill>
                      <a:srgbClr val="F3F4F8"/>
                    </a:solidFill>
                  </a:tcPr>
                </a:tc>
              </a:tr>
              <a:tr h="225551">
                <a:tc>
                  <a:txBody>
                    <a:bodyPr/>
                    <a:lstStyle/>
                    <a:p>
                      <a:r>
                        <a:rPr sz="1000" b="0">
                          <a:solidFill>
                            <a:srgbClr val="1F1F1F"/>
                          </a:solidFill>
                        </a:rPr>
                        <a:t>Model catalog §8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S4‑21, S4-D6, S4‑21b +4</a:t>
                      </a:r>
                    </a:p>
                  </a:txBody>
                  <a:tcPr marL="54864" marR="54864" marT="32004" marB="32004" anchor="t">
                    <a:solidFill>
                      <a:srgbClr val="FFFFFF"/>
                    </a:solidFill>
                  </a:tcPr>
                </a:tc>
              </a:tr>
              <a:tr h="225551">
                <a:tc>
                  <a:txBody>
                    <a:bodyPr/>
                    <a:lstStyle/>
                    <a:p>
                      <a:r>
                        <a:rPr sz="1000" b="0">
                          <a:solidFill>
                            <a:srgbClr val="1F1F1F"/>
                          </a:solidFill>
                        </a:rPr>
                        <a:t>Qwen3-TTS (GitHub)</a:t>
                      </a:r>
                    </a:p>
                  </a:txBody>
                  <a:tcPr marL="54864" marR="54864" marT="32004" marB="32004" anchor="t">
                    <a:solidFill>
                      <a:srgbClr val="F3F4F8"/>
                    </a:solidFill>
                  </a:tcPr>
                </a:tc>
                <a:tc>
                  <a:txBody>
                    <a:bodyPr/>
                    <a:lstStyle/>
                    <a:p>
                      <a:r>
                        <a:rPr sz="1000" b="0">
                          <a:solidFill>
                            <a:srgbClr val="1F1F1F"/>
                          </a:solidFill>
                          <a:hlinkClick r:id="rId10"/>
                        </a:rPr>
                        <a:t>github.com/QwenLM/Qwen3-TTS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S4-D6</a:t>
                      </a:r>
                    </a:p>
                  </a:txBody>
                  <a:tcPr marL="54864" marR="54864" marT="32004" marB="32004" anchor="t">
                    <a:solidFill>
                      <a:srgbClr val="F3F4F8"/>
                    </a:solidFill>
                  </a:tcPr>
                </a:tc>
              </a:tr>
              <a:tr h="225551">
                <a:tc>
                  <a:txBody>
                    <a:bodyPr/>
                    <a:lstStyle/>
                    <a:p>
                      <a:r>
                        <a:rPr sz="1000" b="0">
                          <a:solidFill>
                            <a:srgbClr val="1F1F1F"/>
                          </a:solidFill>
                        </a:rPr>
                        <a:t>Parakeet TDT 0.6B v3 (HF)</a:t>
                      </a:r>
                    </a:p>
                  </a:txBody>
                  <a:tcPr marL="54864" marR="54864" marT="32004" marB="32004" anchor="t">
                    <a:solidFill>
                      <a:srgbClr val="FFFFFF"/>
                    </a:solidFill>
                  </a:tcPr>
                </a:tc>
                <a:tc>
                  <a:txBody>
                    <a:bodyPr/>
                    <a:lstStyle/>
                    <a:p>
                      <a:r>
                        <a:rPr sz="1000" b="0">
                          <a:solidFill>
                            <a:srgbClr val="1F1F1F"/>
                          </a:solidFill>
                          <a:hlinkClick r:id="rId11"/>
                        </a:rPr>
                        <a:t>huggingface.co/nvidia/parakeet-tdt-0.6b-v3</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S4-D6</a:t>
                      </a:r>
                    </a:p>
                  </a:txBody>
                  <a:tcPr marL="54864" marR="54864" marT="32004" marB="32004" anchor="t">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(3/3)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383279"/>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Model catalog §9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S4‑22</a:t>
                      </a:r>
                    </a:p>
                  </a:txBody>
                  <a:tcPr marL="54864" marR="54864" marT="32004" marB="32004" anchor="t">
                    <a:solidFill>
                      <a:srgbClr val="FFFFFF"/>
                    </a:solidFill>
                  </a:tcPr>
                </a:tc>
              </a:tr>
              <a:tr h="225551">
                <a:tc>
                  <a:txBody>
                    <a:bodyPr/>
                    <a:lstStyle/>
                    <a:p>
                      <a:r>
                        <a:rPr sz="1000" b="0">
                          <a:solidFill>
                            <a:srgbClr val="1F1F1F"/>
                          </a:solidFill>
                        </a:rPr>
                        <a:t>Foundry access research 2026‑09‑19</a:t>
                      </a:r>
                    </a:p>
                  </a:txBody>
                  <a:tcPr marL="54864" marR="54864" marT="32004" marB="32004" anchor="t">
                    <a:solidFill>
                      <a:srgbClr val="F3F4F8"/>
                    </a:solidFill>
                  </a:tcPr>
                </a:tc>
                <a:tc>
                  <a:txBody>
                    <a:bodyPr/>
                    <a:lstStyle/>
                    <a:p>
                      <a:r>
                        <a:rPr sz="1000" b="0">
                          <a:solidFill>
                            <a:srgbClr val="1F1F1F"/>
                          </a:solidFill>
                        </a:rPr>
                        <a:t>research/2026‑09‑19_foundry-access-for-workshop.md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S4‑23</a:t>
                      </a:r>
                    </a:p>
                  </a:txBody>
                  <a:tcPr marL="54864" marR="54864" marT="32004" marB="32004" anchor="t">
                    <a:solidFill>
                      <a:srgbClr val="F3F4F8"/>
                    </a:solidFill>
                  </a:tcPr>
                </a:tc>
              </a:tr>
              <a:tr h="225551">
                <a:tc>
                  <a:txBody>
                    <a:bodyPr/>
                    <a:lstStyle/>
                    <a:p>
                      <a:r>
                        <a:rPr sz="1000" b="0">
                          <a:solidFill>
                            <a:srgbClr val="1F1F1F"/>
                          </a:solidFill>
                        </a:rPr>
                        <a:t>Foundry Models sold by Azure</a:t>
                      </a:r>
                    </a:p>
                  </a:txBody>
                  <a:tcPr marL="54864" marR="54864" marT="32004" marB="32004" anchor="t">
                    <a:solidFill>
                      <a:srgbClr val="FFFFFF"/>
                    </a:solidFill>
                  </a:tcPr>
                </a:tc>
                <a:tc>
                  <a:txBody>
                    <a:bodyPr/>
                    <a:lstStyle/>
                    <a:p>
                      <a:r>
                        <a:rPr sz="1000" b="0">
                          <a:solidFill>
                            <a:srgbClr val="1F1F1F"/>
                          </a:solidFill>
                          <a:hlinkClick r:id="rId3"/>
                        </a:rPr>
                        <a:t>learn.microsoft.com/en-us/azure/ai-foundr…irectly-by-azure</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S4‑23</a:t>
                      </a:r>
                    </a:p>
                  </a:txBody>
                  <a:tcPr marL="54864" marR="54864" marT="32004" marB="32004" anchor="t">
                    <a:solidFill>
                      <a:srgbClr val="FFFFFF"/>
                    </a:solidFill>
                  </a:tcPr>
                </a:tc>
              </a:tr>
              <a:tr h="225551">
                <a:tc>
                  <a:txBody>
                    <a:bodyPr/>
                    <a:lstStyle/>
                    <a:p>
                      <a:r>
                        <a:rPr sz="1000" b="0">
                          <a:solidFill>
                            <a:srgbClr val="1F1F1F"/>
                          </a:solidFill>
                        </a:rPr>
                        <a:t>HF Inference Providers docs</a:t>
                      </a:r>
                    </a:p>
                  </a:txBody>
                  <a:tcPr marL="54864" marR="54864" marT="32004" marB="32004" anchor="t">
                    <a:solidFill>
                      <a:srgbClr val="F3F4F8"/>
                    </a:solidFill>
                  </a:tcPr>
                </a:tc>
                <a:tc>
                  <a:txBody>
                    <a:bodyPr/>
                    <a:lstStyle/>
                    <a:p>
                      <a:r>
                        <a:rPr sz="1000" b="0">
                          <a:solidFill>
                            <a:srgbClr val="1F1F1F"/>
                          </a:solidFill>
                          <a:hlinkClick r:id="rId4"/>
                        </a:rPr>
                        <a:t>huggingface.co/docs/inference-providers/en/index</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S4‑23</a:t>
                      </a:r>
                    </a:p>
                  </a:txBody>
                  <a:tcPr marL="54864" marR="54864" marT="32004" marB="32004" anchor="t">
                    <a:solidFill>
                      <a:srgbClr val="F3F4F8"/>
                    </a:solidFill>
                  </a:tcPr>
                </a:tc>
              </a:tr>
              <a:tr h="225551">
                <a:tc>
                  <a:txBody>
                    <a:bodyPr/>
                    <a:lstStyle/>
                    <a:p>
                      <a:r>
                        <a:rPr sz="1000" b="0">
                          <a:solidFill>
                            <a:srgbClr val="1F1F1F"/>
                          </a:solidFill>
                        </a:rPr>
                        <a:t>Model catalog §2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S4‑24, S4‑25, S4‑26</a:t>
                      </a:r>
                    </a:p>
                  </a:txBody>
                  <a:tcPr marL="54864" marR="54864" marT="32004" marB="32004" anchor="t">
                    <a:solidFill>
                      <a:srgbClr val="FFFFFF"/>
                    </a:solidFill>
                  </a:tcPr>
                </a:tc>
              </a:tr>
              <a:tr h="225551">
                <a:tc>
                  <a:txBody>
                    <a:bodyPr/>
                    <a:lstStyle/>
                    <a:p>
                      <a:r>
                        <a:rPr sz="1000" b="0">
                          <a:solidFill>
                            <a:srgbClr val="1F1F1F"/>
                          </a:solidFill>
                        </a:rPr>
                        <a:t>OpenRouter rankings 2026‑09‑18</a:t>
                      </a:r>
                    </a:p>
                  </a:txBody>
                  <a:tcPr marL="54864" marR="54864" marT="32004" marB="32004" anchor="t">
                    <a:solidFill>
                      <a:srgbClr val="F3F4F8"/>
                    </a:solidFill>
                  </a:tcPr>
                </a:tc>
                <a:tc>
                  <a:txBody>
                    <a:bodyPr/>
                    <a:lstStyle/>
                    <a:p>
                      <a:r>
                        <a:rPr sz="1000" b="0">
                          <a:solidFill>
                            <a:srgbClr val="1F1F1F"/>
                          </a:solidFill>
                          <a:hlinkClick r:id="rId5"/>
                        </a:rPr>
                        <a:t>openrouter.ai/rankings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S4‑24</a:t>
                      </a:r>
                    </a:p>
                  </a:txBody>
                  <a:tcPr marL="54864" marR="54864" marT="32004" marB="32004" anchor="t">
                    <a:solidFill>
                      <a:srgbClr val="F3F4F8"/>
                    </a:solidFill>
                  </a:tcPr>
                </a:tc>
              </a:tr>
              <a:tr h="225551">
                <a:tc>
                  <a:txBody>
                    <a:bodyPr/>
                    <a:lstStyle/>
                    <a:p>
                      <a:r>
                        <a:rPr sz="1000" b="0">
                          <a:solidFill>
                            <a:srgbClr val="1F1F1F"/>
                          </a:solidFill>
                        </a:rPr>
                        <a:t>EU AI Act: enforcement of Chapter V</a:t>
                      </a:r>
                    </a:p>
                  </a:txBody>
                  <a:tcPr marL="54864" marR="54864" marT="32004" marB="32004" anchor="t">
                    <a:solidFill>
                      <a:srgbClr val="FFFFFF"/>
                    </a:solidFill>
                  </a:tcPr>
                </a:tc>
                <a:tc>
                  <a:txBody>
                    <a:bodyPr/>
                    <a:lstStyle/>
                    <a:p>
                      <a:r>
                        <a:rPr sz="1000" b="0">
                          <a:solidFill>
                            <a:srgbClr val="1F1F1F"/>
                          </a:solidFill>
                          <a:hlinkClick r:id="rId6"/>
                        </a:rPr>
                        <a:t>artificialintelligenceact.eu/enforcement-…r-the-eu-ai-act/</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S4‑28</a:t>
                      </a:r>
                    </a:p>
                  </a:txBody>
                  <a:tcPr marL="54864" marR="54864" marT="32004" marB="32004" anchor="t">
                    <a:solidFill>
                      <a:srgbClr val="FFFFFF"/>
                    </a:solidFill>
                  </a:tcPr>
                </a:tc>
              </a:tr>
              <a:tr h="225551">
                <a:tc>
                  <a:txBody>
                    <a:bodyPr/>
                    <a:lstStyle/>
                    <a:p>
                      <a:r>
                        <a:rPr sz="1000" b="0">
                          <a:solidFill>
                            <a:srgbClr val="1F1F1F"/>
                          </a:solidFill>
                        </a:rPr>
                        <a:t>LLM 101 (Day of Data 2026) slides 136–139</a:t>
                      </a:r>
                    </a:p>
                  </a:txBody>
                  <a:tcPr marL="54864" marR="54864" marT="32004" marB="32004" anchor="t">
                    <a:solidFill>
                      <a:srgbClr val="F3F4F8"/>
                    </a:solidFill>
                  </a:tcPr>
                </a:tc>
                <a:tc>
                  <a:txBody>
                    <a:bodyPr/>
                    <a:lstStyle/>
                    <a:p>
                      <a:r>
                        <a:rPr sz="1000" b="0">
                          <a:solidFill>
                            <a:srgbClr val="1F1F1F"/>
                          </a:solidFill>
                        </a:rPr>
                        <a:t>DayOfData2026/LLM_101 deck, slides 136–139</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S4‑28, S4‑36</a:t>
                      </a:r>
                    </a:p>
                  </a:txBody>
                  <a:tcPr marL="54864" marR="54864" marT="32004" marB="32004" anchor="t">
                    <a:solidFill>
                      <a:srgbClr val="F3F4F8"/>
                    </a:solidFill>
                  </a:tcPr>
                </a:tc>
              </a:tr>
              <a:tr h="225551">
                <a:tc>
                  <a:txBody>
                    <a:bodyPr/>
                    <a:lstStyle/>
                    <a:p>
                      <a:r>
                        <a:rPr sz="1000" b="0">
                          <a:solidFill>
                            <a:srgbClr val="1F1F1F"/>
                          </a:solidFill>
                        </a:rPr>
                        <a:t>Wan2GP (GitHub)</a:t>
                      </a:r>
                    </a:p>
                  </a:txBody>
                  <a:tcPr marL="54864" marR="54864" marT="32004" marB="32004" anchor="t">
                    <a:solidFill>
                      <a:srgbClr val="FFFFFF"/>
                    </a:solidFill>
                  </a:tcPr>
                </a:tc>
                <a:tc>
                  <a:txBody>
                    <a:bodyPr/>
                    <a:lstStyle/>
                    <a:p>
                      <a:r>
                        <a:rPr sz="1000" b="0">
                          <a:solidFill>
                            <a:srgbClr val="1F1F1F"/>
                          </a:solidFill>
                          <a:hlinkClick r:id="rId7"/>
                        </a:rPr>
                        <a:t>github.com/deepbeepmeep/Wan2GP</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S4-D7</a:t>
                      </a:r>
                    </a:p>
                  </a:txBody>
                  <a:tcPr marL="54864" marR="54864" marT="32004" marB="32004" anchor="t">
                    <a:solidFill>
                      <a:srgbClr val="FFFFFF"/>
                    </a:solidFill>
                  </a:tcPr>
                </a:tc>
              </a:tr>
              <a:tr h="225551">
                <a:tc>
                  <a:txBody>
                    <a:bodyPr/>
                    <a:lstStyle/>
                    <a:p>
                      <a:r>
                        <a:rPr sz="1000" b="0">
                          <a:solidFill>
                            <a:srgbClr val="1F1F1F"/>
                          </a:solidFill>
                        </a:rPr>
                        <a:t>Lab 4 05_tts.py (tested vs mock)</a:t>
                      </a:r>
                    </a:p>
                  </a:txBody>
                  <a:tcPr marL="54864" marR="54864" marT="32004" marB="32004" anchor="t">
                    <a:solidFill>
                      <a:srgbClr val="F3F4F8"/>
                    </a:solidFill>
                  </a:tcPr>
                </a:tc>
                <a:tc>
                  <a:txBody>
                    <a:bodyPr/>
                    <a:lstStyle/>
                    <a:p>
                      <a:r>
                        <a:rPr sz="1000" b="0">
                          <a:solidFill>
                            <a:srgbClr val="1F1F1F"/>
                          </a:solidFill>
                        </a:rPr>
                        <a:t>labs/04-local-media/python/solution/05_tts.py</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S4‑31</a:t>
                      </a:r>
                    </a:p>
                  </a:txBody>
                  <a:tcPr marL="54864" marR="54864" marT="32004" marB="32004" anchor="t">
                    <a:solidFill>
                      <a:srgbClr val="F3F4F8"/>
                    </a:solidFill>
                  </a:tcPr>
                </a:tc>
              </a:tr>
              <a:tr h="225551">
                <a:tc>
                  <a:txBody>
                    <a:bodyPr/>
                    <a:lstStyle/>
                    <a:p>
                      <a:r>
                        <a:rPr sz="1000" b="0">
                          <a:solidFill>
                            <a:srgbClr val="1F1F1F"/>
                          </a:solidFill>
                        </a:rPr>
                        <a:t>ACE-Step 1.5 (GitHub)</a:t>
                      </a:r>
                    </a:p>
                  </a:txBody>
                  <a:tcPr marL="54864" marR="54864" marT="32004" marB="32004" anchor="t">
                    <a:solidFill>
                      <a:srgbClr val="FFFFFF"/>
                    </a:solidFill>
                  </a:tcPr>
                </a:tc>
                <a:tc>
                  <a:txBody>
                    <a:bodyPr/>
                    <a:lstStyle/>
                    <a:p>
                      <a:r>
                        <a:rPr sz="1000" b="0">
                          <a:solidFill>
                            <a:srgbClr val="1F1F1F"/>
                          </a:solidFill>
                          <a:hlinkClick r:id="rId8"/>
                        </a:rPr>
                        <a:t>github.com/ace-step/ACE-Step-1.5</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S4-D8</a:t>
                      </a:r>
                    </a:p>
                  </a:txBody>
                  <a:tcPr marL="54864" marR="54864" marT="32004" marB="32004" anchor="t">
                    <a:solidFill>
                      <a:srgbClr val="FFFFFF"/>
                    </a:solidFill>
                  </a:tcPr>
                </a:tc>
              </a:tr>
              <a:tr h="225551">
                <a:tc>
                  <a:txBody>
                    <a:bodyPr/>
                    <a:lstStyle/>
                    <a:p>
                      <a:r>
                        <a:rPr sz="1000" b="0">
                          <a:solidFill>
                            <a:srgbClr val="1F1F1F"/>
                          </a:solidFill>
                        </a:rPr>
                        <a:t>Narrative plan v001</a:t>
                      </a:r>
                    </a:p>
                  </a:txBody>
                  <a:tcPr marL="54864" marR="54864" marT="32004" marB="32004" anchor="t">
                    <a:solidFill>
                      <a:srgbClr val="F3F4F8"/>
                    </a:solidFill>
                  </a:tcPr>
                </a:tc>
                <a:tc>
                  <a:txBody>
                    <a:bodyPr/>
                    <a:lstStyle/>
                    <a:p>
                      <a:r>
                        <a:rPr sz="1000" b="0">
                          <a:solidFill>
                            <a:srgbClr val="1F1F1F"/>
                          </a:solidFill>
                        </a:rPr>
                        <a:t>06_Narrative_Plan_v001.md</a:t>
                      </a:r>
                    </a:p>
                  </a:txBody>
                  <a:tcPr marL="54864" marR="54864" marT="32004" marB="32004" anchor="t">
                    <a:solidFill>
                      <a:srgbClr val="F3F4F8"/>
                    </a:solidFill>
                  </a:tcPr>
                </a:tc>
                <a:tc>
                  <a:txBody>
                    <a:bodyPr/>
                    <a:lstStyle/>
                    <a:p>
                      <a:r>
                        <a:rPr sz="1000" b="0">
                          <a:solidFill>
                            <a:srgbClr val="1F1F1F"/>
                          </a:solidFill>
                        </a:rPr>
                        <a:t>2026‑09‑22</a:t>
                      </a:r>
                    </a:p>
                  </a:txBody>
                  <a:tcPr marL="54864" marR="54864" marT="32004" marB="32004" anchor="t">
                    <a:solidFill>
                      <a:srgbClr val="F3F4F8"/>
                    </a:solidFill>
                  </a:tcPr>
                </a:tc>
                <a:tc>
                  <a:txBody>
                    <a:bodyPr/>
                    <a:lstStyle/>
                    <a:p>
                      <a:r>
                        <a:rPr sz="1000" b="0">
                          <a:solidFill>
                            <a:srgbClr val="1F1F1F"/>
                          </a:solidFill>
                        </a:rPr>
                        <a:t>E-01</a:t>
                      </a:r>
                    </a:p>
                  </a:txBody>
                  <a:tcPr marL="54864" marR="54864" marT="32004" marB="32004" anchor="t">
                    <a:solidFill>
                      <a:srgbClr val="F3F4F8"/>
                    </a:solidFill>
                  </a:tcPr>
                </a:tc>
              </a:tr>
              <a:tr h="225551">
                <a:tc>
                  <a:txBody>
                    <a:bodyPr/>
                    <a:lstStyle/>
                    <a:p>
                      <a:r>
                        <a:rPr sz="1000" b="0">
                          <a:solidFill>
                            <a:srgbClr val="1F1F1F"/>
                          </a:solidFill>
                        </a:rPr>
                        <a:t>labs/README.md</a:t>
                      </a:r>
                    </a:p>
                  </a:txBody>
                  <a:tcPr marL="54864" marR="54864" marT="32004" marB="32004" anchor="t">
                    <a:solidFill>
                      <a:srgbClr val="FFFFFF"/>
                    </a:solidFill>
                  </a:tcPr>
                </a:tc>
                <a:tc>
                  <a:txBody>
                    <a:bodyPr/>
                    <a:lstStyle/>
                    <a:p>
                      <a:r>
                        <a:rPr sz="1000" b="0">
                          <a:solidFill>
                            <a:srgbClr val="1F1F1F"/>
                          </a:solidFill>
                        </a:rPr>
                        <a:t>labs/README.md</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E-02, E-03</a:t>
                      </a:r>
                    </a:p>
                  </a:txBody>
                  <a:tcPr marL="54864" marR="54864" marT="32004" marB="32004" anchor="t">
                    <a:solidFill>
                      <a:srgbClr val="FFFFFF"/>
                    </a:solidFill>
                  </a:tcPr>
                </a:tc>
              </a:tr>
              <a:tr h="225551">
                <a:tc>
                  <a:txBody>
                    <a:bodyPr/>
                    <a:lstStyle/>
                    <a:p>
                      <a:r>
                        <a:rPr sz="1000" b="0">
                          <a:solidFill>
                            <a:srgbClr val="1F1F1F"/>
                          </a:solidFill>
                        </a:rPr>
                        <a:t>genai-landscape-research skill</a:t>
                      </a:r>
                    </a:p>
                  </a:txBody>
                  <a:tcPr marL="54864" marR="54864" marT="32004" marB="32004" anchor="t">
                    <a:solidFill>
                      <a:srgbClr val="F3F4F8"/>
                    </a:solidFill>
                  </a:tcPr>
                </a:tc>
                <a:tc>
                  <a:txBody>
                    <a:bodyPr/>
                    <a:lstStyle/>
                    <a:p>
                      <a:r>
                        <a:rPr sz="1000" b="0">
                          <a:solidFill>
                            <a:srgbClr val="1F1F1F"/>
                          </a:solidFill>
                        </a:rPr>
                        <a:t>skills/genai-landscape-research/SKILL.md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E-03</a:t>
                      </a:r>
                    </a:p>
                  </a:txBody>
                  <a:tcPr marL="54864" marR="54864" marT="32004" marB="32004" anchor="t">
                    <a:solidFill>
                      <a:srgbClr val="F3F4F8"/>
                    </a:solidFill>
                  </a:tcPr>
                </a:tc>
              </a:tr>
            </a:tbl>
          </a:graphicData>
        </a:graphic>
      </p:graphicFrame>
    </p:spTree>
  </p:cSld>
  <p:clrMapOvr>
    <a:masterClrMapping/>
  </p:clrMapOvr>
</p:sld>
</file>

<file path=ppt/theme/theme1.xml><?xml version="1.0" encoding="utf-8"?>
<a:theme xmlns:a="http://schemas.openxmlformats.org/drawingml/2006/main" name="Microsoft Build 16:9 Template Light">
  <a:themeElements>
    <a:clrScheme name="Custom 80">
      <a:dk1>
        <a:srgbClr val="000000"/>
      </a:dk1>
      <a:lt1>
        <a:srgbClr val="FFFFFF"/>
      </a:lt1>
      <a:dk2>
        <a:srgbClr val="2A446F"/>
      </a:dk2>
      <a:lt2>
        <a:srgbClr val="D7D2CB"/>
      </a:lt2>
      <a:accent1>
        <a:srgbClr val="00A4EF"/>
      </a:accent1>
      <a:accent2>
        <a:srgbClr val="7FBA00"/>
      </a:accent2>
      <a:accent3>
        <a:srgbClr val="F25022"/>
      </a:accent3>
      <a:accent4>
        <a:srgbClr val="BF9474"/>
      </a:accent4>
      <a:accent5>
        <a:srgbClr val="FFB900"/>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A48EF0A-65C2-467D-B8C8-0650CBE1A9E7}"/>
    </a:ext>
  </a:extLst>
</a:theme>
</file>

<file path=ppt/theme/theme2.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3E41DF9-7505-4F09-833D-4DBC25FD03B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vt:i4>
      </vt:variant>
    </vt:vector>
  </HeadingPairs>
  <TitlesOfParts>
    <vt:vector size="13" baseType="lpstr">
      <vt:lpstr>Arial</vt:lpstr>
      <vt:lpstr>Calibri</vt:lpstr>
      <vt:lpstr>Consolas</vt:lpstr>
      <vt:lpstr>Segoe Sans Display Semibold</vt:lpstr>
      <vt:lpstr>Segoe UI</vt:lpstr>
      <vt:lpstr>Segoe UI Semibold</vt:lpstr>
      <vt:lpstr>Wingdings</vt:lpstr>
      <vt:lpstr>Microsoft Build 16:9 Template Light</vt:lpstr>
      <vt:lpstr>Microsoft Build 16:9 Template Dark</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Build 2026</dc:subject>
  <dc:creator>Damir Dobric</dc:creator>
  <cp:keywords>Build 2026</cp:keywords>
  <dc:description/>
  <cp:lastModifiedBy>Damir Dobric</cp:lastModifiedBy>
  <cp:revision>12</cp:revision>
  <cp:lastPrinted>2023-02-15T20:48:24Z</cp:lastPrinted>
  <dcterms:created xsi:type="dcterms:W3CDTF">2026-06-22T10:24:51Z</dcterms:created>
  <dcterms:modified xsi:type="dcterms:W3CDTF">2026-06-28T08:25:13Z</dcterms:modified>
  <cp:category>Build 2026</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0x010100431D58916F44B8489C8C473F8FFAAB9D</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7" name="Sensitivity">
    <vt:lpwstr>General</vt:lpwstr>
  </property>
  <property fmtid="{D5CDD505-2E9C-101B-9397-08002B2CF9AE}" pid="18" name="MediaServiceImageTags">
    <vt:lpwstr/>
  </property>
</Properties>
</file>