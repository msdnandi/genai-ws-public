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47" r:id="rId4"/>
    <p:sldMasterId id="2147485551" r:id="rId5"/>
  </p:sldMasterIdLst>
  <p:notesMasterIdLst>
    <p:notesMasterId r:id="rId10"/>
  </p:notesMasterIdLst>
  <p:handoutMasterIdLst>
    <p:handoutMasterId r:id="rId11"/>
  </p:handoutMasterIdLst>
  <p:sldIdLst>
    <p:sldId id="256" r:id="rId9"/>
    <p:sldId id="257" r:id="rId8"/>
    <p:sldId id="258" r:id="rId7"/>
    <p:sldId id="259" r:id="rId6"/>
    <p:sldId id="260" r:id="rId3"/>
    <p:sldId id="261" r:id="rId2"/>
    <p:sldId id="262" r:id="rId1"/>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6" r:id="rId70"/>
    <p:sldId id="317" r:id="rId71"/>
    <p:sldId id="318" r:id="rId72"/>
    <p:sldId id="319" r:id="rId73"/>
    <p:sldId id="320" r:id="rId74"/>
    <p:sldId id="312" r:id="rId66"/>
    <p:sldId id="313" r:id="rId67"/>
    <p:sldId id="314" r:id="rId68"/>
    <p:sldId id="315" r:id="rId69"/>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2CDF8A4-F722-403B-AB4B-F5B36E08BE6F}">
          <p14:sldIdLst>
            <p14:sldId id="256"/>
            <p14:sldId id="257"/>
            <p14:sldId id="258"/>
            <p14:sldId id="259"/>
            <p14:sldId id="260"/>
            <p14:sldId id="261"/>
            <p14:sldId id="262"/>
            <p14:sldId id="263"/>
            <p14:sldId id="264"/>
            <p14:sldId id="265"/>
          </p14:sldIdLst>
        </p14:section>
        <p14:section name="Segment 1 — Foundations" id="{E9F71126-FE9B-41A5-BE26-1B328FD8A89E}">
          <p14:sldIdLst>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Lst>
        </p14:section>
        <p14:section name="Close" id="{C53B56CF-5AA3-4129-9110-5B7E55A3A4E2}">
          <p14:sldIdLst>
            <p14:sldId id="309"/>
            <p14:sldId id="310"/>
          </p14:sldIdLst>
        </p14:section>
        <p14:section name="Appendix" id="{3240389E-F59E-4D24-87F2-99A1EDF5F6DF}">
          <p14:sldIdLst>
            <p14:sldId id="311"/>
            <p14:sldId id="316"/>
            <p14:sldId id="317"/>
            <p14:sldId id="318"/>
            <p14:sldId id="319"/>
            <p14:sldId id="320"/>
            <p14:sldId id="312"/>
            <p14:sldId id="313"/>
            <p14:sldId id="314"/>
            <p14:sldId id="315"/>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 id="4" name="Tracy Tran" initials="TT" lastIdx="9" clrIdx="4">
    <p:extLst>
      <p:ext uri="{19B8F6BF-5375-455C-9EA6-DF929625EA0E}">
        <p15:presenceInfo xmlns:p15="http://schemas.microsoft.com/office/powerpoint/2012/main" userId="S::tracyt@microsoft.com::7b485f56-8fe8-4efc-a1b3-85e720327ac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FFF"/>
    <a:srgbClr val="060702"/>
    <a:srgbClr val="0078D4"/>
    <a:srgbClr val="D7D2CB"/>
    <a:srgbClr val="E8E6DF"/>
    <a:srgbClr val="E1D3C7"/>
    <a:srgbClr val="4EFFFE"/>
    <a:srgbClr val="9BF00E"/>
    <a:srgbClr val="D59DFF"/>
    <a:srgbClr val="7FBA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20" autoAdjust="0"/>
    <p:restoredTop sz="94660"/>
  </p:normalViewPr>
  <p:slideViewPr>
    <p:cSldViewPr snapToGrid="0">
      <p:cViewPr varScale="1">
        <p:scale>
          <a:sx n="100" d="100"/>
          <a:sy n="100" d="100"/>
        </p:scale>
        <p:origin x="48" y="104"/>
      </p:cViewPr>
      <p:guideLst/>
    </p:cSldViewPr>
  </p:slideViewPr>
  <p:notesTextViewPr>
    <p:cViewPr>
      <p:scale>
        <a:sx n="1" d="1"/>
        <a:sy n="1" d="1"/>
      </p:scale>
      <p:origin x="0" y="0"/>
    </p:cViewPr>
  </p:notesTextViewPr>
  <p:notesViewPr>
    <p:cSldViewPr snapToGrid="0">
      <p:cViewPr>
        <p:scale>
          <a:sx n="1" d="2"/>
          <a:sy n="1" d="2"/>
        </p:scale>
        <p:origin x="3668" y="101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slide" Target="slides/slide6.xml"/><Relationship Id="rId3" Type="http://schemas.openxmlformats.org/officeDocument/2006/relationships/slide" Target="slides/slide5.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4.xml"/><Relationship Id="rId7" Type="http://schemas.openxmlformats.org/officeDocument/2006/relationships/slide" Target="slides/slide3.xml"/><Relationship Id="rId8" Type="http://schemas.openxmlformats.org/officeDocument/2006/relationships/slide" Target="slides/slide2.xml"/><Relationship Id="rId9" Type="http://schemas.openxmlformats.org/officeDocument/2006/relationships/slide" Target="slides/slide1.xml"/><Relationship Id="rId10" Type="http://schemas.openxmlformats.org/officeDocument/2006/relationships/notesMaster" Target="notesMasters/notesMaster1.xml"/><Relationship Id="rId11" Type="http://schemas.openxmlformats.org/officeDocument/2006/relationships/handoutMaster" Target="handoutMasters/handoutMaster1.xml"/><Relationship Id="rId12" Type="http://schemas.openxmlformats.org/officeDocument/2006/relationships/commentAuthors" Target="commentAuthors.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slide" Target="slides/slide47.xml"/><Relationship Id="rId57" Type="http://schemas.openxmlformats.org/officeDocument/2006/relationships/slide" Target="slides/slide48.xml"/><Relationship Id="rId58" Type="http://schemas.openxmlformats.org/officeDocument/2006/relationships/slide" Target="slides/slide49.xml"/><Relationship Id="rId59" Type="http://schemas.openxmlformats.org/officeDocument/2006/relationships/slide" Target="slides/slide50.xml"/><Relationship Id="rId60" Type="http://schemas.openxmlformats.org/officeDocument/2006/relationships/slide" Target="slides/slide51.xml"/><Relationship Id="rId61" Type="http://schemas.openxmlformats.org/officeDocument/2006/relationships/slide" Target="slides/slide52.xml"/><Relationship Id="rId62" Type="http://schemas.openxmlformats.org/officeDocument/2006/relationships/slide" Target="slides/slide53.xml"/><Relationship Id="rId63" Type="http://schemas.openxmlformats.org/officeDocument/2006/relationships/slide" Target="slides/slide54.xml"/><Relationship Id="rId64" Type="http://schemas.openxmlformats.org/officeDocument/2006/relationships/slide" Target="slides/slide55.xml"/><Relationship Id="rId65" Type="http://schemas.openxmlformats.org/officeDocument/2006/relationships/slide" Target="slides/slide56.xml"/><Relationship Id="rId66" Type="http://schemas.openxmlformats.org/officeDocument/2006/relationships/slide" Target="slides/slide57.xml"/><Relationship Id="rId67" Type="http://schemas.openxmlformats.org/officeDocument/2006/relationships/slide" Target="slides/slide58.xml"/><Relationship Id="rId68" Type="http://schemas.openxmlformats.org/officeDocument/2006/relationships/slide" Target="slides/slide59.xml"/><Relationship Id="rId69" Type="http://schemas.openxmlformats.org/officeDocument/2006/relationships/slide" Target="slides/slide60.xml"/><Relationship Id="rId70" Type="http://schemas.openxmlformats.org/officeDocument/2006/relationships/slide" Target="slides/slide61.xml"/><Relationship Id="rId71" Type="http://schemas.openxmlformats.org/officeDocument/2006/relationships/slide" Target="slides/slide62.xml"/><Relationship Id="rId72" Type="http://schemas.openxmlformats.org/officeDocument/2006/relationships/slide" Target="slides/slide63.xml"/><Relationship Id="rId73" Type="http://schemas.openxmlformats.org/officeDocument/2006/relationships/slide" Target="slides/slide64.xml"/><Relationship Id="rId74"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6/28/2026 10:25 AM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2" name="Slide Number Placeholder 1">
            <a:extLst>
              <a:ext uri="{FF2B5EF4-FFF2-40B4-BE49-F238E27FC236}">
                <a16:creationId xmlns:a16="http://schemas.microsoft.com/office/drawing/2014/main" id="{FD78DAAD-3934-518B-F62A-B32024044EE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D6BE5CB-6A38-415E-A601-C5DE328E214A}" type="slidenum">
              <a:rPr lang="de-DE" smtClean="0"/>
              <a:t>‹#›</a:t>
            </a:fld>
            <a:endParaRPr lang="de-DE"/>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6/28/2026 10:24 AM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panose="020B0502040204020203"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[F-01]</a:t>
            </a:r>
          </a:p>
          <a:p>
            <a:r>
              <a:t>Welcome. One day, four segments, and one thesis: the building blocks are the same everywhere — tokens, chat API, structured output, tools, MCP and skills, the agent loop, workflows.</a:t>
            </a:r>
          </a:p>
          <a:p>
            <a:r>
              <a:t>Once you see that, every vendor (OpenAI, Microsoft, Anthropic, Google, DeepSeek, Qwen, Moonshot, Mistral, your own GPU) is a base_url and a model name away. Today proves it by running the same code against Foundry, non-OpenAI vendors and a local runner.</a:t>
            </a:r>
          </a:p>
          <a:p>
            <a:r>
              <a:t>Timing: one minute, then straight to the room check.</a:t>
            </a:r>
          </a:p>
          <a:p>
            <a:r>
              <a:t>VERIFY: event, date, speaker — not decided yet (00_Workshop_Plan.md §8 Q1); put them into the meta line.</a:t>
            </a:r>
          </a:p>
          <a:p>
            <a:r>
              <a:t>Sources: Workshop plan v001 — 00_Workshop_Plan.md · Narrative plan v001 — 06_Narrative_Plan_v001.md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[F-02]</a:t>
            </a:r>
          </a:p>
          <a:p>
            <a:r>
              <a:t>Three questions, hands up, two minutes. One: which track — Python, C#, TypeScript (hands for each). It tells you which code panel to zoom and where to stand during the labs.</a:t>
            </a:r>
          </a:p>
          <a:p>
            <a:r>
              <a:t>Two: who has called a model API from code? Many "never" → keep all of Segment 1 and pace Lab 1 slowly; many "every week" → the plan says an expert room can start at S1-13 (skip the history block) and begin Lab 1 early.</a:t>
            </a:r>
          </a:p>
          <a:p>
            <a:r>
              <a:t>Three: who runs models locally? It tells you how much of Segment 4 is new and whether people pre-pulled Ollama models (setup guide step 5).</a:t>
            </a:r>
          </a:p>
          <a:p>
            <a:r>
              <a:t>If the quiz (F-06) is used, it gives the same signal with more precision.</a:t>
            </a:r>
          </a:p>
          <a:p>
            <a:r>
              <a:t>Sources: Narrative plan v001 — 06_Narrative_Plan_v001.md · labs/00-setup/SETUP.md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[F-03]</a:t>
            </a:r>
          </a:p>
          <a:p>
            <a:r>
              <a:t>These are the six outcomes of the workshop plan, in the order the day delivers them. Read them out, do not explain them yet.</a:t>
            </a:r>
          </a:p>
          <a:p>
            <a:r>
              <a:t>Four of them have a lab behind them (Labs 1–4, pills on the right). The first is Segment 1 talk; the last — judging vendor claims with sources — runs all day: every fact slide has a source line and a date.</a:t>
            </a:r>
          </a:p>
          <a:p>
            <a:r>
              <a:t>Promise: at the end of the day this list comes back with ticks (E-02).</a:t>
            </a:r>
          </a:p>
          <a:p>
            <a:r>
              <a:t>Sources: Workshop plan v001 — 00_Workshop_Plan.md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[F-04]</a:t>
            </a:r>
          </a:p>
          <a:p>
            <a:r>
              <a:t>Four segments, each talk → live demos → a hands-on lab. No minutes on the slides on purpose — we stay flexible; the plan (notes only): about 90 minutes per segment, lab 25–30 of them. Exact clock times are still open: the day is planned as 4 × 90 minutes, and every segment also has a 75-minute cut (trim rows in the plan).</a:t>
            </a:r>
          </a:p>
          <a:p>
            <a:r>
              <a:t>The 15-minute rule: every lab has a core everyone finishes; stretch goals absorb fast attendees, and the demo slot can shrink to five minutes if the room is slow.</a:t>
            </a:r>
          </a:p>
          <a:p>
            <a:r>
              <a:t>Example times from the plan (not fixed): 08:30 doors, keys and setup clinic · 09:00–10:30 S1 · break · 10:50–12:20 S2 · lunch 12:20–13:10 · 13:10–14:40 S3 · break · 15:00–16:30 S4 · 16:30–16:45 close.</a:t>
            </a:r>
          </a:p>
          <a:p>
            <a:r>
              <a:t>Every lab folder has runnable starters with a few TODO blocks and a solution/ folder next to them (labs/README.md).</a:t>
            </a:r>
          </a:p>
          <a:p>
            <a:r>
              <a:t>VERIFY: final times and lunch length (00_Workshop_Plan.md §8 Q2) — keep them in these notes, not on the slide.</a:t>
            </a:r>
          </a:p>
          <a:p>
            <a:r>
              <a:t>Sources: Workshop plan v001 — 00_Workshop_Plan.md · labs/README.md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[F-05]</a:t>
            </a:r>
          </a:p>
          <a:p>
            <a:r>
              <a:t>Copy labs/.env.example to labs/.env and paste the four lines from your handout card: the gateway URL (ends in /openai/v1), your personal key, the header name api-key, and the default model gpt-5-mini. GENAI_MODEL_2 (default DeepSeek-V3.2) is a second vendor on the same endpoint and key.</a:t>
            </a:r>
          </a:p>
          <a:p>
            <a:r>
              <a:t>The key always travels in an "api-key" header — the gateway requires it (Ollama ignores it). 401 = key missing or mistyped; 403 = your daily token quota is used up; 429 = your per-minute token budget is spent — wait a minute. The gateway policy defines 429 for the rate and 403 for the quota; SETUP.md’s troubleshooting table still lumps both into 429.</a:t>
            </a:r>
          </a:p>
          <a:p>
            <a:r>
              <a:t>No network: the same code runs on Ollama (localhost:11434/v1, qwen3.5:4b, GENAI_REASONING_EFFORT=none) or against the instructor’s offline mock (answers are echoes, every script runs).</a:t>
            </a:r>
          </a:p>
          <a:p>
            <a:r>
              <a:t>VERIFY: gateway URL and key format (handout card still open — nothing provisioned), the QR code to labs/00-setup (repo URL not decided), and the 403-vs-429 wording in SETUP.md (align it with the policy).</a:t>
            </a:r>
          </a:p>
          <a:p>
            <a:r>
              <a:t>Sources: labs/.env.example · labs/00-setup/SETUP.md · Gateway policy attendee-policy.xml — infra/policies/attendee-policy.xml · APIM llm-token-limit policy — https://learn.microsoft.com/en-us/azure/api-management/llm-token-limit-policy · labs/README.md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[F-05b]</a:t>
            </a:r>
          </a:p>
          <a:p>
            <a:r>
              <a:t>Why a gateway: attendees have no Azure accounts, and Foundry keys are resource-wide, all-or-nothing. So Azure API Management sits in front and hands every attendee a personal key with its own limits.</a:t>
            </a:r>
          </a:p>
          <a:p>
            <a:r>
              <a:t>The policy does three things: it checks the subscription key; llm-token-limit counts tokens per key (planned 20k per minute and 500k per day, tunable) and answers 429 on the rate and 403 on the quota; then it deletes the api-key header and authenticates to Foundry with the gateway’s managed identity — the Foundry key never leaves Azure.</a:t>
            </a:r>
          </a:p>
          <a:p>
            <a:r>
              <a:t>Every answer carries x-tokens-consumed, x-remaining-tokens and x-remaining-quota-tokens headers; llm-emit-token-metric feeds a live leaderboard in Application Insights (S1-D3 shows the headers).</a:t>
            </a:r>
          </a:p>
          <a:p>
            <a:r>
              <a:t>VERIFY: the design is a dry run — nothing is provisioned; confirm the limits and that token counting works on /responses, /embeddings, media paths and streaming in the pre-flight (00_Workshop_Plan.md §7).</a:t>
            </a:r>
          </a:p>
          <a:p>
            <a:r>
              <a:t>Sources: Gateway policy attendee-policy.xml — infra/policies/attendee-policy.xml · Foundry provisioning plan — 01_Foundry_Provisioning_Plan.md · APIM llm-token-limit policy — https://learn.microsoft.com/en-us/azure/api-management/llm-token-limit-policy · Foundry auth and keys docs — https://learn.microsoft.com/en-us/azure/foundry/concepts/authentication-authorization-foundry · labs/00-setup/SETUP.md · Azure-Samples/AI-Gateway — https://github.com/Azure-Samples/AI-Gateway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[F-06]</a:t>
            </a:r>
          </a:p>
          <a:p>
            <a:r>
              <a:t>Recap quiz from the LLM 101 pre-read (only if the pre-read + quiz option is used; trimmed in the 75-minute cut). About five minutes per slide: read the question, count hands for A/B/C, give the answer in one sentence.</a:t>
            </a:r>
          </a:p>
          <a:p>
            <a:r>
              <a:t>Answers: Q1 C — Text is cut into tokens (word pieces, "playing" → "play" + "ing"); cost and limits are counted in tokens (S1-03). Q2 A — Instructions, history, tools, retrieved text and the answer share one window; the model keeps nothing between calls (S1-25, S2-12). Q3 B — Greedy-ish sampling: more repeatable, not more true — and reasoning models reject temperature (S1-26, S1-36). Q4 C — Compression of the weights: smaller and faster, a little less exact — "Q4 is fine until it isn’t" (S4-07, S4-08).</a:t>
            </a:r>
          </a:p>
          <a:p>
            <a:r>
              <a:t>Calibrate: if most of the room gets 6 of 8, it is an expert room — shorten the Segment 1 history block; if most get fewer than 4, keep all of Segment 1 and pace Lab 1 slowly.</a:t>
            </a:r>
          </a:p>
          <a:p>
            <a:r>
              <a:t>Sources: LLM 101 deck (Day of Data 2026) — LLM_101_100.pptx (DayOfData2026/LLM_101) — text in ref/llm101/slides.md · Narrative plan v001 — 06_Narrative_Plan_v001.md · Workshop plan v001 — 00_Workshop_Plan.md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[F-06b]</a:t>
            </a:r>
          </a:p>
          <a:p>
            <a:r>
              <a:t>Recap quiz from the LLM 101 pre-read (only if the pre-read + quiz option is used; trimmed in the 75-minute cut). About five minutes per slide: read the question, count hands for A/B/C, give the answer in one sentence.</a:t>
            </a:r>
          </a:p>
          <a:p>
            <a:r>
              <a:t>Answers: Q5 A — Retrieval-augmented generation: search your documents, put the hits into the window, answer with citations (S2-03 … S2-11, Lab 2). Q6 B — The model only asks (tool_calls); your code runs the function and sends the result back (S1-28, Lab 1 step 4). Q7 B — Model Context Protocol: any host can plug in tools, resources and prompts from a server (S2-19, Lab 2). Q8 C — The tool loop plus a runtime that decides when to stop and owns budget, memory and permissions (S3-02).</a:t>
            </a:r>
          </a:p>
          <a:p>
            <a:r>
              <a:t>Calibrate: if most of the room gets 6 of 8, it is an expert room — shorten the Segment 1 history block; if most get fewer than 4, keep all of Segment 1 and pace Lab 1 slowly.</a:t>
            </a:r>
          </a:p>
          <a:p>
            <a:r>
              <a:t>Sources: LLM 101 deck (Day of Data 2026) — LLM_101_100.pptx (DayOfData2026/LLM_101) — text in ref/llm101/slides.md · Narrative plan v001 — 06_Narrative_Plan_v001.md · Workshop plan v001 — 00_Workshop_Plan.md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[F-07]</a:t>
            </a:r>
          </a:p>
          <a:p>
            <a:r>
              <a:t>This deck was built on 2026-09-23; its facts are as of 2026-09-21: the model catalog rows were checked against primary sources on 2026-09-19/21, and the lab code ran against a real local model (Ollama, 2026-09-22) and the offline mock (2026-09-23). The workshop endpoint (not provisioned yet) and ComfyUI on a real GPU are re-checked in the dry run the week before the event.</a:t>
            </a:r>
          </a:p>
          <a:p>
            <a:r>
              <a:t>How fast it moves: in the two days before the last catalog pass Grok 4.7 (09-21), the Qwen-Image-2.1 open weights (09-20, non-commercial licence) and ComfyUI v0.37 (09-21) appeared.</a:t>
            </a:r>
          </a:p>
          <a:p>
            <a:r>
              <a:t>Method (skill genai-landscape-research): package registries for versions, the Azure retail prices API for prices, the Foundry "sold by Azure" page for credit eligibility, model cards for licences — and a date next to every fact. UNVERIFIED items stay off slides.</a:t>
            </a:r>
          </a:p>
          <a:p>
            <a:r>
              <a:t>VERIFY: re-run the landscape pass the week before the event and update core.VERIFIED_ON (facts as of); core.BUILT_ON moves with every build.</a:t>
            </a:r>
          </a:p>
          <a:p>
            <a:r>
              <a:t>Sources: Model catalog §0 (checked 2026-09-21) — 05_Model_Catalog_2026-09.md · labs/README.md · Snippet verification 2026-09-22 — research/2026-09-22_framework-snippet-verification.md · genai-landscape-research skill — skills/genai-landscape-research/SKILL.md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[F-08]</a:t>
            </a:r>
          </a:p>
          <a:p>
            <a:r>
              <a:t>Runs in the 30 minutes before Segment 1 (doors, keys, setup clinic) and again whenever someone is stuck. The checker tests, in order: Python version and pinned packages, labs/.env, the endpoint (chat, a tool call, structured output, embeddings) and Ollama; every failure prints the most likely fix.</a:t>
            </a:r>
          </a:p>
          <a:p>
            <a:r>
              <a:t>Green = ready; amber is fine (e.g. no labs/.env because the settings come from environment variables); red = fix before the lab — typical: 401 (key or header), 404 (model name, or the URL does not end in /openai/v1), cannot connect (Wi-Fi, proxy, local server not running).</a:t>
            </a:r>
          </a:p>
          <a:p>
            <a:r>
              <a:t>If the Wi-Fi or the endpoint dies: start the mock with MOCK_HOST=0.0.0.0 so the room can reach it (port 8123, key test, model mock-model) and put your IP on the screen; answers are echoes, but every lab script runs.</a:t>
            </a:r>
          </a:p>
          <a:p>
            <a:r>
              <a:t>VERIFY: the instructor Ollama on the room network is in the plan (00_Workshop_Plan.md §7) but its LAN setup (listening address, models pulled) is not documented in labs/00-setup yet.</a:t>
            </a:r>
          </a:p>
          <a:p>
            <a:r>
              <a:t>Sources: labs/00-setup/SETUP.md · check_env.py / .cs / .mjs — labs/00-setup/check_env.py · mock_openai_server.py — labs/00-setup/mock/mock_openai_server.py · labs/README.md · Workshop plan v001 — 00_Workshop_Plan.md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[S1-00]</a:t>
            </a:r>
          </a:p>
          <a:p>
            <a:r>
              <a:t>Segment 1 in one sentence: from a bag of words to a callable function. First how the thing works (tokens → transformer → training → today's models), then what you actually call (roles, knobs, structured output, the tool loop, the dialects), then why it lies and what to do about it. Demos: tokens live, what thinking costs, one script against five providers. Lab 1 closes the segment.</a:t>
            </a:r>
          </a:p>
          <a:p>
            <a:r>
              <a:t>This segment is the LLM 101 deck, workshop cut; the full 143-slide deck is the pre-read.</a:t>
            </a:r>
          </a:p>
          <a:p>
            <a:r>
              <a:t>Timing: ~0.5 min.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[S1-05a]</a:t>
            </a:r>
          </a:p>
          <a:p>
            <a:r>
              <a:t>Hook before any theory: this is what we are about to take apart. Transformer Explainer from Georgia Tech’s Polo Club: the real GPT-2 small running inside the browser tab. Read it left to right: every token becomes an embedding; in each block every token is projected to a query, a key and a value; the attention grid shows how strongly each token (row) looks at each earlier token (column) — the empty upper triangle is the causal mask; the MLP then works on each token alone; after 12 blocks the last position turns into next-token probabilities. Prompt on the screenshot: “Conference attendees during breaks will be …” — “able” gets 86.5 %, but with temperature 0.5 and top-k 5 the tool sampled “asked” at 3 %: sampling, not always the favourite (the knobs slide comes back to this). In the slide show a click on the screenshot opens the live tool. If the Wi-Fi is down, this slide is the demo.</a:t>
            </a:r>
          </a:p>
          <a:p>
            <a:r>
              <a:t>Screenshot from Andreas’s AIExplainability deck; fallback copies in demos/S1-D1/fallback/.</a:t>
            </a:r>
          </a:p>
          <a:p>
            <a:r>
              <a:t>Timing: ~1 min.</a:t>
            </a:r>
          </a:p>
          <a:p>
            <a:r>
              <a:t>Sources: https://poloclub.github.io/transformer-explainer · https://github.com/poloclub/transformer-explainer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[S1-05b]</a:t>
            </a:r>
          </a:p>
          <a:p>
            <a:r>
              <a:t>The take-home list — every name and URL on the slide is a link. Transformer Explainer is the one on the previous slide; we go live with it after the attention slide (S1-D1). LLM Visualization is Brendan Bycroft’s 3-D walk-through: every matrix of a tiny GPT (nano-gpt, about 85k parameters) animated step by step, with a guided tour; switch to GPT-2 or GPT-3 to feel the scale. LLM-Viewer is about running a model rather than its attention weights: choose a model and a GPU, batch size, sequence length and quantization, and it estimates memory, compute and latency per layer with a roofline model — Segment 4 (local AI) comes back to that. BertViz draws attention head by head for most Hugging Face models inside a Jupyter or Colab notebook; the thumbnail shows a BERT model attending from “rabbit”. Tiktokenizer is one step earlier: tokens and ids. Don’t click through all five live — one minute, then move on.</a:t>
            </a:r>
          </a:p>
          <a:p>
            <a:r>
              <a:t>Links first collected in Andreas’s AIExplainability deck (slide 4) and LLM 101; checked 2026-09-23.</a:t>
            </a:r>
          </a:p>
          <a:p>
            <a:r>
              <a:t>Timing: ~1 min.</a:t>
            </a:r>
          </a:p>
          <a:p>
            <a:r>
              <a:t>Sources: https://poloclub.github.io/transformer-explainer · https://github.com/poloclub/transformer-explainer · https://bbycroft.net/llm · https://github.com/bbycroft/llm-viz · http://llm-viewer.com · https://github.com/hahnyuan/LLM-Viewer · https://github.com/jessevig/bertviz · https://tiktokenizer.vercel.app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[S1-01]</a:t>
            </a:r>
          </a:p>
          <a:p>
            <a:r>
              <a:t>Why now? Three curves crossed a “good enough” line in 2022: compute (GPT-3 was trained with 3.14e23 FLOPs in 2020), data (web-scale corpora — Llama 3 saw 15 trillion tokens) and post-training (InstructGPT, January 2022, taught a text predictor to answer). ChatGPT in November 2022 was GPT-3.5 plus a chat box — a UX event, not a model event. None of the curves has flattened: in 2026 every major software category ships GenAI (LLM 101 slide 13). The chart is schematic — say so if someone asks for the y-axis.</a:t>
            </a:r>
          </a:p>
          <a:p>
            <a:r>
              <a:t>Ported from LLM 101 slides 12/13, 29, 30, 31, 33.</a:t>
            </a:r>
          </a:p>
          <a:p>
            <a:r>
              <a:t>Timing: ~1.5 min.</a:t>
            </a:r>
          </a:p>
          <a:p>
            <a:r>
              <a:t>Sources: LLM_101_100.pptx (DayOfData2026/LLM_101) — text in ref/llm101/slides.md · https://arxiv.org/pdf/2005.14165 · https://epoch.ai/data/ai-models · https://openai.com/index/instruction-following · https://openai.com/index/chatgpt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[S1-02]</a:t>
            </a:r>
          </a:p>
          <a:p>
            <a:r>
              <a:t>This is the map for the whole day, and it comes back at the start of every segment. Segment 1 builds tokens, the chat API, structured output and tools — everything Lab 1 needs. Segment 2 reuses structured output and tools and adds MCP and skills; Segment 3 turns the tool loop into agents and workflows; Segment 4 builds a media pipeline on your own machine. At the close we light everything and name the knob per block.</a:t>
            </a:r>
          </a:p>
          <a:p>
            <a:r>
              <a:t>Timing: ~1 min.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[S1-03]</a:t>
            </a:r>
          </a:p>
          <a:p>
            <a:r>
              <a:t>Text never reaches the model as words. A tokenizer splits it into pieces from a fixed vocabulary — GPT-2 had 50,257 — and every piece ID is looked up as a vector (768 numbers in GPT-2 small). The strawberry joke: models famously miscount letters because they never saw the letters. The split on the slide is illustrative — the demo right after the attention slide shows the real split in tiktokenizer. Everything you pay for and every limit you hit (price per 1M tokens, context window, TPM quotas) is counted in tokens.</a:t>
            </a:r>
          </a:p>
          <a:p>
            <a:r>
              <a:t>Ported from LLM 101 slide 16. VERIFY in the demo: the actual split of “strawberry” for the demo model.</a:t>
            </a:r>
          </a:p>
          <a:p>
            <a:r>
              <a:t>Timing: ~1.5 min.</a:t>
            </a:r>
          </a:p>
          <a:p>
            <a:r>
              <a:t>Sources: LLM_101_100.pptx (DayOfData2026/LLM_101) — text in ref/llm101/slides.md · https://tiktokenizer.vercel.app · research/2026-09-19_foundry-access-for-workshop.md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[S1-04]</a:t>
            </a:r>
          </a:p>
          <a:p>
            <a:r>
              <a:t>After the lookup every token is a point in a high-dimensional space — 768 dimensions in GPT-2 small, 1,024 to 4,096 and more in modern models. Training arranges the space so that similar meanings cluster, and directions carry meaning: the famous king minus man plus woman lands near queen. To look at it we project it to 2-D with t-SNE, UMAP or PCA — distances survive only approximately. This is exactly the object Segment 2 searches with: embed the documents, embed the question, take the nearest ones. Try it: projector.tensorflow.org.</a:t>
            </a:r>
          </a:p>
          <a:p>
            <a:r>
              <a:t>Ported from LLM 101 slides 16 and 20.</a:t>
            </a:r>
          </a:p>
          <a:p>
            <a:r>
              <a:t>Timing: ~1 min.</a:t>
            </a:r>
          </a:p>
          <a:p>
            <a:r>
              <a:t>Sources: LLM_101_100.pptx (DayOfData2026/LLM_101) — text in ref/llm101/slides.md · https://projector.tensorflow.org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[S1-05]</a:t>
            </a:r>
          </a:p>
          <a:p>
            <a:r>
              <a:t>Attention is how context changes a token’s meaning. Each token computes a query (“I’m ‘mat’ — what context do I need?”), every token offers a key (“I’m ‘cat’ — a noun, maybe the subject of ‘sat’”) and a value; the weights are softmax(Q·Kᵀ/√d) and the values are blended with them. In chat models a causal mask means each token only looks back. The weights are LLM 101’s example: from “mat”, “cat” and “sat” matter most. Multi-head runs many of these searches in parallel — next we watch it live.</a:t>
            </a:r>
          </a:p>
          <a:p>
            <a:r>
              <a:t>Ported from LLM 101 slides 18 and 19.</a:t>
            </a:r>
          </a:p>
          <a:p>
            <a:r>
              <a:t>Timing: ~1.5 min.</a:t>
            </a:r>
          </a:p>
          <a:p>
            <a:r>
              <a:t>Sources: LLM_101_100.pptx (DayOfData2026/LLM_101) — text in ref/llm101/slides.md · https://arxiv.org/abs/1706.03762 · https://poloclub.github.io/transformer-explainer · https://github.com/jessevig/bertviz</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[S1-D1]</a:t>
            </a:r>
          </a:p>
          <a:p>
            <a:r>
              <a:t>Two minutes, two browser tabs, opened before the session. In tiktokenizer show that the same sentence costs different token counts in different encodings, then the strawberry split and a German compound word (they explode into pieces). In Transformer Explainer (GPT-2 small in the browser) type “the cat sat on the”, click into one attention head and show the weights, then drag the temperature slider. If the Wi-Fi is down, show the dry-run screenshots — the point survives. The chips on the slide are illustrative splits; the live tool shows the real ones.</a:t>
            </a:r>
          </a:p>
          <a:p>
            <a:r>
              <a:t>Fallback screenshots: demos/S1-D1/fallback/ (Transformer Explainer, tiktokenizer; captured 2026-09-23) — slide S1-05a is the same Transformer Explainer view.</a:t>
            </a:r>
          </a:p>
          <a:p>
            <a:r>
              <a:t>Timing: ~2 min.</a:t>
            </a:r>
          </a:p>
          <a:p>
            <a:r>
              <a:t>Sources: https://tiktokenizer.vercel.app · https://poloclub.github.io/transformer-explainer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[S1-06]</a:t>
            </a:r>
          </a:p>
          <a:p>
            <a:r>
              <a:t>Zoom out: a transformer is one block repeated. Attention lets tokens exchange information; the feed-forward MLP then processes each token on its own; residual connections and normalisation (RMSNorm in modern models) wrap both halves. GPT-2 small stacks 12 of these blocks, GPT-3 and today’s frontier models 96 and more. At the top, the last vector is projected onto the vocabulary and a softmax turns it into next-token probabilities. “Parameters” are simply the numbers inside these matrices.</a:t>
            </a:r>
          </a:p>
          <a:p>
            <a:r>
              <a:t>Ported from LLM 101 slide 17. VERIFY before saying it: the plan’s aside “the paper is 15 pages”.</a:t>
            </a:r>
          </a:p>
          <a:p>
            <a:r>
              <a:t>Timing: ~1 min.</a:t>
            </a:r>
          </a:p>
          <a:p>
            <a:r>
              <a:t>Sources: LLM_101_100.pptx (DayOfData2026/LLM_101) — text in ref/llm101/slides.md · https://arxiv.org/abs/1706.03762 · https://bbycroft.net/llm · https://poloclub.github.io/transformer-explainer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[S1-07]</a:t>
            </a:r>
          </a:p>
          <a:p>
            <a:r>
              <a:t>The 2017 transformer had an encoder and a decoder, built for translation. In 2018 the family split. GPT-1 (OpenAI, June) kept only the decoder: a causal mask, so each token sees only the past, trained to predict the next token. BERT (Google, October) kept only the encoder: every token sees every token, trained to fill in masked words. The grids show the difference — left, a triangle; right, the full square. That fork defined the next six years: chat models on one side, embedding and search models on the other.</a:t>
            </a:r>
          </a:p>
          <a:p>
            <a:r>
              <a:t>Ported from LLM 101 slides 22 and 25.</a:t>
            </a:r>
          </a:p>
          <a:p>
            <a:r>
              <a:t>Timing: ~1 min.</a:t>
            </a:r>
          </a:p>
          <a:p>
            <a:r>
              <a:t>Sources: LLM_101_100.pptx (DayOfData2026/LLM_101) — text in ref/llm101/slides.md · https://arxiv.org/abs/1810.04805 · https://arxiv.org/abs/1706.03762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[S1-08]</a:t>
            </a:r>
          </a:p>
          <a:p>
            <a:r>
              <a:t>Three wirings of the same block. Encoder-only models (BERT, RoBERTa, ModernBERT — and the BGE-M3 embedding model you run locally in Lab 2) read everything at once and output vectors. Decoder-only models (GPT, Llama, Claude, DeepSeek, Qwen, Gemini) read left to right and output the next token — every chat model today. Encoder–decoder models (T5, BART, the original transformer; Whisper-style speech recognition) read an input and write a new sequence. Decoder-only won for chat because one autoregressive model handles any input and output.</a:t>
            </a:r>
          </a:p>
          <a:p>
            <a:r>
              <a:t>Ported from LLM 101 slides 24 and 25.</a:t>
            </a:r>
          </a:p>
          <a:p>
            <a:r>
              <a:t>Timing: ~1 min.</a:t>
            </a:r>
          </a:p>
          <a:p>
            <a:r>
              <a:t>Sources: LLM_101_100.pptx (DayOfData2026/LLM_101) — text in ref/llm101/slides.md · https://magazine.sebastianraschka.com/p/the-big-llm-architecture-comparison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[S1-09]</a:t>
            </a:r>
          </a:p>
          <a:p>
            <a:r>
              <a:t>Strip away the product and an LLM is a function from “text so far” to a probability for every token in the vocabulary. Pick one, append it, call the function again — until a stop token or a length limit. GPT-2 (2019) was the first to feel shockingly fluent; GPT-3 (2020) showed that a big enough next-token machine learns tasks from a few examples in the prompt. Everything we build today — chat, structured output, tools, agents — is scaffolding around this loop. The bars are illustrative; the knobs slide later shows how temperature reshapes them.</a:t>
            </a:r>
          </a:p>
          <a:p>
            <a:r>
              <a:t>Ported from LLM 101 slide 26.</a:t>
            </a:r>
          </a:p>
          <a:p>
            <a:r>
              <a:t>Timing: ~1 min.</a:t>
            </a:r>
          </a:p>
          <a:p>
            <a:r>
              <a:t>Sources: LLM_101_100.pptx (DayOfData2026/LLM_101) — text in ref/llm101/slides.md · https://openai.com/index/better-language-models · https://arxiv.org/pdf/2005.14165</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[S1-10]</a:t>
            </a:r>
          </a:p>
          <a:p>
            <a:r>
              <a:t>GPT-3 is the model that made “just scale it” a strategy. It ate about 300 billion tokens sampled from ~499 billion, mostly filtered Common Crawl, with the good sources (WebText2, books, Wikipedia) up-weighted. It cost 3.14e23 FLOPs on about 10,000 V100s on Azure for roughly 15 days — about $4.6 M in compute, an estimate — and 552 t CO₂. Chinchilla’s rule of thumb ties it together: training FLOPs ≈ 6 × parameters × tokens. Trim slide: skip in the 75-minute cut.</a:t>
            </a:r>
          </a:p>
          <a:p>
            <a:r>
              <a:t>Ported from LLM 101 slides 28, 29 and 33.</a:t>
            </a:r>
          </a:p>
          <a:p>
            <a:r>
              <a:t>Timing: ~1 min.</a:t>
            </a:r>
          </a:p>
          <a:p>
            <a:r>
              <a:t>Sources: LLM_101_100.pptx (DayOfData2026/LLM_101) — text in ref/llm101/slides.md · https://arxiv.org/pdf/2005.14165 · https://arxiv.org/abs/2203.15556</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[S1-11]</a:t>
            </a:r>
          </a:p>
          <a:p>
            <a:r>
              <a:t>A base model is a document continuer: ask it a question and it may continue with more questions. InstructGPT (January 2022) added two steps. First supervised fine-tuning on human-written demonstrations. Then RLHF: humans rank several answers, a reward model learns those preferences, and reinforcement learning (PPO) optimises the model against it. The result follows instructions — and this recipe, in variations, is behind almost every chat model since. The two example outputs are illustrative.</a:t>
            </a:r>
          </a:p>
          <a:p>
            <a:r>
              <a:t>Ported from LLM 101 slides 30 and 52.</a:t>
            </a:r>
          </a:p>
          <a:p>
            <a:r>
              <a:t>Timing: ~1 min.</a:t>
            </a:r>
          </a:p>
          <a:p>
            <a:r>
              <a:t>Sources: LLM_101_100.pptx (DayOfData2026/LLM_101) — text in ref/llm101/slides.md · https://openai.com/index/instruction-following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[S1-12]</a:t>
            </a:r>
          </a:p>
          <a:p>
            <a:r>
              <a:t>November 2022: ChatGPT. Under the hood it was GPT-3.5 with the InstructGPT recipe — instruction tuning plus RLHF — optimised for back-and-forth conversation. What was new was the interface: a chat box that keeps the thread, and a system prompt you never see. It asked clarifying questions and declined some harmful requests. The model barely changed; the interface did — and the chat format (roles, a system message) is still the API you call today, which is where the second half of this segment goes.</a:t>
            </a:r>
          </a:p>
          <a:p>
            <a:r>
              <a:t>Ported from LLM 101 slide 31. Dark slide = thesis moment.</a:t>
            </a:r>
          </a:p>
          <a:p>
            <a:r>
              <a:t>Timing: ~1 min.</a:t>
            </a:r>
          </a:p>
          <a:p>
            <a:r>
              <a:t>Sources: LLM_101_100.pptx (DayOfData2026/LLM_101) — text in ref/llm101/slides.md · https://openai.com/index/chatgpt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[S1-13]</a:t>
            </a:r>
          </a:p>
          <a:p>
            <a:r>
              <a:t>Post-training in 2026 is a modular pipeline. SFT teaches format and instruction following (1k–100k examples, often synthetic); DPO is the default alignment step — preferences without a reward model or PPO loop (KTO, ORPO, SimPO are variants); GRPO and DAPO are DeepSeek-style RL with verifiable rewards, which is what makes reasoning models (R1, Qwen3, Nemotron Super); distillation lets a big teacher train a small student. Under any step sits PEFT — LoRA, QLoRA, DoRA — with tooling such as TRL 1.0, Unsloth and Axolotl. Most production fine-tuning is QLoRA + DPO; PPO is being displaced. The decision rule matters most: prompt, then RAG, fine-tune last.</a:t>
            </a:r>
          </a:p>
          <a:p>
            <a:r>
              <a:t>Ported from LLM 101 slide 32; “distil” from 00_Workshop_Plan §3 S1 item 2.</a:t>
            </a:r>
          </a:p>
          <a:p>
            <a:r>
              <a:t>Timing: ~1.5 min.</a:t>
            </a:r>
          </a:p>
          <a:p>
            <a:r>
              <a:t>Sources: LLM_101_100.pptx (DayOfData2026/LLM_101) — text in ref/llm101/slides.md · https://huggingface.co/docs/trl · https://arxiv.org/abs/2503.14476 · https://arxiv.org/abs/2501.12948</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[S1-14]</a:t>
            </a:r>
          </a:p>
          <a:p>
            <a:r>
              <a:t>Borrowed from Beyond the Slop, because the word confuses everyone. Inference knobs — temperature, top_p, seed, max_tokens, reasoning_effort, and in Segment 4 steps, CFG, sampler and LoRA strength — you turn per request, free and instant; a mistake costs one bad answer. Training knobs — learning rate, batch size, epochs, LoRA rank, alpha, dropout, which layers get adapters — you set per training run; a mistake costs an evening of GPU time. Today’s labs only use the inference room; the next slide opens the door to the training room.</a:t>
            </a:r>
          </a:p>
          <a:p>
            <a:r>
              <a:t>Ported from Beyond the Slop slide 16 (inference knobs re-labelled for LLMs from Lab 1 step 2).</a:t>
            </a:r>
          </a:p>
          <a:p>
            <a:r>
              <a:t>Timing: ~1 min.</a:t>
            </a:r>
          </a:p>
          <a:p>
            <a:r>
              <a:t>Sources: research/beyond_the_slop/Beyond_the_Slop_GenAI_2026_slide_text.txt · labs/01-hello-model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[S1-15]</a:t>
            </a:r>
          </a:p>
          <a:p>
            <a:r>
              <a:t>LoRA is the reason fine-tuning got cheap. Nobody retrains billions of weights for a style or a behaviour: W stays frozen, and you train a low-rank correction ΔW = B·A with rank r somewhere between 4 and 128. The pair is arithmetic, not a benchmark: one 4096 × 4096 matrix holds 16.8 million numbers; B and A at rank 16 hold 131 thousand. The result is a file of a few megabytes that you can stack and dial in at inference. QLoRA does the same on a 4-bit base model, which is how a 70 B model fits one GPU. The identical trick fine-tunes image models — we meet it again in Segment 4.</a:t>
            </a:r>
          </a:p>
          <a:p>
            <a:r>
              <a:t>Ported from Beyond the Slop slide 20 (image AI-generated, from BTS) and LLM 101 slide 32.</a:t>
            </a:r>
          </a:p>
          <a:p>
            <a:r>
              <a:t>Timing: ~1.5 min.</a:t>
            </a:r>
          </a:p>
          <a:p>
            <a:r>
              <a:t>Sources: research/beyond_the_slop/Beyond_the_Slop_GenAI_2026_slide_text.txt · LLM_101_100.pptx (DayOfData2026/LLM_101) — text in ref/llm101/slides.md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[S1-16]</a:t>
            </a:r>
          </a:p>
          <a:p>
            <a:r>
              <a:t>Scale kept paying: GPT-4 (2023) cost an estimated $50–200 M to train and is reported — leaked, never confirmed by OpenAI — to be a mixture of experts with about 1.8 T parameters and top-2 routing; the GPT-4 technical report discloses no architecture or size. MoE replaces the one big MLP with many expert MLPs; a router picks a few per token. So “1 T parameters” is what you must hold in memory, while the active parameters decide the compute per token: DeepSeek V3 has 671 B total and 37 B active; the 2026 open models push the ratio further (rows from the model catalog). Trim slide: in the 75-minute cut the MoE row on the next slide carries the point.</a:t>
            </a:r>
          </a:p>
          <a:p>
            <a:r>
              <a:t>Ported from LLM 101 slides 33–35 (the GPT-4 figures are LLM 101 slide 35’s leak numbers); 2026 rows from catalog §2 (dates are 2026 MM-DD).</a:t>
            </a:r>
          </a:p>
          <a:p>
            <a:r>
              <a:t>Timing: ~1 min.</a:t>
            </a:r>
          </a:p>
          <a:p>
            <a:r>
              <a:t>Sources: LLM_101_100.pptx (DayOfData2026/LLM_101) — text in ref/llm101/slides.md · https://arxiv.org/abs/2412.19437 · https://research.google/blog/mixture-of-experts-with-expert-choice-routing · 05_Model_Catalog_2026-09.md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[S1-17]</a:t>
            </a:r>
          </a:p>
          <a:p>
            <a:r>
              <a:t>Serving cost is dominated by the KV cache: for every token in the context the model keeps one key and one value vector per attention head. The tricks: MQA shares one K/V across all heads; GQA (Llama 2/3, Mistral, Qwen) shares per group; DeepSeek’s MLA compresses K/V into a small latent; sliding-window attention (Gemma 3, Mistral) only looks at the last N tokens; hybrid models such as NVIDIA’s Nemotron 3.5 Lightning mix Mamba-2 blocks in. MoE is the same idea for the MLP. LLM 101’s point stands: Chinese labs publish these most openly.</a:t>
            </a:r>
          </a:p>
          <a:p>
            <a:r>
              <a:t>Ported from LLM 101 slides 36–37; hybrid row from catalog §2 (“Mamba-2 MoE, 1M ctx”). The MoE row is the 75-minute-cut replacement for S1-16.</a:t>
            </a:r>
          </a:p>
          <a:p>
            <a:r>
              <a:t>Timing: ~1 min.</a:t>
            </a:r>
          </a:p>
          <a:p>
            <a:r>
              <a:t>Sources: LLM_101_100.pptx (DayOfData2026/LLM_101) — text in ref/llm101/slides.md · https://sebastianraschka.com/llm-architecture-gallery/mla · 05_Model_Catalog_2026-09.md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[S1-18]</a:t>
            </a:r>
          </a:p>
          <a:p>
            <a:r>
              <a:t>DeepSeek V3 (December 2024) and R1 (January 2025) landed back to back: R1 matched OpenAI’s o1 on reasoning with open weights, and on 27 January 2025 Nvidia lost about 17 % (~$589 B) in a day. Read the $5.6 M carefully: it is the final pretraining run only (2.788 M H800-hours at ~$2/h); research, ablations, failed runs, data and capex are not in it — the programme plausibly cost hundreds of millions. What really changed: the engineering (MLA, FP8, sparse MoE), the RL recipe, and the assumption that the frontier needs US-hyperscaler capex. Today V4 Pro/Flash are sold by Azure in Foundry, and V4.1 Flash is MIT-licensed — the bridge to Segment 4.</a:t>
            </a:r>
          </a:p>
          <a:p>
            <a:r>
              <a:t>Ported from LLM 101 slide 38; 2026 boxes from catalog §2. The inference-price drop is a separate story (hardware, serving, competition) — say so if asked.</a:t>
            </a:r>
          </a:p>
          <a:p>
            <a:r>
              <a:t>Timing: ~1.5 min.</a:t>
            </a:r>
          </a:p>
          <a:p>
            <a:r>
              <a:t>Sources: LLM_101_100.pptx (DayOfData2026/LLM_101) — text in ref/llm101/slides.md · https://arxiv.org/abs/2412.19437 · https://arxiv.org/abs/2501.12948 · https://stratechery.com/2025/deepseek-faq/ · 05_Model_Catalog_2026-09.md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[S1-19]</a:t>
            </a:r>
          </a:p>
          <a:p>
            <a:r>
              <a:t>Standard models generate one token per forward pass — about 50–150 tokens per second for a single stream. Speculative decoding is production today: a small draft model guesses ahead, the big model verifies the guesses in parallel, output identical, 2–4× faster. Multi-token prediction trains the model to predict 2–4 tokens per pass; DeepSeek V3 ships it. Diffusion language models (Mercury 2 at over 1,000 tokens per second, Gemini Diffusion) generate the whole answer at once and refine it — a different pattern, still early. Trim slide.</a:t>
            </a:r>
          </a:p>
          <a:p>
            <a:r>
              <a:t>Ported from LLM 101 slides 39–41.</a:t>
            </a:r>
          </a:p>
          <a:p>
            <a:r>
              <a:t>Timing: ~1 min.</a:t>
            </a:r>
          </a:p>
          <a:p>
            <a:r>
              <a:t>Sources: LLM_101_100.pptx (DayOfData2026/LLM_101) — text in ref/llm101/slides.md · https://www.inceptionlabs.ai · https://arxiv.org/abs/2506.17298 · https://deepmind.google/models/gemini-diffusion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[S1-20]</a:t>
            </a:r>
          </a:p>
          <a:p>
            <a:r>
              <a:t>Reasoning models are trained to think out loud before answering: input, a long chain of thought, then the answer. OpenAI’s o1 (September 2024) hid the chain and charged for it; DeepSeek R1 made it open; GPT-5-class models reason by default with an effort knob. Thinking tokens are billed as output — LLM 101 counted 5–50× more output tokens per answer. Our own measurement while verifying the lab code (a test machine with 2 vCPU and no GPU, Ollama 0.34.3, 2026-09-22): qwen3:1.7b took 41 s and 336 tokens for a one-liner with thinking on, 5.6 s and 46 tokens with reasoning_effort none. Use it where it helps (math, code, agents), switch it down for lookups. The next demo shows the bill on the workshop gateway.</a:t>
            </a:r>
          </a:p>
          <a:p>
            <a:r>
              <a:t>Ported from LLM 101 slides 42 and 60; the measured pair is from research/2026-09-22_framework-snippet-verification.md §7 (same run as S4-05).</a:t>
            </a:r>
          </a:p>
          <a:p>
            <a:r>
              <a:t>Timing: ~1.5 min.</a:t>
            </a:r>
          </a:p>
          <a:p>
            <a:r>
              <a:t>Sources: LLM_101_100.pptx (DayOfData2026/LLM_101) — text in ref/llm101/slides.md · https://openai.com/index/learning-to-reason-with-llms · https://arxiv.org/abs/2501.12948 · research/2026-09-22_framework-snippet-verification.md · research/2026-09-19_foundry-access-for-workshop.md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[S1-D3]</a:t>
            </a:r>
          </a:p>
          <a:p>
            <a:r>
              <a:t>Three minutes. Run 02_knobs.py against gpt-5-mini: the temperature call fails with a 400, the script catches it and loops over reasoning_effort minimal, low and high on “Is 1001 prime?”, printing seconds, completion tokens and the hidden reasoning tokens. Then show the same request through the APIM gateway with the response headers — the llm-token-limit policy can report tokens consumed and remaining per key. Punchline: the effort knob is a cost knob, and the gateway is where you see the bill. The bars on the slide are illustrative; the live run prints the real counts.</a:t>
            </a:r>
          </a:p>
          <a:p>
            <a:r>
              <a:t>VERIFY: model-router is not in the provisioning model list (01_Foundry_Provisioning_Plan §3) — deploy it or skip step 4. VERIFY: the header names configured in the policy (remaining-tokens-header-name / tokens-consumed-header-name). VERIFY: capture the fallback screenshot in the dry run.</a:t>
            </a:r>
          </a:p>
          <a:p>
            <a:r>
              <a:t>Timing: ~3 min.</a:t>
            </a:r>
          </a:p>
          <a:p>
            <a:r>
              <a:t>Sources: labs/01-hello-model · https://learn.microsoft.com/en-us/azure/api-management/llm-token-limit-policy · 01_Foundry_Provisioning_Plan.md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[S1-21]</a:t>
            </a:r>
          </a:p>
          <a:p>
            <a:r>
              <a:t>The September 2026 frontier, straight from the model catalog (checked 2026-09-21). Closed: GPT-6 Astra and Claude Fable 5.1 tie at 53 on the Artificial Analysis index; Gemini 3.8 Flash and Grok 4.7 have no index value in the catalog. Open weights: GLM-5.3 and Qwen3.8 Max share first place at 45, then Kimi K3 (44) and DeepSeek V4.1 Flash (40). The gap is about one model generation. The dots are the catalog’s licence traffic light: green = permissive (MIT), amber = open with conditions (revenue or MaaS clauses), red = closed — the Segment 4 licence slide explains them. Tencent Hy4-preview (Apache-2.0, 770B/49B) is the ninth name in the plan; it is left out for space.</a:t>
            </a:r>
          </a:p>
          <a:p>
            <a:r>
              <a:t>Refreshed LLM 101 slide 43. Re-run skills/genai-landscape-research the week before — this table has a half-life of weeks.</a:t>
            </a:r>
          </a:p>
          <a:p>
            <a:r>
              <a:t>Timing: ~1.5 min.</a:t>
            </a:r>
          </a:p>
          <a:p>
            <a:r>
              <a:t>Sources: 05_Model_Catalog_2026-09.md · 05_Model_Catalog_2026-09.md · https://artificialanalysis.ai · LLM_101_100.pptx (DayOfData2026/LLM_101) — text in ref/llm101/slides.md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[S1-22]</a:t>
            </a:r>
          </a:p>
          <a:p>
            <a:r>
              <a:t>This is the honest map of what you actually call. The weights are a next-token machine plus whatever training baked in. Around them the platform adds a system prompt, safety classifiers and content filters (the Foundry RAI policy), a model router — GPT-5 launched as a family behind one router that picks a fast or a thinking model per prompt — a thinking budget, tool routing and built-in tools, retrieval, memory, prompt caching, and quotas at the gateway. Two endpoints serving “the same model” can behave differently because of these layers. That is why the labs test the endpoint you will really use.</a:t>
            </a:r>
          </a:p>
          <a:p>
            <a:r>
              <a:t>Refreshed LLM 101 slide 44 (GPT-5 router) → new “model vs PaaS” map (00_Workshop_Plan §3 S1 item 2).</a:t>
            </a:r>
          </a:p>
          <a:p>
            <a:r>
              <a:t>Timing: ~1.5 min.</a:t>
            </a:r>
          </a:p>
          <a:p>
            <a:r>
              <a:t>Sources: LLM_101_100.pptx (DayOfData2026/LLM_101) — text in ref/llm101/slides.md · https://openai.com/index/introducing-gpt-5 · research/2026-09-19_foundry-access-for-workshop.md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[S1-23]</a:t>
            </a:r>
          </a:p>
          <a:p>
            <a:r>
              <a:t>Benchmarks are a vocabulary: you need the names to read a model card or the Artificial Analysis index on the previous slide. They are not a verdict: contamination is a constant battle, absolute scores swing with prompt tweaks, and every vendor chooses the benchmarks it publishes. LLM 101’s advice holds — trust the trajectory across releases, not the rank. The practical version for developers: build a small eval on your own data; Lab 2’s stretch goal is a six-question golden set you can re-run after every model swap. Trim slide.</a:t>
            </a:r>
          </a:p>
          <a:p>
            <a:r>
              <a:t>Ported from LLM 101 slide 47.</a:t>
            </a:r>
          </a:p>
          <a:p>
            <a:r>
              <a:t>Timing: ~1 min.</a:t>
            </a:r>
          </a:p>
          <a:p>
            <a:r>
              <a:t>Sources: LLM_101_100.pptx (DayOfData2026/LLM_101) — text in ref/llm101/slides.md · https://livebench.ai · https://artificialanalysis.ai</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[S1-24]</a:t>
            </a:r>
          </a:p>
          <a:p>
            <a:r>
              <a:t>Era 1 is the base-model era: GPT-2, GPT-3 davinci, BLOOM, Llama base. One string in, one string out — no roles, no system prompt. You wrote the start of the answer (“Q: … A:”), showed a few examples so the model continued the pattern, and a stop sequence ended it; a trailing space could break everything. Why it still matters: open labs still publish base models (MiMo, AliceAI base in the catalog), code completion in the IDE is fill-in-the-middle, and few-shot is still the cheapest way to pin a format. Trim slide (the 75-minute cut moves it to the appendix).</a:t>
            </a:r>
          </a:p>
          <a:p>
            <a:r>
              <a:t>Ported from LLM 101 slides 52–53. VERIFY: there is no tested completions-API snippet in labs/ — the slide shows prompts, not an API call (the LLM 101 code used a retired davinci model and was never run here).</a:t>
            </a:r>
          </a:p>
          <a:p>
            <a:r>
              <a:t>Timing: ~1 min.</a:t>
            </a:r>
          </a:p>
          <a:p>
            <a:r>
              <a:t>Sources: LLM_101_100.pptx (DayOfData2026/LLM_101) — text in ref/llm101/slides.md · https://arxiv.org/pdf/2005.14165 · 05_Model_Catalog_2026-09.md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[S1-25]</a:t>
            </a:r>
          </a:p>
          <a:p>
            <a:r>
              <a:t>Era 2: instruction-tuned chat models are trained on who is speaking — system, user, assistant, tool — and the API is exactly that list. The model is stateless: you send the whole conversation every call, so the context window is a list you own. The strip is Lab 1 step 4 as it grows: system, user, the assistant’s tool call, the tool result, the answer. The code is Lab 2’s call — the same two roles; in Segment 2 the system message carries the retrieved sources. TypeScript twin: labs/02-rag-mcp/typescript/solution/03_ask.mjs.</a:t>
            </a:r>
          </a:p>
          <a:p>
            <a:r>
              <a:t>Ported from LLM 101 slide 54. Code: labs/02-rag-mcp/{python,csharp}/solution/03_ask (tested 2026-09-22), reflowed for the panel (whitespace only).</a:t>
            </a:r>
          </a:p>
          <a:p>
            <a:r>
              <a:t>Timing: ~1 min.</a:t>
            </a:r>
          </a:p>
          <a:p>
            <a:r>
              <a:t>Sources: LLM_101_100.pptx (DayOfData2026/LLM_101) — text in ref/llm101/slides.md · labs/01-hello-model · labs/02-rag-mcp</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[S1-26]</a:t>
            </a:r>
          </a:p>
          <a:p>
            <a:r>
              <a:t>The model gives you a probability for every token; the knobs decide how you pick. Temperature 0 is greedy and mostly repeatable, 1 samples the trained distribution, above 1 flattens it into chaos; top_p keeps only the most likely tokens; seed is best-effort reproducibility, not a guarantee. The modern twist: reasoning models such as the gpt-5 family fix temperature and reject the parameter — their knob is reasoning_effort, and Lab 1 step 2 runs both paths. None of these knobs makes an answer true — hold that thought for the last two slides.</a:t>
            </a:r>
          </a:p>
          <a:p>
            <a:r>
              <a:t>Ported from LLM 101 slides 54–55; the 400/reasoning_effort behaviour from labs/01-hello-model/README.md step 2.</a:t>
            </a:r>
          </a:p>
          <a:p>
            <a:r>
              <a:t>Timing: ~1.5 min.</a:t>
            </a:r>
          </a:p>
          <a:p>
            <a:r>
              <a:t>Sources: LLM_101_100.pptx (DayOfData2026/LLM_101) — text in ref/llm101/slides.md · labs/01-hello-model</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[S1-27]</a:t>
            </a:r>
          </a:p>
          <a:p>
            <a:r>
              <a:t>Era 3 turns the model into a callable function. JSON mode only promises valid JSON; structured output promises your schema: you describe the shape as a type (Pydantic model, C# record), the SDK turns it into a JSON Schema, and the service masks every token that would violate it before sampling. Python uses chat.completions.parse with response_format; C# uses IChatClient.GetResponseAsync&lt;T&gt; from Microsoft.Extensions.AI — both return a typed object. Lab 1 step 3 does this with a Session type and shows that a field description is a hint, not a constraint.</a:t>
            </a:r>
          </a:p>
          <a:p>
            <a:r>
              <a:t>Ported from LLM 101 slides 56–57. Code: labs/_verified_snippets/python/v7_structured_output.py and round2/csharp/06_meai_extras.cs (verified 2026-09-22), reflowed for the panel (whitespace only). TypeScript: round2/typescript/04_structured_output.mjs (needs supportsStructuredOutputs: true).</a:t>
            </a:r>
          </a:p>
          <a:p>
            <a:r>
              <a:t>Timing: ~1.5 min.</a:t>
            </a:r>
          </a:p>
          <a:p>
            <a:r>
              <a:t>Sources: LLM_101_100.pptx (DayOfData2026/LLM_101) — text in ref/llm101/slides.md · labs/_verified_snippets · research/2026-09-22_framework-snippet-verification.md · labs/01-hello-model</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[S1-28]</a:t>
            </a:r>
          </a:p>
          <a:p>
            <a:r>
              <a:t>The most important slide of the segment. The model never calls anything: you declare tools (name, description, JSON Schema of the arguments), the model answers with a structured tool call instead of text, your code runs the function and appends the result as a tool message, and you call the model again. The model decides when it has enough and answers in plain text. Every agent framework in Segment 3 — Agent Framework, LangGraph, the AI SDK’s ToolLoopAgent — runs exactly this loop for you, plus memory, budgets and permissions. Next slide: the loop in code.</a:t>
            </a:r>
          </a:p>
          <a:p>
            <a:r>
              <a:t>Ported from LLM 101 slide 58.</a:t>
            </a:r>
          </a:p>
          <a:p>
            <a:r>
              <a:t>Timing: ~1 min.</a:t>
            </a:r>
          </a:p>
          <a:p>
            <a:r>
              <a:t>Sources: LLM_101_100.pptx (DayOfData2026/LLM_101) — text in ref/llm101/slides.md · labs/01-hello-model</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[S1-29]</a:t>
            </a:r>
          </a:p>
          <a:p>
            <a:r>
              <a:t>The loop from Lab 1 step 4 in both languages — the solution files with the print lines removed and the lines wrapped to fit. A budget of six rounds: call the model with the whole message list and the tools, append the assistant turn including its tool calls, stop if there are none, otherwise run each function and append one tool message per call with the matching id. That is all an agent is at its core. With Agent Framework (labs/_verified_snippets/csharp/MafCheck) the loop disappears into agent.RunAsync; the TypeScript twin is 04_tool_loop.mjs, and 07_ai_sdk_agent.mjs hands it to the AI SDK’s ToolLoopAgent.</a:t>
            </a:r>
          </a:p>
          <a:p>
            <a:r>
              <a:t>Code: labs/01-hello-model/{python,csharp}/solution/04_tool_loop (tested 2026-09-22 against the mock and Ollama), reflowed for the panel (whitespace only, AST-checked).</a:t>
            </a:r>
          </a:p>
          <a:p>
            <a:r>
              <a:t>Timing: ~1.5 min.</a:t>
            </a:r>
          </a:p>
          <a:p>
            <a:r>
              <a:t>Sources: labs/01-hello-model · labs/_verified_snippets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[S1-30]</a:t>
            </a:r>
          </a:p>
          <a:p>
            <a:r>
              <a:t>Quick tour of the rest of the API toolbox. Streaming sends tokens as they are generated — every lab SDK supports it (verified in the snippets). Vision input cuts images into patches that become tokens, so a screenshot is just more input. Embeddings you met on the map slide; Segment 2 builds on them. Batch jobs in Foundry (Global or DataZone Batch) are 50 % cheaper if you can wait up to 24 hours. Prompt caching reuses a repeated prefix, and OpenAI does it automatically: from GPT-5.6 on it starts at 1,024 tokens and cached input costs 0.1× the normal input rate (up to 90 % off); for older models the minimum and the discount are model-dependent (LLM 101 in June still said 50 %). Long system prompts, RAG context and agent transcripts benefit most.</a:t>
            </a:r>
          </a:p>
          <a:p>
            <a:r>
              <a:t>From LLM 101 slides 98 (caching) and 119 (vision); caching refreshed from the OpenAI guide (web-checked 2026-09-23); batch from research/2026-09-19_foundry-access-for-workshop.md §2.</a:t>
            </a:r>
          </a:p>
          <a:p>
            <a:r>
              <a:t>Timing: ~1 min.</a:t>
            </a:r>
          </a:p>
          <a:p>
            <a:r>
              <a:t>Sources: LLM_101_100.pptx (DayOfData2026/LLM_101) — text in ref/llm101/slides.md · https://learn.microsoft.com/en-us/azure/foundry/foundry-models/concepts/deployment-types · https://developers.openai.com/api/docs/guides/prompt-caching · labs/_verified_snippets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[S1-31]</a:t>
            </a:r>
          </a:p>
          <a:p>
            <a:r>
              <a:t>Two dialects for the same models. Chat Completions: a list of messages you resend every time — everything OpenAI-compatible speaks it (Ollama, LM Studio, vLLM, gateways, our mock). Responses: input items plus instructions, server-side state via previous_response_id, hosted tools (web search, file search, code interpreter, MCP) and streaming as typed semantic events. The client name tells you the dialect: Agent Framework Python’s OpenAIChatClient speaks Responses, OpenAIChatCompletionClient speaks Chat Completions; .NET has GetChatClient vs GetResponsesClient (still OPENAI001-experimental). The Assistants API was shut down on 2026-08-26 — don’t start there; Lab 1’s stretch step 6 tries Responses.</a:t>
            </a:r>
          </a:p>
          <a:p>
            <a:r>
              <a:t>From research/2026-09-22_framework-snippet-verification.md §3.1 and §6.4; LLM 101 slide 97.</a:t>
            </a:r>
          </a:p>
          <a:p>
            <a:r>
              <a:t>Timing: ~1.5 min.</a:t>
            </a:r>
          </a:p>
          <a:p>
            <a:r>
              <a:t>Sources: research/2026-09-22_framework-snippet-verification.md · research/2026-09-19_framework-landscape.md · https://developers.openai.com/api/docs/deprecations · https://platform.openai.com/docs/guides/responses · labs/01-hello-model</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[S1-32]</a:t>
            </a:r>
          </a:p>
          <a:p>
            <a:r>
              <a:t>The lingua franca of 2026 is the OpenAI Chat Completions format: Foundry’s /openai/v1 route, our APIM gateway, Fireworks on Foundry, OpenRouter (openrouter.ai/api/v1) and the Hugging Face router, Ollama, LM Studio, Foundry Local and vLLM all accept it — switching is base_url, key and model name. Keys differ: Foundry and the workshop gateway want an api-key header (the SDKs send only a Bearer token unless you add it — two of our own first drafts failed on that); OpenRouter and the HF router take a Bearer token; Ollama ignores the key (the labs send “ollama”, because the SDKs insist on a non-empty string), and a server you run yourself wants whatever key you gave it, if any. Three dialects differ: Anthropic Messages (Foundry serves it under /anthropic), the Gemini API, and Foundry’s Model Inference route. Foundry Local picks its port at start — read it from the SDK or foundry service status.</a:t>
            </a:r>
          </a:p>
          <a:p>
            <a:r>
              <a:t>From research/2026-09-19_foundry-access-for-workshop.md §2/§3/§5, the verification note §3.2 and labs/.env.example; the OpenRouter base URL from its docs (web-checked 2026-09-23). Illustration s1_universal_adapter sits on the demo card that follows the next slide.</a:t>
            </a:r>
          </a:p>
          <a:p>
            <a:r>
              <a:t>Timing: ~1.5 min.</a:t>
            </a:r>
          </a:p>
          <a:p>
            <a:r>
              <a:t>Sources: research/2026-09-19_foundry-access-for-workshop.md · research/2026-09-22_framework-snippet-verification.md · labs/.env.example · https://learn.microsoft.com/en-us/azure/foundry/how-to/develop/sdk-overview · https://openrouter.ai/docs/quickstart · https://learn.microsoft.com/en-us/azure/api-management/azure-ai-foundry-api · https://learn.microsoft.com/en-us/azure/foundry/how-to/fireworks/enable-fireworks-models · https://learn.microsoft.com/en-us/azure/foundry-local/what-is-foundry-local</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[S1-33]</a:t>
            </a:r>
          </a:p>
          <a:p>
            <a:r>
              <a:t>Every language has one abstraction worth knowing. .NET: Microsoft.Extensions.AI — IChatClient and IEmbeddingGenerator with DI and middleware; Agent Framework sits on top, so teach M.E.AI first. Python: LangChain’s init_chat_model works for every OpenAI-compatible endpoint (pass default_headers for the api-key); TypeScript: the Vercel AI SDK 7 with the openai-compatible provider. They buy a provider swap, middleware and tracing; they hide vendor-specific knobs — Lab 1’s C# structured-output file needs RawRepresentationFactory to send “minimal”, which the neutral options don’t know. All three lines are from the verified snippets.</a:t>
            </a:r>
          </a:p>
          <a:p>
            <a:r>
              <a:t>Code: labs/_verified_snippets/round2/csharp/06_meai_extras.cs, round2/python/06_init_chat_model.py, typescript/v2_vercel_ai_sdk.mjs (verified 2026-09-22). “What they hide” example from labs/01-hello-model/csharp/solution/03_structured.cs.</a:t>
            </a:r>
          </a:p>
          <a:p>
            <a:r>
              <a:t>Timing: ~1 min.</a:t>
            </a:r>
          </a:p>
          <a:p>
            <a:r>
              <a:t>Sources: research/2026-09-19_framework-landscape.md · research/2026-09-22_framework-snippet-verification.md · labs/_verified_snippets · https://docs.langchain.com/oss/python/releases/langchain-v1 · https://vercel.com/blog/ai-sdk-7</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[S1-D2]</a:t>
            </a:r>
          </a:p>
          <a:p>
            <a:r>
              <a:t>Five minutes, the thesis of the day in one script. Run 05_same_code_other_model.py: it sends one prompt and one tool round-trip to every target it finds in labs/.env. Start with gpt-5-mini on the gateway, then set GENAI_MODEL_2 to DeepSeek-V3.2, grok-4.1-fast and Kimi-K2.6 — the same key and URL, different vendors, all sold by Azure — and finally Ollama with gemma4:e4b on this laptop. Read the output together: answer style, latency, token counts, whether the model called the tool. Independence means making this switch in one line — and knowing what you gain or lose.</a:t>
            </a:r>
          </a:p>
          <a:p>
            <a:r>
              <a:t>VERIFY: exact deployment names on the day — the slides say grok-4.1-fast (model catalog §10, deck-wide decision), while the provisioning plan §3 and labs/.env.example still say grok-4-fast; also the Kimi-K2.6 format string (provisioning plan go/no-go list). gemma4:e4b is a 9.6 GB pull — pre-pull it. VERIFY: record the fallback terminal run in the dry run.</a:t>
            </a:r>
          </a:p>
          <a:p>
            <a:r>
              <a:t>Timing: ~5 min.</a:t>
            </a:r>
          </a:p>
          <a:p>
            <a:r>
              <a:t>Sources: labs/01-hello-model · 01_Foundry_Provisioning_Plan.md · 05_Model_Catalog_2026-09.md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[S1-34]</a:t>
            </a:r>
          </a:p>
          <a:p>
            <a:r>
              <a:t>Not every question needs a generator. Generate: an LLM writes new text — you pay per output token. Compare: an embedding model turns two texts into vectors and a similarity; a threshold makes it a yes/no. Decide: a new class since this month — TypeSafe AI’s Jev (launched 2026-09-15/18, API only with a waitlist) takes a state plus questions and returns typed choices with calibrated probabilities; open replications appeared within days, and the do-it-yourself version is reading the logprobs of any local model. The vendor’s speed and cost claims are vendor-run evals — say “TypeSafe reports”. Segment 2 uses this for routers and relevance filters.</a:t>
            </a:r>
          </a:p>
          <a:p>
            <a:r>
              <a:t>New slide: catalog §4 and research/2026-09-21_jev-system-one-models.md.</a:t>
            </a:r>
          </a:p>
          <a:p>
            <a:r>
              <a:t>Timing: ~1 min.</a:t>
            </a:r>
          </a:p>
          <a:p>
            <a:r>
              <a:t>Sources: 05_Model_Catalog_2026-09.md · research/2026-09-21_jev-system-one-models.md · https://typesafe.ai/blog/introducing-system-one-models-and-jev</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[S1-35]</a:t>
            </a:r>
          </a:p>
          <a:p>
            <a:r>
              <a:t>Hallucination is not lying: every token is sampled, and the real question is whether the model’s confidence is calibrated. OpenAI’s September 2025 paper argues hallucinations persist because benchmarks score a confident guess above an honest “I don’t know”; errors also compound over long outputs. Anthropic’s circuit tracing found models often do know — a “known entity” feature suppressing the default “can’t answer” circuit is the hallucination. The plot is a schematic: post-training for helpfulness tends to flatten calibration compared with the pre-trained model. Reasoning models add a new surface — they can fabricate their reasoning (Transluce on o3).</a:t>
            </a:r>
          </a:p>
          <a:p>
            <a:r>
              <a:t>Ported from LLM 101 slide 62. VERIFY: the calibration figure (pre-trained vs post-trained) in the GPT-4 technical report, arXiv 2303.08774 — confirm the figure before showing the schematic as “after the report”.</a:t>
            </a:r>
          </a:p>
          <a:p>
            <a:r>
              <a:t>Timing: ~1 min.</a:t>
            </a:r>
          </a:p>
          <a:p>
            <a:r>
              <a:t>Sources: LLM_101_100.pptx (DayOfData2026/LLM_101) — text in ref/llm101/slides.md · https://openai.com/index/why-language-models-hallucinate · https://anthropic.com/research/tracing-thoughts-language-model · https://transluce.org/investigating-o3-truthfulness · https://arxiv.org/abs/2303.08774</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[S1-36]</a:t>
            </a:r>
          </a:p>
          <a:p>
            <a:r>
              <a:t>What moves the number: grounding with retrieval (necessary, not sufficient — bad retrieval hallucinates with citations), structured output, tools as ground truth, and verification loops such as quote-back or Chain-of-Verification. Explicitly allow abstention: Lab 2’s prompt tells the model to answer “Not in the documents.” Retire the myths — temperature 0 does not fix it, RAG does not eliminate it, bigger is not immune, reasoning models hallucinate too. Model choice is itself a mitigation: on AA-Omniscience (numbers from May 2026, quoted in LLM 101 in June) Claude Opus 4.8 hallucinated about 36 % against GPT-5.5’s 86 %. Both are a generation behind the frontier table — the spread is the point, so pick with your own eval.</a:t>
            </a:r>
          </a:p>
          <a:p>
            <a:r>
              <a:t>Ported from LLM 101 slide 64; “temperature 0 is not one of them” from the plan row. The 35.9 % / 86 % pair is confirmed by CodingFleet (2026-05-29); the AA-Omniscience page shows no rates for the newer models yet (fact-check 2026-09-23). VERIFY: re-check AA-Omniscience for current models before the event.</a:t>
            </a:r>
          </a:p>
          <a:p>
            <a:r>
              <a:t>Timing: ~1 min.</a:t>
            </a:r>
          </a:p>
          <a:p>
            <a:r>
              <a:t>Sources: LLM_101_100.pptx (DayOfData2026/LLM_101) — text in ref/llm101/slides.md · https://arxiv.org/abs/2309.11495 · https://platform.claude.com/docs/en/test-and-evaluate/strengthen-guardrails/reduce-hallucinations · https://artificialanalysis.ai/evaluations/omniscience · https://codingfleet.com/blog/ai-model-hallucination-rates-2026/ · labs/02-rag-mcp</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[S1-L1]</a:t>
            </a:r>
          </a:p>
          <a:p>
            <a:r>
              <a:t>Thirty minutes, fifteen of them core. Python, C# and TypeScript folders have the same steps; starters stop at TODO 1 (the Session type for structured output) and TODO 2 (the tool loop). Everyone should reach step 5 by minute 20 — if TODO 2 is not done, run the solution file: the point of step 5 is identical code against a second vendor (GENAI_MODEL_2) and Ollama. Watch-fors from the README: small local models explain “crypto tokens” unless the system prompt names the domain; gpt-5-mini rejects temperature; some models call get_weather and to_fahrenheit in the same turn (try parallel_tool_calls=False). No key yet or endpoint down: GENAI_BASE_URL=http://localhost:11434/v1 with qwen3.5:4b, or the instructor mock.</a:t>
            </a:r>
          </a:p>
          <a:p>
            <a:r>
              <a:t>Step numbers match labs/01-hello-model/README.md (file prefix = step). Suggested pacing (not in the README): steps 1–4 = core 15; step 5 by minute 20; stretch after that.</a:t>
            </a:r>
          </a:p>
          <a:p>
            <a:r>
              <a:t>Timing: ~30 min.</a:t>
            </a:r>
          </a:p>
          <a:p>
            <a:r>
              <a:t>Sources: labs/01-hello-model</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[E-01-S1]</a:t>
            </a:r>
          </a:p>
          <a:p>
            <a:r>
              <a:t>Recap of Segment 1 (Foundations — concepts &amp; APIs) in three sentences — read the cards, no new content.</a:t>
            </a:r>
          </a:p>
          <a:p>
            <a:r>
              <a:t>Arc of the segment: From a bag of words to a callable function. The lab (Lab 1 — Hello, model) is where each card became code.</a:t>
            </a:r>
          </a:p>
          <a:p>
            <a:r>
              <a:t>Bridge: next is Segment 2 — Integrating AI — context, tools, standards; its motto: The context window is the product.</a:t>
            </a:r>
          </a:p>
          <a:p>
            <a:r>
              <a:t>Sources: Narrative plan v001 — 06_Narrative_Plan_v001.md</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[E-04]</a:t>
            </a:r>
          </a:p>
          <a:p>
            <a:r>
              <a:t>Thank you. Point to the references appendix (A-01): every fact slide of the day is listed there with its URL and the date it was checked.</a:t>
            </a:r>
          </a:p>
          <a:p>
            <a:r>
              <a:t>Remind people that the workshop keys are switched off after the event; the labs keep running on Ollama or the offline mock.</a:t>
            </a:r>
          </a:p>
          <a:p>
            <a:r>
              <a:t>VERIFY: contact / QR — speaker name, e-mail and QR code are not in the sources yet (LLM 101 slide 141 has the contact pattern to reuse).</a:t>
            </a:r>
          </a:p>
          <a:p>
            <a:r>
              <a:t>Sources: Narrative plan v001 — 06_Narrative_Plan_v001.md · labs/00-setup/SETUP.md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[A-00]</a:t>
            </a:r>
          </a:p>
          <a:p>
            <a:r>
              <a:t>Appendix: reference slides for after the day, not presented.</a:t>
            </a:r>
          </a:p>
          <a:p>
            <a:r>
              <a:t>A-01 lists every source cited in this deck (generated from refs.py; only the keys this deck actually cites). The catalog tables are generated from 05_Model_Catalog_2026-09.md at build time — numbers are never typed into the deck.</a:t>
            </a:r>
          </a:p>
          <a:p>
            <a:r>
              <a:t>Sources: Narrative plan v001 — 06_Narrative_Plan_v001.md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[A-02a]</a:t>
            </a:r>
          </a:p>
          <a:p>
            <a:r>
              <a:t>Reference slide, not presented in the talk. It collects LLM 101 slides 20, 21 and 23, cut because S1-03 to S1-06 cover the same ground. Point attendees here for the 2017 paper, the Annotated Transformer and Karpathy’s course.</a:t>
            </a:r>
          </a:p>
          <a:p>
            <a:r>
              <a:t>Sources: LLM_101_100.pptx (DayOfData2026/LLM_101) — text in ref/llm101/slides.md · https://arxiv.org/abs/1706.03762 · https://projector.tensorflow.org · https://atlas.nomic.ai/discover · https://poloclub.github.io/wizmap · https://nlp.seas.harvard.edu/annotated-transformer · https://karpathy.ai/zero-to-hero.html</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[A-02b]</a:t>
            </a:r>
          </a:p>
          <a:p>
            <a:r>
              <a:t>Reference slide, not presented: LLM 101 slides 27, 29, 34 and 35. GPT-4 architecture numbers are leaks, never confirmed by OpenAI — say “reported” if you use them. The Altman line: LLM 101 quoted it as “much more than $50M–$100M — but we don’t share”; the widely reported exchange (MIT event, April 2023, via Wired) is the shorter “It’s more than that.”, his answer to whether GPT-4 cost $100 M to train. S1-10 and S1-16 carry the story in the talk.</a:t>
            </a:r>
          </a:p>
          <a:p>
            <a:r>
              <a:t>Altman quote corrected after the fact-check of 2026-09-23 (web-checked).</a:t>
            </a:r>
          </a:p>
          <a:p>
            <a:r>
              <a:t>Sources: LLM_101_100.pptx (DayOfData2026/LLM_101) — text in ref/llm101/slides.md · https://huggingface.co/bigscience/bloom · https://arxiv.org/pdf/2005.14165 · https://arxiv.org/abs/2303.12712 · https://research.google/blog/mixture-of-experts-with-expert-choice-routing · https://x.com/peterhartree/status/1648423541837299713</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[A-02c]</a:t>
            </a:r>
          </a:p>
          <a:p>
            <a:r>
              <a:t>Reference slide, not presented in the talk. LLM 101 slide 45 covered interpretability (sparse autoencoders, Golden Gate Claude); slide 41 showed Gemini Diffusion with a video example that stays in the LLM 101 folder. S1-19 carries the diffusion-LM idea in the talk (it is a trim slide in the 75-minute cut).</a:t>
            </a:r>
          </a:p>
          <a:p>
            <a:r>
              <a:t>Sources: LLM_101_100.pptx (DayOfData2026/LLM_101) — text in ref/llm101/slides.md · https://www.anthropic.com/news/golden-gate-claude · https://neuronpedia.org · https://transformer-circuits.pub · https://deepmind.google/models/gemini-diffusion</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[A-02d]</a:t>
            </a:r>
          </a:p>
          <a:p>
            <a:r>
              <a:t>Reference slide, not presented in the talk. It merges LLM 101 slide 46 (every live tool) with slides 48–50: the Shoggoth metaphor and its reading list (Alignment Forum “Goodbye Shoggoth, the Stage”, LessWrong “Why assume there’s a Shoggoth?” and “The Waluigi Effect”). The concept pieces are attempts to make sense of LLMs, not accepted truth — say so if you ever show it (LLM 101 slide 50 says the same).</a:t>
            </a:r>
          </a:p>
          <a:p>
            <a:r>
              <a:t>Sources: LLM_101_100.pptx (DayOfData2026/LLM_101) — text in ref/llm101/slides.md · https://poloclub.github.io/transformer-explainer · https://bbycroft.net/llm · https://github.com/jessevig/bertviz · https://crookedtimber.org/2023/07/03/shoggoths-amongst-us · https://lesswrong.com/posts/D7PumeYTDPfBTp3i7/the-waluigi-effect-mega-post</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[A-01a]</a:t>
            </a:r>
          </a:p>
          <a:p>
            <a:r>
              <a:t>Generated from refs.py (merged REFS of all deck modules) — only the sources this deck cites, in the order of their first use; "Used on" lists slide ids. Links are clickable in the file and the PDF; the full list with every URL is 07_References_v001.md (refs.write_markdown).</a:t>
            </a:r>
          </a:p>
          <a:p>
            <a:r>
              <a:t>Full URLs on this page: Workshop plan v001 — 00_Workshop_Plan.md · labs/README.md · labs/.env.example · labs/00-setup/SETUP.md · Gateway policy attendee-policy.xml — infra/policies/attendee-policy.xml · Foundry provisioning plan — 01_Foundry_Provisioning_Plan.md · APIM llm-token-limit policy — https://learn.microsoft.com/en-us/azure/api-management/llm-token-limit-policy · LLM 101 deck (Day of Data 2026) — LLM_101_100.pptx (DayOfData2026/LLM_101) — text in ref/llm101/slides.md · Narrative plan v001 — 06_Narrative_Plan_v001.md · Model catalog §0 (checked 2026-09-21) — 05_Model_Catalog_2026-09.md · Snippet verification 2026-09-22 — research/2026-09-22_framework-snippet-verification.md · genai-landscape-research skill — skills/genai-landscape-research/SKILL.md · check_env.py / .cs / .mjs — labs/00-setup/check_env.py · mock_openai_server.py — labs/00-setup/mock/mock_openai_server.py · Transformer Explainer (Polo Club) — https://poloclub.github.io/transformer-explainer</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[A-01b]</a:t>
            </a:r>
          </a:p>
          <a:p>
            <a:r>
              <a:t>Generated from refs.py (merged REFS of all deck modules) — only the sources this deck cites, in the order of their first use; "Used on" lists slide ids. Links are clickable in the file and the PDF; the full list with every URL is 07_References_v001.md (refs.write_markdown).</a:t>
            </a:r>
          </a:p>
          <a:p>
            <a:r>
              <a:t>Full URLs on this page: Transformer Explainer source (GitHub) — https://github.com/poloclub/transformer-explainer · LLM visualisation (bbycroft.net) — https://bbycroft.net/llm · LLM-Viewer — http://llm-viewer.com · bertviz — https://github.com/jessevig/bertviz · tiktokenizer — https://tiktokenizer.vercel.app · GPT-3 paper (arXiv 2005.14165) — https://arxiv.org/pdf/2005.14165 · OpenAI, InstructGPT (2022) — https://openai.com/index/instruction-following · Epoch AI model database — https://epoch.ai/data/ai-models · Foundry access research 2026-09-19 — research/2026-09-19_foundry-access-for-workshop.md · TensorFlow Embedding Projector — https://projector.tensorflow.org · Vaswani et al. 2017, Attention Is All You Need — https://arxiv.org/abs/1706.03762 · BERT paper (arXiv 1810.04805) — https://arxiv.org/abs/1810.04805 · Raschka, The Big LLM Architecture Comparison — https://magazine.sebastianraschka.com/p/the-big-llm-architecture-comparison · OpenAI, Better language models (GPT-2) — https://openai.com/index/better-language-models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[A-01c]</a:t>
            </a:r>
          </a:p>
          <a:p>
            <a:r>
              <a:t>Generated from refs.py (merged REFS of all deck modules) — only the sources this deck cites, in the order of their first use; "Used on" lists slide ids. Links are clickable in the file and the PDF; the full list with every URL is 07_References_v001.md (refs.write_markdown).</a:t>
            </a:r>
          </a:p>
          <a:p>
            <a:r>
              <a:t>Full URLs on this page: Chinchilla paper (arXiv 2203.15556) — https://arxiv.org/abs/2203.15556 · OpenAI, Introducing ChatGPT (2022) — https://openai.com/index/chatgpt · Hugging Face TRL docs — https://huggingface.co/docs/trl · DAPO paper (arXiv 2503.14476) — https://arxiv.org/abs/2503.14476 · DeepSeek-R1 (arXiv 2501.12948) — https://arxiv.org/abs/2501.12948 · Beyond the Slop (daenet, Jul 2026) — research/beyond_the_slop/Beyond_the_Slop_GenAI_2026_slide_text.txt · Lab 1 code (tested 2026-09-22) — labs/01-hello-model · DeepSeek-V3 (arXiv 2412.19437) — https://arxiv.org/abs/2412.19437 · Model catalog §2 (checked 2026-09-21) — 05_Model_Catalog_2026-09.md · Raschka, LLM architecture gallery (MLA) — https://sebastianraschka.com/llm-architecture-gallery/mla · Inception Labs (Mercury) — https://www.inceptionlabs.ai · arXiv 2506.17298 — https://arxiv.org/abs/2506.17298 · Google DeepMind, Gemini Diffusion — https://deepmind.google/models/gemini-diffusion · OpenAI 2024, Learning to reason (o1) — https://openai.com/index/learning-to-reason-with-llms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[A-01d]</a:t>
            </a:r>
          </a:p>
          <a:p>
            <a:r>
              <a:t>Generated from refs.py (merged REFS of all deck modules) — only the sources this deck cites, in the order of their first use; "Used on" lists slide ids. Links are clickable in the file and the PDF; the full list with every URL is 07_References_v001.md (refs.write_markdown).</a:t>
            </a:r>
          </a:p>
          <a:p>
            <a:r>
              <a:t>Full URLs on this page: Model catalog §1 (checked 2026-09-21) — 05_Model_Catalog_2026-09.md · Artificial Analysis — https://artificialanalysis.ai · OpenAI, Introducing GPT-5 — https://openai.com/index/introducing-gpt-5 · LiveBench — https://livebench.ai · Lab 2 code (tested 2026-09-22) — labs/02-rag-mcp · Verified snippets 2026-09-22 — labs/_verified_snippets · Foundry deployment types — https://learn.microsoft.com/en-us/azure/foundry/foundry-models/concepts/deployment-types · OpenAI prompt caching guide — https://developers.openai.com/api/docs/guides/prompt-caching · Framework landscape 2026-09-19 — research/2026-09-19_framework-landscape.md · OpenAI API deprecations — https://developers.openai.com/api/docs/deprecations · Foundry SDK overview (endpoints) — https://learn.microsoft.com/en-us/azure/foundry/how-to/develop/sdk-overview · OpenRouter docs — https://openrouter.ai/docs/quickstart · LangChain v1 release notes — https://docs.langchain.com/oss/python/releases/langchain-v1 · Vercel, AI SDK 7 — https://vercel.com/blog/ai-sdk-7</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[A-01e]</a:t>
            </a:r>
          </a:p>
          <a:p>
            <a:r>
              <a:t>Generated from refs.py (merged REFS of all deck modules) — only the sources this deck cites, in the order of their first use; "Used on" lists slide ids. Links are clickable in the file and the PDF; the full list with every URL is 07_References_v001.md (refs.write_markdown).</a:t>
            </a:r>
          </a:p>
          <a:p>
            <a:r>
              <a:t>Full URLs on this page: Model catalog §10 (checked 2026-09-21) — 05_Model_Catalog_2026-09.md · Model catalog §4 (checked 2026-09-21) — 05_Model_Catalog_2026-09.md · Jev / System One note 2026-09-21 — research/2026-09-21_jev-system-one-models.md · TypeSafe AI, Introducing Jev — https://typesafe.ai/blog/introducing-system-one-models-and-jev · OpenAI 2025, Why LMs hallucinate — https://openai.com/index/why-language-models-hallucinate · Anthropic, circuit tracing — https://anthropic.com/research/tracing-thoughts-language-model · GPT-4 report (2303.08774) — https://arxiv.org/abs/2303.08774 · Chain-of-Verification (arXiv 2309.11495) — https://arxiv.org/abs/2309.11495 · Artificial Analysis, AA-Omniscience — https://artificialanalysis.ai/evaluations/omniscience · BigScience BLOOM model card — https://huggingface.co/bigscience/bloom · Altman at MIT, Apr 2023 (via Wired) — https://x.com/peterhartree/status/1648423541837299713 · Anthropic, Golden Gate Claude — https://www.anthropic.com/news/golden-gate-claude · Crooked Timber, Shoggoths amongst us — https://crookedtimber.org/2023/07/03/shoggoths-amongst-us · LessWrong, The Waluigi Effect — https://lesswrong.com/posts/D7PumeYTDPfBTp3i7/the-waluigi-effect-mega-post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eg"/><Relationship Id="rId3" Type="http://schemas.openxmlformats.org/officeDocument/2006/relationships/image" Target="../media/image10.jpe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11.jpeg"/><Relationship Id="rId4" Type="http://schemas.openxmlformats.org/officeDocument/2006/relationships/image" Target="../media/image12.jpe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11.jpeg"/><Relationship Id="rId4" Type="http://schemas.openxmlformats.org/officeDocument/2006/relationships/image" Target="../media/image12.jpeg"/><Relationship Id="rId5" Type="http://schemas.openxmlformats.org/officeDocument/2006/relationships/image" Target="../media/image13.jpe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eg"/><Relationship Id="rId3" Type="http://schemas.openxmlformats.org/officeDocument/2006/relationships/image" Target="../media/image15.jpe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eg"/><Relationship Id="rId3" Type="http://schemas.openxmlformats.org/officeDocument/2006/relationships/image" Target="../media/image17.jpeg"/><Relationship Id="rId4" Type="http://schemas.openxmlformats.org/officeDocument/2006/relationships/image" Target="../media/image18.jpe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jpeg"/><Relationship Id="rId3" Type="http://schemas.openxmlformats.org/officeDocument/2006/relationships/image" Target="../media/image20.jpeg"/><Relationship Id="rId4" Type="http://schemas.openxmlformats.org/officeDocument/2006/relationships/image" Target="../media/image21.jpeg"/><Relationship Id="rId5" Type="http://schemas.openxmlformats.org/officeDocument/2006/relationships/image" Target="../media/image22.jpe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11.jpeg"/><Relationship Id="rId4" Type="http://schemas.openxmlformats.org/officeDocument/2006/relationships/image" Target="../media/image12.jpeg"/><Relationship Id="rId5" Type="http://schemas.openxmlformats.org/officeDocument/2006/relationships/image" Target="../media/image13.jpeg"/><Relationship Id="rId6" Type="http://schemas.openxmlformats.org/officeDocument/2006/relationships/image" Target="../media/image23.jpe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11.jpeg"/><Relationship Id="rId4" Type="http://schemas.openxmlformats.org/officeDocument/2006/relationships/image" Target="../media/image12.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11.jpeg"/><Relationship Id="rId4" Type="http://schemas.openxmlformats.org/officeDocument/2006/relationships/image" Target="../media/image12.jpeg"/><Relationship Id="rId5" Type="http://schemas.openxmlformats.org/officeDocument/2006/relationships/image" Target="../media/image13.jpe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jpeg"/><Relationship Id="rId3" Type="http://schemas.openxmlformats.org/officeDocument/2006/relationships/image" Target="../media/image25.jpeg"/><Relationship Id="rId4" Type="http://schemas.openxmlformats.org/officeDocument/2006/relationships/image" Target="../media/image26.jpeg"/><Relationship Id="rId5" Type="http://schemas.openxmlformats.org/officeDocument/2006/relationships/image" Target="../media/image27.jpeg"/><Relationship Id="rId6" Type="http://schemas.openxmlformats.org/officeDocument/2006/relationships/image" Target="../media/image28.jpe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jpg"/><Relationship Id="rId3" Type="http://schemas.openxmlformats.org/officeDocument/2006/relationships/image" Target="../media/image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emf"/></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jpe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jpg"/><Relationship Id="rId3" Type="http://schemas.openxmlformats.org/officeDocument/2006/relationships/image" Target="../media/image3.png"/><Relationship Id="rId4" Type="http://schemas.openxmlformats.org/officeDocument/2006/relationships/image" Target="../media/image3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jpg"/><Relationship Id="rId3" Type="http://schemas.openxmlformats.org/officeDocument/2006/relationships/image" Target="../media/image33.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jpg"/><Relationship Id="rId3" Type="http://schemas.openxmlformats.org/officeDocument/2006/relationships/image" Target="../media/image33.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jpe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jpe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jpe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e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e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eg"/><Relationship Id="rId3" Type="http://schemas.openxmlformats.org/officeDocument/2006/relationships/image" Target="../media/image10.jpe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 Id="rId3" Type="http://schemas.openxmlformats.org/officeDocument/2006/relationships/image" Target="../media/image11.jpeg"/><Relationship Id="rId4" Type="http://schemas.openxmlformats.org/officeDocument/2006/relationships/image" Target="../media/image12.jpe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 Id="rId3" Type="http://schemas.openxmlformats.org/officeDocument/2006/relationships/image" Target="../media/image11.jpeg"/><Relationship Id="rId4" Type="http://schemas.openxmlformats.org/officeDocument/2006/relationships/image" Target="../media/image12.jpeg"/><Relationship Id="rId5" Type="http://schemas.openxmlformats.org/officeDocument/2006/relationships/image" Target="../media/image13.jpe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jpeg"/><Relationship Id="rId3" Type="http://schemas.openxmlformats.org/officeDocument/2006/relationships/image" Target="../media/image15.jpe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jpeg"/><Relationship Id="rId3" Type="http://schemas.openxmlformats.org/officeDocument/2006/relationships/image" Target="../media/image17.jpeg"/><Relationship Id="rId4" Type="http://schemas.openxmlformats.org/officeDocument/2006/relationships/image" Target="../media/image18.jpe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jpeg"/><Relationship Id="rId3" Type="http://schemas.openxmlformats.org/officeDocument/2006/relationships/image" Target="../media/image20.jpeg"/><Relationship Id="rId4" Type="http://schemas.openxmlformats.org/officeDocument/2006/relationships/image" Target="../media/image21.jpeg"/><Relationship Id="rId5" Type="http://schemas.openxmlformats.org/officeDocument/2006/relationships/image" Target="../media/image22.jpe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 Id="rId3" Type="http://schemas.openxmlformats.org/officeDocument/2006/relationships/image" Target="../media/image11.jpeg"/><Relationship Id="rId4" Type="http://schemas.openxmlformats.org/officeDocument/2006/relationships/image" Target="../media/image12.jpeg"/><Relationship Id="rId5" Type="http://schemas.openxmlformats.org/officeDocument/2006/relationships/image" Target="../media/image13.jpeg"/><Relationship Id="rId6" Type="http://schemas.openxmlformats.org/officeDocument/2006/relationships/image" Target="../media/image23.jpe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 Id="rId3" Type="http://schemas.openxmlformats.org/officeDocument/2006/relationships/image" Target="../media/image11.jpeg"/><Relationship Id="rId4" Type="http://schemas.openxmlformats.org/officeDocument/2006/relationships/image" Target="../media/image12.jpe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 Id="rId3" Type="http://schemas.openxmlformats.org/officeDocument/2006/relationships/image" Target="../media/image11.jpeg"/><Relationship Id="rId4" Type="http://schemas.openxmlformats.org/officeDocument/2006/relationships/image" Target="../media/image12.jpeg"/><Relationship Id="rId5" Type="http://schemas.openxmlformats.org/officeDocument/2006/relationships/image" Target="../media/image13.jpe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jpeg"/><Relationship Id="rId3" Type="http://schemas.openxmlformats.org/officeDocument/2006/relationships/image" Target="../media/image25.jpeg"/><Relationship Id="rId4" Type="http://schemas.openxmlformats.org/officeDocument/2006/relationships/image" Target="../media/image26.jpeg"/><Relationship Id="rId5" Type="http://schemas.openxmlformats.org/officeDocument/2006/relationships/image" Target="../media/image27.jpeg"/><Relationship Id="rId6" Type="http://schemas.openxmlformats.org/officeDocument/2006/relationships/image" Target="../media/image28.jpe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jpg"/><Relationship Id="rId3" Type="http://schemas.openxmlformats.org/officeDocument/2006/relationships/image" Target="../media/image33.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jpg"/><Relationship Id="rId3" Type="http://schemas.openxmlformats.org/officeDocument/2006/relationships/image" Target="../media/image33.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0.emf"/></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4B2CB-E17F-657B-15B3-DB0E98286C8C}"/>
              </a:ext>
            </a:extLst>
          </p:cNvPr>
          <p:cNvSpPr>
            <a:spLocks noGrp="1"/>
          </p:cNvSpPr>
          <p:nvPr>
            <p:ph type="title" hasCustomPrompt="1"/>
          </p:nvPr>
        </p:nvSpPr>
        <p:spPr bwMode="white">
          <a:xfrm>
            <a:off x="544922" y="1948409"/>
            <a:ext cx="5577840" cy="1107996"/>
          </a:xfrm>
          <a:noFill/>
        </p:spPr>
        <p:txBody>
          <a:bodyPr lIns="0" tIns="0" rIns="0" bIns="0" anchor="b" anchorCtr="0">
            <a:spAutoFit/>
          </a:bodyPr>
          <a:lstStyle>
            <a:lvl1pPr algn="l" defTabSz="932742" rtl="0" eaLnBrk="1" latinLnBrk="0" hangingPunct="1">
              <a:lnSpc>
                <a:spcPct val="100000"/>
              </a:lnSpc>
              <a:spcBef>
                <a:spcPct val="0"/>
              </a:spcBef>
              <a:buNone/>
              <a:defRPr lang="en-US" sz="4000" b="0" kern="1200" cap="none" spc="-50" baseline="0" dirty="0">
                <a:ln w="3175">
                  <a:noFill/>
                </a:ln>
                <a:solidFill>
                  <a:schemeClr val="tx1"/>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dirty="0"/>
              <a:t>Event name or presentation title </a:t>
            </a:r>
          </a:p>
        </p:txBody>
      </p:sp>
      <p:sp>
        <p:nvSpPr>
          <p:cNvPr id="3" name="Text Placeholder 4">
            <a:extLst>
              <a:ext uri="{FF2B5EF4-FFF2-40B4-BE49-F238E27FC236}">
                <a16:creationId xmlns:a16="http://schemas.microsoft.com/office/drawing/2014/main" id="{2D1683EB-8052-DD8D-9241-2E790290F054}"/>
              </a:ext>
            </a:extLst>
          </p:cNvPr>
          <p:cNvSpPr>
            <a:spLocks noGrp="1"/>
          </p:cNvSpPr>
          <p:nvPr>
            <p:ph type="body" sz="quarter" idx="12" hasCustomPrompt="1"/>
          </p:nvPr>
        </p:nvSpPr>
        <p:spPr bwMode="white">
          <a:xfrm>
            <a:off x="544921" y="3485028"/>
            <a:ext cx="5577839" cy="276999"/>
          </a:xfrm>
          <a:noFill/>
        </p:spPr>
        <p:txBody>
          <a:bodyPr wrap="square" lIns="0" tIns="0" rIns="0" bIns="0">
            <a:spAutoFit/>
          </a:bodyPr>
          <a:lstStyle>
            <a:lvl1pPr marL="0" indent="0">
              <a:spcBef>
                <a:spcPts val="0"/>
              </a:spcBef>
              <a:buNone/>
              <a:defRPr sz="1800" spc="0" baseline="0">
                <a:solidFill>
                  <a:schemeClr val="tx1"/>
                </a:solidFill>
                <a:latin typeface="+mn-lt"/>
                <a:cs typeface="Segoe UI" panose="020B0502040204020203" pitchFamily="34" charset="0"/>
              </a:defRPr>
            </a:lvl1pPr>
          </a:lstStyle>
          <a:p>
            <a:pPr lvl="0"/>
            <a:r>
              <a:rPr lang="en-US" dirty="0"/>
              <a:t>The Software of </a:t>
            </a:r>
            <a:r>
              <a:rPr lang="en-US" dirty="0" err="1"/>
              <a:t>Tomorrrow</a:t>
            </a:r>
            <a:r>
              <a:rPr lang="en-US" dirty="0"/>
              <a:t> – Delivered Today.</a:t>
            </a:r>
          </a:p>
        </p:txBody>
      </p:sp>
      <p:pic>
        <p:nvPicPr>
          <p:cNvPr id="6" name="Picture 5">
            <a:extLst>
              <a:ext uri="{FF2B5EF4-FFF2-40B4-BE49-F238E27FC236}">
                <a16:creationId xmlns:a16="http://schemas.microsoft.com/office/drawing/2014/main" id="{F249874B-A7F6-D873-41D3-03DCB02A2170}"/>
              </a:ext>
            </a:extLst>
          </p:cNvPr>
          <p:cNvPicPr>
            <a:picLocks noChangeAspect="1"/>
          </p:cNvPicPr>
          <p:nvPr userDrawn="1"/>
        </p:nvPicPr>
        <p:blipFill>
          <a:blip r:embed="rId3"/>
          <a:stretch>
            <a:fillRect/>
          </a:stretch>
        </p:blipFill>
        <p:spPr>
          <a:xfrm>
            <a:off x="544921" y="152120"/>
            <a:ext cx="1307016" cy="777986"/>
          </a:xfrm>
          <a:prstGeom prst="rect">
            <a:avLst/>
          </a:prstGeom>
        </p:spPr>
      </p:pic>
    </p:spTree>
    <p:extLst>
      <p:ext uri="{BB962C8B-B14F-4D97-AF65-F5344CB8AC3E}">
        <p14:creationId xmlns:p14="http://schemas.microsoft.com/office/powerpoint/2010/main" val="717829122"/>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bwMode="white">
          <a:xfrm>
            <a:off x="584200" y="2425780"/>
            <a:ext cx="5577840" cy="1107996"/>
          </a:xfrm>
          <a:noFill/>
        </p:spPr>
        <p:txBody>
          <a:bodyPr lIns="0" tIns="0" rIns="0" bIns="0" anchor="b" anchorCtr="0">
            <a:spAutoFit/>
          </a:bodyPr>
          <a:lstStyle>
            <a:lvl1pPr algn="l" defTabSz="932742" rtl="0" eaLnBrk="1" latinLnBrk="0" hangingPunct="1">
              <a:lnSpc>
                <a:spcPct val="100000"/>
              </a:lnSpc>
              <a:spcBef>
                <a:spcPct val="0"/>
              </a:spcBef>
              <a:buNone/>
              <a:defRPr lang="en-US" sz="4000" b="0" kern="1200" cap="none" spc="-50" baseline="0" dirty="0">
                <a:ln w="3175">
                  <a:noFill/>
                </a:ln>
                <a:solidFill>
                  <a:schemeClr val="bg1"/>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dirty="0"/>
              <a:t>Event name or presentation title </a:t>
            </a:r>
          </a:p>
        </p:txBody>
      </p:sp>
      <p:sp>
        <p:nvSpPr>
          <p:cNvPr id="5" name="Text Placeholder 4"/>
          <p:cNvSpPr>
            <a:spLocks noGrp="1"/>
          </p:cNvSpPr>
          <p:nvPr>
            <p:ph type="body" sz="quarter" idx="12" hasCustomPrompt="1"/>
          </p:nvPr>
        </p:nvSpPr>
        <p:spPr bwMode="white">
          <a:xfrm>
            <a:off x="584199" y="3962399"/>
            <a:ext cx="557783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dirty="0"/>
              <a:t>The Software of </a:t>
            </a:r>
            <a:r>
              <a:rPr lang="en-US" dirty="0" err="1"/>
              <a:t>Tomorrrow</a:t>
            </a:r>
            <a:r>
              <a:rPr lang="en-US" dirty="0"/>
              <a:t> – Delivered Today.</a:t>
            </a:r>
          </a:p>
        </p:txBody>
      </p:sp>
      <p:pic>
        <p:nvPicPr>
          <p:cNvPr id="4" name="Picture 3">
            <a:extLst>
              <a:ext uri="{FF2B5EF4-FFF2-40B4-BE49-F238E27FC236}">
                <a16:creationId xmlns:a16="http://schemas.microsoft.com/office/drawing/2014/main" id="{E0168319-9987-2C60-6DCC-D542B8BDECF9}"/>
              </a:ext>
            </a:extLst>
          </p:cNvPr>
          <p:cNvPicPr>
            <a:picLocks noChangeAspect="1"/>
          </p:cNvPicPr>
          <p:nvPr userDrawn="1"/>
        </p:nvPicPr>
        <p:blipFill>
          <a:blip r:embed="rId3"/>
          <a:stretch>
            <a:fillRect/>
          </a:stretch>
        </p:blipFill>
        <p:spPr>
          <a:xfrm>
            <a:off x="584199" y="318281"/>
            <a:ext cx="1307016" cy="777986"/>
          </a:xfrm>
          <a:prstGeom prst="rect">
            <a:avLst/>
          </a:prstGeom>
        </p:spPr>
      </p:pic>
    </p:spTree>
    <p:extLst>
      <p:ext uri="{BB962C8B-B14F-4D97-AF65-F5344CB8AC3E}">
        <p14:creationId xmlns:p14="http://schemas.microsoft.com/office/powerpoint/2010/main" val="1633138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Segoe Sans Display Semibold" pitchFamily="2" charset="0"/>
                <a:cs typeface="Segoe Sans Display Semibold" pitchFamily="2"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276999"/>
          </a:xfrm>
          <a:noFill/>
        </p:spPr>
        <p:txBody>
          <a:bodyPr wrap="square" lIns="0" tIns="0" rIns="0" bIns="0">
            <a:spAutoFit/>
          </a:bodyPr>
          <a:lstStyle>
            <a:lvl1pPr marL="0" indent="0">
              <a:spcBef>
                <a:spcPts val="0"/>
              </a:spcBef>
              <a:buNone/>
              <a:defRPr sz="18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4" name="Picture 3">
            <a:extLst>
              <a:ext uri="{FF2B5EF4-FFF2-40B4-BE49-F238E27FC236}">
                <a16:creationId xmlns:a16="http://schemas.microsoft.com/office/drawing/2014/main" id="{7BA40C98-8BA3-8FE1-8D1D-CD52B65611CC}"/>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5343970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pic>
        <p:nvPicPr>
          <p:cNvPr id="5" name="Picture 4">
            <a:extLst>
              <a:ext uri="{FF2B5EF4-FFF2-40B4-BE49-F238E27FC236}">
                <a16:creationId xmlns:a16="http://schemas.microsoft.com/office/drawing/2014/main" id="{43F7C16A-CB57-4B52-16F1-46EC9146B997}"/>
              </a:ext>
            </a:extLst>
          </p:cNvPr>
          <p:cNvPicPr>
            <a:picLocks noChangeAspect="1"/>
          </p:cNvPicPr>
          <p:nvPr userDrawn="1"/>
        </p:nvPicPr>
        <p:blipFill>
          <a:blip r:embed="rId3"/>
          <a:stretch>
            <a:fillRect/>
          </a:stretch>
        </p:blipFill>
        <p:spPr>
          <a:xfrm>
            <a:off x="9051445" y="6011807"/>
            <a:ext cx="1307016" cy="777986"/>
          </a:xfrm>
          <a:prstGeom prst="rect">
            <a:avLst/>
          </a:prstGeom>
        </p:spPr>
      </p:pic>
    </p:spTree>
    <p:extLst>
      <p:ext uri="{BB962C8B-B14F-4D97-AF65-F5344CB8AC3E}">
        <p14:creationId xmlns:p14="http://schemas.microsoft.com/office/powerpoint/2010/main" val="322482736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mp; Non-bulle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62A1E400-7BEA-5DAA-C9FD-6AB535DFD135}"/>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179657981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lumn Non-bulle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BC815E9D-1B9A-F9D6-AAFD-87240CDC5928}"/>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367624214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lumn Bullet with Subhead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640F0E3A-8E11-B9E6-77DA-936F67762C0E}"/>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388613108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wo Column Content with Subhead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CFADFBB8-E1C1-D5AB-8154-CBA2D9EFB6B9}"/>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pic>
        <p:nvPicPr>
          <p:cNvPr id="5" name="Picture 4">
            <a:extLst>
              <a:ext uri="{FF2B5EF4-FFF2-40B4-BE49-F238E27FC236}">
                <a16:creationId xmlns:a16="http://schemas.microsoft.com/office/drawing/2014/main" id="{413BDD84-7211-1C60-C033-22B94D883080}"/>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165689722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lumn Bullet with Subtitl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FD929F23-BA9E-B0CC-0E0B-57A879219BA6}"/>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3077113435"/>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our Column Bullet with Subtitl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759B869F-282F-B18A-F8BC-B8285FB6D964}"/>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104526567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Five Column Bullet with Subtitl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3DB69B6A-11F3-C1B6-1EDA-3135281B3EEF}"/>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580324421"/>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pic>
        <p:nvPicPr>
          <p:cNvPr id="4" name="Picture 3">
            <a:extLst>
              <a:ext uri="{FF2B5EF4-FFF2-40B4-BE49-F238E27FC236}">
                <a16:creationId xmlns:a16="http://schemas.microsoft.com/office/drawing/2014/main" id="{8C23ABDE-B02A-3F1E-AA58-463ED4C21B39}"/>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210317252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Only - left side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pic>
        <p:nvPicPr>
          <p:cNvPr id="4" name="Picture 3">
            <a:extLst>
              <a:ext uri="{FF2B5EF4-FFF2-40B4-BE49-F238E27FC236}">
                <a16:creationId xmlns:a16="http://schemas.microsoft.com/office/drawing/2014/main" id="{318741BF-D9C2-1181-68EA-8EDB6ACA62A3}"/>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428162674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mall title - half p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pic>
        <p:nvPicPr>
          <p:cNvPr id="4" name="Picture 3">
            <a:extLst>
              <a:ext uri="{FF2B5EF4-FFF2-40B4-BE49-F238E27FC236}">
                <a16:creationId xmlns:a16="http://schemas.microsoft.com/office/drawing/2014/main" id="{836D453B-3073-58F7-694F-9512BD804CC1}"/>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333033344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2744721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92596816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6388858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54328601"/>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12290008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56823867"/>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1357119"/>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991869532"/>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6613830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73682457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01018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3674216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123621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8389390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5728226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Developer Code Layout">
    <p:bg>
      <p:bgPr>
        <a:solidFill>
          <a:srgbClr val="E1D3C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56848616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de Bottom">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65763921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de Top">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69285922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de Right sid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85784024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de Left sd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98641691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Demo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64008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rgbClr val="000FFF"/>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64008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bg1"/>
                </a:solidFill>
                <a:latin typeface="+mn-lt"/>
              </a:defRPr>
            </a:lvl1pPr>
          </a:lstStyle>
          <a:p>
            <a:pPr lvl="0"/>
            <a:r>
              <a:rPr lang="en-US"/>
              <a:t>Speaker name</a:t>
            </a:r>
          </a:p>
        </p:txBody>
      </p:sp>
      <p:pic>
        <p:nvPicPr>
          <p:cNvPr id="4" name="Picture 3">
            <a:extLst>
              <a:ext uri="{FF2B5EF4-FFF2-40B4-BE49-F238E27FC236}">
                <a16:creationId xmlns:a16="http://schemas.microsoft.com/office/drawing/2014/main" id="{7792B67C-E6F5-5E0B-D0DD-351EF9355C5A}"/>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15560318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emo slide 2">
    <p:bg>
      <p:bgPr>
        <a:solidFill>
          <a:srgbClr val="D7D2CB"/>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81276399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667512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rgbClr val="000FFF"/>
                </a:solidFill>
                <a:effectLst/>
                <a:latin typeface="+mj-lt"/>
                <a:ea typeface="+mn-ea"/>
                <a:cs typeface="Segoe UI" pitchFamily="34" charset="0"/>
              </a:defRPr>
            </a:lvl1pPr>
          </a:lstStyle>
          <a:p>
            <a:r>
              <a:rPr lang="en-US" dirty="0"/>
              <a:t>Section title</a:t>
            </a:r>
          </a:p>
        </p:txBody>
      </p:sp>
      <p:pic>
        <p:nvPicPr>
          <p:cNvPr id="4" name="Picture 3">
            <a:extLst>
              <a:ext uri="{FF2B5EF4-FFF2-40B4-BE49-F238E27FC236}">
                <a16:creationId xmlns:a16="http://schemas.microsoft.com/office/drawing/2014/main" id="{76F9DBEA-5037-3989-110D-63F3EC5C9735}"/>
              </a:ext>
            </a:extLst>
          </p:cNvPr>
          <p:cNvPicPr>
            <a:picLocks noChangeAspect="1"/>
          </p:cNvPicPr>
          <p:nvPr userDrawn="1"/>
        </p:nvPicPr>
        <p:blipFill>
          <a:blip r:embed="rId3"/>
          <a:stretch>
            <a:fillRect/>
          </a:stretch>
        </p:blipFill>
        <p:spPr>
          <a:xfrm>
            <a:off x="585216" y="273912"/>
            <a:ext cx="1307016" cy="777986"/>
          </a:xfrm>
          <a:prstGeom prst="rect">
            <a:avLst/>
          </a:prstGeom>
        </p:spPr>
      </p:pic>
    </p:spTree>
    <p:extLst>
      <p:ext uri="{BB962C8B-B14F-4D97-AF65-F5344CB8AC3E}">
        <p14:creationId xmlns:p14="http://schemas.microsoft.com/office/powerpoint/2010/main" val="975556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ection Title 2">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3846281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685359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526021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59451973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Black Notes slide Layout">
    <p:bg bwMode="gray">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406547413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est pattern">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530C24-163F-15BF-3D01-A8CA8BF26885}"/>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295056137"/>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Walki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EB811E0-B33A-BBFB-1572-0865CD9739FE}"/>
              </a:ext>
            </a:extLst>
          </p:cNvPr>
          <p:cNvSpPr>
            <a:spLocks noGrp="1"/>
          </p:cNvSpPr>
          <p:nvPr>
            <p:ph type="title" hasCustomPrompt="1"/>
          </p:nvPr>
        </p:nvSpPr>
        <p:spPr bwMode="white">
          <a:xfrm>
            <a:off x="584200" y="1746705"/>
            <a:ext cx="5577840" cy="1107996"/>
          </a:xfrm>
          <a:noFill/>
        </p:spPr>
        <p:txBody>
          <a:bodyPr vert="horz" wrap="square" lIns="0" tIns="0" rIns="0" bIns="0" rtlCol="0" anchor="b" anchorCtr="0">
            <a:spAutoFit/>
          </a:bodyPr>
          <a:lstStyle>
            <a:lvl1pPr>
              <a:defRPr lang="en-US" sz="4000" b="0" kern="1200" cap="none" spc="-50" baseline="0" dirty="0">
                <a:ln w="3175">
                  <a:noFill/>
                </a:ln>
                <a:solidFill>
                  <a:schemeClr val="tx1"/>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dirty="0"/>
              <a:t>Event name or presentation title </a:t>
            </a:r>
          </a:p>
        </p:txBody>
      </p:sp>
      <p:sp>
        <p:nvSpPr>
          <p:cNvPr id="4" name="Text Placeholder 4">
            <a:extLst>
              <a:ext uri="{FF2B5EF4-FFF2-40B4-BE49-F238E27FC236}">
                <a16:creationId xmlns:a16="http://schemas.microsoft.com/office/drawing/2014/main" id="{E5239529-9FBA-2DF5-0EC8-B9A8A03AB753}"/>
              </a:ext>
            </a:extLst>
          </p:cNvPr>
          <p:cNvSpPr>
            <a:spLocks noGrp="1"/>
          </p:cNvSpPr>
          <p:nvPr>
            <p:ph type="body" sz="quarter" idx="12" hasCustomPrompt="1"/>
          </p:nvPr>
        </p:nvSpPr>
        <p:spPr bwMode="white">
          <a:xfrm>
            <a:off x="584200" y="3283323"/>
            <a:ext cx="5577840" cy="276999"/>
          </a:xfrm>
          <a:noFill/>
        </p:spPr>
        <p:txBody>
          <a:bodyPr wrap="square" lIns="0" tIns="0" rIns="0" bIns="0">
            <a:spAutoFit/>
          </a:bodyPr>
          <a:lstStyle>
            <a:lvl1pPr marL="0" indent="0">
              <a:spcBef>
                <a:spcPts val="0"/>
              </a:spcBef>
              <a:buNone/>
              <a:defRPr lang="en-US" sz="1800" kern="1200" spc="0" baseline="0" dirty="0">
                <a:solidFill>
                  <a:schemeClr val="tx1"/>
                </a:solidFill>
                <a:latin typeface="+mn-lt"/>
                <a:ea typeface="+mn-ea"/>
                <a:cs typeface="Segoe UI" panose="020B0502040204020203" pitchFamily="34" charset="0"/>
              </a:defRPr>
            </a:lvl1pPr>
          </a:lstStyle>
          <a:p>
            <a:pPr lvl="0"/>
            <a:r>
              <a:rPr lang="en-US" dirty="0"/>
              <a:t>The Software of </a:t>
            </a:r>
            <a:r>
              <a:rPr lang="en-US" dirty="0" err="1"/>
              <a:t>Tomorrrow</a:t>
            </a:r>
            <a:r>
              <a:rPr lang="en-US" dirty="0"/>
              <a:t> – Delivered Today.</a:t>
            </a:r>
          </a:p>
        </p:txBody>
      </p:sp>
      <p:pic>
        <p:nvPicPr>
          <p:cNvPr id="5" name="Picture 4">
            <a:extLst>
              <a:ext uri="{FF2B5EF4-FFF2-40B4-BE49-F238E27FC236}">
                <a16:creationId xmlns:a16="http://schemas.microsoft.com/office/drawing/2014/main" id="{0F1BE55F-45EA-0EF1-794A-A0D4F6E518DA}"/>
              </a:ext>
            </a:extLst>
          </p:cNvPr>
          <p:cNvPicPr>
            <a:picLocks noChangeAspect="1"/>
          </p:cNvPicPr>
          <p:nvPr userDrawn="1"/>
        </p:nvPicPr>
        <p:blipFill>
          <a:blip r:embed="rId3"/>
          <a:stretch>
            <a:fillRect/>
          </a:stretch>
        </p:blipFill>
        <p:spPr>
          <a:xfrm>
            <a:off x="9074692" y="6019257"/>
            <a:ext cx="1307016" cy="777986"/>
          </a:xfrm>
          <a:prstGeom prst="rect">
            <a:avLst/>
          </a:prstGeom>
        </p:spPr>
      </p:pic>
      <p:pic>
        <p:nvPicPr>
          <p:cNvPr id="8" name="Picture 7">
            <a:extLst>
              <a:ext uri="{FF2B5EF4-FFF2-40B4-BE49-F238E27FC236}">
                <a16:creationId xmlns:a16="http://schemas.microsoft.com/office/drawing/2014/main" id="{C9DE24C2-C0E0-7ABB-6D28-04A86D3AB6B8}"/>
              </a:ext>
            </a:extLst>
          </p:cNvPr>
          <p:cNvPicPr>
            <a:picLocks noChangeAspect="1"/>
          </p:cNvPicPr>
          <p:nvPr userDrawn="1"/>
        </p:nvPicPr>
        <p:blipFill>
          <a:blip r:embed="rId4"/>
          <a:stretch>
            <a:fillRect/>
          </a:stretch>
        </p:blipFill>
        <p:spPr>
          <a:xfrm>
            <a:off x="584200" y="311903"/>
            <a:ext cx="1366950" cy="813661"/>
          </a:xfrm>
          <a:prstGeom prst="rect">
            <a:avLst/>
          </a:prstGeom>
        </p:spPr>
      </p:pic>
    </p:spTree>
    <p:extLst>
      <p:ext uri="{BB962C8B-B14F-4D97-AF65-F5344CB8AC3E}">
        <p14:creationId xmlns:p14="http://schemas.microsoft.com/office/powerpoint/2010/main" val="4193230062"/>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bwMode="white">
          <a:xfrm>
            <a:off x="584200" y="2425781"/>
            <a:ext cx="5577840" cy="1107996"/>
          </a:xfrm>
          <a:noFill/>
        </p:spPr>
        <p:txBody>
          <a:bodyPr vert="horz" wrap="square" lIns="0" tIns="0" rIns="0" bIns="0" rtlCol="0" anchor="b" anchorCtr="0">
            <a:spAutoFit/>
          </a:bodyPr>
          <a:lstStyle>
            <a:lvl1pPr>
              <a:defRPr lang="en-US" sz="4000" b="0" kern="1200" cap="none" spc="-50" baseline="0" dirty="0">
                <a:ln w="3175">
                  <a:noFill/>
                </a:ln>
                <a:solidFill>
                  <a:schemeClr val="tx1"/>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dirty="0"/>
              <a:t>Event name or presentation title </a:t>
            </a:r>
          </a:p>
        </p:txBody>
      </p:sp>
      <p:sp>
        <p:nvSpPr>
          <p:cNvPr id="5" name="Text Placeholder 4"/>
          <p:cNvSpPr>
            <a:spLocks noGrp="1"/>
          </p:cNvSpPr>
          <p:nvPr>
            <p:ph type="body" sz="quarter" idx="12" hasCustomPrompt="1"/>
          </p:nvPr>
        </p:nvSpPr>
        <p:spPr bwMode="white">
          <a:xfrm>
            <a:off x="584200" y="3962399"/>
            <a:ext cx="5577840" cy="276999"/>
          </a:xfrm>
          <a:noFill/>
        </p:spPr>
        <p:txBody>
          <a:bodyPr wrap="square" lIns="0" tIns="0" rIns="0" bIns="0">
            <a:spAutoFit/>
          </a:bodyPr>
          <a:lstStyle>
            <a:lvl1pPr marL="0" indent="0">
              <a:spcBef>
                <a:spcPts val="0"/>
              </a:spcBef>
              <a:buNone/>
              <a:defRPr lang="en-US" sz="1800" kern="1200" spc="0" baseline="0" dirty="0">
                <a:solidFill>
                  <a:schemeClr val="tx1"/>
                </a:solidFill>
                <a:latin typeface="+mn-lt"/>
                <a:ea typeface="+mn-ea"/>
                <a:cs typeface="Segoe UI" panose="020B0502040204020203" pitchFamily="34" charset="0"/>
              </a:defRPr>
            </a:lvl1pPr>
          </a:lstStyle>
          <a:p>
            <a:pPr lvl="0"/>
            <a:r>
              <a:rPr lang="en-US" dirty="0"/>
              <a:t>The Software of </a:t>
            </a:r>
            <a:r>
              <a:rPr lang="en-US" dirty="0" err="1"/>
              <a:t>Tomorrrow</a:t>
            </a:r>
            <a:r>
              <a:rPr lang="en-US" dirty="0"/>
              <a:t> – Delivered Today.</a:t>
            </a:r>
          </a:p>
        </p:txBody>
      </p:sp>
      <p:pic>
        <p:nvPicPr>
          <p:cNvPr id="7" name="Picture 6">
            <a:extLst>
              <a:ext uri="{FF2B5EF4-FFF2-40B4-BE49-F238E27FC236}">
                <a16:creationId xmlns:a16="http://schemas.microsoft.com/office/drawing/2014/main" id="{58F581CD-B69D-FD84-E4CE-B6199EF90778}"/>
              </a:ext>
            </a:extLst>
          </p:cNvPr>
          <p:cNvPicPr>
            <a:picLocks noChangeAspect="1"/>
          </p:cNvPicPr>
          <p:nvPr userDrawn="1"/>
        </p:nvPicPr>
        <p:blipFill>
          <a:blip r:embed="rId3"/>
          <a:stretch>
            <a:fillRect/>
          </a:stretch>
        </p:blipFill>
        <p:spPr>
          <a:xfrm>
            <a:off x="584200" y="247973"/>
            <a:ext cx="1366950" cy="813661"/>
          </a:xfrm>
          <a:prstGeom prst="rect">
            <a:avLst/>
          </a:prstGeom>
        </p:spPr>
      </p:pic>
    </p:spTree>
    <p:extLst>
      <p:ext uri="{BB962C8B-B14F-4D97-AF65-F5344CB8AC3E}">
        <p14:creationId xmlns:p14="http://schemas.microsoft.com/office/powerpoint/2010/main" val="1219791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Segoe Sans Display Semibold" pitchFamily="2" charset="0"/>
                <a:cs typeface="Segoe Sans Display Semibold"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76999"/>
          </a:xfrm>
          <a:noFill/>
        </p:spPr>
        <p:txBody>
          <a:bodyPr wrap="square" lIns="0" tIns="0" rIns="0" bIns="0">
            <a:spAutoFit/>
          </a:bodyPr>
          <a:lstStyle>
            <a:lvl1pPr marL="0" indent="0">
              <a:spcBef>
                <a:spcPts val="0"/>
              </a:spcBef>
              <a:buNone/>
              <a:defRPr sz="18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4" name="Picture 3">
            <a:extLst>
              <a:ext uri="{FF2B5EF4-FFF2-40B4-BE49-F238E27FC236}">
                <a16:creationId xmlns:a16="http://schemas.microsoft.com/office/drawing/2014/main" id="{479490CC-4FE3-700D-548F-33BAEEB487BD}"/>
              </a:ext>
            </a:extLst>
          </p:cNvPr>
          <p:cNvPicPr>
            <a:picLocks noChangeAspect="1"/>
          </p:cNvPicPr>
          <p:nvPr userDrawn="1"/>
        </p:nvPicPr>
        <p:blipFill>
          <a:blip r:embed="rId3"/>
          <a:stretch>
            <a:fillRect/>
          </a:stretch>
        </p:blipFill>
        <p:spPr>
          <a:xfrm>
            <a:off x="584200" y="480447"/>
            <a:ext cx="1366950" cy="813661"/>
          </a:xfrm>
          <a:prstGeom prst="rect">
            <a:avLst/>
          </a:prstGeom>
        </p:spPr>
      </p:pic>
    </p:spTree>
    <p:extLst>
      <p:ext uri="{BB962C8B-B14F-4D97-AF65-F5344CB8AC3E}">
        <p14:creationId xmlns:p14="http://schemas.microsoft.com/office/powerpoint/2010/main" val="3070971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pic>
        <p:nvPicPr>
          <p:cNvPr id="5" name="Picture 4">
            <a:extLst>
              <a:ext uri="{FF2B5EF4-FFF2-40B4-BE49-F238E27FC236}">
                <a16:creationId xmlns:a16="http://schemas.microsoft.com/office/drawing/2014/main" id="{7F882783-BC42-5658-D5AE-BED6E67358C7}"/>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338414922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amp; Non-bulle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C407A47C-950A-D08C-7CA1-B83467EF7BBE}"/>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426461658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Column Non-bulle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CA5088EA-BB6B-9CF1-E8C9-8C708AD28046}"/>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264282074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wo Column Bullet with Subhead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49DD17DB-4DD6-812E-8402-8C84B933F6F2}"/>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114793915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wo Column Content with Subhead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807CBEB8-AFEF-362F-CB36-DC00FA4C6C8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pic>
        <p:nvPicPr>
          <p:cNvPr id="5" name="Picture 4">
            <a:extLst>
              <a:ext uri="{FF2B5EF4-FFF2-40B4-BE49-F238E27FC236}">
                <a16:creationId xmlns:a16="http://schemas.microsoft.com/office/drawing/2014/main" id="{C465A37A-89E1-05D3-BA84-39C314D9EBE9}"/>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201490282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hree Column Bullet with Subtitl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774D015C-464B-083D-FE44-A80C4C7E9F4A}"/>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520440515"/>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Four Column Bullet with Subtitl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BE95FE20-5D0F-5148-33CD-21E54ECBC0C8}"/>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1792566595"/>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Five Column Bullet with Subtitl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A73EB6C2-2784-3909-1112-A4CB02FD5E18}"/>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1364864217"/>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pic>
        <p:nvPicPr>
          <p:cNvPr id="4" name="Picture 3">
            <a:extLst>
              <a:ext uri="{FF2B5EF4-FFF2-40B4-BE49-F238E27FC236}">
                <a16:creationId xmlns:a16="http://schemas.microsoft.com/office/drawing/2014/main" id="{07BC75CB-C95D-E17E-E33C-9C75ADB84071}"/>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329592201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Only - left side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pic>
        <p:nvPicPr>
          <p:cNvPr id="4" name="Picture 3">
            <a:extLst>
              <a:ext uri="{FF2B5EF4-FFF2-40B4-BE49-F238E27FC236}">
                <a16:creationId xmlns:a16="http://schemas.microsoft.com/office/drawing/2014/main" id="{03D8A81E-1AFE-CB99-6564-E7EEDE9AAF77}"/>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163093653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Small title - half p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pic>
        <p:nvPicPr>
          <p:cNvPr id="4" name="Picture 3">
            <a:extLst>
              <a:ext uri="{FF2B5EF4-FFF2-40B4-BE49-F238E27FC236}">
                <a16:creationId xmlns:a16="http://schemas.microsoft.com/office/drawing/2014/main" id="{8ACA4C18-717E-1E62-CFF9-A4ED2F889F61}"/>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373122349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1772316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4226294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5264823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43531980"/>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65256976"/>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30844171"/>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79576568"/>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14317633"/>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927545422"/>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53393662"/>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59409043"/>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435983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0247878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22886318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58037413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97461767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9336055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36313127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747303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6231142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576101998"/>
      </p:ext>
    </p:extLst>
  </p:cSld>
  <p:clrMapOvr>
    <a:masterClrMapping/>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76948269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15480499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84326624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Code Left s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78140108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Demo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64008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dirty="0"/>
              <a:t>Demo title</a:t>
            </a:r>
          </a:p>
        </p:txBody>
      </p:sp>
      <p:sp>
        <p:nvSpPr>
          <p:cNvPr id="5" name="Text Placeholder 4"/>
          <p:cNvSpPr>
            <a:spLocks noGrp="1"/>
          </p:cNvSpPr>
          <p:nvPr>
            <p:ph type="body" sz="quarter" idx="12" hasCustomPrompt="1"/>
          </p:nvPr>
        </p:nvSpPr>
        <p:spPr>
          <a:xfrm>
            <a:off x="585216" y="3977319"/>
            <a:ext cx="64008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a:extLst>
              <a:ext uri="{FF2B5EF4-FFF2-40B4-BE49-F238E27FC236}">
                <a16:creationId xmlns:a16="http://schemas.microsoft.com/office/drawing/2014/main" id="{B7F1AE2D-0727-6228-C84F-7ADA770D4ACE}"/>
              </a:ext>
            </a:extLst>
          </p:cNvPr>
          <p:cNvPicPr>
            <a:picLocks noChangeAspect="1"/>
          </p:cNvPicPr>
          <p:nvPr userDrawn="1"/>
        </p:nvPicPr>
        <p:blipFill>
          <a:blip r:embed="rId3"/>
          <a:stretch>
            <a:fillRect/>
          </a:stretch>
        </p:blipFill>
        <p:spPr>
          <a:xfrm>
            <a:off x="439120" y="178230"/>
            <a:ext cx="1366950" cy="813661"/>
          </a:xfrm>
          <a:prstGeom prst="rect">
            <a:avLst/>
          </a:prstGeom>
        </p:spPr>
      </p:pic>
    </p:spTree>
    <p:extLst>
      <p:ext uri="{BB962C8B-B14F-4D97-AF65-F5344CB8AC3E}">
        <p14:creationId xmlns:p14="http://schemas.microsoft.com/office/powerpoint/2010/main" val="185966767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559631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667512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dirty="0"/>
              <a:t>Section title</a:t>
            </a:r>
          </a:p>
        </p:txBody>
      </p:sp>
      <p:pic>
        <p:nvPicPr>
          <p:cNvPr id="6" name="Picture 5">
            <a:extLst>
              <a:ext uri="{FF2B5EF4-FFF2-40B4-BE49-F238E27FC236}">
                <a16:creationId xmlns:a16="http://schemas.microsoft.com/office/drawing/2014/main" id="{52511A24-B0D0-EA80-E49A-CDCA025B390D}"/>
              </a:ext>
            </a:extLst>
          </p:cNvPr>
          <p:cNvPicPr>
            <a:picLocks noChangeAspect="1"/>
          </p:cNvPicPr>
          <p:nvPr userDrawn="1"/>
        </p:nvPicPr>
        <p:blipFill>
          <a:blip r:embed="rId3"/>
          <a:stretch>
            <a:fillRect/>
          </a:stretch>
        </p:blipFill>
        <p:spPr>
          <a:xfrm>
            <a:off x="585216" y="178230"/>
            <a:ext cx="1366950" cy="813661"/>
          </a:xfrm>
          <a:prstGeom prst="rect">
            <a:avLst/>
          </a:prstGeom>
        </p:spPr>
      </p:pic>
    </p:spTree>
    <p:extLst>
      <p:ext uri="{BB962C8B-B14F-4D97-AF65-F5344CB8AC3E}">
        <p14:creationId xmlns:p14="http://schemas.microsoft.com/office/powerpoint/2010/main" val="26769858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673743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137863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831411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92458089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4052310958"/>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est pattern">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530C24-163F-15BF-3D01-A8CA8BF26885}"/>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832929718"/>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theme" Target="../theme/theme1.xml"/><Relationship Id="rId45" Type="http://schemas.openxmlformats.org/officeDocument/2006/relationships/image" Target="../media/image1.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slideLayout" Target="../slideLayouts/slideLayout45.xml"/><Relationship Id="rId3" Type="http://schemas.openxmlformats.org/officeDocument/2006/relationships/slideLayout" Target="../slideLayouts/slideLayout46.xml"/><Relationship Id="rId4" Type="http://schemas.openxmlformats.org/officeDocument/2006/relationships/slideLayout" Target="../slideLayouts/slideLayout47.xml"/><Relationship Id="rId5" Type="http://schemas.openxmlformats.org/officeDocument/2006/relationships/slideLayout" Target="../slideLayouts/slideLayout48.xml"/><Relationship Id="rId6" Type="http://schemas.openxmlformats.org/officeDocument/2006/relationships/slideLayout" Target="../slideLayouts/slideLayout49.xml"/><Relationship Id="rId7" Type="http://schemas.openxmlformats.org/officeDocument/2006/relationships/slideLayout" Target="../slideLayouts/slideLayout50.xml"/><Relationship Id="rId8" Type="http://schemas.openxmlformats.org/officeDocument/2006/relationships/slideLayout" Target="../slideLayouts/slideLayout51.xml"/><Relationship Id="rId9" Type="http://schemas.openxmlformats.org/officeDocument/2006/relationships/slideLayout" Target="../slideLayouts/slideLayout52.xml"/><Relationship Id="rId10" Type="http://schemas.openxmlformats.org/officeDocument/2006/relationships/slideLayout" Target="../slideLayouts/slideLayout53.xml"/><Relationship Id="rId11" Type="http://schemas.openxmlformats.org/officeDocument/2006/relationships/slideLayout" Target="../slideLayouts/slideLayout54.xml"/><Relationship Id="rId12" Type="http://schemas.openxmlformats.org/officeDocument/2006/relationships/slideLayout" Target="../slideLayouts/slideLayout55.xml"/><Relationship Id="rId13" Type="http://schemas.openxmlformats.org/officeDocument/2006/relationships/slideLayout" Target="../slideLayouts/slideLayout56.xml"/><Relationship Id="rId14" Type="http://schemas.openxmlformats.org/officeDocument/2006/relationships/slideLayout" Target="../slideLayouts/slideLayout57.xml"/><Relationship Id="rId15" Type="http://schemas.openxmlformats.org/officeDocument/2006/relationships/slideLayout" Target="../slideLayouts/slideLayout58.xml"/><Relationship Id="rId16" Type="http://schemas.openxmlformats.org/officeDocument/2006/relationships/slideLayout" Target="../slideLayouts/slideLayout59.xml"/><Relationship Id="rId17" Type="http://schemas.openxmlformats.org/officeDocument/2006/relationships/slideLayout" Target="../slideLayouts/slideLayout60.xml"/><Relationship Id="rId18" Type="http://schemas.openxmlformats.org/officeDocument/2006/relationships/slideLayout" Target="../slideLayouts/slideLayout61.xml"/><Relationship Id="rId19" Type="http://schemas.openxmlformats.org/officeDocument/2006/relationships/slideLayout" Target="../slideLayouts/slideLayout62.xml"/><Relationship Id="rId20" Type="http://schemas.openxmlformats.org/officeDocument/2006/relationships/slideLayout" Target="../slideLayouts/slideLayout63.xml"/><Relationship Id="rId21" Type="http://schemas.openxmlformats.org/officeDocument/2006/relationships/slideLayout" Target="../slideLayouts/slideLayout64.xml"/><Relationship Id="rId22" Type="http://schemas.openxmlformats.org/officeDocument/2006/relationships/slideLayout" Target="../slideLayouts/slideLayout65.xml"/><Relationship Id="rId23" Type="http://schemas.openxmlformats.org/officeDocument/2006/relationships/slideLayout" Target="../slideLayouts/slideLayout66.xml"/><Relationship Id="rId24" Type="http://schemas.openxmlformats.org/officeDocument/2006/relationships/slideLayout" Target="../slideLayouts/slideLayout67.xml"/><Relationship Id="rId25" Type="http://schemas.openxmlformats.org/officeDocument/2006/relationships/slideLayout" Target="../slideLayouts/slideLayout68.xml"/><Relationship Id="rId26" Type="http://schemas.openxmlformats.org/officeDocument/2006/relationships/slideLayout" Target="../slideLayouts/slideLayout69.xml"/><Relationship Id="rId27" Type="http://schemas.openxmlformats.org/officeDocument/2006/relationships/slideLayout" Target="../slideLayouts/slideLayout70.xml"/><Relationship Id="rId28" Type="http://schemas.openxmlformats.org/officeDocument/2006/relationships/slideLayout" Target="../slideLayouts/slideLayout71.xml"/><Relationship Id="rId29" Type="http://schemas.openxmlformats.org/officeDocument/2006/relationships/slideLayout" Target="../slideLayouts/slideLayout72.xml"/><Relationship Id="rId30" Type="http://schemas.openxmlformats.org/officeDocument/2006/relationships/slideLayout" Target="../slideLayouts/slideLayout73.xml"/><Relationship Id="rId31" Type="http://schemas.openxmlformats.org/officeDocument/2006/relationships/slideLayout" Target="../slideLayouts/slideLayout74.xml"/><Relationship Id="rId32" Type="http://schemas.openxmlformats.org/officeDocument/2006/relationships/slideLayout" Target="../slideLayouts/slideLayout75.xml"/><Relationship Id="rId33" Type="http://schemas.openxmlformats.org/officeDocument/2006/relationships/slideLayout" Target="../slideLayouts/slideLayout76.xml"/><Relationship Id="rId34" Type="http://schemas.openxmlformats.org/officeDocument/2006/relationships/slideLayout" Target="../slideLayouts/slideLayout77.xml"/><Relationship Id="rId35" Type="http://schemas.openxmlformats.org/officeDocument/2006/relationships/slideLayout" Target="../slideLayouts/slideLayout78.xml"/><Relationship Id="rId36" Type="http://schemas.openxmlformats.org/officeDocument/2006/relationships/slideLayout" Target="../slideLayouts/slideLayout79.xml"/><Relationship Id="rId37" Type="http://schemas.openxmlformats.org/officeDocument/2006/relationships/slideLayout" Target="../slideLayouts/slideLayout80.xml"/><Relationship Id="rId38" Type="http://schemas.openxmlformats.org/officeDocument/2006/relationships/slideLayout" Target="../slideLayouts/slideLayout81.xml"/><Relationship Id="rId39" Type="http://schemas.openxmlformats.org/officeDocument/2006/relationships/slideLayout" Target="../slideLayouts/slideLayout82.xml"/><Relationship Id="rId40" Type="http://schemas.openxmlformats.org/officeDocument/2006/relationships/slideLayout" Target="../slideLayouts/slideLayout83.xml"/><Relationship Id="rId41" Type="http://schemas.openxmlformats.org/officeDocument/2006/relationships/slideLayout" Target="../slideLayouts/slideLayout84.xml"/><Relationship Id="rId42" Type="http://schemas.openxmlformats.org/officeDocument/2006/relationships/slideLayout" Target="../slideLayouts/slideLayout85.xml"/><Relationship Id="rId43" Type="http://schemas.openxmlformats.org/officeDocument/2006/relationships/slideLayout" Target="../slideLayouts/slideLayout86.xml"/><Relationship Id="rId44" Type="http://schemas.openxmlformats.org/officeDocument/2006/relationships/slideLayout" Target="../slideLayouts/slideLayout87.xml"/><Relationship Id="rId45" Type="http://schemas.openxmlformats.org/officeDocument/2006/relationships/slideLayout" Target="../slideLayouts/slideLayout88.xml"/><Relationship Id="rId46" Type="http://schemas.openxmlformats.org/officeDocument/2006/relationships/slideLayout" Target="../slideLayouts/slideLayout89.xml"/><Relationship Id="rId47" Type="http://schemas.openxmlformats.org/officeDocument/2006/relationships/slideLayout" Target="../slideLayouts/slideLayout90.xml"/><Relationship Id="rId48" Type="http://schemas.openxmlformats.org/officeDocument/2006/relationships/slideLayout" Target="../slideLayouts/slideLayout91.xml"/><Relationship Id="rId49" Type="http://schemas.openxmlformats.org/officeDocument/2006/relationships/theme" Target="../theme/theme2.xml"/><Relationship Id="rId50"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dirty="0"/>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45"/>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3418689686"/>
      </p:ext>
    </p:extLst>
  </p:cSld>
  <p:clrMap bg1="lt1" tx1="dk1" bg2="lt2" tx2="dk2" accent1="accent1" accent2="accent2" accent3="accent3" accent4="accent4" accent5="accent5" accent6="accent6" hlink="hlink" folHlink="folHlink"/>
  <p:sldLayoutIdLst>
    <p:sldLayoutId id="2147485607" r:id="rId1"/>
    <p:sldLayoutId id="2147485450" r:id="rId2"/>
    <p:sldLayoutId id="2147485451" r:id="rId3"/>
    <p:sldLayoutId id="2147485452" r:id="rId4"/>
    <p:sldLayoutId id="2147485453" r:id="rId5"/>
    <p:sldLayoutId id="2147485455" r:id="rId6"/>
    <p:sldLayoutId id="2147485456" r:id="rId7"/>
    <p:sldLayoutId id="2147485457" r:id="rId8"/>
    <p:sldLayoutId id="2147485458" r:id="rId9"/>
    <p:sldLayoutId id="2147485459" r:id="rId10"/>
    <p:sldLayoutId id="2147485460" r:id="rId11"/>
    <p:sldLayoutId id="2147485461" r:id="rId12"/>
    <p:sldLayoutId id="2147485462" r:id="rId13"/>
    <p:sldLayoutId id="2147485463" r:id="rId14"/>
    <p:sldLayoutId id="2147485464" r:id="rId15"/>
    <p:sldLayoutId id="2147485465" r:id="rId16"/>
    <p:sldLayoutId id="2147485466" r:id="rId17"/>
    <p:sldLayoutId id="2147485470" r:id="rId18"/>
    <p:sldLayoutId id="2147485471" r:id="rId19"/>
    <p:sldLayoutId id="2147485472" r:id="rId20"/>
    <p:sldLayoutId id="2147485473" r:id="rId21"/>
    <p:sldLayoutId id="2147485474" r:id="rId22"/>
    <p:sldLayoutId id="2147485475" r:id="rId23"/>
    <p:sldLayoutId id="2147485476" r:id="rId24"/>
    <p:sldLayoutId id="2147485477" r:id="rId25"/>
    <p:sldLayoutId id="2147485478" r:id="rId26"/>
    <p:sldLayoutId id="2147485479" r:id="rId27"/>
    <p:sldLayoutId id="2147485480" r:id="rId28"/>
    <p:sldLayoutId id="2147485481" r:id="rId29"/>
    <p:sldLayoutId id="2147485484" r:id="rId30"/>
    <p:sldLayoutId id="2147485485" r:id="rId31"/>
    <p:sldLayoutId id="2147485486" r:id="rId32"/>
    <p:sldLayoutId id="2147485487" r:id="rId33"/>
    <p:sldLayoutId id="2147485488" r:id="rId34"/>
    <p:sldLayoutId id="2147485489" r:id="rId35"/>
    <p:sldLayoutId id="2147485490" r:id="rId36"/>
    <p:sldLayoutId id="2147485491" r:id="rId37"/>
    <p:sldLayoutId id="2147485492" r:id="rId38"/>
    <p:sldLayoutId id="2147485493" r:id="rId39"/>
    <p:sldLayoutId id="2147485494" r:id="rId40"/>
    <p:sldLayoutId id="2147485495" r:id="rId41"/>
    <p:sldLayoutId id="2147485496" r:id="rId42"/>
    <p:sldLayoutId id="2147485603" r:id="rId43"/>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50"/>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963631770"/>
      </p:ext>
    </p:extLst>
  </p:cSld>
  <p:clrMap bg1="dk1" tx1="lt1" bg2="dk2" tx2="lt2" accent1="accent1" accent2="accent2" accent3="accent3" accent4="accent4" accent5="accent5" accent6="accent6" hlink="hlink" folHlink="folHlink"/>
  <p:sldLayoutIdLst>
    <p:sldLayoutId id="2147485601" r:id="rId1"/>
    <p:sldLayoutId id="2147485554" r:id="rId2"/>
    <p:sldLayoutId id="2147485555" r:id="rId3"/>
    <p:sldLayoutId id="2147485556" r:id="rId4"/>
    <p:sldLayoutId id="2147485557" r:id="rId5"/>
    <p:sldLayoutId id="2147485559" r:id="rId6"/>
    <p:sldLayoutId id="2147485560" r:id="rId7"/>
    <p:sldLayoutId id="2147485561" r:id="rId8"/>
    <p:sldLayoutId id="2147485562" r:id="rId9"/>
    <p:sldLayoutId id="2147485563" r:id="rId10"/>
    <p:sldLayoutId id="2147485564" r:id="rId11"/>
    <p:sldLayoutId id="2147485565" r:id="rId12"/>
    <p:sldLayoutId id="2147485566" r:id="rId13"/>
    <p:sldLayoutId id="2147485567" r:id="rId14"/>
    <p:sldLayoutId id="2147485568" r:id="rId15"/>
    <p:sldLayoutId id="2147485569" r:id="rId16"/>
    <p:sldLayoutId id="2147485570" r:id="rId17"/>
    <p:sldLayoutId id="2147485571" r:id="rId18"/>
    <p:sldLayoutId id="2147485572" r:id="rId19"/>
    <p:sldLayoutId id="2147485573" r:id="rId20"/>
    <p:sldLayoutId id="2147485574" r:id="rId21"/>
    <p:sldLayoutId id="2147485575" r:id="rId22"/>
    <p:sldLayoutId id="2147485576" r:id="rId23"/>
    <p:sldLayoutId id="2147485577" r:id="rId24"/>
    <p:sldLayoutId id="2147485578" r:id="rId25"/>
    <p:sldLayoutId id="2147485579" r:id="rId26"/>
    <p:sldLayoutId id="2147485580" r:id="rId27"/>
    <p:sldLayoutId id="2147485581" r:id="rId28"/>
    <p:sldLayoutId id="2147485582" r:id="rId29"/>
    <p:sldLayoutId id="2147485583" r:id="rId30"/>
    <p:sldLayoutId id="2147485584" r:id="rId31"/>
    <p:sldLayoutId id="2147485585" r:id="rId32"/>
    <p:sldLayoutId id="2147485586" r:id="rId33"/>
    <p:sldLayoutId id="2147485587" r:id="rId34"/>
    <p:sldLayoutId id="2147485588" r:id="rId35"/>
    <p:sldLayoutId id="2147485589" r:id="rId36"/>
    <p:sldLayoutId id="2147485590" r:id="rId37"/>
    <p:sldLayoutId id="2147485591" r:id="rId38"/>
    <p:sldLayoutId id="2147485592" r:id="rId39"/>
    <p:sldLayoutId id="2147485593" r:id="rId40"/>
    <p:sldLayoutId id="2147485594" r:id="rId41"/>
    <p:sldLayoutId id="2147485595" r:id="rId42"/>
    <p:sldLayoutId id="2147485596" r:id="rId43"/>
    <p:sldLayoutId id="2147485597" r:id="rId44"/>
    <p:sldLayoutId id="2147485598" r:id="rId45"/>
    <p:sldLayoutId id="2147485599" r:id="rId46"/>
    <p:sldLayoutId id="2147485600" r:id="rId47"/>
    <p:sldLayoutId id="2147485602" r:id="rId48"/>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xml"/><Relationship Id="rId3" Type="http://schemas.openxmlformats.org/officeDocument/2006/relationships/image" Target="../media/image3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3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4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1.xml"/><Relationship Id="rId3" Type="http://schemas.openxmlformats.org/officeDocument/2006/relationships/image" Target="../media/image4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42.jpg"/><Relationship Id="rId4" Type="http://schemas.openxmlformats.org/officeDocument/2006/relationships/hyperlink" Target="https://poloclub.github.io/transformer-explainer/" TargetMode="External"/><Relationship Id="rId5" Type="http://schemas.openxmlformats.org/officeDocument/2006/relationships/hyperlink" Target="https://github.com/poloclub/transformer-explainer"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43.png"/><Relationship Id="rId4" Type="http://schemas.openxmlformats.org/officeDocument/2006/relationships/hyperlink" Target="https://poloclub.github.io/transformer-explainer/" TargetMode="External"/><Relationship Id="rId5" Type="http://schemas.openxmlformats.org/officeDocument/2006/relationships/hyperlink" Target="https://github.com/poloclub/transformer-explainer" TargetMode="External"/><Relationship Id="rId6" Type="http://schemas.openxmlformats.org/officeDocument/2006/relationships/image" Target="../media/image44.png"/><Relationship Id="rId7" Type="http://schemas.openxmlformats.org/officeDocument/2006/relationships/hyperlink" Target="https://bbycroft.net/llm" TargetMode="External"/><Relationship Id="rId8" Type="http://schemas.openxmlformats.org/officeDocument/2006/relationships/hyperlink" Target="https://github.com/bbycroft/llm-viz" TargetMode="External"/><Relationship Id="rId9" Type="http://schemas.openxmlformats.org/officeDocument/2006/relationships/image" Target="../media/image45.png"/><Relationship Id="rId10" Type="http://schemas.openxmlformats.org/officeDocument/2006/relationships/hyperlink" Target="http://llm-viewer.com/" TargetMode="External"/><Relationship Id="rId11" Type="http://schemas.openxmlformats.org/officeDocument/2006/relationships/hyperlink" Target="https://github.com/hahnyuan/LLM-Viewer" TargetMode="External"/><Relationship Id="rId12" Type="http://schemas.openxmlformats.org/officeDocument/2006/relationships/image" Target="../media/image46.png"/><Relationship Id="rId13" Type="http://schemas.openxmlformats.org/officeDocument/2006/relationships/hyperlink" Target="https://github.com/jessevig/bertviz" TargetMode="External"/><Relationship Id="rId14" Type="http://schemas.openxmlformats.org/officeDocument/2006/relationships/image" Target="../media/image47.png"/><Relationship Id="rId15" Type="http://schemas.openxmlformats.org/officeDocument/2006/relationships/hyperlink" Target="https://tiktokenizer.vercel.app/"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48.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49.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 Id="rId3" Type="http://schemas.openxmlformats.org/officeDocument/2006/relationships/image" Target="../media/image50.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 Id="rId3" Type="http://schemas.openxmlformats.org/officeDocument/2006/relationships/image" Target="../media/image51.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55.xml"/><Relationship Id="rId3" Type="http://schemas.openxmlformats.org/officeDocument/2006/relationships/image" Target="../media/image38.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 Id="rId3" Type="http://schemas.openxmlformats.org/officeDocument/2006/relationships/hyperlink" Target="https://learn.microsoft.com/en-us/azure/api-management/llm-token-limit-policy" TargetMode="External"/><Relationship Id="rId4" Type="http://schemas.openxmlformats.org/officeDocument/2006/relationships/hyperlink" Target="https://poloclub.github.io/transformer-explainer"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 Id="rId3" Type="http://schemas.openxmlformats.org/officeDocument/2006/relationships/hyperlink" Target="https://github.com/poloclub/transformer-explainer" TargetMode="External"/><Relationship Id="rId4" Type="http://schemas.openxmlformats.org/officeDocument/2006/relationships/hyperlink" Target="https://bbycroft.net/llm" TargetMode="External"/><Relationship Id="rId5" Type="http://schemas.openxmlformats.org/officeDocument/2006/relationships/hyperlink" Target="http://llm-viewer.com" TargetMode="External"/><Relationship Id="rId6" Type="http://schemas.openxmlformats.org/officeDocument/2006/relationships/hyperlink" Target="https://github.com/jessevig/bertviz" TargetMode="External"/><Relationship Id="rId7" Type="http://schemas.openxmlformats.org/officeDocument/2006/relationships/hyperlink" Target="https://tiktokenizer.vercel.app" TargetMode="External"/><Relationship Id="rId8" Type="http://schemas.openxmlformats.org/officeDocument/2006/relationships/hyperlink" Target="https://arxiv.org/pdf/2005.14165" TargetMode="External"/><Relationship Id="rId9" Type="http://schemas.openxmlformats.org/officeDocument/2006/relationships/hyperlink" Target="https://openai.com/index/instruction-following" TargetMode="External"/><Relationship Id="rId10" Type="http://schemas.openxmlformats.org/officeDocument/2006/relationships/hyperlink" Target="https://epoch.ai/data/ai-models" TargetMode="External"/><Relationship Id="rId11" Type="http://schemas.openxmlformats.org/officeDocument/2006/relationships/hyperlink" Target="https://projector.tensorflow.org" TargetMode="External"/><Relationship Id="rId12" Type="http://schemas.openxmlformats.org/officeDocument/2006/relationships/hyperlink" Target="https://arxiv.org/abs/1706.03762" TargetMode="External"/><Relationship Id="rId13" Type="http://schemas.openxmlformats.org/officeDocument/2006/relationships/hyperlink" Target="https://arxiv.org/abs/1810.04805" TargetMode="External"/><Relationship Id="rId14" Type="http://schemas.openxmlformats.org/officeDocument/2006/relationships/hyperlink" Target="https://magazine.sebastianraschka.com/p/the-big-llm-architecture-comparison" TargetMode="External"/><Relationship Id="rId15" Type="http://schemas.openxmlformats.org/officeDocument/2006/relationships/hyperlink" Target="https://openai.com/index/better-language-models"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 Id="rId3" Type="http://schemas.openxmlformats.org/officeDocument/2006/relationships/hyperlink" Target="https://arxiv.org/abs/2203.15556" TargetMode="External"/><Relationship Id="rId4" Type="http://schemas.openxmlformats.org/officeDocument/2006/relationships/hyperlink" Target="https://openai.com/index/chatgpt" TargetMode="External"/><Relationship Id="rId5" Type="http://schemas.openxmlformats.org/officeDocument/2006/relationships/hyperlink" Target="https://huggingface.co/docs/trl" TargetMode="External"/><Relationship Id="rId6" Type="http://schemas.openxmlformats.org/officeDocument/2006/relationships/hyperlink" Target="https://arxiv.org/abs/2503.14476" TargetMode="External"/><Relationship Id="rId7" Type="http://schemas.openxmlformats.org/officeDocument/2006/relationships/hyperlink" Target="https://arxiv.org/abs/2501.12948" TargetMode="External"/><Relationship Id="rId8" Type="http://schemas.openxmlformats.org/officeDocument/2006/relationships/hyperlink" Target="https://arxiv.org/abs/2412.19437" TargetMode="External"/><Relationship Id="rId9" Type="http://schemas.openxmlformats.org/officeDocument/2006/relationships/hyperlink" Target="https://sebastianraschka.com/llm-architecture-gallery/mla" TargetMode="External"/><Relationship Id="rId10" Type="http://schemas.openxmlformats.org/officeDocument/2006/relationships/hyperlink" Target="https://www.inceptionlabs.ai" TargetMode="External"/><Relationship Id="rId11" Type="http://schemas.openxmlformats.org/officeDocument/2006/relationships/hyperlink" Target="https://arxiv.org/abs/2506.17298" TargetMode="External"/><Relationship Id="rId12" Type="http://schemas.openxmlformats.org/officeDocument/2006/relationships/hyperlink" Target="https://deepmind.google/models/gemini-diffusion" TargetMode="External"/><Relationship Id="rId13" Type="http://schemas.openxmlformats.org/officeDocument/2006/relationships/hyperlink" Target="https://openai.com/index/learning-to-reason-with-llms"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4.xml"/><Relationship Id="rId3" Type="http://schemas.openxmlformats.org/officeDocument/2006/relationships/hyperlink" Target="https://artificialanalysis.ai" TargetMode="External"/><Relationship Id="rId4" Type="http://schemas.openxmlformats.org/officeDocument/2006/relationships/hyperlink" Target="https://openai.com/index/introducing-gpt-5" TargetMode="External"/><Relationship Id="rId5" Type="http://schemas.openxmlformats.org/officeDocument/2006/relationships/hyperlink" Target="https://livebench.ai" TargetMode="External"/><Relationship Id="rId6" Type="http://schemas.openxmlformats.org/officeDocument/2006/relationships/hyperlink" Target="https://learn.microsoft.com/en-us/azure/foundry/foundry-models/concepts/deployment-types" TargetMode="External"/><Relationship Id="rId7" Type="http://schemas.openxmlformats.org/officeDocument/2006/relationships/hyperlink" Target="https://developers.openai.com/api/docs/guides/prompt-caching" TargetMode="External"/><Relationship Id="rId8" Type="http://schemas.openxmlformats.org/officeDocument/2006/relationships/hyperlink" Target="https://developers.openai.com/api/docs/deprecations" TargetMode="External"/><Relationship Id="rId9" Type="http://schemas.openxmlformats.org/officeDocument/2006/relationships/hyperlink" Target="https://learn.microsoft.com/en-us/azure/foundry/how-to/develop/sdk-overview" TargetMode="External"/><Relationship Id="rId10" Type="http://schemas.openxmlformats.org/officeDocument/2006/relationships/hyperlink" Target="https://openrouter.ai/docs/quickstart" TargetMode="External"/><Relationship Id="rId11" Type="http://schemas.openxmlformats.org/officeDocument/2006/relationships/hyperlink" Target="https://docs.langchain.com/oss/python/releases/langchain-v1" TargetMode="External"/><Relationship Id="rId12" Type="http://schemas.openxmlformats.org/officeDocument/2006/relationships/hyperlink" Target="https://vercel.com/blog/ai-sdk-7"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5.xml"/><Relationship Id="rId3" Type="http://schemas.openxmlformats.org/officeDocument/2006/relationships/hyperlink" Target="https://typesafe.ai/blog/introducing-system-one-models-and-jev" TargetMode="External"/><Relationship Id="rId4" Type="http://schemas.openxmlformats.org/officeDocument/2006/relationships/hyperlink" Target="https://openai.com/index/why-language-models-hallucinate" TargetMode="External"/><Relationship Id="rId5" Type="http://schemas.openxmlformats.org/officeDocument/2006/relationships/hyperlink" Target="https://anthropic.com/research/tracing-thoughts-language-model" TargetMode="External"/><Relationship Id="rId6" Type="http://schemas.openxmlformats.org/officeDocument/2006/relationships/hyperlink" Target="https://arxiv.org/abs/2303.08774" TargetMode="External"/><Relationship Id="rId7" Type="http://schemas.openxmlformats.org/officeDocument/2006/relationships/hyperlink" Target="https://arxiv.org/abs/2309.11495" TargetMode="External"/><Relationship Id="rId8" Type="http://schemas.openxmlformats.org/officeDocument/2006/relationships/hyperlink" Target="https://artificialanalysis.ai/evaluations/omniscience" TargetMode="External"/><Relationship Id="rId9" Type="http://schemas.openxmlformats.org/officeDocument/2006/relationships/hyperlink" Target="https://huggingface.co/bigscience/bloom" TargetMode="External"/><Relationship Id="rId10" Type="http://schemas.openxmlformats.org/officeDocument/2006/relationships/hyperlink" Target="https://x.com/peterhartree/status/1648423541837299713" TargetMode="External"/><Relationship Id="rId11" Type="http://schemas.openxmlformats.org/officeDocument/2006/relationships/hyperlink" Target="https://www.anthropic.com/news/golden-gate-claude" TargetMode="External"/><Relationship Id="rId12" Type="http://schemas.openxmlformats.org/officeDocument/2006/relationships/hyperlink" Target="https://crookedtimber.org/2023/07/03/shoggoths-amongst-us" TargetMode="External"/><Relationship Id="rId13" Type="http://schemas.openxmlformats.org/officeDocument/2006/relationships/hyperlink" Target="https://lesswrong.com/posts/D7PumeYTDPfBTp3i7/the-waluigi-effect-mega-post"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solidFill>
                  <a:srgbClr val="FFFFFF"/>
                </a:solidFill>
              </a:rPr>
              <a:t>Building Stuff</a:t>
            </a:r>
            <a:br/>
            <a:r>
              <a:rPr sz="3600" b="1">
                <a:solidFill>
                  <a:srgbClr val="FFFFFF"/>
                </a:solidFill>
              </a:rPr>
              <a:t>with GenAI</a:t>
            </a:r>
          </a:p>
        </p:txBody>
      </p:sp>
      <p:sp>
        <p:nvSpPr>
          <p:cNvPr id="3" name="Text Placeholder 2"/>
          <p:cNvSpPr>
            <a:spLocks noGrp="1"/>
          </p:cNvSpPr>
          <p:nvPr>
            <p:ph type="body" idx="12" sz="quarter"/>
          </p:nvPr>
        </p:nvSpPr>
        <p:spPr/>
        <p:txBody>
          <a:bodyPr/>
          <a:lstStyle/>
          <a:p>
            <a:r>
              <a:rPr sz="1800">
                <a:solidFill>
                  <a:srgbClr val="C8D0E8"/>
                </a:solidFill>
              </a:rPr>
              <a:t>The open-minded workshop beyond OpenAI</a:t>
            </a:r>
          </a:p>
        </p:txBody>
      </p:sp>
      <p:sp>
        <p:nvSpPr>
          <p:cNvPr id="4" name="TextBox 3"/>
          <p:cNvSpPr txBox="1"/>
          <p:nvPr/>
        </p:nvSpPr>
        <p:spPr>
          <a:xfrm>
            <a:off x="585216" y="5120640"/>
            <a:ext cx="5486400" cy="731520"/>
          </a:xfrm>
          <a:prstGeom prst="rect">
            <a:avLst/>
          </a:prstGeom>
          <a:noFill/>
        </p:spPr>
        <p:txBody>
          <a:bodyPr wrap="square" lIns="0" rIns="0" tIns="0" bIns="0" anchor="t">
            <a:spAutoFit/>
          </a:bodyPr>
          <a:lstStyle/>
          <a:p>
            <a:pPr algn="l">
              <a:spcAft>
                <a:spcPts val="600"/>
              </a:spcAft>
            </a:pPr>
            <a:r>
              <a:rPr sz="1500" b="0" i="0">
                <a:solidFill>
                  <a:srgbClr val="FFFFFF"/>
                </a:solidFill>
              </a:rPr>
              <a:t>Same blocks, many vendors, your machine.</a:t>
            </a:r>
          </a:p>
          <a:p>
            <a:pPr algn="l">
              <a:spcAft>
                <a:spcPts val="600"/>
              </a:spcAft>
            </a:pPr>
            <a:r>
              <a:rPr sz="1200" b="0" i="0">
                <a:solidFill>
                  <a:srgbClr val="9AA6C2"/>
                </a:solidFill>
              </a:rPr>
              <a:t>daenet — an ACP Digital company · 2026</a:t>
            </a:r>
          </a:p>
        </p:txBody>
      </p:sp>
      <p:pic>
        <p:nvPicPr>
          <p:cNvPr id="5" name="Picture 4" descr="div_title.jpg"/>
          <p:cNvPicPr>
            <a:picLocks noChangeAspect="1"/>
          </p:cNvPicPr>
          <p:nvPr/>
        </p:nvPicPr>
        <p:blipFill>
          <a:blip r:embed="rId3"/>
          <a:stretch>
            <a:fillRect/>
          </a:stretch>
        </p:blipFill>
        <p:spPr>
          <a:xfrm>
            <a:off x="6446520" y="868680"/>
            <a:ext cx="2971800" cy="4892040"/>
          </a:xfrm>
          <a:prstGeom prst="roundRect">
            <a:avLst>
              <a:gd name="adj" fmla="val 4000"/>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Three quick questions decide today’s pace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BEFORE WE START</a:t>
            </a:r>
          </a:p>
        </p:txBody>
      </p:sp>
      <p:sp>
        <p:nvSpPr>
          <p:cNvPr id="4" name="Rounded Rectangle 3"/>
          <p:cNvSpPr/>
          <p:nvPr/>
        </p:nvSpPr>
        <p:spPr>
          <a:xfrm>
            <a:off x="585216" y="1417320"/>
            <a:ext cx="3066287" cy="370332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13816" y="1645920"/>
            <a:ext cx="502920" cy="50292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rPr>
              <a:t>1</a:t>
            </a:r>
          </a:p>
        </p:txBody>
      </p:sp>
      <p:sp>
        <p:nvSpPr>
          <p:cNvPr id="6" name="TextBox 5"/>
          <p:cNvSpPr txBox="1"/>
          <p:nvPr/>
        </p:nvSpPr>
        <p:spPr>
          <a:xfrm>
            <a:off x="1453895" y="1746504"/>
            <a:ext cx="1969008" cy="320040"/>
          </a:xfrm>
          <a:prstGeom prst="rect">
            <a:avLst/>
          </a:prstGeom>
          <a:noFill/>
        </p:spPr>
        <p:txBody>
          <a:bodyPr wrap="square" lIns="0" rIns="0" tIns="0" bIns="0" anchor="t">
            <a:spAutoFit/>
          </a:bodyPr>
          <a:lstStyle/>
          <a:p>
            <a:pPr algn="l">
              <a:spcAft>
                <a:spcPts val="0"/>
              </a:spcAft>
            </a:pPr>
            <a:r>
              <a:rPr sz="1200" b="1" i="0">
                <a:solidFill>
                  <a:srgbClr val="0078D4"/>
                </a:solidFill>
              </a:rPr>
              <a:t>LANGUAGE</a:t>
            </a:r>
          </a:p>
        </p:txBody>
      </p:sp>
      <p:sp>
        <p:nvSpPr>
          <p:cNvPr id="7" name="TextBox 6"/>
          <p:cNvSpPr txBox="1"/>
          <p:nvPr/>
        </p:nvSpPr>
        <p:spPr>
          <a:xfrm>
            <a:off x="813816" y="2286000"/>
            <a:ext cx="2609087" cy="685800"/>
          </a:xfrm>
          <a:prstGeom prst="rect">
            <a:avLst/>
          </a:prstGeom>
          <a:noFill/>
        </p:spPr>
        <p:txBody>
          <a:bodyPr wrap="square" lIns="0" rIns="0" tIns="0" bIns="0" anchor="t">
            <a:spAutoFit/>
          </a:bodyPr>
          <a:lstStyle/>
          <a:p>
            <a:pPr algn="l">
              <a:spcAft>
                <a:spcPts val="0"/>
              </a:spcAft>
            </a:pPr>
            <a:r>
              <a:rPr sz="1600" b="1" i="0">
                <a:solidFill>
                  <a:srgbClr val="2A446F"/>
                </a:solidFill>
              </a:rPr>
              <a:t>Which track are you on?</a:t>
            </a:r>
          </a:p>
        </p:txBody>
      </p:sp>
      <p:sp>
        <p:nvSpPr>
          <p:cNvPr id="8" name="Rounded Rectangle 7"/>
          <p:cNvSpPr/>
          <p:nvPr/>
        </p:nvSpPr>
        <p:spPr>
          <a:xfrm>
            <a:off x="813816" y="3063240"/>
            <a:ext cx="2609087" cy="384048"/>
          </a:xfrm>
          <a:prstGeom prst="roundRect">
            <a:avLst>
              <a:gd name="adj" fmla="val 12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0" i="0">
                <a:solidFill>
                  <a:srgbClr val="1F1F1F"/>
                </a:solidFill>
              </a:rPr>
              <a:t>Python</a:t>
            </a:r>
          </a:p>
        </p:txBody>
      </p:sp>
      <p:sp>
        <p:nvSpPr>
          <p:cNvPr id="9" name="Rounded Rectangle 8"/>
          <p:cNvSpPr/>
          <p:nvPr/>
        </p:nvSpPr>
        <p:spPr>
          <a:xfrm>
            <a:off x="813816" y="3538728"/>
            <a:ext cx="2609087" cy="384048"/>
          </a:xfrm>
          <a:prstGeom prst="roundRect">
            <a:avLst>
              <a:gd name="adj" fmla="val 12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0" i="0">
                <a:solidFill>
                  <a:srgbClr val="1F1F1F"/>
                </a:solidFill>
              </a:rPr>
              <a:t>C# / .NET</a:t>
            </a:r>
          </a:p>
        </p:txBody>
      </p:sp>
      <p:sp>
        <p:nvSpPr>
          <p:cNvPr id="10" name="Rounded Rectangle 9"/>
          <p:cNvSpPr/>
          <p:nvPr/>
        </p:nvSpPr>
        <p:spPr>
          <a:xfrm>
            <a:off x="813816" y="4014216"/>
            <a:ext cx="2609087" cy="384048"/>
          </a:xfrm>
          <a:prstGeom prst="roundRect">
            <a:avLst>
              <a:gd name="adj" fmla="val 12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0" i="0">
                <a:solidFill>
                  <a:srgbClr val="1F1F1F"/>
                </a:solidFill>
              </a:rPr>
              <a:t>TypeScript</a:t>
            </a:r>
          </a:p>
        </p:txBody>
      </p:sp>
      <p:sp>
        <p:nvSpPr>
          <p:cNvPr id="11" name="TextBox 10"/>
          <p:cNvSpPr txBox="1"/>
          <p:nvPr/>
        </p:nvSpPr>
        <p:spPr>
          <a:xfrm>
            <a:off x="813816" y="4526280"/>
            <a:ext cx="2609087" cy="502920"/>
          </a:xfrm>
          <a:prstGeom prst="rect">
            <a:avLst/>
          </a:prstGeom>
          <a:noFill/>
        </p:spPr>
        <p:txBody>
          <a:bodyPr wrap="square" lIns="0" rIns="0" tIns="0" bIns="0" anchor="t">
            <a:spAutoFit/>
          </a:bodyPr>
          <a:lstStyle/>
          <a:p>
            <a:pPr algn="l">
              <a:spcAft>
                <a:spcPts val="0"/>
              </a:spcAft>
            </a:pPr>
            <a:r>
              <a:rPr sz="1200" b="1" i="0">
                <a:solidFill>
                  <a:srgbClr val="0078D4"/>
                </a:solidFill>
              </a:rPr>
              <a:t>→ which code panel we zoom into</a:t>
            </a:r>
          </a:p>
        </p:txBody>
      </p:sp>
      <p:sp>
        <p:nvSpPr>
          <p:cNvPr id="12" name="Rounded Rectangle 11"/>
          <p:cNvSpPr/>
          <p:nvPr/>
        </p:nvSpPr>
        <p:spPr>
          <a:xfrm>
            <a:off x="3880104" y="1417320"/>
            <a:ext cx="3066287" cy="370332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108704" y="1645920"/>
            <a:ext cx="502920" cy="502920"/>
          </a:xfrm>
          <a:prstGeom prst="ellipse">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rPr>
              <a:t>2</a:t>
            </a:r>
          </a:p>
        </p:txBody>
      </p:sp>
      <p:sp>
        <p:nvSpPr>
          <p:cNvPr id="14" name="TextBox 13"/>
          <p:cNvSpPr txBox="1"/>
          <p:nvPr/>
        </p:nvSpPr>
        <p:spPr>
          <a:xfrm>
            <a:off x="4748784" y="1746504"/>
            <a:ext cx="1969008" cy="320040"/>
          </a:xfrm>
          <a:prstGeom prst="rect">
            <a:avLst/>
          </a:prstGeom>
          <a:noFill/>
        </p:spPr>
        <p:txBody>
          <a:bodyPr wrap="square" lIns="0" rIns="0" tIns="0" bIns="0" anchor="t">
            <a:spAutoFit/>
          </a:bodyPr>
          <a:lstStyle/>
          <a:p>
            <a:pPr algn="l">
              <a:spcAft>
                <a:spcPts val="0"/>
              </a:spcAft>
            </a:pPr>
            <a:r>
              <a:rPr sz="1200" b="1" i="0">
                <a:solidFill>
                  <a:srgbClr val="008B8B"/>
                </a:solidFill>
              </a:rPr>
              <a:t>APIs</a:t>
            </a:r>
          </a:p>
        </p:txBody>
      </p:sp>
      <p:sp>
        <p:nvSpPr>
          <p:cNvPr id="15" name="TextBox 14"/>
          <p:cNvSpPr txBox="1"/>
          <p:nvPr/>
        </p:nvSpPr>
        <p:spPr>
          <a:xfrm>
            <a:off x="4108704" y="2286000"/>
            <a:ext cx="2609087" cy="685800"/>
          </a:xfrm>
          <a:prstGeom prst="rect">
            <a:avLst/>
          </a:prstGeom>
          <a:noFill/>
        </p:spPr>
        <p:txBody>
          <a:bodyPr wrap="square" lIns="0" rIns="0" tIns="0" bIns="0" anchor="t">
            <a:spAutoFit/>
          </a:bodyPr>
          <a:lstStyle/>
          <a:p>
            <a:pPr algn="l">
              <a:spcAft>
                <a:spcPts val="0"/>
              </a:spcAft>
            </a:pPr>
            <a:r>
              <a:rPr sz="1600" b="1" i="0">
                <a:solidFill>
                  <a:srgbClr val="2A446F"/>
                </a:solidFill>
              </a:rPr>
              <a:t>Called a model API from code?</a:t>
            </a:r>
          </a:p>
        </p:txBody>
      </p:sp>
      <p:sp>
        <p:nvSpPr>
          <p:cNvPr id="16" name="Rounded Rectangle 15"/>
          <p:cNvSpPr/>
          <p:nvPr/>
        </p:nvSpPr>
        <p:spPr>
          <a:xfrm>
            <a:off x="4108704" y="3063240"/>
            <a:ext cx="2609087" cy="384048"/>
          </a:xfrm>
          <a:prstGeom prst="roundRect">
            <a:avLst>
              <a:gd name="adj" fmla="val 12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0" i="0">
                <a:solidFill>
                  <a:srgbClr val="1F1F1F"/>
                </a:solidFill>
              </a:rPr>
              <a:t>never</a:t>
            </a:r>
          </a:p>
        </p:txBody>
      </p:sp>
      <p:sp>
        <p:nvSpPr>
          <p:cNvPr id="17" name="Rounded Rectangle 16"/>
          <p:cNvSpPr/>
          <p:nvPr/>
        </p:nvSpPr>
        <p:spPr>
          <a:xfrm>
            <a:off x="4108704" y="3538728"/>
            <a:ext cx="2609087" cy="384048"/>
          </a:xfrm>
          <a:prstGeom prst="roundRect">
            <a:avLst>
              <a:gd name="adj" fmla="val 12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0" i="0">
                <a:solidFill>
                  <a:srgbClr val="1F1F1F"/>
                </a:solidFill>
              </a:rPr>
              <a:t>a few times</a:t>
            </a:r>
          </a:p>
        </p:txBody>
      </p:sp>
      <p:sp>
        <p:nvSpPr>
          <p:cNvPr id="18" name="Rounded Rectangle 17"/>
          <p:cNvSpPr/>
          <p:nvPr/>
        </p:nvSpPr>
        <p:spPr>
          <a:xfrm>
            <a:off x="4108704" y="4014216"/>
            <a:ext cx="2609087" cy="384048"/>
          </a:xfrm>
          <a:prstGeom prst="roundRect">
            <a:avLst>
              <a:gd name="adj" fmla="val 12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0" i="0">
                <a:solidFill>
                  <a:srgbClr val="1F1F1F"/>
                </a:solidFill>
              </a:rPr>
              <a:t>every week</a:t>
            </a:r>
          </a:p>
        </p:txBody>
      </p:sp>
      <p:sp>
        <p:nvSpPr>
          <p:cNvPr id="19" name="TextBox 18"/>
          <p:cNvSpPr txBox="1"/>
          <p:nvPr/>
        </p:nvSpPr>
        <p:spPr>
          <a:xfrm>
            <a:off x="4108704" y="4526280"/>
            <a:ext cx="2609087" cy="502920"/>
          </a:xfrm>
          <a:prstGeom prst="rect">
            <a:avLst/>
          </a:prstGeom>
          <a:noFill/>
        </p:spPr>
        <p:txBody>
          <a:bodyPr wrap="square" lIns="0" rIns="0" tIns="0" bIns="0" anchor="t">
            <a:spAutoFit/>
          </a:bodyPr>
          <a:lstStyle/>
          <a:p>
            <a:pPr algn="l">
              <a:spcAft>
                <a:spcPts val="0"/>
              </a:spcAft>
            </a:pPr>
            <a:r>
              <a:rPr sz="1200" b="1" i="0">
                <a:solidFill>
                  <a:srgbClr val="008B8B"/>
                </a:solidFill>
              </a:rPr>
              <a:t>→ how much of Segment 1 we keep</a:t>
            </a:r>
          </a:p>
        </p:txBody>
      </p:sp>
      <p:sp>
        <p:nvSpPr>
          <p:cNvPr id="20" name="Rounded Rectangle 19"/>
          <p:cNvSpPr/>
          <p:nvPr/>
        </p:nvSpPr>
        <p:spPr>
          <a:xfrm>
            <a:off x="7174991" y="1417320"/>
            <a:ext cx="3066287" cy="370332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7403591" y="1645920"/>
            <a:ext cx="502920" cy="502920"/>
          </a:xfrm>
          <a:prstGeom prst="ellipse">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rPr>
              <a:t>3</a:t>
            </a:r>
          </a:p>
        </p:txBody>
      </p:sp>
      <p:sp>
        <p:nvSpPr>
          <p:cNvPr id="22" name="TextBox 21"/>
          <p:cNvSpPr txBox="1"/>
          <p:nvPr/>
        </p:nvSpPr>
        <p:spPr>
          <a:xfrm>
            <a:off x="8043671" y="1746504"/>
            <a:ext cx="1969008" cy="320040"/>
          </a:xfrm>
          <a:prstGeom prst="rect">
            <a:avLst/>
          </a:prstGeom>
          <a:noFill/>
        </p:spPr>
        <p:txBody>
          <a:bodyPr wrap="square" lIns="0" rIns="0" tIns="0" bIns="0" anchor="t">
            <a:spAutoFit/>
          </a:bodyPr>
          <a:lstStyle/>
          <a:p>
            <a:pPr algn="l">
              <a:spcAft>
                <a:spcPts val="0"/>
              </a:spcAft>
            </a:pPr>
            <a:r>
              <a:rPr sz="1200" b="1" i="0">
                <a:solidFill>
                  <a:srgbClr val="8661C5"/>
                </a:solidFill>
              </a:rPr>
              <a:t>LOCAL</a:t>
            </a:r>
          </a:p>
        </p:txBody>
      </p:sp>
      <p:sp>
        <p:nvSpPr>
          <p:cNvPr id="23" name="TextBox 22"/>
          <p:cNvSpPr txBox="1"/>
          <p:nvPr/>
        </p:nvSpPr>
        <p:spPr>
          <a:xfrm>
            <a:off x="7403591" y="2286000"/>
            <a:ext cx="2609087" cy="685800"/>
          </a:xfrm>
          <a:prstGeom prst="rect">
            <a:avLst/>
          </a:prstGeom>
          <a:noFill/>
        </p:spPr>
        <p:txBody>
          <a:bodyPr wrap="square" lIns="0" rIns="0" tIns="0" bIns="0" anchor="t">
            <a:spAutoFit/>
          </a:bodyPr>
          <a:lstStyle/>
          <a:p>
            <a:pPr algn="l">
              <a:spcAft>
                <a:spcPts val="0"/>
              </a:spcAft>
            </a:pPr>
            <a:r>
              <a:rPr sz="1600" b="1" i="0">
                <a:solidFill>
                  <a:srgbClr val="2A446F"/>
                </a:solidFill>
              </a:rPr>
              <a:t>Run a model on your own machine?</a:t>
            </a:r>
          </a:p>
        </p:txBody>
      </p:sp>
      <p:sp>
        <p:nvSpPr>
          <p:cNvPr id="24" name="Rounded Rectangle 23"/>
          <p:cNvSpPr/>
          <p:nvPr/>
        </p:nvSpPr>
        <p:spPr>
          <a:xfrm>
            <a:off x="7403591" y="3063240"/>
            <a:ext cx="2609087" cy="384048"/>
          </a:xfrm>
          <a:prstGeom prst="roundRect">
            <a:avLst>
              <a:gd name="adj" fmla="val 12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0" i="0">
                <a:solidFill>
                  <a:srgbClr val="1F1F1F"/>
                </a:solidFill>
              </a:rPr>
              <a:t>not yet</a:t>
            </a:r>
          </a:p>
        </p:txBody>
      </p:sp>
      <p:sp>
        <p:nvSpPr>
          <p:cNvPr id="25" name="Rounded Rectangle 24"/>
          <p:cNvSpPr/>
          <p:nvPr/>
        </p:nvSpPr>
        <p:spPr>
          <a:xfrm>
            <a:off x="7403591" y="3538728"/>
            <a:ext cx="2609087" cy="384048"/>
          </a:xfrm>
          <a:prstGeom prst="roundRect">
            <a:avLst>
              <a:gd name="adj" fmla="val 12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0" i="0">
                <a:solidFill>
                  <a:srgbClr val="1F1F1F"/>
                </a:solidFill>
              </a:rPr>
              <a:t>Ollama / LM Studio</a:t>
            </a:r>
          </a:p>
        </p:txBody>
      </p:sp>
      <p:sp>
        <p:nvSpPr>
          <p:cNvPr id="26" name="Rounded Rectangle 25"/>
          <p:cNvSpPr/>
          <p:nvPr/>
        </p:nvSpPr>
        <p:spPr>
          <a:xfrm>
            <a:off x="7403591" y="4014216"/>
            <a:ext cx="2609087" cy="384048"/>
          </a:xfrm>
          <a:prstGeom prst="roundRect">
            <a:avLst>
              <a:gd name="adj" fmla="val 12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0" i="0">
                <a:solidFill>
                  <a:srgbClr val="1F1F1F"/>
                </a:solidFill>
              </a:rPr>
              <a:t>on my own GPU</a:t>
            </a:r>
          </a:p>
        </p:txBody>
      </p:sp>
      <p:sp>
        <p:nvSpPr>
          <p:cNvPr id="27" name="TextBox 26"/>
          <p:cNvSpPr txBox="1"/>
          <p:nvPr/>
        </p:nvSpPr>
        <p:spPr>
          <a:xfrm>
            <a:off x="7403591" y="4526280"/>
            <a:ext cx="2609087" cy="502920"/>
          </a:xfrm>
          <a:prstGeom prst="rect">
            <a:avLst/>
          </a:prstGeom>
          <a:noFill/>
        </p:spPr>
        <p:txBody>
          <a:bodyPr wrap="square" lIns="0" rIns="0" tIns="0" bIns="0" anchor="t">
            <a:spAutoFit/>
          </a:bodyPr>
          <a:lstStyle/>
          <a:p>
            <a:pPr algn="l">
              <a:spcAft>
                <a:spcPts val="0"/>
              </a:spcAft>
            </a:pPr>
            <a:r>
              <a:rPr sz="1200" b="1" i="0">
                <a:solidFill>
                  <a:srgbClr val="8661C5"/>
                </a:solidFill>
              </a:rPr>
              <a:t>→ how much of Segment 4 is new</a:t>
            </a:r>
          </a:p>
        </p:txBody>
      </p:sp>
      <p:sp>
        <p:nvSpPr>
          <p:cNvPr id="28" name="TextBox 27"/>
          <p:cNvSpPr txBox="1"/>
          <p:nvPr/>
        </p:nvSpPr>
        <p:spPr>
          <a:xfrm>
            <a:off x="585216" y="534924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Mostly new to this: all of Segment 1. Mostly experts: less history, Lab 1 sooner.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By the end of today you can do six things you can’t do now</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BEFORE WE START</a:t>
            </a:r>
          </a:p>
        </p:txBody>
      </p:sp>
      <p:sp>
        <p:nvSpPr>
          <p:cNvPr id="4" name="Rounded Rectangle 3"/>
          <p:cNvSpPr/>
          <p:nvPr/>
        </p:nvSpPr>
        <p:spPr>
          <a:xfrm>
            <a:off x="585216" y="1536192"/>
            <a:ext cx="384048" cy="384048"/>
          </a:xfrm>
          <a:prstGeom prst="roundRect">
            <a:avLst>
              <a:gd name="adj" fmla="val 18000"/>
            </a:avLst>
          </a:prstGeom>
          <a:solidFill>
            <a:srgbClr val="FFFFFF"/>
          </a:solidFill>
          <a:ln w="12700">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225295" y="1554480"/>
            <a:ext cx="7589520" cy="411480"/>
          </a:xfrm>
          <a:prstGeom prst="rect">
            <a:avLst/>
          </a:prstGeom>
          <a:noFill/>
        </p:spPr>
        <p:txBody>
          <a:bodyPr wrap="square" lIns="0" rIns="0" tIns="0" bIns="0" anchor="t">
            <a:spAutoFit/>
          </a:bodyPr>
          <a:lstStyle/>
          <a:p>
            <a:pPr algn="l">
              <a:spcAft>
                <a:spcPts val="0"/>
              </a:spcAft>
            </a:pPr>
            <a:r>
              <a:rPr sz="1600" b="1" i="0">
                <a:solidFill>
                  <a:srgbClr val="1F1F1F"/>
                </a:solidFill>
              </a:rPr>
              <a:t>Explain</a:t>
            </a:r>
            <a:r>
              <a:rPr sz="1600" b="0" i="0">
                <a:solidFill>
                  <a:srgbClr val="1F1F1F"/>
                </a:solidFill>
              </a:rPr>
              <a:t> how a model is made, and what is model vs. PaaS on top</a:t>
            </a:r>
          </a:p>
        </p:txBody>
      </p:sp>
      <p:sp>
        <p:nvSpPr>
          <p:cNvPr id="6" name="Rounded Rectangle 5"/>
          <p:cNvSpPr/>
          <p:nvPr/>
        </p:nvSpPr>
        <p:spPr>
          <a:xfrm>
            <a:off x="8823959" y="1591056"/>
            <a:ext cx="1417320" cy="274320"/>
          </a:xfrm>
          <a:prstGeom prst="roundRect">
            <a:avLst>
              <a:gd name="adj" fmla="val 5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SEGMENT 1</a:t>
            </a:r>
          </a:p>
        </p:txBody>
      </p:sp>
      <p:sp>
        <p:nvSpPr>
          <p:cNvPr id="7" name="Rectangle 6"/>
          <p:cNvSpPr/>
          <p:nvPr/>
        </p:nvSpPr>
        <p:spPr>
          <a:xfrm>
            <a:off x="585216" y="2029968"/>
            <a:ext cx="9656063" cy="1097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585216" y="2139696"/>
            <a:ext cx="384048" cy="384048"/>
          </a:xfrm>
          <a:prstGeom prst="roundRect">
            <a:avLst>
              <a:gd name="adj" fmla="val 18000"/>
            </a:avLst>
          </a:prstGeom>
          <a:solidFill>
            <a:srgbClr val="FFFFFF"/>
          </a:solidFill>
          <a:ln w="12700">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25295" y="2157984"/>
            <a:ext cx="7589520" cy="411480"/>
          </a:xfrm>
          <a:prstGeom prst="rect">
            <a:avLst/>
          </a:prstGeom>
          <a:noFill/>
        </p:spPr>
        <p:txBody>
          <a:bodyPr wrap="square" lIns="0" rIns="0" tIns="0" bIns="0" anchor="t">
            <a:spAutoFit/>
          </a:bodyPr>
          <a:lstStyle/>
          <a:p>
            <a:pPr algn="l">
              <a:spcAft>
                <a:spcPts val="0"/>
              </a:spcAft>
            </a:pPr>
            <a:r>
              <a:rPr sz="1600" b="1" i="0">
                <a:solidFill>
                  <a:srgbClr val="1F1F1F"/>
                </a:solidFill>
              </a:rPr>
              <a:t>Call</a:t>
            </a:r>
            <a:r>
              <a:rPr sz="1600" b="0" i="0">
                <a:solidFill>
                  <a:srgbClr val="1F1F1F"/>
                </a:solidFill>
              </a:rPr>
              <a:t> any OpenAI-compatible endpoint with knobs, schemas and tools</a:t>
            </a:r>
          </a:p>
        </p:txBody>
      </p:sp>
      <p:sp>
        <p:nvSpPr>
          <p:cNvPr id="10" name="Rounded Rectangle 9"/>
          <p:cNvSpPr/>
          <p:nvPr/>
        </p:nvSpPr>
        <p:spPr>
          <a:xfrm>
            <a:off x="8823959" y="2194560"/>
            <a:ext cx="1417320" cy="274320"/>
          </a:xfrm>
          <a:prstGeom prst="roundRect">
            <a:avLst>
              <a:gd name="adj" fmla="val 5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LAB 1</a:t>
            </a:r>
          </a:p>
        </p:txBody>
      </p:sp>
      <p:sp>
        <p:nvSpPr>
          <p:cNvPr id="11" name="Rectangle 10"/>
          <p:cNvSpPr/>
          <p:nvPr/>
        </p:nvSpPr>
        <p:spPr>
          <a:xfrm>
            <a:off x="585216" y="2633472"/>
            <a:ext cx="9656063" cy="1097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585216" y="2743200"/>
            <a:ext cx="384048" cy="384048"/>
          </a:xfrm>
          <a:prstGeom prst="roundRect">
            <a:avLst>
              <a:gd name="adj" fmla="val 18000"/>
            </a:avLst>
          </a:prstGeom>
          <a:solidFill>
            <a:srgbClr val="FFFFFF"/>
          </a:solidFill>
          <a:ln w="12700">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25295" y="2761488"/>
            <a:ext cx="7589520" cy="411480"/>
          </a:xfrm>
          <a:prstGeom prst="rect">
            <a:avLst/>
          </a:prstGeom>
          <a:noFill/>
        </p:spPr>
        <p:txBody>
          <a:bodyPr wrap="square" lIns="0" rIns="0" tIns="0" bIns="0" anchor="t">
            <a:spAutoFit/>
          </a:bodyPr>
          <a:lstStyle/>
          <a:p>
            <a:pPr algn="l">
              <a:spcAft>
                <a:spcPts val="0"/>
              </a:spcAft>
            </a:pPr>
            <a:r>
              <a:rPr sz="1600" b="1" i="0">
                <a:solidFill>
                  <a:srgbClr val="1F1F1F"/>
                </a:solidFill>
              </a:rPr>
              <a:t>Build</a:t>
            </a:r>
            <a:r>
              <a:rPr sz="1600" b="0" i="0">
                <a:solidFill>
                  <a:srgbClr val="1F1F1F"/>
                </a:solidFill>
              </a:rPr>
              <a:t> a RAG and expose it as an MCP server or a skill</a:t>
            </a:r>
          </a:p>
        </p:txBody>
      </p:sp>
      <p:sp>
        <p:nvSpPr>
          <p:cNvPr id="14" name="Rounded Rectangle 13"/>
          <p:cNvSpPr/>
          <p:nvPr/>
        </p:nvSpPr>
        <p:spPr>
          <a:xfrm>
            <a:off x="8823959" y="2798064"/>
            <a:ext cx="1417320" cy="274320"/>
          </a:xfrm>
          <a:prstGeom prst="roundRect">
            <a:avLst>
              <a:gd name="adj" fmla="val 5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LAB 2</a:t>
            </a:r>
          </a:p>
        </p:txBody>
      </p:sp>
      <p:sp>
        <p:nvSpPr>
          <p:cNvPr id="15" name="Rectangle 14"/>
          <p:cNvSpPr/>
          <p:nvPr/>
        </p:nvSpPr>
        <p:spPr>
          <a:xfrm>
            <a:off x="585216" y="3236976"/>
            <a:ext cx="9656063" cy="1097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585216" y="3346704"/>
            <a:ext cx="384048" cy="384048"/>
          </a:xfrm>
          <a:prstGeom prst="roundRect">
            <a:avLst>
              <a:gd name="adj" fmla="val 18000"/>
            </a:avLst>
          </a:prstGeom>
          <a:solidFill>
            <a:srgbClr val="FFFFFF"/>
          </a:solidFill>
          <a:ln w="12700">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225295" y="3364992"/>
            <a:ext cx="7589520" cy="411480"/>
          </a:xfrm>
          <a:prstGeom prst="rect">
            <a:avLst/>
          </a:prstGeom>
          <a:noFill/>
        </p:spPr>
        <p:txBody>
          <a:bodyPr wrap="square" lIns="0" rIns="0" tIns="0" bIns="0" anchor="t">
            <a:spAutoFit/>
          </a:bodyPr>
          <a:lstStyle/>
          <a:p>
            <a:pPr algn="l">
              <a:spcAft>
                <a:spcPts val="0"/>
              </a:spcAft>
            </a:pPr>
            <a:r>
              <a:rPr sz="1600" b="1" i="0">
                <a:solidFill>
                  <a:srgbClr val="1F1F1F"/>
                </a:solidFill>
              </a:rPr>
              <a:t>Build</a:t>
            </a:r>
            <a:r>
              <a:rPr sz="1600" b="0" i="0">
                <a:solidFill>
                  <a:srgbClr val="1F1F1F"/>
                </a:solidFill>
              </a:rPr>
              <a:t> a two-agent workflow (MAF, LangGraph), know how to deploy it</a:t>
            </a:r>
          </a:p>
        </p:txBody>
      </p:sp>
      <p:sp>
        <p:nvSpPr>
          <p:cNvPr id="18" name="Rounded Rectangle 17"/>
          <p:cNvSpPr/>
          <p:nvPr/>
        </p:nvSpPr>
        <p:spPr>
          <a:xfrm>
            <a:off x="8823959" y="3401568"/>
            <a:ext cx="1417320" cy="274320"/>
          </a:xfrm>
          <a:prstGeom prst="roundRect">
            <a:avLst>
              <a:gd name="adj" fmla="val 50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LAB 3</a:t>
            </a:r>
          </a:p>
        </p:txBody>
      </p:sp>
      <p:sp>
        <p:nvSpPr>
          <p:cNvPr id="19" name="Rectangle 18"/>
          <p:cNvSpPr/>
          <p:nvPr/>
        </p:nvSpPr>
        <p:spPr>
          <a:xfrm>
            <a:off x="585216" y="3840480"/>
            <a:ext cx="9656063" cy="1097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585216" y="3950208"/>
            <a:ext cx="384048" cy="384048"/>
          </a:xfrm>
          <a:prstGeom prst="roundRect">
            <a:avLst>
              <a:gd name="adj" fmla="val 18000"/>
            </a:avLst>
          </a:prstGeom>
          <a:solidFill>
            <a:srgbClr val="FFFFFF"/>
          </a:solidFill>
          <a:ln w="12700">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225295" y="3968496"/>
            <a:ext cx="7589520" cy="411480"/>
          </a:xfrm>
          <a:prstGeom prst="rect">
            <a:avLst/>
          </a:prstGeom>
          <a:noFill/>
        </p:spPr>
        <p:txBody>
          <a:bodyPr wrap="square" lIns="0" rIns="0" tIns="0" bIns="0" anchor="t">
            <a:spAutoFit/>
          </a:bodyPr>
          <a:lstStyle/>
          <a:p>
            <a:pPr algn="l">
              <a:spcAft>
                <a:spcPts val="0"/>
              </a:spcAft>
            </a:pPr>
            <a:r>
              <a:rPr sz="1600" b="1" i="0">
                <a:solidFill>
                  <a:srgbClr val="1F1F1F"/>
                </a:solidFill>
              </a:rPr>
              <a:t>Run</a:t>
            </a:r>
            <a:r>
              <a:rPr sz="1600" b="0" i="0">
                <a:solidFill>
                  <a:srgbClr val="1F1F1F"/>
                </a:solidFill>
              </a:rPr>
              <a:t> text, image, speech and video models locally, and mix them</a:t>
            </a:r>
          </a:p>
        </p:txBody>
      </p:sp>
      <p:sp>
        <p:nvSpPr>
          <p:cNvPr id="22" name="Rounded Rectangle 21"/>
          <p:cNvSpPr/>
          <p:nvPr/>
        </p:nvSpPr>
        <p:spPr>
          <a:xfrm>
            <a:off x="8823959" y="4005072"/>
            <a:ext cx="1417320" cy="274320"/>
          </a:xfrm>
          <a:prstGeom prst="roundRect">
            <a:avLst>
              <a:gd name="adj" fmla="val 50000"/>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LAB 4</a:t>
            </a:r>
          </a:p>
        </p:txBody>
      </p:sp>
      <p:sp>
        <p:nvSpPr>
          <p:cNvPr id="23" name="Rectangle 22"/>
          <p:cNvSpPr/>
          <p:nvPr/>
        </p:nvSpPr>
        <p:spPr>
          <a:xfrm>
            <a:off x="585216" y="4443984"/>
            <a:ext cx="9656063" cy="1097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585216" y="4553712"/>
            <a:ext cx="384048" cy="384048"/>
          </a:xfrm>
          <a:prstGeom prst="roundRect">
            <a:avLst>
              <a:gd name="adj" fmla="val 18000"/>
            </a:avLst>
          </a:prstGeom>
          <a:solidFill>
            <a:srgbClr val="FFFFFF"/>
          </a:solidFill>
          <a:ln w="12700">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225295" y="4572000"/>
            <a:ext cx="7589520" cy="411480"/>
          </a:xfrm>
          <a:prstGeom prst="rect">
            <a:avLst/>
          </a:prstGeom>
          <a:noFill/>
        </p:spPr>
        <p:txBody>
          <a:bodyPr wrap="square" lIns="0" rIns="0" tIns="0" bIns="0" anchor="t">
            <a:spAutoFit/>
          </a:bodyPr>
          <a:lstStyle/>
          <a:p>
            <a:pPr algn="l">
              <a:spcAft>
                <a:spcPts val="0"/>
              </a:spcAft>
            </a:pPr>
            <a:r>
              <a:rPr sz="1600" b="1" i="0">
                <a:solidFill>
                  <a:srgbClr val="1F1F1F"/>
                </a:solidFill>
              </a:rPr>
              <a:t>Judge</a:t>
            </a:r>
            <a:r>
              <a:rPr sz="1600" b="0" i="0">
                <a:solidFill>
                  <a:srgbClr val="1F1F1F"/>
                </a:solidFill>
              </a:rPr>
              <a:t> vendor claims with sources</a:t>
            </a:r>
          </a:p>
        </p:txBody>
      </p:sp>
      <p:sp>
        <p:nvSpPr>
          <p:cNvPr id="26" name="Rounded Rectangle 25"/>
          <p:cNvSpPr/>
          <p:nvPr/>
        </p:nvSpPr>
        <p:spPr>
          <a:xfrm>
            <a:off x="8823959" y="4608576"/>
            <a:ext cx="1417320" cy="274320"/>
          </a:xfrm>
          <a:prstGeom prst="roundRect">
            <a:avLst>
              <a:gd name="adj" fmla="val 50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ALL DAY</a:t>
            </a:r>
          </a:p>
        </p:txBody>
      </p:sp>
      <p:sp>
        <p:nvSpPr>
          <p:cNvPr id="27" name="TextBox 26"/>
          <p:cNvSpPr txBox="1"/>
          <p:nvPr/>
        </p:nvSpPr>
        <p:spPr>
          <a:xfrm>
            <a:off x="585216" y="530352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We tick them off together before you leave.</a:t>
            </a:r>
          </a:p>
        </p:txBody>
      </p:sp>
      <p:sp>
        <p:nvSpPr>
          <p:cNvPr id="28" name="TextBox 27"/>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Workshop plan v001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Four segments, each ending with your hands on the keyboard</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BEFORE WE START</a:t>
            </a:r>
          </a:p>
        </p:txBody>
      </p:sp>
      <p:sp>
        <p:nvSpPr>
          <p:cNvPr id="4" name="Rounded Rectangle 3"/>
          <p:cNvSpPr/>
          <p:nvPr/>
        </p:nvSpPr>
        <p:spPr>
          <a:xfrm>
            <a:off x="585216" y="1463040"/>
            <a:ext cx="822960" cy="2359152"/>
          </a:xfrm>
          <a:prstGeom prst="roundRect">
            <a:avLst>
              <a:gd name="adj" fmla="val 12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6B6B6B"/>
                </a:solidFill>
              </a:rPr>
              <a:t>Keys</a:t>
            </a:r>
          </a:p>
          <a:p>
            <a:pPr algn="ctr"/>
            <a:r>
              <a:rPr sz="1000" b="1" i="0">
                <a:solidFill>
                  <a:srgbClr val="6B6B6B"/>
                </a:solidFill>
              </a:rPr>
              <a:t>+ setup</a:t>
            </a:r>
          </a:p>
          <a:p>
            <a:pPr algn="ctr"/>
            <a:r>
              <a:rPr sz="1000" b="1" i="0">
                <a:solidFill>
                  <a:srgbClr val="6B6B6B"/>
                </a:solidFill>
              </a:rPr>
              <a:t>clinic</a:t>
            </a:r>
          </a:p>
        </p:txBody>
      </p:sp>
      <p:sp>
        <p:nvSpPr>
          <p:cNvPr id="5" name="Rounded Rectangle 4"/>
          <p:cNvSpPr/>
          <p:nvPr/>
        </p:nvSpPr>
        <p:spPr>
          <a:xfrm>
            <a:off x="1481328" y="1463040"/>
            <a:ext cx="1595627" cy="96012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i="0">
                <a:solidFill>
                  <a:srgbClr val="FFFFFF"/>
                </a:solidFill>
              </a:rPr>
              <a:t>SEGMENT 1</a:t>
            </a:r>
          </a:p>
          <a:p>
            <a:pPr algn="ctr"/>
            <a:r>
              <a:rPr sz="1200" b="1" i="0">
                <a:solidFill>
                  <a:srgbClr val="FFFFFF"/>
                </a:solidFill>
              </a:rPr>
              <a:t>Foundations</a:t>
            </a:r>
          </a:p>
        </p:txBody>
      </p:sp>
      <p:sp>
        <p:nvSpPr>
          <p:cNvPr id="6" name="Rounded Rectangle 5"/>
          <p:cNvSpPr/>
          <p:nvPr/>
        </p:nvSpPr>
        <p:spPr>
          <a:xfrm>
            <a:off x="1481328" y="2532888"/>
            <a:ext cx="1595627" cy="356615"/>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talk</a:t>
            </a:r>
          </a:p>
        </p:txBody>
      </p:sp>
      <p:sp>
        <p:nvSpPr>
          <p:cNvPr id="7" name="Rounded Rectangle 6"/>
          <p:cNvSpPr/>
          <p:nvPr/>
        </p:nvSpPr>
        <p:spPr>
          <a:xfrm>
            <a:off x="1481328" y="2962656"/>
            <a:ext cx="1595627" cy="356615"/>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live demos</a:t>
            </a:r>
          </a:p>
        </p:txBody>
      </p:sp>
      <p:sp>
        <p:nvSpPr>
          <p:cNvPr id="8" name="Rounded Rectangle 7"/>
          <p:cNvSpPr/>
          <p:nvPr/>
        </p:nvSpPr>
        <p:spPr>
          <a:xfrm>
            <a:off x="1481328" y="3392424"/>
            <a:ext cx="1595627" cy="356615"/>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Lab 1 · hands-on</a:t>
            </a:r>
          </a:p>
        </p:txBody>
      </p:sp>
      <p:sp>
        <p:nvSpPr>
          <p:cNvPr id="9" name="Rounded Rectangle 8"/>
          <p:cNvSpPr/>
          <p:nvPr/>
        </p:nvSpPr>
        <p:spPr>
          <a:xfrm>
            <a:off x="3150108" y="1463040"/>
            <a:ext cx="310896" cy="2359152"/>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vert="vert270"/>
          <a:lstStyle/>
          <a:p>
            <a:pPr algn="ctr"/>
            <a:r>
              <a:rPr sz="1000" b="0" i="0">
                <a:solidFill>
                  <a:srgbClr val="6B6B6B"/>
                </a:solidFill>
              </a:rPr>
              <a:t>break</a:t>
            </a:r>
          </a:p>
        </p:txBody>
      </p:sp>
      <p:sp>
        <p:nvSpPr>
          <p:cNvPr id="10" name="Rounded Rectangle 9"/>
          <p:cNvSpPr/>
          <p:nvPr/>
        </p:nvSpPr>
        <p:spPr>
          <a:xfrm>
            <a:off x="3534156" y="1463040"/>
            <a:ext cx="1595627" cy="960120"/>
          </a:xfrm>
          <a:prstGeom prst="roundRect">
            <a:avLst>
              <a:gd name="adj" fmla="val 12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i="0">
                <a:solidFill>
                  <a:srgbClr val="FFFFFF"/>
                </a:solidFill>
              </a:rPr>
              <a:t>SEGMENT 2</a:t>
            </a:r>
          </a:p>
          <a:p>
            <a:pPr algn="ctr"/>
            <a:r>
              <a:rPr sz="1200" b="1" i="0">
                <a:solidFill>
                  <a:srgbClr val="FFFFFF"/>
                </a:solidFill>
              </a:rPr>
              <a:t>Integrating AI</a:t>
            </a:r>
          </a:p>
        </p:txBody>
      </p:sp>
      <p:sp>
        <p:nvSpPr>
          <p:cNvPr id="11" name="Rounded Rectangle 10"/>
          <p:cNvSpPr/>
          <p:nvPr/>
        </p:nvSpPr>
        <p:spPr>
          <a:xfrm>
            <a:off x="3534156" y="2532888"/>
            <a:ext cx="1595627" cy="356615"/>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talk</a:t>
            </a:r>
          </a:p>
        </p:txBody>
      </p:sp>
      <p:sp>
        <p:nvSpPr>
          <p:cNvPr id="12" name="Rounded Rectangle 11"/>
          <p:cNvSpPr/>
          <p:nvPr/>
        </p:nvSpPr>
        <p:spPr>
          <a:xfrm>
            <a:off x="3534156" y="2962656"/>
            <a:ext cx="1595627" cy="356615"/>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live demos</a:t>
            </a:r>
          </a:p>
        </p:txBody>
      </p:sp>
      <p:sp>
        <p:nvSpPr>
          <p:cNvPr id="13" name="Rounded Rectangle 12"/>
          <p:cNvSpPr/>
          <p:nvPr/>
        </p:nvSpPr>
        <p:spPr>
          <a:xfrm>
            <a:off x="3534156" y="3392424"/>
            <a:ext cx="1595627" cy="356615"/>
          </a:xfrm>
          <a:prstGeom prst="roundRect">
            <a:avLst>
              <a:gd name="adj" fmla="val 12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Lab 2 · hands-on</a:t>
            </a:r>
          </a:p>
        </p:txBody>
      </p:sp>
      <p:sp>
        <p:nvSpPr>
          <p:cNvPr id="14" name="Rounded Rectangle 13"/>
          <p:cNvSpPr/>
          <p:nvPr/>
        </p:nvSpPr>
        <p:spPr>
          <a:xfrm>
            <a:off x="5202936" y="1463040"/>
            <a:ext cx="420624" cy="2359152"/>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vert="vert270"/>
          <a:lstStyle/>
          <a:p>
            <a:pPr algn="ctr"/>
            <a:r>
              <a:rPr sz="1000" b="0" i="0">
                <a:solidFill>
                  <a:srgbClr val="6B6B6B"/>
                </a:solidFill>
              </a:rPr>
              <a:t>lunch</a:t>
            </a:r>
          </a:p>
        </p:txBody>
      </p:sp>
      <p:sp>
        <p:nvSpPr>
          <p:cNvPr id="15" name="Rounded Rectangle 14"/>
          <p:cNvSpPr/>
          <p:nvPr/>
        </p:nvSpPr>
        <p:spPr>
          <a:xfrm>
            <a:off x="5696712" y="1463040"/>
            <a:ext cx="1595627" cy="960120"/>
          </a:xfrm>
          <a:prstGeom prst="roundRect">
            <a:avLst>
              <a:gd name="adj" fmla="val 12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i="0">
                <a:solidFill>
                  <a:srgbClr val="FFFFFF"/>
                </a:solidFill>
              </a:rPr>
              <a:t>SEGMENT 3</a:t>
            </a:r>
          </a:p>
          <a:p>
            <a:pPr algn="ctr"/>
            <a:r>
              <a:rPr sz="1200" b="1" i="0">
                <a:solidFill>
                  <a:srgbClr val="FFFFFF"/>
                </a:solidFill>
              </a:rPr>
              <a:t>The world of agents</a:t>
            </a:r>
          </a:p>
        </p:txBody>
      </p:sp>
      <p:sp>
        <p:nvSpPr>
          <p:cNvPr id="16" name="Rounded Rectangle 15"/>
          <p:cNvSpPr/>
          <p:nvPr/>
        </p:nvSpPr>
        <p:spPr>
          <a:xfrm>
            <a:off x="5696712" y="2532888"/>
            <a:ext cx="1595627" cy="356615"/>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talk</a:t>
            </a:r>
          </a:p>
        </p:txBody>
      </p:sp>
      <p:sp>
        <p:nvSpPr>
          <p:cNvPr id="17" name="Rounded Rectangle 16"/>
          <p:cNvSpPr/>
          <p:nvPr/>
        </p:nvSpPr>
        <p:spPr>
          <a:xfrm>
            <a:off x="5696712" y="2962656"/>
            <a:ext cx="1595627" cy="356615"/>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live demos</a:t>
            </a:r>
          </a:p>
        </p:txBody>
      </p:sp>
      <p:sp>
        <p:nvSpPr>
          <p:cNvPr id="18" name="Rounded Rectangle 17"/>
          <p:cNvSpPr/>
          <p:nvPr/>
        </p:nvSpPr>
        <p:spPr>
          <a:xfrm>
            <a:off x="5696712" y="3392424"/>
            <a:ext cx="1595627" cy="356615"/>
          </a:xfrm>
          <a:prstGeom prst="roundRect">
            <a:avLst>
              <a:gd name="adj" fmla="val 12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Lab 3 · hands-on</a:t>
            </a:r>
          </a:p>
        </p:txBody>
      </p:sp>
      <p:sp>
        <p:nvSpPr>
          <p:cNvPr id="19" name="Rounded Rectangle 18"/>
          <p:cNvSpPr/>
          <p:nvPr/>
        </p:nvSpPr>
        <p:spPr>
          <a:xfrm>
            <a:off x="7365492" y="1463040"/>
            <a:ext cx="310896" cy="2359152"/>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vert="vert270"/>
          <a:lstStyle/>
          <a:p>
            <a:pPr algn="ctr"/>
            <a:r>
              <a:rPr sz="1000" b="0" i="0">
                <a:solidFill>
                  <a:srgbClr val="6B6B6B"/>
                </a:solidFill>
              </a:rPr>
              <a:t>break</a:t>
            </a:r>
          </a:p>
        </p:txBody>
      </p:sp>
      <p:sp>
        <p:nvSpPr>
          <p:cNvPr id="20" name="Rounded Rectangle 19"/>
          <p:cNvSpPr/>
          <p:nvPr/>
        </p:nvSpPr>
        <p:spPr>
          <a:xfrm>
            <a:off x="7749540" y="1463040"/>
            <a:ext cx="1595627" cy="960120"/>
          </a:xfrm>
          <a:prstGeom prst="roundRect">
            <a:avLst>
              <a:gd name="adj" fmla="val 12000"/>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i="0">
                <a:solidFill>
                  <a:srgbClr val="FFFFFF"/>
                </a:solidFill>
              </a:rPr>
              <a:t>SEGMENT 4</a:t>
            </a:r>
          </a:p>
          <a:p>
            <a:pPr algn="ctr"/>
            <a:r>
              <a:rPr sz="1200" b="1" i="0">
                <a:solidFill>
                  <a:srgbClr val="FFFFFF"/>
                </a:solidFill>
              </a:rPr>
              <a:t>Local AI, media &amp; beyond the West</a:t>
            </a:r>
          </a:p>
        </p:txBody>
      </p:sp>
      <p:sp>
        <p:nvSpPr>
          <p:cNvPr id="21" name="Rounded Rectangle 20"/>
          <p:cNvSpPr/>
          <p:nvPr/>
        </p:nvSpPr>
        <p:spPr>
          <a:xfrm>
            <a:off x="7749540" y="2532888"/>
            <a:ext cx="1595627" cy="356615"/>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talk</a:t>
            </a:r>
          </a:p>
        </p:txBody>
      </p:sp>
      <p:sp>
        <p:nvSpPr>
          <p:cNvPr id="22" name="Rounded Rectangle 21"/>
          <p:cNvSpPr/>
          <p:nvPr/>
        </p:nvSpPr>
        <p:spPr>
          <a:xfrm>
            <a:off x="7749540" y="2962656"/>
            <a:ext cx="1595627" cy="356615"/>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live demos</a:t>
            </a:r>
          </a:p>
        </p:txBody>
      </p:sp>
      <p:sp>
        <p:nvSpPr>
          <p:cNvPr id="23" name="Rounded Rectangle 22"/>
          <p:cNvSpPr/>
          <p:nvPr/>
        </p:nvSpPr>
        <p:spPr>
          <a:xfrm>
            <a:off x="7749540" y="3392424"/>
            <a:ext cx="1595627" cy="356615"/>
          </a:xfrm>
          <a:prstGeom prst="roundRect">
            <a:avLst>
              <a:gd name="adj" fmla="val 12000"/>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Lab 4 · hands-on</a:t>
            </a:r>
          </a:p>
        </p:txBody>
      </p:sp>
      <p:sp>
        <p:nvSpPr>
          <p:cNvPr id="24" name="Rounded Rectangle 23"/>
          <p:cNvSpPr/>
          <p:nvPr/>
        </p:nvSpPr>
        <p:spPr>
          <a:xfrm>
            <a:off x="9418319" y="1463040"/>
            <a:ext cx="822960" cy="2359152"/>
          </a:xfrm>
          <a:prstGeom prst="roundRect">
            <a:avLst>
              <a:gd name="adj" fmla="val 12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6B6B6B"/>
                </a:solidFill>
              </a:rPr>
              <a:t>Close</a:t>
            </a:r>
          </a:p>
          <a:p>
            <a:pPr algn="ctr"/>
            <a:r>
              <a:rPr sz="1000" b="1" i="0">
                <a:solidFill>
                  <a:srgbClr val="6B6B6B"/>
                </a:solidFill>
              </a:rPr>
              <a:t>+ recap</a:t>
            </a:r>
          </a:p>
        </p:txBody>
      </p:sp>
      <p:sp>
        <p:nvSpPr>
          <p:cNvPr id="25" name="Rounded Rectangle 24"/>
          <p:cNvSpPr/>
          <p:nvPr/>
        </p:nvSpPr>
        <p:spPr>
          <a:xfrm>
            <a:off x="585216" y="4270248"/>
            <a:ext cx="1143000" cy="384048"/>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CORE</a:t>
            </a:r>
          </a:p>
        </p:txBody>
      </p:sp>
      <p:sp>
        <p:nvSpPr>
          <p:cNvPr id="26" name="Rounded Rectangle 25"/>
          <p:cNvSpPr/>
          <p:nvPr/>
        </p:nvSpPr>
        <p:spPr>
          <a:xfrm>
            <a:off x="585216" y="4718304"/>
            <a:ext cx="1143000" cy="347472"/>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STRETCH</a:t>
            </a:r>
          </a:p>
        </p:txBody>
      </p:sp>
      <p:sp>
        <p:nvSpPr>
          <p:cNvPr id="27" name="TextBox 26"/>
          <p:cNvSpPr txBox="1"/>
          <p:nvPr/>
        </p:nvSpPr>
        <p:spPr>
          <a:xfrm>
            <a:off x="1865376" y="4343400"/>
            <a:ext cx="3657600" cy="868680"/>
          </a:xfrm>
          <a:prstGeom prst="rect">
            <a:avLst/>
          </a:prstGeom>
          <a:noFill/>
        </p:spPr>
        <p:txBody>
          <a:bodyPr wrap="square" lIns="0" rIns="0" tIns="0" bIns="0" anchor="t">
            <a:spAutoFit/>
          </a:bodyPr>
          <a:lstStyle/>
          <a:p>
            <a:pPr algn="l">
              <a:spcAft>
                <a:spcPts val="300"/>
              </a:spcAft>
            </a:pPr>
            <a:r>
              <a:rPr sz="1500" b="1" i="0">
                <a:solidFill>
                  <a:srgbClr val="2A446F"/>
                </a:solidFill>
              </a:rPr>
              <a:t>Core lab</a:t>
            </a:r>
            <a:r>
              <a:rPr sz="1500" b="0" i="0">
                <a:solidFill>
                  <a:srgbClr val="2A446F"/>
                </a:solidFill>
              </a:rPr>
              <a:t> — the part everyone finishes</a:t>
            </a:r>
          </a:p>
          <a:p>
            <a:pPr algn="l">
              <a:spcAft>
                <a:spcPts val="600"/>
              </a:spcAft>
            </a:pPr>
            <a:r>
              <a:rPr sz="1300" b="0" i="0">
                <a:solidFill>
                  <a:srgbClr val="6B6B6B"/>
                </a:solidFill>
              </a:rPr>
              <a:t>stretch goals keep the fast ones busy</a:t>
            </a:r>
          </a:p>
        </p:txBody>
      </p:sp>
      <p:sp>
        <p:nvSpPr>
          <p:cNvPr id="28" name="Rounded Rectangle 27"/>
          <p:cNvSpPr/>
          <p:nvPr/>
        </p:nvSpPr>
        <p:spPr>
          <a:xfrm>
            <a:off x="5806440" y="4187952"/>
            <a:ext cx="4434840" cy="12344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007607" y="4352544"/>
            <a:ext cx="4032503" cy="411480"/>
          </a:xfrm>
          <a:prstGeom prst="rect">
            <a:avLst/>
          </a:prstGeom>
          <a:noFill/>
        </p:spPr>
        <p:txBody>
          <a:bodyPr wrap="square" lIns="0" rIns="0" tIns="0" bIns="0" anchor="t">
            <a:spAutoFit/>
          </a:bodyPr>
          <a:lstStyle/>
          <a:p>
            <a:pPr algn="l">
              <a:spcAft>
                <a:spcPts val="0"/>
              </a:spcAft>
            </a:pPr>
            <a:r>
              <a:rPr sz="1200" b="1" i="0">
                <a:solidFill>
                  <a:srgbClr val="0078D4"/>
                </a:solidFill>
              </a:rPr>
              <a:t>EVERY LAB, THREE LANGUAGES</a:t>
            </a:r>
          </a:p>
        </p:txBody>
      </p:sp>
      <p:sp>
        <p:nvSpPr>
          <p:cNvPr id="30" name="TextBox 29"/>
          <p:cNvSpPr txBox="1"/>
          <p:nvPr/>
        </p:nvSpPr>
        <p:spPr>
          <a:xfrm>
            <a:off x="6007607" y="4809744"/>
            <a:ext cx="4032503" cy="457200"/>
          </a:xfrm>
          <a:prstGeom prst="rect">
            <a:avLst/>
          </a:prstGeom>
          <a:noFill/>
        </p:spPr>
        <p:txBody>
          <a:bodyPr wrap="square" lIns="0" rIns="0" tIns="0" bIns="0" anchor="t">
            <a:spAutoFit/>
          </a:bodyPr>
          <a:lstStyle/>
          <a:p>
            <a:pPr algn="l">
              <a:spcAft>
                <a:spcPts val="0"/>
              </a:spcAft>
            </a:pPr>
            <a:r>
              <a:rPr sz="1300" b="0" i="0">
                <a:solidFill>
                  <a:srgbClr val="1F1F1F"/>
                </a:solidFill>
              </a:rPr>
              <a:t>Python, C# and TypeScript starters with a few TODO blocks to write — Lab 4 is Python-first.</a:t>
            </a:r>
          </a:p>
        </p:txBody>
      </p:sp>
      <p:sp>
        <p:nvSpPr>
          <p:cNvPr id="31" name="TextBox 30"/>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Fast? Take the stretch goals. Stuck? A solution/ folder sits next to every starter.</a:t>
            </a:r>
          </a:p>
        </p:txBody>
      </p:sp>
      <p:sp>
        <p:nvSpPr>
          <p:cNvPr id="32" name="TextBox 31"/>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Workshop plan v001 · labs/README.md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Your key, your endpoint, your fallback</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BEFORE WE START</a:t>
            </a:r>
          </a:p>
        </p:txBody>
      </p:sp>
      <p:sp>
        <p:nvSpPr>
          <p:cNvPr id="4" name="TextBox 3"/>
          <p:cNvSpPr txBox="1"/>
          <p:nvPr/>
        </p:nvSpPr>
        <p:spPr>
          <a:xfrm>
            <a:off x="585216" y="1371600"/>
            <a:ext cx="6492240" cy="274320"/>
          </a:xfrm>
          <a:prstGeom prst="rect">
            <a:avLst/>
          </a:prstGeom>
          <a:noFill/>
        </p:spPr>
        <p:txBody>
          <a:bodyPr wrap="square" lIns="0" rIns="0" tIns="0" bIns="0" anchor="t">
            <a:spAutoFit/>
          </a:bodyPr>
          <a:lstStyle/>
          <a:p>
            <a:pPr algn="l">
              <a:spcAft>
                <a:spcPts val="0"/>
              </a:spcAft>
            </a:pPr>
            <a:r>
              <a:rPr sz="1000" b="1" i="0">
                <a:solidFill>
                  <a:srgbClr val="6B6B6B"/>
                </a:solidFill>
              </a:rPr>
              <a:t>COPY YOUR HANDOUT CARD INTO labs/.env</a:t>
            </a:r>
          </a:p>
        </p:txBody>
      </p:sp>
      <p:sp>
        <p:nvSpPr>
          <p:cNvPr id="5" name="Rounded Rectangle 4"/>
          <p:cNvSpPr/>
          <p:nvPr/>
        </p:nvSpPr>
        <p:spPr>
          <a:xfrm>
            <a:off x="585216" y="1645920"/>
            <a:ext cx="6492240" cy="155448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888736" y="1755648"/>
            <a:ext cx="1005840" cy="228600"/>
          </a:xfrm>
          <a:prstGeom prst="rect">
            <a:avLst/>
          </a:prstGeom>
          <a:noFill/>
        </p:spPr>
        <p:txBody>
          <a:bodyPr wrap="square" lIns="0" rIns="0" tIns="0" bIns="0" anchor="t">
            <a:spAutoFit/>
          </a:bodyPr>
          <a:lstStyle/>
          <a:p>
            <a:pPr algn="r">
              <a:spcAft>
                <a:spcPts val="0"/>
              </a:spcAft>
            </a:pPr>
            <a:r>
              <a:rPr sz="900" b="1" i="0">
                <a:solidFill>
                  <a:srgbClr val="FFB900"/>
                </a:solidFill>
                <a:latin typeface="Consolas"/>
              </a:rPr>
              <a:t>labs/.env</a:t>
            </a:r>
          </a:p>
        </p:txBody>
      </p:sp>
      <p:sp>
        <p:nvSpPr>
          <p:cNvPr id="7" name="TextBox 6"/>
          <p:cNvSpPr txBox="1"/>
          <p:nvPr/>
        </p:nvSpPr>
        <p:spPr>
          <a:xfrm>
            <a:off x="768096" y="2029968"/>
            <a:ext cx="6126479" cy="1051560"/>
          </a:xfrm>
          <a:prstGeom prst="rect">
            <a:avLst/>
          </a:prstGeom>
          <a:noFill/>
        </p:spPr>
        <p:txBody>
          <a:bodyPr wrap="square" lIns="0" rIns="0" tIns="0" bIns="0">
            <a:spAutoFit/>
          </a:bodyPr>
          <a:lstStyle/>
          <a:p>
            <a:pPr>
              <a:spcAft>
                <a:spcPts val="0"/>
              </a:spcAft>
            </a:pPr>
            <a:r>
              <a:rPr sz="1300">
                <a:solidFill>
                  <a:srgbClr val="E8EEF7"/>
                </a:solidFill>
                <a:latin typeface="Consolas"/>
              </a:rPr>
              <a:t>GENAI_BASE_URL=https://&lt;gateway-from-your-card&gt;/openai/v1</a:t>
            </a:r>
          </a:p>
          <a:p>
            <a:pPr>
              <a:spcAft>
                <a:spcPts val="0"/>
              </a:spcAft>
            </a:pPr>
            <a:r>
              <a:rPr sz="1300">
                <a:solidFill>
                  <a:srgbClr val="E8EEF7"/>
                </a:solidFill>
                <a:latin typeface="Consolas"/>
              </a:rPr>
              <a:t>GENAI_API_KEY=&lt;your-personal-key&gt;</a:t>
            </a:r>
          </a:p>
          <a:p>
            <a:pPr>
              <a:spcAft>
                <a:spcPts val="0"/>
              </a:spcAft>
            </a:pPr>
            <a:r>
              <a:rPr sz="1300">
                <a:solidFill>
                  <a:srgbClr val="E8EEF7"/>
                </a:solidFill>
                <a:latin typeface="Consolas"/>
              </a:rPr>
              <a:t>GENAI_KEY_HEADER=api-key</a:t>
            </a:r>
          </a:p>
          <a:p>
            <a:pPr>
              <a:spcAft>
                <a:spcPts val="0"/>
              </a:spcAft>
            </a:pPr>
            <a:r>
              <a:rPr sz="1300">
                <a:solidFill>
                  <a:srgbClr val="E8EEF7"/>
                </a:solidFill>
                <a:latin typeface="Consolas"/>
              </a:rPr>
              <a:t>GENAI_MODEL=gpt-5-mini</a:t>
            </a:r>
          </a:p>
        </p:txBody>
      </p:sp>
      <p:sp>
        <p:nvSpPr>
          <p:cNvPr id="8" name="Rounded Rectangle 7"/>
          <p:cNvSpPr/>
          <p:nvPr/>
        </p:nvSpPr>
        <p:spPr>
          <a:xfrm>
            <a:off x="585216" y="3383280"/>
            <a:ext cx="2072640" cy="11887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86384" y="3547872"/>
            <a:ext cx="1670304" cy="411480"/>
          </a:xfrm>
          <a:prstGeom prst="rect">
            <a:avLst/>
          </a:prstGeom>
          <a:noFill/>
        </p:spPr>
        <p:txBody>
          <a:bodyPr wrap="square" lIns="0" rIns="0" tIns="0" bIns="0" anchor="t">
            <a:spAutoFit/>
          </a:bodyPr>
          <a:lstStyle/>
          <a:p>
            <a:pPr algn="l">
              <a:spcAft>
                <a:spcPts val="0"/>
              </a:spcAft>
            </a:pPr>
            <a:r>
              <a:rPr sz="1300" b="1" i="0">
                <a:solidFill>
                  <a:srgbClr val="C52B2B"/>
                </a:solidFill>
              </a:rPr>
              <a:t>401 · KEY</a:t>
            </a:r>
          </a:p>
        </p:txBody>
      </p:sp>
      <p:sp>
        <p:nvSpPr>
          <p:cNvPr id="10" name="TextBox 9"/>
          <p:cNvSpPr txBox="1"/>
          <p:nvPr/>
        </p:nvSpPr>
        <p:spPr>
          <a:xfrm>
            <a:off x="786384" y="4005072"/>
            <a:ext cx="1670304" cy="411480"/>
          </a:xfrm>
          <a:prstGeom prst="rect">
            <a:avLst/>
          </a:prstGeom>
          <a:noFill/>
        </p:spPr>
        <p:txBody>
          <a:bodyPr wrap="square" lIns="0" rIns="0" tIns="0" bIns="0" anchor="t">
            <a:spAutoFit/>
          </a:bodyPr>
          <a:lstStyle/>
          <a:p>
            <a:pPr algn="l">
              <a:spcAft>
                <a:spcPts val="0"/>
              </a:spcAft>
            </a:pPr>
            <a:r>
              <a:rPr sz="1200" b="0" i="0">
                <a:solidFill>
                  <a:srgbClr val="1F1F1F"/>
                </a:solidFill>
              </a:rPr>
              <a:t>Key missing or wrong — check labs/.env</a:t>
            </a:r>
          </a:p>
        </p:txBody>
      </p:sp>
      <p:sp>
        <p:nvSpPr>
          <p:cNvPr id="11" name="Rounded Rectangle 10"/>
          <p:cNvSpPr/>
          <p:nvPr/>
        </p:nvSpPr>
        <p:spPr>
          <a:xfrm>
            <a:off x="2795016" y="3383280"/>
            <a:ext cx="2072640" cy="11887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996184" y="3547872"/>
            <a:ext cx="1670304" cy="411480"/>
          </a:xfrm>
          <a:prstGeom prst="rect">
            <a:avLst/>
          </a:prstGeom>
          <a:noFill/>
        </p:spPr>
        <p:txBody>
          <a:bodyPr wrap="square" lIns="0" rIns="0" tIns="0" bIns="0" anchor="t">
            <a:spAutoFit/>
          </a:bodyPr>
          <a:lstStyle/>
          <a:p>
            <a:pPr algn="l">
              <a:spcAft>
                <a:spcPts val="0"/>
              </a:spcAft>
            </a:pPr>
            <a:r>
              <a:rPr sz="1300" b="1" i="0">
                <a:solidFill>
                  <a:srgbClr val="E86A10"/>
                </a:solidFill>
              </a:rPr>
              <a:t>403 · QUOTA</a:t>
            </a:r>
          </a:p>
        </p:txBody>
      </p:sp>
      <p:sp>
        <p:nvSpPr>
          <p:cNvPr id="13" name="TextBox 12"/>
          <p:cNvSpPr txBox="1"/>
          <p:nvPr/>
        </p:nvSpPr>
        <p:spPr>
          <a:xfrm>
            <a:off x="2996184" y="4005072"/>
            <a:ext cx="1670304" cy="411480"/>
          </a:xfrm>
          <a:prstGeom prst="rect">
            <a:avLst/>
          </a:prstGeom>
          <a:noFill/>
        </p:spPr>
        <p:txBody>
          <a:bodyPr wrap="square" lIns="0" rIns="0" tIns="0" bIns="0" anchor="t">
            <a:spAutoFit/>
          </a:bodyPr>
          <a:lstStyle/>
          <a:p>
            <a:pPr algn="l">
              <a:spcAft>
                <a:spcPts val="0"/>
              </a:spcAft>
            </a:pPr>
            <a:r>
              <a:rPr sz="1200" b="0" i="0">
                <a:solidFill>
                  <a:srgbClr val="1F1F1F"/>
                </a:solidFill>
              </a:rPr>
              <a:t>Today’s quota is used up — ask us</a:t>
            </a:r>
          </a:p>
        </p:txBody>
      </p:sp>
      <p:sp>
        <p:nvSpPr>
          <p:cNvPr id="14" name="Rounded Rectangle 13"/>
          <p:cNvSpPr/>
          <p:nvPr/>
        </p:nvSpPr>
        <p:spPr>
          <a:xfrm>
            <a:off x="5004815" y="3383280"/>
            <a:ext cx="2072640" cy="11887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205983" y="3547872"/>
            <a:ext cx="1670304" cy="411480"/>
          </a:xfrm>
          <a:prstGeom prst="rect">
            <a:avLst/>
          </a:prstGeom>
          <a:noFill/>
        </p:spPr>
        <p:txBody>
          <a:bodyPr wrap="square" lIns="0" rIns="0" tIns="0" bIns="0" anchor="t">
            <a:spAutoFit/>
          </a:bodyPr>
          <a:lstStyle/>
          <a:p>
            <a:pPr algn="l">
              <a:spcAft>
                <a:spcPts val="0"/>
              </a:spcAft>
            </a:pPr>
            <a:r>
              <a:rPr sz="1300" b="1" i="0">
                <a:solidFill>
                  <a:srgbClr val="0078D4"/>
                </a:solidFill>
              </a:rPr>
              <a:t>429 · TOO FAST</a:t>
            </a:r>
          </a:p>
        </p:txBody>
      </p:sp>
      <p:sp>
        <p:nvSpPr>
          <p:cNvPr id="16" name="TextBox 15"/>
          <p:cNvSpPr txBox="1"/>
          <p:nvPr/>
        </p:nvSpPr>
        <p:spPr>
          <a:xfrm>
            <a:off x="5205983" y="4005072"/>
            <a:ext cx="1670304" cy="411480"/>
          </a:xfrm>
          <a:prstGeom prst="rect">
            <a:avLst/>
          </a:prstGeom>
          <a:noFill/>
        </p:spPr>
        <p:txBody>
          <a:bodyPr wrap="square" lIns="0" rIns="0" tIns="0" bIns="0" anchor="t">
            <a:spAutoFit/>
          </a:bodyPr>
          <a:lstStyle/>
          <a:p>
            <a:pPr algn="l">
              <a:spcAft>
                <a:spcPts val="0"/>
              </a:spcAft>
            </a:pPr>
            <a:r>
              <a:rPr sz="1200" b="0" i="0">
                <a:solidFill>
                  <a:srgbClr val="1F1F1F"/>
                </a:solidFill>
              </a:rPr>
              <a:t>Tokens per minute used up — wait, it resets</a:t>
            </a:r>
          </a:p>
        </p:txBody>
      </p:sp>
      <p:sp>
        <p:nvSpPr>
          <p:cNvPr id="17" name="Rounded Rectangle 16"/>
          <p:cNvSpPr/>
          <p:nvPr/>
        </p:nvSpPr>
        <p:spPr>
          <a:xfrm>
            <a:off x="585216" y="4709160"/>
            <a:ext cx="6492240" cy="10972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86384" y="4873752"/>
            <a:ext cx="6089903" cy="411480"/>
          </a:xfrm>
          <a:prstGeom prst="rect">
            <a:avLst/>
          </a:prstGeom>
          <a:noFill/>
        </p:spPr>
        <p:txBody>
          <a:bodyPr wrap="square" lIns="0" rIns="0" tIns="0" bIns="0" anchor="t">
            <a:spAutoFit/>
          </a:bodyPr>
          <a:lstStyle/>
          <a:p>
            <a:pPr algn="l">
              <a:spcAft>
                <a:spcPts val="0"/>
              </a:spcAft>
            </a:pPr>
            <a:r>
              <a:rPr sz="1200" b="1" i="0">
                <a:solidFill>
                  <a:srgbClr val="2A7F5C"/>
                </a:solidFill>
              </a:rPr>
              <a:t>NO NETWORK? SAME CODE, LOCAL MODEL</a:t>
            </a:r>
          </a:p>
        </p:txBody>
      </p:sp>
      <p:sp>
        <p:nvSpPr>
          <p:cNvPr id="19" name="TextBox 18"/>
          <p:cNvSpPr txBox="1"/>
          <p:nvPr/>
        </p:nvSpPr>
        <p:spPr>
          <a:xfrm>
            <a:off x="786384" y="5330952"/>
            <a:ext cx="6089903" cy="320040"/>
          </a:xfrm>
          <a:prstGeom prst="rect">
            <a:avLst/>
          </a:prstGeom>
          <a:noFill/>
        </p:spPr>
        <p:txBody>
          <a:bodyPr wrap="square" lIns="0" rIns="0" tIns="0" bIns="0" anchor="t">
            <a:spAutoFit/>
          </a:bodyPr>
          <a:lstStyle/>
          <a:p>
            <a:pPr algn="l">
              <a:spcAft>
                <a:spcPts val="0"/>
              </a:spcAft>
            </a:pPr>
            <a:r>
              <a:rPr sz="1200" b="0" i="0">
                <a:solidFill>
                  <a:srgbClr val="1F1F1F"/>
                </a:solidFill>
              </a:rPr>
              <a:t>Ollama: GENAI_BASE_URL=http://localhost:11434/v1 and model qwen3.5:4b — or the instructor’s offline mock on the room network.</a:t>
            </a:r>
          </a:p>
        </p:txBody>
      </p:sp>
      <p:pic>
        <p:nvPicPr>
          <p:cNvPr id="20" name="Picture 19" descr="f05_key_bouncer.jpg"/>
          <p:cNvPicPr>
            <a:picLocks noChangeAspect="1"/>
          </p:cNvPicPr>
          <p:nvPr/>
        </p:nvPicPr>
        <p:blipFill>
          <a:blip r:embed="rId3"/>
          <a:stretch>
            <a:fillRect/>
          </a:stretch>
        </p:blipFill>
        <p:spPr>
          <a:xfrm>
            <a:off x="7360920" y="1371600"/>
            <a:ext cx="2788920" cy="4183380"/>
          </a:xfrm>
          <a:prstGeom prst="roundRect">
            <a:avLst>
              <a:gd name="adj" fmla="val 4000"/>
            </a:avLst>
          </a:prstGeom>
        </p:spPr>
      </p:pic>
      <p:sp>
        <p:nvSpPr>
          <p:cNvPr id="21" name="TextBox 20"/>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labs/.env.example · labs/00-setup/SETUP.md · Gateway policy attendee-policy.xml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Your key never reaches the models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BEFORE WE START</a:t>
            </a:r>
          </a:p>
        </p:txBody>
      </p:sp>
      <p:sp>
        <p:nvSpPr>
          <p:cNvPr id="4" name="Rounded Rectangle 3"/>
          <p:cNvSpPr/>
          <p:nvPr/>
        </p:nvSpPr>
        <p:spPr>
          <a:xfrm>
            <a:off x="585216" y="1417320"/>
            <a:ext cx="2944367" cy="96012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1F1F1F"/>
                </a:solidFill>
              </a:rPr>
              <a:t>YOUR CODE</a:t>
            </a:r>
          </a:p>
          <a:p>
            <a:pPr algn="ctr"/>
            <a:r>
              <a:rPr sz="1300" b="0" i="0">
                <a:solidFill>
                  <a:srgbClr val="1F1F1F"/>
                </a:solidFill>
              </a:rPr>
              <a:t>api-key: your personal key</a:t>
            </a:r>
          </a:p>
        </p:txBody>
      </p:sp>
      <p:cxnSp>
        <p:nvCxnSpPr>
          <p:cNvPr id="5" name="Connector 4"/>
          <p:cNvCxnSpPr/>
          <p:nvPr/>
        </p:nvCxnSpPr>
        <p:spPr>
          <a:xfrm>
            <a:off x="3566159" y="1897380"/>
            <a:ext cx="3383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941063" y="1417320"/>
            <a:ext cx="2944367" cy="96012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rPr>
              <a:t>THE GATEWAY</a:t>
            </a:r>
          </a:p>
          <a:p>
            <a:pPr algn="ctr"/>
            <a:r>
              <a:rPr sz="1300" b="0" i="0">
                <a:solidFill>
                  <a:srgbClr val="FFFFFF"/>
                </a:solidFill>
              </a:rPr>
              <a:t>Azure API Management</a:t>
            </a:r>
          </a:p>
          <a:p>
            <a:pPr algn="ctr"/>
            <a:r>
              <a:rPr sz="1300" b="0" i="0">
                <a:solidFill>
                  <a:srgbClr val="FFFFFF"/>
                </a:solidFill>
              </a:rPr>
              <a:t>checks · counts · swaps the key</a:t>
            </a:r>
          </a:p>
        </p:txBody>
      </p:sp>
      <p:cxnSp>
        <p:nvCxnSpPr>
          <p:cNvPr id="7" name="Connector 6"/>
          <p:cNvCxnSpPr/>
          <p:nvPr/>
        </p:nvCxnSpPr>
        <p:spPr>
          <a:xfrm>
            <a:off x="6922007" y="1897380"/>
            <a:ext cx="338329"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7296911" y="1417320"/>
            <a:ext cx="2944367" cy="960120"/>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rPr>
              <a:t>FOUNDRY MODELS</a:t>
            </a:r>
          </a:p>
          <a:p>
            <a:pPr algn="ctr"/>
            <a:r>
              <a:rPr sz="1300" b="0" i="0">
                <a:solidFill>
                  <a:srgbClr val="FFFFFF"/>
                </a:solidFill>
              </a:rPr>
              <a:t>see only the gateway’s identity</a:t>
            </a:r>
          </a:p>
        </p:txBody>
      </p:sp>
      <p:sp>
        <p:nvSpPr>
          <p:cNvPr id="9" name="Oval 8"/>
          <p:cNvSpPr/>
          <p:nvPr/>
        </p:nvSpPr>
        <p:spPr>
          <a:xfrm>
            <a:off x="585216" y="2651760"/>
            <a:ext cx="384048" cy="384048"/>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1</a:t>
            </a:r>
          </a:p>
        </p:txBody>
      </p:sp>
      <p:sp>
        <p:nvSpPr>
          <p:cNvPr id="10" name="TextBox 9"/>
          <p:cNvSpPr txBox="1"/>
          <p:nvPr/>
        </p:nvSpPr>
        <p:spPr>
          <a:xfrm>
            <a:off x="1133856" y="2670048"/>
            <a:ext cx="4663440" cy="603504"/>
          </a:xfrm>
          <a:prstGeom prst="rect">
            <a:avLst/>
          </a:prstGeom>
          <a:noFill/>
        </p:spPr>
        <p:txBody>
          <a:bodyPr wrap="square" lIns="0" rIns="0" tIns="0" bIns="0" anchor="t">
            <a:spAutoFit/>
          </a:bodyPr>
          <a:lstStyle/>
          <a:p>
            <a:pPr algn="l">
              <a:spcAft>
                <a:spcPts val="0"/>
              </a:spcAft>
            </a:pPr>
            <a:r>
              <a:rPr sz="1400" b="1" i="0">
                <a:solidFill>
                  <a:srgbClr val="1F1F1F"/>
                </a:solidFill>
              </a:rPr>
              <a:t>Checks</a:t>
            </a:r>
            <a:r>
              <a:rPr sz="1400" b="0" i="0">
                <a:solidFill>
                  <a:srgbClr val="1F1F1F"/>
                </a:solidFill>
              </a:rPr>
              <a:t> your personal key — no valid key, no entry (401).</a:t>
            </a:r>
          </a:p>
        </p:txBody>
      </p:sp>
      <p:sp>
        <p:nvSpPr>
          <p:cNvPr id="11" name="Oval 10"/>
          <p:cNvSpPr/>
          <p:nvPr/>
        </p:nvSpPr>
        <p:spPr>
          <a:xfrm>
            <a:off x="585216" y="3291839"/>
            <a:ext cx="384048" cy="384048"/>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2</a:t>
            </a:r>
          </a:p>
        </p:txBody>
      </p:sp>
      <p:sp>
        <p:nvSpPr>
          <p:cNvPr id="12" name="TextBox 11"/>
          <p:cNvSpPr txBox="1"/>
          <p:nvPr/>
        </p:nvSpPr>
        <p:spPr>
          <a:xfrm>
            <a:off x="1133856" y="3310127"/>
            <a:ext cx="4663440" cy="603504"/>
          </a:xfrm>
          <a:prstGeom prst="rect">
            <a:avLst/>
          </a:prstGeom>
          <a:noFill/>
        </p:spPr>
        <p:txBody>
          <a:bodyPr wrap="square" lIns="0" rIns="0" tIns="0" bIns="0" anchor="t">
            <a:spAutoFit/>
          </a:bodyPr>
          <a:lstStyle/>
          <a:p>
            <a:pPr algn="l">
              <a:spcAft>
                <a:spcPts val="0"/>
              </a:spcAft>
            </a:pPr>
            <a:r>
              <a:rPr sz="1400" b="1" i="0">
                <a:solidFill>
                  <a:srgbClr val="1F1F1F"/>
                </a:solidFill>
              </a:rPr>
              <a:t>Counts</a:t>
            </a:r>
            <a:r>
              <a:rPr sz="1400" b="0" i="0">
                <a:solidFill>
                  <a:srgbClr val="1F1F1F"/>
                </a:solidFill>
              </a:rPr>
              <a:t> your tokens per minute and per day, and tells you what is left.</a:t>
            </a:r>
          </a:p>
        </p:txBody>
      </p:sp>
      <p:sp>
        <p:nvSpPr>
          <p:cNvPr id="13" name="Oval 12"/>
          <p:cNvSpPr/>
          <p:nvPr/>
        </p:nvSpPr>
        <p:spPr>
          <a:xfrm>
            <a:off x="585216" y="3931920"/>
            <a:ext cx="384048" cy="384048"/>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3</a:t>
            </a:r>
          </a:p>
        </p:txBody>
      </p:sp>
      <p:sp>
        <p:nvSpPr>
          <p:cNvPr id="14" name="TextBox 13"/>
          <p:cNvSpPr txBox="1"/>
          <p:nvPr/>
        </p:nvSpPr>
        <p:spPr>
          <a:xfrm>
            <a:off x="1133856" y="3950207"/>
            <a:ext cx="4663440" cy="603504"/>
          </a:xfrm>
          <a:prstGeom prst="rect">
            <a:avLst/>
          </a:prstGeom>
          <a:noFill/>
        </p:spPr>
        <p:txBody>
          <a:bodyPr wrap="square" lIns="0" rIns="0" tIns="0" bIns="0" anchor="t">
            <a:spAutoFit/>
          </a:bodyPr>
          <a:lstStyle/>
          <a:p>
            <a:pPr algn="l">
              <a:spcAft>
                <a:spcPts val="0"/>
              </a:spcAft>
            </a:pPr>
            <a:r>
              <a:rPr sz="1400" b="1" i="0">
                <a:solidFill>
                  <a:srgbClr val="1F1F1F"/>
                </a:solidFill>
              </a:rPr>
              <a:t>Swaps</a:t>
            </a:r>
            <a:r>
              <a:rPr sz="1400" b="0" i="0">
                <a:solidFill>
                  <a:srgbClr val="1F1F1F"/>
                </a:solidFill>
              </a:rPr>
              <a:t> the key: drops your api-key header, signs in to Foundry as itself (managed identity).</a:t>
            </a:r>
          </a:p>
        </p:txBody>
      </p:sp>
      <p:sp>
        <p:nvSpPr>
          <p:cNvPr id="15" name="TextBox 14"/>
          <p:cNvSpPr txBox="1"/>
          <p:nvPr/>
        </p:nvSpPr>
        <p:spPr>
          <a:xfrm>
            <a:off x="585216" y="4544568"/>
            <a:ext cx="5394960" cy="274320"/>
          </a:xfrm>
          <a:prstGeom prst="rect">
            <a:avLst/>
          </a:prstGeom>
          <a:noFill/>
        </p:spPr>
        <p:txBody>
          <a:bodyPr wrap="square" lIns="0" rIns="0" tIns="0" bIns="0" anchor="t">
            <a:spAutoFit/>
          </a:bodyPr>
          <a:lstStyle/>
          <a:p>
            <a:pPr algn="l">
              <a:spcAft>
                <a:spcPts val="0"/>
              </a:spcAft>
            </a:pPr>
            <a:r>
              <a:rPr sz="1000" b="1" i="0">
                <a:solidFill>
                  <a:srgbClr val="6B6B6B"/>
                </a:solidFill>
              </a:rPr>
              <a:t>PLANNED LIMITS PER KEY (TUNABLE)</a:t>
            </a:r>
          </a:p>
        </p:txBody>
      </p:sp>
      <p:sp>
        <p:nvSpPr>
          <p:cNvPr id="16" name="Rounded Rectangle 15"/>
          <p:cNvSpPr/>
          <p:nvPr/>
        </p:nvSpPr>
        <p:spPr>
          <a:xfrm>
            <a:off x="585216" y="4800600"/>
            <a:ext cx="2468880" cy="50292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49808" y="4800600"/>
            <a:ext cx="914400" cy="502920"/>
          </a:xfrm>
          <a:prstGeom prst="rect">
            <a:avLst/>
          </a:prstGeom>
          <a:noFill/>
        </p:spPr>
        <p:txBody>
          <a:bodyPr wrap="square" lIns="0" rIns="0" tIns="0" bIns="0" anchor="ctr">
            <a:spAutoFit/>
          </a:bodyPr>
          <a:lstStyle/>
          <a:p>
            <a:pPr algn="l">
              <a:spcAft>
                <a:spcPts val="0"/>
              </a:spcAft>
            </a:pPr>
            <a:r>
              <a:rPr sz="2400" b="1" i="0">
                <a:solidFill>
                  <a:srgbClr val="0078D4"/>
                </a:solidFill>
              </a:rPr>
              <a:t>20k</a:t>
            </a:r>
          </a:p>
        </p:txBody>
      </p:sp>
      <p:sp>
        <p:nvSpPr>
          <p:cNvPr id="18" name="TextBox 17"/>
          <p:cNvSpPr txBox="1"/>
          <p:nvPr/>
        </p:nvSpPr>
        <p:spPr>
          <a:xfrm>
            <a:off x="1636776" y="4800600"/>
            <a:ext cx="1325880" cy="502920"/>
          </a:xfrm>
          <a:prstGeom prst="rect">
            <a:avLst/>
          </a:prstGeom>
          <a:noFill/>
        </p:spPr>
        <p:txBody>
          <a:bodyPr wrap="square" lIns="0" rIns="0" tIns="0" bIns="0" anchor="ctr">
            <a:spAutoFit/>
          </a:bodyPr>
          <a:lstStyle/>
          <a:p>
            <a:pPr algn="l">
              <a:spcAft>
                <a:spcPts val="0"/>
              </a:spcAft>
            </a:pPr>
            <a:r>
              <a:rPr sz="1200" b="0" i="0">
                <a:solidFill>
                  <a:srgbClr val="1F1F1F"/>
                </a:solidFill>
              </a:rPr>
              <a:t>tokens per minute</a:t>
            </a:r>
          </a:p>
        </p:txBody>
      </p:sp>
      <p:sp>
        <p:nvSpPr>
          <p:cNvPr id="19" name="Rounded Rectangle 18"/>
          <p:cNvSpPr/>
          <p:nvPr/>
        </p:nvSpPr>
        <p:spPr>
          <a:xfrm>
            <a:off x="3236976" y="4800600"/>
            <a:ext cx="2468880" cy="50292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401568" y="4800600"/>
            <a:ext cx="914400" cy="502920"/>
          </a:xfrm>
          <a:prstGeom prst="rect">
            <a:avLst/>
          </a:prstGeom>
          <a:noFill/>
        </p:spPr>
        <p:txBody>
          <a:bodyPr wrap="square" lIns="0" rIns="0" tIns="0" bIns="0" anchor="ctr">
            <a:spAutoFit/>
          </a:bodyPr>
          <a:lstStyle/>
          <a:p>
            <a:pPr algn="l">
              <a:spcAft>
                <a:spcPts val="0"/>
              </a:spcAft>
            </a:pPr>
            <a:r>
              <a:rPr sz="2400" b="1" i="0">
                <a:solidFill>
                  <a:srgbClr val="0078D4"/>
                </a:solidFill>
              </a:rPr>
              <a:t>500k</a:t>
            </a:r>
          </a:p>
        </p:txBody>
      </p:sp>
      <p:sp>
        <p:nvSpPr>
          <p:cNvPr id="21" name="TextBox 20"/>
          <p:cNvSpPr txBox="1"/>
          <p:nvPr/>
        </p:nvSpPr>
        <p:spPr>
          <a:xfrm>
            <a:off x="4288536" y="4800600"/>
            <a:ext cx="1325880" cy="502920"/>
          </a:xfrm>
          <a:prstGeom prst="rect">
            <a:avLst/>
          </a:prstGeom>
          <a:noFill/>
        </p:spPr>
        <p:txBody>
          <a:bodyPr wrap="square" lIns="0" rIns="0" tIns="0" bIns="0" anchor="ctr">
            <a:spAutoFit/>
          </a:bodyPr>
          <a:lstStyle/>
          <a:p>
            <a:pPr algn="l">
              <a:spcAft>
                <a:spcPts val="0"/>
              </a:spcAft>
            </a:pPr>
            <a:r>
              <a:rPr sz="1200" b="0" i="0">
                <a:solidFill>
                  <a:srgbClr val="1F1F1F"/>
                </a:solidFill>
              </a:rPr>
              <a:t>tokens per day</a:t>
            </a:r>
          </a:p>
        </p:txBody>
      </p:sp>
      <p:pic>
        <p:nvPicPr>
          <p:cNvPr id="22" name="Picture 21" descr="gw_key_swap_concierge_95074d781aee.jpg"/>
          <p:cNvPicPr>
            <a:picLocks noChangeAspect="1"/>
          </p:cNvPicPr>
          <p:nvPr/>
        </p:nvPicPr>
        <p:blipFill>
          <a:blip r:embed="rId3"/>
          <a:stretch>
            <a:fillRect/>
          </a:stretch>
        </p:blipFill>
        <p:spPr>
          <a:xfrm>
            <a:off x="6309360" y="2606040"/>
            <a:ext cx="3840480" cy="2560320"/>
          </a:xfrm>
          <a:prstGeom prst="roundRect">
            <a:avLst>
              <a:gd name="adj" fmla="val 4000"/>
            </a:avLst>
          </a:prstGeom>
        </p:spPr>
      </p:pic>
      <p:sp>
        <p:nvSpPr>
          <p:cNvPr id="23" name="TextBox 22"/>
          <p:cNvSpPr txBox="1"/>
          <p:nvPr/>
        </p:nvSpPr>
        <p:spPr>
          <a:xfrm>
            <a:off x="585216" y="5532120"/>
            <a:ext cx="9656063" cy="457200"/>
          </a:xfrm>
          <a:prstGeom prst="rect">
            <a:avLst/>
          </a:prstGeom>
          <a:noFill/>
        </p:spPr>
        <p:txBody>
          <a:bodyPr wrap="square" lIns="0" rIns="0" tIns="0" bIns="0" anchor="t">
            <a:spAutoFit/>
          </a:bodyPr>
          <a:lstStyle/>
          <a:p>
            <a:pPr algn="l">
              <a:spcAft>
                <a:spcPts val="0"/>
              </a:spcAft>
            </a:pPr>
            <a:r>
              <a:rPr sz="1500" b="1" i="0">
                <a:solidFill>
                  <a:srgbClr val="0078D4"/>
                </a:solidFill>
              </a:rPr>
              <a:t>Your key is personal, rate-limited and switched off after the event.</a:t>
            </a:r>
          </a:p>
        </p:txBody>
      </p:sp>
      <p:sp>
        <p:nvSpPr>
          <p:cNvPr id="24" name="TextBox 2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Gateway policy attendee-policy.xml · Foundry provisioning plan · APIM llm-token-limit policy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Eight quick questions show where the room starts (1/2)</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WARM-UP</a:t>
            </a:r>
          </a:p>
        </p:txBody>
      </p:sp>
      <p:sp>
        <p:nvSpPr>
          <p:cNvPr id="4" name="Rounded Rectangle 3"/>
          <p:cNvSpPr/>
          <p:nvPr/>
        </p:nvSpPr>
        <p:spPr>
          <a:xfrm>
            <a:off x="585216" y="1417320"/>
            <a:ext cx="4690871" cy="184708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68096" y="1600200"/>
            <a:ext cx="402336" cy="402336"/>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1</a:t>
            </a:r>
          </a:p>
        </p:txBody>
      </p:sp>
      <p:sp>
        <p:nvSpPr>
          <p:cNvPr id="6" name="TextBox 5"/>
          <p:cNvSpPr txBox="1"/>
          <p:nvPr/>
        </p:nvSpPr>
        <p:spPr>
          <a:xfrm>
            <a:off x="1298448" y="1664208"/>
            <a:ext cx="3776471" cy="274320"/>
          </a:xfrm>
          <a:prstGeom prst="rect">
            <a:avLst/>
          </a:prstGeom>
          <a:noFill/>
        </p:spPr>
        <p:txBody>
          <a:bodyPr wrap="square" lIns="0" rIns="0" tIns="0" bIns="0" anchor="t">
            <a:spAutoFit/>
          </a:bodyPr>
          <a:lstStyle/>
          <a:p>
            <a:pPr algn="l">
              <a:spcAft>
                <a:spcPts val="0"/>
              </a:spcAft>
            </a:pPr>
            <a:r>
              <a:rPr sz="1100" b="1" i="0">
                <a:solidFill>
                  <a:srgbClr val="0078D4"/>
                </a:solidFill>
              </a:rPr>
              <a:t>TOKENS · SEGMENT 1</a:t>
            </a:r>
          </a:p>
        </p:txBody>
      </p:sp>
      <p:sp>
        <p:nvSpPr>
          <p:cNvPr id="7" name="TextBox 6"/>
          <p:cNvSpPr txBox="1"/>
          <p:nvPr/>
        </p:nvSpPr>
        <p:spPr>
          <a:xfrm>
            <a:off x="1298448" y="1965960"/>
            <a:ext cx="3776471" cy="365760"/>
          </a:xfrm>
          <a:prstGeom prst="rect">
            <a:avLst/>
          </a:prstGeom>
          <a:noFill/>
        </p:spPr>
        <p:txBody>
          <a:bodyPr wrap="square" lIns="0" rIns="0" tIns="0" bIns="0" anchor="t">
            <a:spAutoFit/>
          </a:bodyPr>
          <a:lstStyle/>
          <a:p>
            <a:pPr algn="l">
              <a:spcAft>
                <a:spcPts val="0"/>
              </a:spcAft>
            </a:pPr>
            <a:r>
              <a:rPr sz="1500" b="1" i="0">
                <a:solidFill>
                  <a:srgbClr val="2A446F"/>
                </a:solidFill>
              </a:rPr>
              <a:t>What does a model actually read?</a:t>
            </a:r>
          </a:p>
        </p:txBody>
      </p:sp>
      <p:sp>
        <p:nvSpPr>
          <p:cNvPr id="8" name="TextBox 7"/>
          <p:cNvSpPr txBox="1"/>
          <p:nvPr/>
        </p:nvSpPr>
        <p:spPr>
          <a:xfrm>
            <a:off x="1298448" y="2395728"/>
            <a:ext cx="3776471" cy="868680"/>
          </a:xfrm>
          <a:prstGeom prst="rect">
            <a:avLst/>
          </a:prstGeom>
          <a:noFill/>
        </p:spPr>
        <p:txBody>
          <a:bodyPr wrap="square" lIns="0" rIns="0" tIns="0" bIns="0" anchor="t">
            <a:spAutoFit/>
          </a:bodyPr>
          <a:lstStyle/>
          <a:p>
            <a:pPr algn="l">
              <a:spcAft>
                <a:spcPts val="200"/>
              </a:spcAft>
            </a:pPr>
            <a:r>
              <a:rPr sz="1300" b="1" i="0">
                <a:solidFill>
                  <a:srgbClr val="1F1F1F"/>
                </a:solidFill>
              </a:rPr>
              <a:t>A</a:t>
            </a:r>
            <a:r>
              <a:rPr sz="1300" b="0" i="0">
                <a:solidFill>
                  <a:srgbClr val="1F1F1F"/>
                </a:solidFill>
              </a:rPr>
              <a:t>   letters</a:t>
            </a:r>
          </a:p>
          <a:p>
            <a:pPr algn="l">
              <a:spcAft>
                <a:spcPts val="200"/>
              </a:spcAft>
            </a:pPr>
            <a:r>
              <a:rPr sz="1300" b="1" i="0">
                <a:solidFill>
                  <a:srgbClr val="1F1F1F"/>
                </a:solidFill>
              </a:rPr>
              <a:t>B</a:t>
            </a:r>
            <a:r>
              <a:rPr sz="1300" b="0" i="0">
                <a:solidFill>
                  <a:srgbClr val="1F1F1F"/>
                </a:solidFill>
              </a:rPr>
              <a:t>   whole words</a:t>
            </a:r>
          </a:p>
          <a:p>
            <a:pPr algn="l">
              <a:spcAft>
                <a:spcPts val="200"/>
              </a:spcAft>
            </a:pPr>
            <a:r>
              <a:rPr sz="1300" b="1" i="0">
                <a:solidFill>
                  <a:srgbClr val="1F1F1F"/>
                </a:solidFill>
              </a:rPr>
              <a:t>C</a:t>
            </a:r>
            <a:r>
              <a:rPr sz="1300" b="0" i="0">
                <a:solidFill>
                  <a:srgbClr val="1F1F1F"/>
                </a:solidFill>
              </a:rPr>
              <a:t>   word pieces called tokens</a:t>
            </a:r>
          </a:p>
        </p:txBody>
      </p:sp>
      <p:sp>
        <p:nvSpPr>
          <p:cNvPr id="9" name="Rounded Rectangle 8"/>
          <p:cNvSpPr/>
          <p:nvPr/>
        </p:nvSpPr>
        <p:spPr>
          <a:xfrm>
            <a:off x="5550407" y="1417320"/>
            <a:ext cx="4690871" cy="184708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5733287" y="1600200"/>
            <a:ext cx="402336" cy="402336"/>
          </a:xfrm>
          <a:prstGeom prst="ellipse">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2</a:t>
            </a:r>
          </a:p>
        </p:txBody>
      </p:sp>
      <p:sp>
        <p:nvSpPr>
          <p:cNvPr id="11" name="TextBox 10"/>
          <p:cNvSpPr txBox="1"/>
          <p:nvPr/>
        </p:nvSpPr>
        <p:spPr>
          <a:xfrm>
            <a:off x="6263639" y="1664208"/>
            <a:ext cx="3776471" cy="274320"/>
          </a:xfrm>
          <a:prstGeom prst="rect">
            <a:avLst/>
          </a:prstGeom>
          <a:noFill/>
        </p:spPr>
        <p:txBody>
          <a:bodyPr wrap="square" lIns="0" rIns="0" tIns="0" bIns="0" anchor="t">
            <a:spAutoFit/>
          </a:bodyPr>
          <a:lstStyle/>
          <a:p>
            <a:pPr algn="l">
              <a:spcAft>
                <a:spcPts val="0"/>
              </a:spcAft>
            </a:pPr>
            <a:r>
              <a:rPr sz="1100" b="1" i="0">
                <a:solidFill>
                  <a:srgbClr val="008B8B"/>
                </a:solidFill>
              </a:rPr>
              <a:t>CONTEXT WINDOW · SEGMENT 2</a:t>
            </a:r>
          </a:p>
        </p:txBody>
      </p:sp>
      <p:sp>
        <p:nvSpPr>
          <p:cNvPr id="12" name="TextBox 11"/>
          <p:cNvSpPr txBox="1"/>
          <p:nvPr/>
        </p:nvSpPr>
        <p:spPr>
          <a:xfrm>
            <a:off x="6263639" y="1965960"/>
            <a:ext cx="3776471" cy="365760"/>
          </a:xfrm>
          <a:prstGeom prst="rect">
            <a:avLst/>
          </a:prstGeom>
          <a:noFill/>
        </p:spPr>
        <p:txBody>
          <a:bodyPr wrap="square" lIns="0" rIns="0" tIns="0" bIns="0" anchor="t">
            <a:spAutoFit/>
          </a:bodyPr>
          <a:lstStyle/>
          <a:p>
            <a:pPr algn="l">
              <a:spcAft>
                <a:spcPts val="0"/>
              </a:spcAft>
            </a:pPr>
            <a:r>
              <a:rPr sz="1500" b="1" i="0">
                <a:solidFill>
                  <a:srgbClr val="2A446F"/>
                </a:solidFill>
              </a:rPr>
              <a:t>What is the context window?</a:t>
            </a:r>
          </a:p>
        </p:txBody>
      </p:sp>
      <p:sp>
        <p:nvSpPr>
          <p:cNvPr id="13" name="TextBox 12"/>
          <p:cNvSpPr txBox="1"/>
          <p:nvPr/>
        </p:nvSpPr>
        <p:spPr>
          <a:xfrm>
            <a:off x="6263639" y="2395728"/>
            <a:ext cx="3776471" cy="868680"/>
          </a:xfrm>
          <a:prstGeom prst="rect">
            <a:avLst/>
          </a:prstGeom>
          <a:noFill/>
        </p:spPr>
        <p:txBody>
          <a:bodyPr wrap="square" lIns="0" rIns="0" tIns="0" bIns="0" anchor="t">
            <a:spAutoFit/>
          </a:bodyPr>
          <a:lstStyle/>
          <a:p>
            <a:pPr algn="l">
              <a:spcAft>
                <a:spcPts val="200"/>
              </a:spcAft>
            </a:pPr>
            <a:r>
              <a:rPr sz="1300" b="1" i="0">
                <a:solidFill>
                  <a:srgbClr val="1F1F1F"/>
                </a:solidFill>
              </a:rPr>
              <a:t>A</a:t>
            </a:r>
            <a:r>
              <a:rPr sz="1300" b="0" i="0">
                <a:solidFill>
                  <a:srgbClr val="1F1F1F"/>
                </a:solidFill>
              </a:rPr>
              <a:t>   everything the model sees in one call</a:t>
            </a:r>
          </a:p>
          <a:p>
            <a:pPr algn="l">
              <a:spcAft>
                <a:spcPts val="200"/>
              </a:spcAft>
            </a:pPr>
            <a:r>
              <a:rPr sz="1300" b="1" i="0">
                <a:solidFill>
                  <a:srgbClr val="1F1F1F"/>
                </a:solidFill>
              </a:rPr>
              <a:t>B</a:t>
            </a:r>
            <a:r>
              <a:rPr sz="1300" b="0" i="0">
                <a:solidFill>
                  <a:srgbClr val="1F1F1F"/>
                </a:solidFill>
              </a:rPr>
              <a:t>   the model’s long-term memory</a:t>
            </a:r>
          </a:p>
          <a:p>
            <a:pPr algn="l">
              <a:spcAft>
                <a:spcPts val="200"/>
              </a:spcAft>
            </a:pPr>
            <a:r>
              <a:rPr sz="1300" b="1" i="0">
                <a:solidFill>
                  <a:srgbClr val="1F1F1F"/>
                </a:solidFill>
              </a:rPr>
              <a:t>C</a:t>
            </a:r>
            <a:r>
              <a:rPr sz="1300" b="0" i="0">
                <a:solidFill>
                  <a:srgbClr val="1F1F1F"/>
                </a:solidFill>
              </a:rPr>
              <a:t>   its training data</a:t>
            </a:r>
          </a:p>
        </p:txBody>
      </p:sp>
      <p:sp>
        <p:nvSpPr>
          <p:cNvPr id="14" name="Rounded Rectangle 13"/>
          <p:cNvSpPr/>
          <p:nvPr/>
        </p:nvSpPr>
        <p:spPr>
          <a:xfrm>
            <a:off x="585216" y="3447288"/>
            <a:ext cx="4690871" cy="184708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68096" y="3630168"/>
            <a:ext cx="402336" cy="402336"/>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3</a:t>
            </a:r>
          </a:p>
        </p:txBody>
      </p:sp>
      <p:sp>
        <p:nvSpPr>
          <p:cNvPr id="16" name="TextBox 15"/>
          <p:cNvSpPr txBox="1"/>
          <p:nvPr/>
        </p:nvSpPr>
        <p:spPr>
          <a:xfrm>
            <a:off x="1298448" y="3694176"/>
            <a:ext cx="3776471" cy="274320"/>
          </a:xfrm>
          <a:prstGeom prst="rect">
            <a:avLst/>
          </a:prstGeom>
          <a:noFill/>
        </p:spPr>
        <p:txBody>
          <a:bodyPr wrap="square" lIns="0" rIns="0" tIns="0" bIns="0" anchor="t">
            <a:spAutoFit/>
          </a:bodyPr>
          <a:lstStyle/>
          <a:p>
            <a:pPr algn="l">
              <a:spcAft>
                <a:spcPts val="0"/>
              </a:spcAft>
            </a:pPr>
            <a:r>
              <a:rPr sz="1100" b="1" i="0">
                <a:solidFill>
                  <a:srgbClr val="0078D4"/>
                </a:solidFill>
              </a:rPr>
              <a:t>TEMPERATURE · SEGMENT 1</a:t>
            </a:r>
          </a:p>
        </p:txBody>
      </p:sp>
      <p:sp>
        <p:nvSpPr>
          <p:cNvPr id="17" name="TextBox 16"/>
          <p:cNvSpPr txBox="1"/>
          <p:nvPr/>
        </p:nvSpPr>
        <p:spPr>
          <a:xfrm>
            <a:off x="1298448" y="3995928"/>
            <a:ext cx="3776471" cy="365760"/>
          </a:xfrm>
          <a:prstGeom prst="rect">
            <a:avLst/>
          </a:prstGeom>
          <a:noFill/>
        </p:spPr>
        <p:txBody>
          <a:bodyPr wrap="square" lIns="0" rIns="0" tIns="0" bIns="0" anchor="t">
            <a:spAutoFit/>
          </a:bodyPr>
          <a:lstStyle/>
          <a:p>
            <a:pPr algn="l">
              <a:spcAft>
                <a:spcPts val="0"/>
              </a:spcAft>
            </a:pPr>
            <a:r>
              <a:rPr sz="1500" b="1" i="0">
                <a:solidFill>
                  <a:srgbClr val="2A446F"/>
                </a:solidFill>
              </a:rPr>
              <a:t>Temperature 0 gives you …</a:t>
            </a:r>
          </a:p>
        </p:txBody>
      </p:sp>
      <p:sp>
        <p:nvSpPr>
          <p:cNvPr id="18" name="TextBox 17"/>
          <p:cNvSpPr txBox="1"/>
          <p:nvPr/>
        </p:nvSpPr>
        <p:spPr>
          <a:xfrm>
            <a:off x="1298448" y="4425696"/>
            <a:ext cx="3776471" cy="868680"/>
          </a:xfrm>
          <a:prstGeom prst="rect">
            <a:avLst/>
          </a:prstGeom>
          <a:noFill/>
        </p:spPr>
        <p:txBody>
          <a:bodyPr wrap="square" lIns="0" rIns="0" tIns="0" bIns="0" anchor="t">
            <a:spAutoFit/>
          </a:bodyPr>
          <a:lstStyle/>
          <a:p>
            <a:pPr algn="l">
              <a:spcAft>
                <a:spcPts val="200"/>
              </a:spcAft>
            </a:pPr>
            <a:r>
              <a:rPr sz="1300" b="1" i="0">
                <a:solidFill>
                  <a:srgbClr val="1F1F1F"/>
                </a:solidFill>
              </a:rPr>
              <a:t>A</a:t>
            </a:r>
            <a:r>
              <a:rPr sz="1300" b="0" i="0">
                <a:solidFill>
                  <a:srgbClr val="1F1F1F"/>
                </a:solidFill>
              </a:rPr>
              <a:t>   correct answers</a:t>
            </a:r>
          </a:p>
          <a:p>
            <a:pPr algn="l">
              <a:spcAft>
                <a:spcPts val="200"/>
              </a:spcAft>
            </a:pPr>
            <a:r>
              <a:rPr sz="1300" b="1" i="0">
                <a:solidFill>
                  <a:srgbClr val="1F1F1F"/>
                </a:solidFill>
              </a:rPr>
              <a:t>B</a:t>
            </a:r>
            <a:r>
              <a:rPr sz="1300" b="0" i="0">
                <a:solidFill>
                  <a:srgbClr val="1F1F1F"/>
                </a:solidFill>
              </a:rPr>
              <a:t>   the likeliest token at each step</a:t>
            </a:r>
          </a:p>
          <a:p>
            <a:pPr algn="l">
              <a:spcAft>
                <a:spcPts val="200"/>
              </a:spcAft>
            </a:pPr>
            <a:r>
              <a:rPr sz="1300" b="1" i="0">
                <a:solidFill>
                  <a:srgbClr val="1F1F1F"/>
                </a:solidFill>
              </a:rPr>
              <a:t>C</a:t>
            </a:r>
            <a:r>
              <a:rPr sz="1300" b="0" i="0">
                <a:solidFill>
                  <a:srgbClr val="1F1F1F"/>
                </a:solidFill>
              </a:rPr>
              <a:t>   a cheaper call</a:t>
            </a:r>
          </a:p>
        </p:txBody>
      </p:sp>
      <p:sp>
        <p:nvSpPr>
          <p:cNvPr id="19" name="Rounded Rectangle 18"/>
          <p:cNvSpPr/>
          <p:nvPr/>
        </p:nvSpPr>
        <p:spPr>
          <a:xfrm>
            <a:off x="5550407" y="3447288"/>
            <a:ext cx="4690871" cy="184708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33287" y="3630168"/>
            <a:ext cx="402336" cy="402336"/>
          </a:xfrm>
          <a:prstGeom prst="ellipse">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4</a:t>
            </a:r>
          </a:p>
        </p:txBody>
      </p:sp>
      <p:sp>
        <p:nvSpPr>
          <p:cNvPr id="21" name="TextBox 20"/>
          <p:cNvSpPr txBox="1"/>
          <p:nvPr/>
        </p:nvSpPr>
        <p:spPr>
          <a:xfrm>
            <a:off x="6263639" y="3694176"/>
            <a:ext cx="3776471" cy="274320"/>
          </a:xfrm>
          <a:prstGeom prst="rect">
            <a:avLst/>
          </a:prstGeom>
          <a:noFill/>
        </p:spPr>
        <p:txBody>
          <a:bodyPr wrap="square" lIns="0" rIns="0" tIns="0" bIns="0" anchor="t">
            <a:spAutoFit/>
          </a:bodyPr>
          <a:lstStyle/>
          <a:p>
            <a:pPr algn="l">
              <a:spcAft>
                <a:spcPts val="0"/>
              </a:spcAft>
            </a:pPr>
            <a:r>
              <a:rPr sz="1100" b="1" i="0">
                <a:solidFill>
                  <a:srgbClr val="E86A10"/>
                </a:solidFill>
              </a:rPr>
              <a:t>QUANTIZATION · SEGMENT 4</a:t>
            </a:r>
          </a:p>
        </p:txBody>
      </p:sp>
      <p:sp>
        <p:nvSpPr>
          <p:cNvPr id="22" name="TextBox 21"/>
          <p:cNvSpPr txBox="1"/>
          <p:nvPr/>
        </p:nvSpPr>
        <p:spPr>
          <a:xfrm>
            <a:off x="6263639" y="3995928"/>
            <a:ext cx="3776471" cy="365760"/>
          </a:xfrm>
          <a:prstGeom prst="rect">
            <a:avLst/>
          </a:prstGeom>
          <a:noFill/>
        </p:spPr>
        <p:txBody>
          <a:bodyPr wrap="square" lIns="0" rIns="0" tIns="0" bIns="0" anchor="t">
            <a:spAutoFit/>
          </a:bodyPr>
          <a:lstStyle/>
          <a:p>
            <a:pPr algn="l">
              <a:spcAft>
                <a:spcPts val="0"/>
              </a:spcAft>
            </a:pPr>
            <a:r>
              <a:rPr sz="1500" b="1" i="0">
                <a:solidFill>
                  <a:srgbClr val="2A446F"/>
                </a:solidFill>
              </a:rPr>
              <a:t>A “Q4” model is …</a:t>
            </a:r>
          </a:p>
        </p:txBody>
      </p:sp>
      <p:sp>
        <p:nvSpPr>
          <p:cNvPr id="23" name="TextBox 22"/>
          <p:cNvSpPr txBox="1"/>
          <p:nvPr/>
        </p:nvSpPr>
        <p:spPr>
          <a:xfrm>
            <a:off x="6263639" y="4425696"/>
            <a:ext cx="3776471" cy="868680"/>
          </a:xfrm>
          <a:prstGeom prst="rect">
            <a:avLst/>
          </a:prstGeom>
          <a:noFill/>
        </p:spPr>
        <p:txBody>
          <a:bodyPr wrap="square" lIns="0" rIns="0" tIns="0" bIns="0" anchor="t">
            <a:spAutoFit/>
          </a:bodyPr>
          <a:lstStyle/>
          <a:p>
            <a:pPr algn="l">
              <a:spcAft>
                <a:spcPts val="200"/>
              </a:spcAft>
            </a:pPr>
            <a:r>
              <a:rPr sz="1300" b="1" i="0">
                <a:solidFill>
                  <a:srgbClr val="1F1F1F"/>
                </a:solidFill>
              </a:rPr>
              <a:t>A</a:t>
            </a:r>
            <a:r>
              <a:rPr sz="1300" b="0" i="0">
                <a:solidFill>
                  <a:srgbClr val="1F1F1F"/>
                </a:solidFill>
              </a:rPr>
              <a:t>   a quarter as smart</a:t>
            </a:r>
          </a:p>
          <a:p>
            <a:pPr algn="l">
              <a:spcAft>
                <a:spcPts val="200"/>
              </a:spcAft>
            </a:pPr>
            <a:r>
              <a:rPr sz="1300" b="1" i="0">
                <a:solidFill>
                  <a:srgbClr val="1F1F1F"/>
                </a:solidFill>
              </a:rPr>
              <a:t>B</a:t>
            </a:r>
            <a:r>
              <a:rPr sz="1300" b="0" i="0">
                <a:solidFill>
                  <a:srgbClr val="1F1F1F"/>
                </a:solidFill>
              </a:rPr>
              <a:t>   trained four times faster</a:t>
            </a:r>
          </a:p>
          <a:p>
            <a:pPr algn="l">
              <a:spcAft>
                <a:spcPts val="200"/>
              </a:spcAft>
            </a:pPr>
            <a:r>
              <a:rPr sz="1300" b="1" i="0">
                <a:solidFill>
                  <a:srgbClr val="1F1F1F"/>
                </a:solidFill>
              </a:rPr>
              <a:t>C</a:t>
            </a:r>
            <a:r>
              <a:rPr sz="1300" b="0" i="0">
                <a:solidFill>
                  <a:srgbClr val="1F1F1F"/>
                </a:solidFill>
              </a:rPr>
              <a:t>   the same weights in ~4 bits</a:t>
            </a:r>
          </a:p>
        </p:txBody>
      </p:sp>
      <p:sp>
        <p:nvSpPr>
          <p:cNvPr id="24" name="TextBox 23"/>
          <p:cNvSpPr txBox="1"/>
          <p:nvPr/>
        </p:nvSpPr>
        <p:spPr>
          <a:xfrm>
            <a:off x="585216" y="5440680"/>
            <a:ext cx="9656063" cy="365760"/>
          </a:xfrm>
          <a:prstGeom prst="rect">
            <a:avLst/>
          </a:prstGeom>
          <a:noFill/>
        </p:spPr>
        <p:txBody>
          <a:bodyPr wrap="square" lIns="0" rIns="0" tIns="0" bIns="0" anchor="t">
            <a:spAutoFit/>
          </a:bodyPr>
          <a:lstStyle/>
          <a:p>
            <a:pPr algn="l">
              <a:spcAft>
                <a:spcPts val="0"/>
              </a:spcAft>
            </a:pPr>
            <a:r>
              <a:rPr sz="1300" b="0" i="1">
                <a:solidFill>
                  <a:srgbClr val="6B6B6B"/>
                </a:solidFill>
              </a:rPr>
              <a:t>Hands up for A, B or C — or use the live poll. Answers after each card.</a:t>
            </a:r>
          </a:p>
        </p:txBody>
      </p:sp>
      <p:sp>
        <p:nvSpPr>
          <p:cNvPr id="25" name="TextBox 24"/>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Narrative plan v001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Eight quick questions show where the room starts (2/2)</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WARM-UP</a:t>
            </a:r>
          </a:p>
        </p:txBody>
      </p:sp>
      <p:sp>
        <p:nvSpPr>
          <p:cNvPr id="4" name="Rounded Rectangle 3"/>
          <p:cNvSpPr/>
          <p:nvPr/>
        </p:nvSpPr>
        <p:spPr>
          <a:xfrm>
            <a:off x="585216" y="1417320"/>
            <a:ext cx="4690871" cy="184708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68096" y="1600200"/>
            <a:ext cx="402336" cy="402336"/>
          </a:xfrm>
          <a:prstGeom prst="ellipse">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5</a:t>
            </a:r>
          </a:p>
        </p:txBody>
      </p:sp>
      <p:sp>
        <p:nvSpPr>
          <p:cNvPr id="6" name="TextBox 5"/>
          <p:cNvSpPr txBox="1"/>
          <p:nvPr/>
        </p:nvSpPr>
        <p:spPr>
          <a:xfrm>
            <a:off x="1298448" y="1664208"/>
            <a:ext cx="3776471" cy="274320"/>
          </a:xfrm>
          <a:prstGeom prst="rect">
            <a:avLst/>
          </a:prstGeom>
          <a:noFill/>
        </p:spPr>
        <p:txBody>
          <a:bodyPr wrap="square" lIns="0" rIns="0" tIns="0" bIns="0" anchor="t">
            <a:spAutoFit/>
          </a:bodyPr>
          <a:lstStyle/>
          <a:p>
            <a:pPr algn="l">
              <a:spcAft>
                <a:spcPts val="0"/>
              </a:spcAft>
            </a:pPr>
            <a:r>
              <a:rPr sz="1100" b="1" i="0">
                <a:solidFill>
                  <a:srgbClr val="008B8B"/>
                </a:solidFill>
              </a:rPr>
              <a:t>RAG · SEGMENT 2</a:t>
            </a:r>
          </a:p>
        </p:txBody>
      </p:sp>
      <p:sp>
        <p:nvSpPr>
          <p:cNvPr id="7" name="TextBox 6"/>
          <p:cNvSpPr txBox="1"/>
          <p:nvPr/>
        </p:nvSpPr>
        <p:spPr>
          <a:xfrm>
            <a:off x="1298448" y="1965960"/>
            <a:ext cx="3776471" cy="365760"/>
          </a:xfrm>
          <a:prstGeom prst="rect">
            <a:avLst/>
          </a:prstGeom>
          <a:noFill/>
        </p:spPr>
        <p:txBody>
          <a:bodyPr wrap="square" lIns="0" rIns="0" tIns="0" bIns="0" anchor="t">
            <a:spAutoFit/>
          </a:bodyPr>
          <a:lstStyle/>
          <a:p>
            <a:pPr algn="l">
              <a:spcAft>
                <a:spcPts val="0"/>
              </a:spcAft>
            </a:pPr>
            <a:r>
              <a:rPr sz="1500" b="1" i="0">
                <a:solidFill>
                  <a:srgbClr val="2A446F"/>
                </a:solidFill>
              </a:rPr>
              <a:t>RAG means …</a:t>
            </a:r>
          </a:p>
        </p:txBody>
      </p:sp>
      <p:sp>
        <p:nvSpPr>
          <p:cNvPr id="8" name="TextBox 7"/>
          <p:cNvSpPr txBox="1"/>
          <p:nvPr/>
        </p:nvSpPr>
        <p:spPr>
          <a:xfrm>
            <a:off x="1298448" y="2395728"/>
            <a:ext cx="3776471" cy="868680"/>
          </a:xfrm>
          <a:prstGeom prst="rect">
            <a:avLst/>
          </a:prstGeom>
          <a:noFill/>
        </p:spPr>
        <p:txBody>
          <a:bodyPr wrap="square" lIns="0" rIns="0" tIns="0" bIns="0" anchor="t">
            <a:spAutoFit/>
          </a:bodyPr>
          <a:lstStyle/>
          <a:p>
            <a:pPr algn="l">
              <a:spcAft>
                <a:spcPts val="200"/>
              </a:spcAft>
            </a:pPr>
            <a:r>
              <a:rPr sz="1300" b="1" i="0">
                <a:solidFill>
                  <a:srgbClr val="1F1F1F"/>
                </a:solidFill>
              </a:rPr>
              <a:t>A</a:t>
            </a:r>
            <a:r>
              <a:rPr sz="1300" b="0" i="0">
                <a:solidFill>
                  <a:srgbClr val="1F1F1F"/>
                </a:solidFill>
              </a:rPr>
              <a:t>   retrieve text, put it in the prompt</a:t>
            </a:r>
          </a:p>
          <a:p>
            <a:pPr algn="l">
              <a:spcAft>
                <a:spcPts val="200"/>
              </a:spcAft>
            </a:pPr>
            <a:r>
              <a:rPr sz="1300" b="1" i="0">
                <a:solidFill>
                  <a:srgbClr val="1F1F1F"/>
                </a:solidFill>
              </a:rPr>
              <a:t>B</a:t>
            </a:r>
            <a:r>
              <a:rPr sz="1300" b="0" i="0">
                <a:solidFill>
                  <a:srgbClr val="1F1F1F"/>
                </a:solidFill>
              </a:rPr>
              <a:t>   retrain the model on your files</a:t>
            </a:r>
          </a:p>
          <a:p>
            <a:pPr algn="l">
              <a:spcAft>
                <a:spcPts val="200"/>
              </a:spcAft>
            </a:pPr>
            <a:r>
              <a:rPr sz="1300" b="1" i="0">
                <a:solidFill>
                  <a:srgbClr val="1F1F1F"/>
                </a:solidFill>
              </a:rPr>
              <a:t>C</a:t>
            </a:r>
            <a:r>
              <a:rPr sz="1300" b="0" i="0">
                <a:solidFill>
                  <a:srgbClr val="1F1F1F"/>
                </a:solidFill>
              </a:rPr>
              <a:t>   a kind of vector database</a:t>
            </a:r>
          </a:p>
        </p:txBody>
      </p:sp>
      <p:sp>
        <p:nvSpPr>
          <p:cNvPr id="9" name="Rounded Rectangle 8"/>
          <p:cNvSpPr/>
          <p:nvPr/>
        </p:nvSpPr>
        <p:spPr>
          <a:xfrm>
            <a:off x="5550407" y="1417320"/>
            <a:ext cx="4690871" cy="184708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5733287" y="1600200"/>
            <a:ext cx="402336" cy="402336"/>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6</a:t>
            </a:r>
          </a:p>
        </p:txBody>
      </p:sp>
      <p:sp>
        <p:nvSpPr>
          <p:cNvPr id="11" name="TextBox 10"/>
          <p:cNvSpPr txBox="1"/>
          <p:nvPr/>
        </p:nvSpPr>
        <p:spPr>
          <a:xfrm>
            <a:off x="6263639" y="1664208"/>
            <a:ext cx="3776471" cy="274320"/>
          </a:xfrm>
          <a:prstGeom prst="rect">
            <a:avLst/>
          </a:prstGeom>
          <a:noFill/>
        </p:spPr>
        <p:txBody>
          <a:bodyPr wrap="square" lIns="0" rIns="0" tIns="0" bIns="0" anchor="t">
            <a:spAutoFit/>
          </a:bodyPr>
          <a:lstStyle/>
          <a:p>
            <a:pPr algn="l">
              <a:spcAft>
                <a:spcPts val="0"/>
              </a:spcAft>
            </a:pPr>
            <a:r>
              <a:rPr sz="1100" b="1" i="0">
                <a:solidFill>
                  <a:srgbClr val="0078D4"/>
                </a:solidFill>
              </a:rPr>
              <a:t>TOOL CALL · SEGMENT 1</a:t>
            </a:r>
          </a:p>
        </p:txBody>
      </p:sp>
      <p:sp>
        <p:nvSpPr>
          <p:cNvPr id="12" name="TextBox 11"/>
          <p:cNvSpPr txBox="1"/>
          <p:nvPr/>
        </p:nvSpPr>
        <p:spPr>
          <a:xfrm>
            <a:off x="6263639" y="1965960"/>
            <a:ext cx="3776471" cy="365760"/>
          </a:xfrm>
          <a:prstGeom prst="rect">
            <a:avLst/>
          </a:prstGeom>
          <a:noFill/>
        </p:spPr>
        <p:txBody>
          <a:bodyPr wrap="square" lIns="0" rIns="0" tIns="0" bIns="0" anchor="t">
            <a:spAutoFit/>
          </a:bodyPr>
          <a:lstStyle/>
          <a:p>
            <a:pPr algn="l">
              <a:spcAft>
                <a:spcPts val="0"/>
              </a:spcAft>
            </a:pPr>
            <a:r>
              <a:rPr sz="1500" b="1" i="0">
                <a:solidFill>
                  <a:srgbClr val="2A446F"/>
                </a:solidFill>
              </a:rPr>
              <a:t>Who runs the function in a tool call?</a:t>
            </a:r>
          </a:p>
        </p:txBody>
      </p:sp>
      <p:sp>
        <p:nvSpPr>
          <p:cNvPr id="13" name="TextBox 12"/>
          <p:cNvSpPr txBox="1"/>
          <p:nvPr/>
        </p:nvSpPr>
        <p:spPr>
          <a:xfrm>
            <a:off x="6263639" y="2395728"/>
            <a:ext cx="3776471" cy="868680"/>
          </a:xfrm>
          <a:prstGeom prst="rect">
            <a:avLst/>
          </a:prstGeom>
          <a:noFill/>
        </p:spPr>
        <p:txBody>
          <a:bodyPr wrap="square" lIns="0" rIns="0" tIns="0" bIns="0" anchor="t">
            <a:spAutoFit/>
          </a:bodyPr>
          <a:lstStyle/>
          <a:p>
            <a:pPr algn="l">
              <a:spcAft>
                <a:spcPts val="200"/>
              </a:spcAft>
            </a:pPr>
            <a:r>
              <a:rPr sz="1300" b="1" i="0">
                <a:solidFill>
                  <a:srgbClr val="1F1F1F"/>
                </a:solidFill>
              </a:rPr>
              <a:t>A</a:t>
            </a:r>
            <a:r>
              <a:rPr sz="1300" b="0" i="0">
                <a:solidFill>
                  <a:srgbClr val="1F1F1F"/>
                </a:solidFill>
              </a:rPr>
              <a:t>   the model</a:t>
            </a:r>
          </a:p>
          <a:p>
            <a:pPr algn="l">
              <a:spcAft>
                <a:spcPts val="200"/>
              </a:spcAft>
            </a:pPr>
            <a:r>
              <a:rPr sz="1300" b="1" i="0">
                <a:solidFill>
                  <a:srgbClr val="1F1F1F"/>
                </a:solidFill>
              </a:rPr>
              <a:t>B</a:t>
            </a:r>
            <a:r>
              <a:rPr sz="1300" b="0" i="0">
                <a:solidFill>
                  <a:srgbClr val="1F1F1F"/>
                </a:solidFill>
              </a:rPr>
              <a:t>   your code</a:t>
            </a:r>
          </a:p>
          <a:p>
            <a:pPr algn="l">
              <a:spcAft>
                <a:spcPts val="200"/>
              </a:spcAft>
            </a:pPr>
            <a:r>
              <a:rPr sz="1300" b="1" i="0">
                <a:solidFill>
                  <a:srgbClr val="1F1F1F"/>
                </a:solidFill>
              </a:rPr>
              <a:t>C</a:t>
            </a:r>
            <a:r>
              <a:rPr sz="1300" b="0" i="0">
                <a:solidFill>
                  <a:srgbClr val="1F1F1F"/>
                </a:solidFill>
              </a:rPr>
              <a:t>   the API provider</a:t>
            </a:r>
          </a:p>
        </p:txBody>
      </p:sp>
      <p:sp>
        <p:nvSpPr>
          <p:cNvPr id="14" name="Rounded Rectangle 13"/>
          <p:cNvSpPr/>
          <p:nvPr/>
        </p:nvSpPr>
        <p:spPr>
          <a:xfrm>
            <a:off x="585216" y="3447288"/>
            <a:ext cx="4690871" cy="184708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68096" y="3630168"/>
            <a:ext cx="402336" cy="402336"/>
          </a:xfrm>
          <a:prstGeom prst="ellipse">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7</a:t>
            </a:r>
          </a:p>
        </p:txBody>
      </p:sp>
      <p:sp>
        <p:nvSpPr>
          <p:cNvPr id="16" name="TextBox 15"/>
          <p:cNvSpPr txBox="1"/>
          <p:nvPr/>
        </p:nvSpPr>
        <p:spPr>
          <a:xfrm>
            <a:off x="1298448" y="3694176"/>
            <a:ext cx="3776471" cy="274320"/>
          </a:xfrm>
          <a:prstGeom prst="rect">
            <a:avLst/>
          </a:prstGeom>
          <a:noFill/>
        </p:spPr>
        <p:txBody>
          <a:bodyPr wrap="square" lIns="0" rIns="0" tIns="0" bIns="0" anchor="t">
            <a:spAutoFit/>
          </a:bodyPr>
          <a:lstStyle/>
          <a:p>
            <a:pPr algn="l">
              <a:spcAft>
                <a:spcPts val="0"/>
              </a:spcAft>
            </a:pPr>
            <a:r>
              <a:rPr sz="1100" b="1" i="0">
                <a:solidFill>
                  <a:srgbClr val="008B8B"/>
                </a:solidFill>
              </a:rPr>
              <a:t>MCP · SEGMENT 2</a:t>
            </a:r>
          </a:p>
        </p:txBody>
      </p:sp>
      <p:sp>
        <p:nvSpPr>
          <p:cNvPr id="17" name="TextBox 16"/>
          <p:cNvSpPr txBox="1"/>
          <p:nvPr/>
        </p:nvSpPr>
        <p:spPr>
          <a:xfrm>
            <a:off x="1298448" y="3995928"/>
            <a:ext cx="3776471" cy="365760"/>
          </a:xfrm>
          <a:prstGeom prst="rect">
            <a:avLst/>
          </a:prstGeom>
          <a:noFill/>
        </p:spPr>
        <p:txBody>
          <a:bodyPr wrap="square" lIns="0" rIns="0" tIns="0" bIns="0" anchor="t">
            <a:spAutoFit/>
          </a:bodyPr>
          <a:lstStyle/>
          <a:p>
            <a:pPr algn="l">
              <a:spcAft>
                <a:spcPts val="0"/>
              </a:spcAft>
            </a:pPr>
            <a:r>
              <a:rPr sz="1500" b="1" i="0">
                <a:solidFill>
                  <a:srgbClr val="2A446F"/>
                </a:solidFill>
              </a:rPr>
              <a:t>MCP is …</a:t>
            </a:r>
          </a:p>
        </p:txBody>
      </p:sp>
      <p:sp>
        <p:nvSpPr>
          <p:cNvPr id="18" name="TextBox 17"/>
          <p:cNvSpPr txBox="1"/>
          <p:nvPr/>
        </p:nvSpPr>
        <p:spPr>
          <a:xfrm>
            <a:off x="1298448" y="4425696"/>
            <a:ext cx="3776471" cy="868680"/>
          </a:xfrm>
          <a:prstGeom prst="rect">
            <a:avLst/>
          </a:prstGeom>
          <a:noFill/>
        </p:spPr>
        <p:txBody>
          <a:bodyPr wrap="square" lIns="0" rIns="0" tIns="0" bIns="0" anchor="t">
            <a:spAutoFit/>
          </a:bodyPr>
          <a:lstStyle/>
          <a:p>
            <a:pPr algn="l">
              <a:spcAft>
                <a:spcPts val="200"/>
              </a:spcAft>
            </a:pPr>
            <a:r>
              <a:rPr sz="1300" b="1" i="0">
                <a:solidFill>
                  <a:srgbClr val="1F1F1F"/>
                </a:solidFill>
              </a:rPr>
              <a:t>A</a:t>
            </a:r>
            <a:r>
              <a:rPr sz="1300" b="0" i="0">
                <a:solidFill>
                  <a:srgbClr val="1F1F1F"/>
                </a:solidFill>
              </a:rPr>
              <a:t>   a new open-weights model</a:t>
            </a:r>
          </a:p>
          <a:p>
            <a:pPr algn="l">
              <a:spcAft>
                <a:spcPts val="200"/>
              </a:spcAft>
            </a:pPr>
            <a:r>
              <a:rPr sz="1300" b="1" i="0">
                <a:solidFill>
                  <a:srgbClr val="1F1F1F"/>
                </a:solidFill>
              </a:rPr>
              <a:t>B</a:t>
            </a:r>
            <a:r>
              <a:rPr sz="1300" b="0" i="0">
                <a:solidFill>
                  <a:srgbClr val="1F1F1F"/>
                </a:solidFill>
              </a:rPr>
              <a:t>   a standard plug for tools and data</a:t>
            </a:r>
          </a:p>
          <a:p>
            <a:pPr algn="l">
              <a:spcAft>
                <a:spcPts val="200"/>
              </a:spcAft>
            </a:pPr>
            <a:r>
              <a:rPr sz="1300" b="1" i="0">
                <a:solidFill>
                  <a:srgbClr val="1F1F1F"/>
                </a:solidFill>
              </a:rPr>
              <a:t>C</a:t>
            </a:r>
            <a:r>
              <a:rPr sz="1300" b="0" i="0">
                <a:solidFill>
                  <a:srgbClr val="1F1F1F"/>
                </a:solidFill>
              </a:rPr>
              <a:t>   an Azure service</a:t>
            </a:r>
          </a:p>
        </p:txBody>
      </p:sp>
      <p:sp>
        <p:nvSpPr>
          <p:cNvPr id="19" name="Rounded Rectangle 18"/>
          <p:cNvSpPr/>
          <p:nvPr/>
        </p:nvSpPr>
        <p:spPr>
          <a:xfrm>
            <a:off x="5550407" y="3447288"/>
            <a:ext cx="4690871" cy="184708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33287" y="3630168"/>
            <a:ext cx="402336" cy="402336"/>
          </a:xfrm>
          <a:prstGeom prst="ellipse">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8</a:t>
            </a:r>
          </a:p>
        </p:txBody>
      </p:sp>
      <p:sp>
        <p:nvSpPr>
          <p:cNvPr id="21" name="TextBox 20"/>
          <p:cNvSpPr txBox="1"/>
          <p:nvPr/>
        </p:nvSpPr>
        <p:spPr>
          <a:xfrm>
            <a:off x="6263639" y="3694176"/>
            <a:ext cx="3776471" cy="274320"/>
          </a:xfrm>
          <a:prstGeom prst="rect">
            <a:avLst/>
          </a:prstGeom>
          <a:noFill/>
        </p:spPr>
        <p:txBody>
          <a:bodyPr wrap="square" lIns="0" rIns="0" tIns="0" bIns="0" anchor="t">
            <a:spAutoFit/>
          </a:bodyPr>
          <a:lstStyle/>
          <a:p>
            <a:pPr algn="l">
              <a:spcAft>
                <a:spcPts val="0"/>
              </a:spcAft>
            </a:pPr>
            <a:r>
              <a:rPr sz="1100" b="1" i="0">
                <a:solidFill>
                  <a:srgbClr val="8661C5"/>
                </a:solidFill>
              </a:rPr>
              <a:t>AGENT · SEGMENT 3</a:t>
            </a:r>
          </a:p>
        </p:txBody>
      </p:sp>
      <p:sp>
        <p:nvSpPr>
          <p:cNvPr id="22" name="TextBox 21"/>
          <p:cNvSpPr txBox="1"/>
          <p:nvPr/>
        </p:nvSpPr>
        <p:spPr>
          <a:xfrm>
            <a:off x="6263639" y="3995928"/>
            <a:ext cx="3776471" cy="365760"/>
          </a:xfrm>
          <a:prstGeom prst="rect">
            <a:avLst/>
          </a:prstGeom>
          <a:noFill/>
        </p:spPr>
        <p:txBody>
          <a:bodyPr wrap="square" lIns="0" rIns="0" tIns="0" bIns="0" anchor="t">
            <a:spAutoFit/>
          </a:bodyPr>
          <a:lstStyle/>
          <a:p>
            <a:pPr algn="l">
              <a:spcAft>
                <a:spcPts val="0"/>
              </a:spcAft>
            </a:pPr>
            <a:r>
              <a:rPr sz="1500" b="1" i="0">
                <a:solidFill>
                  <a:srgbClr val="2A446F"/>
                </a:solidFill>
              </a:rPr>
              <a:t>An agent is …</a:t>
            </a:r>
          </a:p>
        </p:txBody>
      </p:sp>
      <p:sp>
        <p:nvSpPr>
          <p:cNvPr id="23" name="TextBox 22"/>
          <p:cNvSpPr txBox="1"/>
          <p:nvPr/>
        </p:nvSpPr>
        <p:spPr>
          <a:xfrm>
            <a:off x="6263639" y="4425696"/>
            <a:ext cx="3776471" cy="868680"/>
          </a:xfrm>
          <a:prstGeom prst="rect">
            <a:avLst/>
          </a:prstGeom>
          <a:noFill/>
        </p:spPr>
        <p:txBody>
          <a:bodyPr wrap="square" lIns="0" rIns="0" tIns="0" bIns="0" anchor="t">
            <a:spAutoFit/>
          </a:bodyPr>
          <a:lstStyle/>
          <a:p>
            <a:pPr algn="l">
              <a:spcAft>
                <a:spcPts val="200"/>
              </a:spcAft>
            </a:pPr>
            <a:r>
              <a:rPr sz="1300" b="1" i="0">
                <a:solidFill>
                  <a:srgbClr val="1F1F1F"/>
                </a:solidFill>
              </a:rPr>
              <a:t>A</a:t>
            </a:r>
            <a:r>
              <a:rPr sz="1300" b="0" i="0">
                <a:solidFill>
                  <a:srgbClr val="1F1F1F"/>
                </a:solidFill>
              </a:rPr>
              <a:t>   a bigger model</a:t>
            </a:r>
          </a:p>
          <a:p>
            <a:pPr algn="l">
              <a:spcAft>
                <a:spcPts val="200"/>
              </a:spcAft>
            </a:pPr>
            <a:r>
              <a:rPr sz="1300" b="1" i="0">
                <a:solidFill>
                  <a:srgbClr val="1F1F1F"/>
                </a:solidFill>
              </a:rPr>
              <a:t>B</a:t>
            </a:r>
            <a:r>
              <a:rPr sz="1300" b="0" i="0">
                <a:solidFill>
                  <a:srgbClr val="1F1F1F"/>
                </a:solidFill>
              </a:rPr>
              <a:t>   a chatbot with a persona</a:t>
            </a:r>
          </a:p>
          <a:p>
            <a:pPr algn="l">
              <a:spcAft>
                <a:spcPts val="200"/>
              </a:spcAft>
            </a:pPr>
            <a:r>
              <a:rPr sz="1300" b="1" i="0">
                <a:solidFill>
                  <a:srgbClr val="1F1F1F"/>
                </a:solidFill>
              </a:rPr>
              <a:t>C</a:t>
            </a:r>
            <a:r>
              <a:rPr sz="1300" b="0" i="0">
                <a:solidFill>
                  <a:srgbClr val="1F1F1F"/>
                </a:solidFill>
              </a:rPr>
              <a:t>   a loop: model → tool → model</a:t>
            </a:r>
          </a:p>
        </p:txBody>
      </p:sp>
      <p:sp>
        <p:nvSpPr>
          <p:cNvPr id="24" name="TextBox 23"/>
          <p:cNvSpPr txBox="1"/>
          <p:nvPr/>
        </p:nvSpPr>
        <p:spPr>
          <a:xfrm>
            <a:off x="585216" y="5440680"/>
            <a:ext cx="9656063" cy="365760"/>
          </a:xfrm>
          <a:prstGeom prst="rect">
            <a:avLst/>
          </a:prstGeom>
          <a:noFill/>
        </p:spPr>
        <p:txBody>
          <a:bodyPr wrap="square" lIns="0" rIns="0" tIns="0" bIns="0" anchor="t">
            <a:spAutoFit/>
          </a:bodyPr>
          <a:lstStyle/>
          <a:p>
            <a:pPr algn="l">
              <a:spcAft>
                <a:spcPts val="0"/>
              </a:spcAft>
            </a:pPr>
            <a:r>
              <a:rPr sz="1300" b="0" i="1">
                <a:solidFill>
                  <a:srgbClr val="6B6B6B"/>
                </a:solidFill>
              </a:rPr>
              <a:t>Hands up for A, B or C — or use the live poll. Answers after each card.</a:t>
            </a:r>
          </a:p>
        </p:txBody>
      </p:sp>
      <p:sp>
        <p:nvSpPr>
          <p:cNvPr id="25" name="TextBox 24"/>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Narrative plan v001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Everything here is dated — and the date is on the slide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BEFORE WE START</a:t>
            </a:r>
          </a:p>
        </p:txBody>
      </p:sp>
      <p:sp>
        <p:nvSpPr>
          <p:cNvPr id="4" name="Rounded Rectangle 3"/>
          <p:cNvSpPr/>
          <p:nvPr/>
        </p:nvSpPr>
        <p:spPr>
          <a:xfrm>
            <a:off x="585216" y="1463040"/>
            <a:ext cx="2880360" cy="173736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13816" y="1627632"/>
            <a:ext cx="2468880" cy="274320"/>
          </a:xfrm>
          <a:prstGeom prst="rect">
            <a:avLst/>
          </a:prstGeom>
          <a:noFill/>
        </p:spPr>
        <p:txBody>
          <a:bodyPr wrap="square" lIns="0" rIns="0" tIns="0" bIns="0" anchor="t">
            <a:spAutoFit/>
          </a:bodyPr>
          <a:lstStyle/>
          <a:p>
            <a:pPr algn="l">
              <a:spcAft>
                <a:spcPts val="0"/>
              </a:spcAft>
            </a:pPr>
            <a:r>
              <a:rPr sz="1100" b="1" i="0">
                <a:solidFill>
                  <a:srgbClr val="6B6B6B"/>
                </a:solidFill>
              </a:rPr>
              <a:t>FACTS AS OF</a:t>
            </a:r>
          </a:p>
        </p:txBody>
      </p:sp>
      <p:sp>
        <p:nvSpPr>
          <p:cNvPr id="6" name="TextBox 5"/>
          <p:cNvSpPr txBox="1"/>
          <p:nvPr/>
        </p:nvSpPr>
        <p:spPr>
          <a:xfrm>
            <a:off x="813816" y="1920240"/>
            <a:ext cx="2560320" cy="548640"/>
          </a:xfrm>
          <a:prstGeom prst="rect">
            <a:avLst/>
          </a:prstGeom>
          <a:noFill/>
        </p:spPr>
        <p:txBody>
          <a:bodyPr wrap="square" lIns="0" rIns="0" tIns="0" bIns="0" anchor="t">
            <a:spAutoFit/>
          </a:bodyPr>
          <a:lstStyle/>
          <a:p>
            <a:pPr algn="l">
              <a:spcAft>
                <a:spcPts val="0"/>
              </a:spcAft>
            </a:pPr>
            <a:r>
              <a:rPr sz="3000" b="1" i="0">
                <a:solidFill>
                  <a:srgbClr val="2A446F"/>
                </a:solidFill>
              </a:rPr>
              <a:t>2026-09-21</a:t>
            </a:r>
          </a:p>
        </p:txBody>
      </p:sp>
      <p:sp>
        <p:nvSpPr>
          <p:cNvPr id="7" name="TextBox 6"/>
          <p:cNvSpPr txBox="1"/>
          <p:nvPr/>
        </p:nvSpPr>
        <p:spPr>
          <a:xfrm>
            <a:off x="813816" y="2542032"/>
            <a:ext cx="2468880" cy="548640"/>
          </a:xfrm>
          <a:prstGeom prst="rect">
            <a:avLst/>
          </a:prstGeom>
          <a:noFill/>
        </p:spPr>
        <p:txBody>
          <a:bodyPr wrap="square" lIns="0" rIns="0" tIns="0" bIns="0" anchor="t">
            <a:spAutoFit/>
          </a:bodyPr>
          <a:lstStyle/>
          <a:p>
            <a:pPr algn="l">
              <a:spcAft>
                <a:spcPts val="0"/>
              </a:spcAft>
            </a:pPr>
            <a:r>
              <a:rPr sz="1100" b="0" i="0">
                <a:solidFill>
                  <a:srgbClr val="1F1F1F"/>
                </a:solidFill>
              </a:rPr>
              <a:t>deck built 2026-09-23 — every fact slide says where it came from</a:t>
            </a:r>
          </a:p>
        </p:txBody>
      </p:sp>
      <p:graphicFrame>
        <p:nvGraphicFramePr>
          <p:cNvPr id="8" name="Table 7"/>
          <p:cNvGraphicFramePr>
            <a:graphicFrameLocks noGrp="1"/>
          </p:cNvGraphicFramePr>
          <p:nvPr/>
        </p:nvGraphicFramePr>
        <p:xfrm>
          <a:off x="3703320" y="1463040"/>
          <a:ext cx="6537960" cy="1024127"/>
        </p:xfrm>
        <a:graphic>
          <a:graphicData uri="http://schemas.openxmlformats.org/drawingml/2006/table">
            <a:tbl>
              <a:tblPr firstRow="1" bandRow="1">
                <a:tableStyleId>{5C22544A-7EE6-4342-B048-85BDC9FD1C3A}</a:tableStyleId>
              </a:tblPr>
              <a:tblGrid>
                <a:gridCol w="2240280"/>
                <a:gridCol w="1325880"/>
                <a:gridCol w="2971800"/>
              </a:tblGrid>
              <a:tr h="256031">
                <a:tc>
                  <a:txBody>
                    <a:bodyPr/>
                    <a:lstStyle/>
                    <a:p>
                      <a:r>
                        <a:rPr sz="1200" b="1">
                          <a:solidFill>
                            <a:srgbClr val="FFFFFF"/>
                          </a:solidFill>
                        </a:rPr>
                        <a:t>What</a:t>
                      </a:r>
                    </a:p>
                  </a:txBody>
                  <a:tcPr marL="54864" marR="54864" marT="32004" marB="32004" anchor="ctr">
                    <a:solidFill>
                      <a:srgbClr val="2A446F"/>
                    </a:solidFill>
                  </a:tcPr>
                </a:tc>
                <a:tc>
                  <a:txBody>
                    <a:bodyPr/>
                    <a:lstStyle/>
                    <a:p>
                      <a:r>
                        <a:rPr sz="1200" b="1">
                          <a:solidFill>
                            <a:srgbClr val="FFFFFF"/>
                          </a:solidFill>
                        </a:rPr>
                        <a:t>Checked</a:t>
                      </a:r>
                    </a:p>
                  </a:txBody>
                  <a:tcPr marL="54864" marR="54864" marT="32004" marB="32004" anchor="ctr">
                    <a:solidFill>
                      <a:srgbClr val="2A446F"/>
                    </a:solidFill>
                  </a:tcPr>
                </a:tc>
                <a:tc>
                  <a:txBody>
                    <a:bodyPr/>
                    <a:lstStyle/>
                    <a:p>
                      <a:r>
                        <a:rPr sz="1200" b="1">
                          <a:solidFill>
                            <a:srgbClr val="FFFFFF"/>
                          </a:solidFill>
                        </a:rPr>
                        <a:t>How</a:t>
                      </a:r>
                    </a:p>
                  </a:txBody>
                  <a:tcPr marL="54864" marR="54864" marT="32004" marB="32004" anchor="ctr">
                    <a:solidFill>
                      <a:srgbClr val="2A446F"/>
                    </a:solidFill>
                  </a:tcPr>
                </a:tc>
              </a:tr>
              <a:tr h="256031">
                <a:tc>
                  <a:txBody>
                    <a:bodyPr/>
                    <a:lstStyle/>
                    <a:p>
                      <a:r>
                        <a:rPr sz="1200" b="1">
                          <a:solidFill>
                            <a:srgbClr val="1F1F1F"/>
                          </a:solidFill>
                        </a:rPr>
                        <a:t>Model names, prices, licences</a:t>
                      </a:r>
                    </a:p>
                  </a:txBody>
                  <a:tcPr marL="54864" marR="54864" marT="32004" marB="32004" anchor="t">
                    <a:solidFill>
                      <a:srgbClr val="FFFFFF"/>
                    </a:solidFill>
                  </a:tcPr>
                </a:tc>
                <a:tc>
                  <a:txBody>
                    <a:bodyPr/>
                    <a:lstStyle/>
                    <a:p>
                      <a:r>
                        <a:rPr sz="1200" b="0">
                          <a:solidFill>
                            <a:srgbClr val="1F1F1F"/>
                          </a:solidFill>
                        </a:rPr>
                        <a:t>2026‑09‑21</a:t>
                      </a:r>
                    </a:p>
                  </a:txBody>
                  <a:tcPr marL="54864" marR="54864" marT="32004" marB="32004" anchor="t">
                    <a:solidFill>
                      <a:srgbClr val="FFFFFF"/>
                    </a:solidFill>
                  </a:tcPr>
                </a:tc>
                <a:tc>
                  <a:txBody>
                    <a:bodyPr/>
                    <a:lstStyle/>
                    <a:p>
                      <a:r>
                        <a:rPr sz="1200" b="0">
                          <a:solidFill>
                            <a:srgbClr val="1F1F1F"/>
                          </a:solidFill>
                        </a:rPr>
                        <a:t>vendor pages, model cards, Azure retail prices</a:t>
                      </a:r>
                    </a:p>
                  </a:txBody>
                  <a:tcPr marL="54864" marR="54864" marT="32004" marB="32004" anchor="t">
                    <a:solidFill>
                      <a:srgbClr val="FFFFFF"/>
                    </a:solidFill>
                  </a:tcPr>
                </a:tc>
              </a:tr>
              <a:tr h="256031">
                <a:tc>
                  <a:txBody>
                    <a:bodyPr/>
                    <a:lstStyle/>
                    <a:p>
                      <a:r>
                        <a:rPr sz="1200" b="1">
                          <a:solidFill>
                            <a:srgbClr val="1F1F1F"/>
                          </a:solidFill>
                        </a:rPr>
                        <a:t>Lab code and API shapes</a:t>
                      </a:r>
                    </a:p>
                  </a:txBody>
                  <a:tcPr marL="54864" marR="54864" marT="32004" marB="32004" anchor="t">
                    <a:solidFill>
                      <a:srgbClr val="F3F4F8"/>
                    </a:solidFill>
                  </a:tcPr>
                </a:tc>
                <a:tc>
                  <a:txBody>
                    <a:bodyPr/>
                    <a:lstStyle/>
                    <a:p>
                      <a:r>
                        <a:rPr sz="1200" b="0">
                          <a:solidFill>
                            <a:srgbClr val="1F1F1F"/>
                          </a:solidFill>
                        </a:rPr>
                        <a:t>2026‑09‑22/23</a:t>
                      </a:r>
                    </a:p>
                  </a:txBody>
                  <a:tcPr marL="54864" marR="54864" marT="32004" marB="32004" anchor="t">
                    <a:solidFill>
                      <a:srgbClr val="F3F4F8"/>
                    </a:solidFill>
                  </a:tcPr>
                </a:tc>
                <a:tc>
                  <a:txBody>
                    <a:bodyPr/>
                    <a:lstStyle/>
                    <a:p>
                      <a:r>
                        <a:rPr sz="1200" b="0">
                          <a:solidFill>
                            <a:srgbClr val="1F1F1F"/>
                          </a:solidFill>
                        </a:rPr>
                        <a:t>run on a real local model and the offline mock</a:t>
                      </a:r>
                    </a:p>
                  </a:txBody>
                  <a:tcPr marL="54864" marR="54864" marT="32004" marB="32004" anchor="t">
                    <a:solidFill>
                      <a:srgbClr val="F3F4F8"/>
                    </a:solidFill>
                  </a:tcPr>
                </a:tc>
              </a:tr>
              <a:tr h="256031">
                <a:tc>
                  <a:txBody>
                    <a:bodyPr/>
                    <a:lstStyle/>
                    <a:p>
                      <a:r>
                        <a:rPr sz="1200" b="1">
                          <a:solidFill>
                            <a:srgbClr val="1F1F1F"/>
                          </a:solidFill>
                        </a:rPr>
                        <a:t>Workshop endpoint, GPU runs</a:t>
                      </a:r>
                    </a:p>
                  </a:txBody>
                  <a:tcPr marL="54864" marR="54864" marT="32004" marB="32004" anchor="t">
                    <a:solidFill>
                      <a:srgbClr val="FFFFFF"/>
                    </a:solidFill>
                  </a:tcPr>
                </a:tc>
                <a:tc>
                  <a:txBody>
                    <a:bodyPr/>
                    <a:lstStyle/>
                    <a:p>
                      <a:r>
                        <a:rPr sz="1200" b="0">
                          <a:solidFill>
                            <a:srgbClr val="1F1F1F"/>
                          </a:solidFill>
                        </a:rPr>
                        <a:t>the week before the event</a:t>
                      </a:r>
                    </a:p>
                  </a:txBody>
                  <a:tcPr marL="54864" marR="54864" marT="32004" marB="32004" anchor="t">
                    <a:solidFill>
                      <a:srgbClr val="FFFFFF"/>
                    </a:solidFill>
                  </a:tcPr>
                </a:tc>
                <a:tc>
                  <a:txBody>
                    <a:bodyPr/>
                    <a:lstStyle/>
                    <a:p>
                      <a:r>
                        <a:rPr sz="1200" b="0">
                          <a:solidFill>
                            <a:srgbClr val="1F1F1F"/>
                          </a:solidFill>
                        </a:rPr>
                        <a:t>re-checked in the dry run: live gateway, ComfyUI on a real GPU</a:t>
                      </a:r>
                    </a:p>
                  </a:txBody>
                  <a:tcPr marL="54864" marR="54864" marT="32004" marB="32004" anchor="t">
                    <a:solidFill>
                      <a:srgbClr val="FFFFFF"/>
                    </a:solidFill>
                  </a:tcPr>
                </a:tc>
              </a:tr>
            </a:tbl>
          </a:graphicData>
        </a:graphic>
      </p:graphicFrame>
      <p:sp>
        <p:nvSpPr>
          <p:cNvPr id="9" name="TextBox 8"/>
          <p:cNvSpPr txBox="1"/>
          <p:nvPr/>
        </p:nvSpPr>
        <p:spPr>
          <a:xfrm>
            <a:off x="585216" y="3520440"/>
            <a:ext cx="7315200" cy="274320"/>
          </a:xfrm>
          <a:prstGeom prst="rect">
            <a:avLst/>
          </a:prstGeom>
          <a:noFill/>
        </p:spPr>
        <p:txBody>
          <a:bodyPr wrap="square" lIns="0" rIns="0" tIns="0" bIns="0" anchor="t">
            <a:spAutoFit/>
          </a:bodyPr>
          <a:lstStyle/>
          <a:p>
            <a:pPr algn="l">
              <a:spcAft>
                <a:spcPts val="0"/>
              </a:spcAft>
            </a:pPr>
            <a:r>
              <a:rPr sz="1100" b="1" i="0">
                <a:solidFill>
                  <a:srgbClr val="6B6B6B"/>
                </a:solidFill>
              </a:rPr>
              <a:t>WHAT WILL BE WRONG IN THREE MONTHS</a:t>
            </a:r>
          </a:p>
        </p:txBody>
      </p:sp>
      <p:sp>
        <p:nvSpPr>
          <p:cNvPr id="10" name="Rounded Rectangle 9"/>
          <p:cNvSpPr/>
          <p:nvPr/>
        </p:nvSpPr>
        <p:spPr>
          <a:xfrm>
            <a:off x="585216" y="3840480"/>
            <a:ext cx="1821484" cy="13258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86384" y="4005072"/>
            <a:ext cx="1419148" cy="411480"/>
          </a:xfrm>
          <a:prstGeom prst="rect">
            <a:avLst/>
          </a:prstGeom>
          <a:noFill/>
        </p:spPr>
        <p:txBody>
          <a:bodyPr wrap="square" lIns="0" rIns="0" tIns="0" bIns="0" anchor="t">
            <a:spAutoFit/>
          </a:bodyPr>
          <a:lstStyle/>
          <a:p>
            <a:pPr algn="l">
              <a:spcAft>
                <a:spcPts val="0"/>
              </a:spcAft>
            </a:pPr>
            <a:r>
              <a:rPr sz="1300" b="1" i="0">
                <a:solidFill>
                  <a:srgbClr val="0078D4"/>
                </a:solidFill>
              </a:rPr>
              <a:t>FRONTIER</a:t>
            </a:r>
          </a:p>
        </p:txBody>
      </p:sp>
      <p:sp>
        <p:nvSpPr>
          <p:cNvPr id="12" name="TextBox 11"/>
          <p:cNvSpPr txBox="1"/>
          <p:nvPr/>
        </p:nvSpPr>
        <p:spPr>
          <a:xfrm>
            <a:off x="786384" y="4462272"/>
            <a:ext cx="1419148" cy="548640"/>
          </a:xfrm>
          <a:prstGeom prst="rect">
            <a:avLst/>
          </a:prstGeom>
          <a:noFill/>
        </p:spPr>
        <p:txBody>
          <a:bodyPr wrap="square" lIns="0" rIns="0" tIns="0" bIns="0" anchor="t">
            <a:spAutoFit/>
          </a:bodyPr>
          <a:lstStyle/>
          <a:p>
            <a:pPr algn="l">
              <a:spcAft>
                <a:spcPts val="0"/>
              </a:spcAft>
            </a:pPr>
            <a:r>
              <a:rPr sz="1200" b="0" i="0">
                <a:solidFill>
                  <a:srgbClr val="1F1F1F"/>
                </a:solidFill>
              </a:rPr>
              <a:t>new names, new prices</a:t>
            </a:r>
          </a:p>
        </p:txBody>
      </p:sp>
      <p:sp>
        <p:nvSpPr>
          <p:cNvPr id="13" name="Rounded Rectangle 12"/>
          <p:cNvSpPr/>
          <p:nvPr/>
        </p:nvSpPr>
        <p:spPr>
          <a:xfrm>
            <a:off x="2543860" y="3840480"/>
            <a:ext cx="1821484" cy="13258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745028" y="4005072"/>
            <a:ext cx="1419148" cy="411480"/>
          </a:xfrm>
          <a:prstGeom prst="rect">
            <a:avLst/>
          </a:prstGeom>
          <a:noFill/>
        </p:spPr>
        <p:txBody>
          <a:bodyPr wrap="square" lIns="0" rIns="0" tIns="0" bIns="0" anchor="t">
            <a:spAutoFit/>
          </a:bodyPr>
          <a:lstStyle/>
          <a:p>
            <a:pPr algn="l">
              <a:spcAft>
                <a:spcPts val="0"/>
              </a:spcAft>
            </a:pPr>
            <a:r>
              <a:rPr sz="1300" b="1" i="0">
                <a:solidFill>
                  <a:srgbClr val="E86A10"/>
                </a:solidFill>
              </a:rPr>
              <a:t>LICENCES</a:t>
            </a:r>
          </a:p>
        </p:txBody>
      </p:sp>
      <p:sp>
        <p:nvSpPr>
          <p:cNvPr id="15" name="TextBox 14"/>
          <p:cNvSpPr txBox="1"/>
          <p:nvPr/>
        </p:nvSpPr>
        <p:spPr>
          <a:xfrm>
            <a:off x="2745028" y="4462272"/>
            <a:ext cx="1419148" cy="548640"/>
          </a:xfrm>
          <a:prstGeom prst="rect">
            <a:avLst/>
          </a:prstGeom>
          <a:noFill/>
        </p:spPr>
        <p:txBody>
          <a:bodyPr wrap="square" lIns="0" rIns="0" tIns="0" bIns="0" anchor="t">
            <a:spAutoFit/>
          </a:bodyPr>
          <a:lstStyle/>
          <a:p>
            <a:pPr algn="l">
              <a:spcAft>
                <a:spcPts val="0"/>
              </a:spcAft>
            </a:pPr>
            <a:r>
              <a:rPr sz="1200" b="0" i="0">
                <a:solidFill>
                  <a:srgbClr val="1F1F1F"/>
                </a:solidFill>
              </a:rPr>
              <a:t>terms change with each release</a:t>
            </a:r>
          </a:p>
        </p:txBody>
      </p:sp>
      <p:sp>
        <p:nvSpPr>
          <p:cNvPr id="16" name="Rounded Rectangle 15"/>
          <p:cNvSpPr/>
          <p:nvPr/>
        </p:nvSpPr>
        <p:spPr>
          <a:xfrm>
            <a:off x="4502505" y="3840480"/>
            <a:ext cx="1821484" cy="13258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703673" y="4005072"/>
            <a:ext cx="1419148" cy="411480"/>
          </a:xfrm>
          <a:prstGeom prst="rect">
            <a:avLst/>
          </a:prstGeom>
          <a:noFill/>
        </p:spPr>
        <p:txBody>
          <a:bodyPr wrap="square" lIns="0" rIns="0" tIns="0" bIns="0" anchor="t">
            <a:spAutoFit/>
          </a:bodyPr>
          <a:lstStyle/>
          <a:p>
            <a:pPr algn="l">
              <a:spcAft>
                <a:spcPts val="0"/>
              </a:spcAft>
            </a:pPr>
            <a:r>
              <a:rPr sz="1300" b="1" i="0">
                <a:solidFill>
                  <a:srgbClr val="8661C5"/>
                </a:solidFill>
              </a:rPr>
              <a:t>FRAMEWORKS</a:t>
            </a:r>
          </a:p>
        </p:txBody>
      </p:sp>
      <p:sp>
        <p:nvSpPr>
          <p:cNvPr id="18" name="TextBox 17"/>
          <p:cNvSpPr txBox="1"/>
          <p:nvPr/>
        </p:nvSpPr>
        <p:spPr>
          <a:xfrm>
            <a:off x="4703673" y="4462272"/>
            <a:ext cx="1419148" cy="548640"/>
          </a:xfrm>
          <a:prstGeom prst="rect">
            <a:avLst/>
          </a:prstGeom>
          <a:noFill/>
        </p:spPr>
        <p:txBody>
          <a:bodyPr wrap="square" lIns="0" rIns="0" tIns="0" bIns="0" anchor="t">
            <a:spAutoFit/>
          </a:bodyPr>
          <a:lstStyle/>
          <a:p>
            <a:pPr algn="l">
              <a:spcAft>
                <a:spcPts val="0"/>
              </a:spcAft>
            </a:pPr>
            <a:r>
              <a:rPr sz="1200" b="0" i="0">
                <a:solidFill>
                  <a:srgbClr val="1F1F1F"/>
                </a:solidFill>
              </a:rPr>
              <a:t>renamed APIs, new major versions</a:t>
            </a:r>
          </a:p>
        </p:txBody>
      </p:sp>
      <p:sp>
        <p:nvSpPr>
          <p:cNvPr id="19" name="Rounded Rectangle 18"/>
          <p:cNvSpPr/>
          <p:nvPr/>
        </p:nvSpPr>
        <p:spPr>
          <a:xfrm>
            <a:off x="6461150" y="3840480"/>
            <a:ext cx="1821484" cy="13258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662318" y="4005072"/>
            <a:ext cx="1419148" cy="411480"/>
          </a:xfrm>
          <a:prstGeom prst="rect">
            <a:avLst/>
          </a:prstGeom>
          <a:noFill/>
        </p:spPr>
        <p:txBody>
          <a:bodyPr wrap="square" lIns="0" rIns="0" tIns="0" bIns="0" anchor="t">
            <a:spAutoFit/>
          </a:bodyPr>
          <a:lstStyle/>
          <a:p>
            <a:pPr algn="l">
              <a:spcAft>
                <a:spcPts val="0"/>
              </a:spcAft>
            </a:pPr>
            <a:r>
              <a:rPr sz="1300" b="1" i="0">
                <a:solidFill>
                  <a:srgbClr val="008B8B"/>
                </a:solidFill>
              </a:rPr>
              <a:t>FOUNDRY</a:t>
            </a:r>
          </a:p>
        </p:txBody>
      </p:sp>
      <p:sp>
        <p:nvSpPr>
          <p:cNvPr id="21" name="TextBox 20"/>
          <p:cNvSpPr txBox="1"/>
          <p:nvPr/>
        </p:nvSpPr>
        <p:spPr>
          <a:xfrm>
            <a:off x="6662318" y="4462272"/>
            <a:ext cx="1419148" cy="548640"/>
          </a:xfrm>
          <a:prstGeom prst="rect">
            <a:avLst/>
          </a:prstGeom>
          <a:noFill/>
        </p:spPr>
        <p:txBody>
          <a:bodyPr wrap="square" lIns="0" rIns="0" tIns="0" bIns="0" anchor="t">
            <a:spAutoFit/>
          </a:bodyPr>
          <a:lstStyle/>
          <a:p>
            <a:pPr algn="l">
              <a:spcAft>
                <a:spcPts val="0"/>
              </a:spcAft>
            </a:pPr>
            <a:r>
              <a:rPr sz="1200" b="0" i="0">
                <a:solidFill>
                  <a:srgbClr val="1F1F1F"/>
                </a:solidFill>
              </a:rPr>
              <a:t>which models your credits pay for</a:t>
            </a:r>
          </a:p>
        </p:txBody>
      </p:sp>
      <p:sp>
        <p:nvSpPr>
          <p:cNvPr id="22" name="Rounded Rectangle 21"/>
          <p:cNvSpPr/>
          <p:nvPr/>
        </p:nvSpPr>
        <p:spPr>
          <a:xfrm>
            <a:off x="8419795" y="3840480"/>
            <a:ext cx="1821484" cy="13258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620963" y="4005072"/>
            <a:ext cx="1419148" cy="411480"/>
          </a:xfrm>
          <a:prstGeom prst="rect">
            <a:avLst/>
          </a:prstGeom>
          <a:noFill/>
        </p:spPr>
        <p:txBody>
          <a:bodyPr wrap="square" lIns="0" rIns="0" tIns="0" bIns="0" anchor="t">
            <a:spAutoFit/>
          </a:bodyPr>
          <a:lstStyle/>
          <a:p>
            <a:pPr algn="l">
              <a:spcAft>
                <a:spcPts val="0"/>
              </a:spcAft>
            </a:pPr>
            <a:r>
              <a:rPr sz="1300" b="1" i="0">
                <a:solidFill>
                  <a:srgbClr val="2A446F"/>
                </a:solidFill>
              </a:rPr>
              <a:t>RUNNERS</a:t>
            </a:r>
          </a:p>
        </p:txBody>
      </p:sp>
      <p:sp>
        <p:nvSpPr>
          <p:cNvPr id="24" name="TextBox 23"/>
          <p:cNvSpPr txBox="1"/>
          <p:nvPr/>
        </p:nvSpPr>
        <p:spPr>
          <a:xfrm>
            <a:off x="8620963" y="4462272"/>
            <a:ext cx="1419148" cy="548640"/>
          </a:xfrm>
          <a:prstGeom prst="rect">
            <a:avLst/>
          </a:prstGeom>
          <a:noFill/>
        </p:spPr>
        <p:txBody>
          <a:bodyPr wrap="square" lIns="0" rIns="0" tIns="0" bIns="0" anchor="t">
            <a:spAutoFit/>
          </a:bodyPr>
          <a:lstStyle/>
          <a:p>
            <a:pPr algn="l">
              <a:spcAft>
                <a:spcPts val="0"/>
              </a:spcAft>
            </a:pPr>
            <a:r>
              <a:rPr sz="1200" b="0" i="0">
                <a:solidFill>
                  <a:srgbClr val="1F1F1F"/>
                </a:solidFill>
              </a:rPr>
              <a:t>Ollama, ComfyUI, llama.cpp</a:t>
            </a:r>
          </a:p>
        </p:txBody>
      </p:sp>
      <p:sp>
        <p:nvSpPr>
          <p:cNvPr id="25" name="TextBox 24"/>
          <p:cNvSpPr txBox="1"/>
          <p:nvPr/>
        </p:nvSpPr>
        <p:spPr>
          <a:xfrm>
            <a:off x="585216" y="539496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Trust the method, re-check the numbers — the recipe is on the take-home slide.</a:t>
            </a:r>
          </a:p>
        </p:txBody>
      </p:sp>
      <p:sp>
        <p:nvSpPr>
          <p:cNvPr id="26" name="TextBox 25"/>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§0 (checked 2026-09-21) · labs/README.md · Snippet verification 2026-09-22 · genai-landscape-research skill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Setup clinic: run the checker, fix what’s red</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BEFORE WE START</a:t>
            </a:r>
          </a:p>
        </p:txBody>
      </p:sp>
      <p:sp>
        <p:nvSpPr>
          <p:cNvPr id="4" name="TextBox 3"/>
          <p:cNvSpPr txBox="1"/>
          <p:nvPr/>
        </p:nvSpPr>
        <p:spPr>
          <a:xfrm>
            <a:off x="585216" y="1371600"/>
            <a:ext cx="5074920" cy="274320"/>
          </a:xfrm>
          <a:prstGeom prst="rect">
            <a:avLst/>
          </a:prstGeom>
          <a:noFill/>
        </p:spPr>
        <p:txBody>
          <a:bodyPr wrap="square" lIns="0" rIns="0" tIns="0" bIns="0" anchor="t">
            <a:spAutoFit/>
          </a:bodyPr>
          <a:lstStyle/>
          <a:p>
            <a:pPr algn="l">
              <a:spcAft>
                <a:spcPts val="0"/>
              </a:spcAft>
            </a:pPr>
            <a:r>
              <a:rPr sz="1000" b="1" i="0">
                <a:solidFill>
                  <a:srgbClr val="6B6B6B"/>
                </a:solidFill>
              </a:rPr>
              <a:t>RUN THE CHECKER FOR YOUR TRACK (FROM labs/)</a:t>
            </a:r>
          </a:p>
        </p:txBody>
      </p:sp>
      <p:sp>
        <p:nvSpPr>
          <p:cNvPr id="5" name="Rounded Rectangle 4"/>
          <p:cNvSpPr/>
          <p:nvPr/>
        </p:nvSpPr>
        <p:spPr>
          <a:xfrm>
            <a:off x="585216" y="1645920"/>
            <a:ext cx="5074920" cy="123444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471416" y="1755648"/>
            <a:ext cx="1005840" cy="228600"/>
          </a:xfrm>
          <a:prstGeom prst="rect">
            <a:avLst/>
          </a:prstGeom>
          <a:noFill/>
        </p:spPr>
        <p:txBody>
          <a:bodyPr wrap="square" lIns="0" rIns="0" tIns="0" bIns="0" anchor="t">
            <a:spAutoFit/>
          </a:bodyPr>
          <a:lstStyle/>
          <a:p>
            <a:pPr algn="r">
              <a:spcAft>
                <a:spcPts val="0"/>
              </a:spcAft>
            </a:pPr>
            <a:r>
              <a:rPr sz="900" b="1" i="0">
                <a:solidFill>
                  <a:srgbClr val="FFB900"/>
                </a:solidFill>
                <a:latin typeface="Consolas"/>
              </a:rPr>
              <a:t>TERMINAL</a:t>
            </a:r>
          </a:p>
        </p:txBody>
      </p:sp>
      <p:sp>
        <p:nvSpPr>
          <p:cNvPr id="7" name="TextBox 6"/>
          <p:cNvSpPr txBox="1"/>
          <p:nvPr/>
        </p:nvSpPr>
        <p:spPr>
          <a:xfrm>
            <a:off x="768096" y="2029968"/>
            <a:ext cx="4709159" cy="731520"/>
          </a:xfrm>
          <a:prstGeom prst="rect">
            <a:avLst/>
          </a:prstGeom>
          <a:noFill/>
        </p:spPr>
        <p:txBody>
          <a:bodyPr wrap="square" lIns="0" rIns="0" tIns="0" bIns="0">
            <a:spAutoFit/>
          </a:bodyPr>
          <a:lstStyle/>
          <a:p>
            <a:pPr>
              <a:spcAft>
                <a:spcPts val="0"/>
              </a:spcAft>
            </a:pPr>
            <a:r>
              <a:rPr sz="1100">
                <a:solidFill>
                  <a:srgbClr val="E8EEF7"/>
                </a:solidFill>
                <a:latin typeface="Consolas"/>
              </a:rPr>
              <a:t>python 00-setup/check_env.py   # everyone</a:t>
            </a:r>
          </a:p>
          <a:p>
            <a:pPr>
              <a:spcAft>
                <a:spcPts val="0"/>
              </a:spcAft>
            </a:pPr>
            <a:r>
              <a:rPr sz="1100">
                <a:solidFill>
                  <a:srgbClr val="E8EEF7"/>
                </a:solidFill>
                <a:latin typeface="Consolas"/>
              </a:rPr>
              <a:t>dotnet run --file 00-setup/check_env.cs   # C# track</a:t>
            </a:r>
          </a:p>
          <a:p>
            <a:pPr>
              <a:spcAft>
                <a:spcPts val="0"/>
              </a:spcAft>
            </a:pPr>
            <a:r>
              <a:rPr sz="1100">
                <a:solidFill>
                  <a:srgbClr val="E8EEF7"/>
                </a:solidFill>
                <a:latin typeface="Consolas"/>
              </a:rPr>
              <a:t>node 00-setup/check_env.mjs   # TypeScript track</a:t>
            </a:r>
          </a:p>
        </p:txBody>
      </p:sp>
      <p:sp>
        <p:nvSpPr>
          <p:cNvPr id="8" name="Oval 7"/>
          <p:cNvSpPr/>
          <p:nvPr/>
        </p:nvSpPr>
        <p:spPr>
          <a:xfrm>
            <a:off x="603504" y="3264408"/>
            <a:ext cx="237744" cy="237744"/>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3200400"/>
            <a:ext cx="4663440" cy="566928"/>
          </a:xfrm>
          <a:prstGeom prst="rect">
            <a:avLst/>
          </a:prstGeom>
          <a:noFill/>
        </p:spPr>
        <p:txBody>
          <a:bodyPr wrap="square" lIns="0" rIns="0" tIns="0" bIns="0" anchor="t">
            <a:spAutoFit/>
          </a:bodyPr>
          <a:lstStyle/>
          <a:p>
            <a:pPr algn="l">
              <a:spcAft>
                <a:spcPts val="0"/>
              </a:spcAft>
            </a:pPr>
            <a:r>
              <a:rPr sz="1300" b="1" i="0">
                <a:solidFill>
                  <a:srgbClr val="1F1F1F"/>
                </a:solidFill>
              </a:rPr>
              <a:t>ready</a:t>
            </a:r>
            <a:r>
              <a:rPr sz="1300" b="0" i="0">
                <a:solidFill>
                  <a:srgbClr val="1F1F1F"/>
                </a:solidFill>
              </a:rPr>
              <a:t> — chat, tools, structured output and embeddings all answered</a:t>
            </a:r>
          </a:p>
        </p:txBody>
      </p:sp>
      <p:sp>
        <p:nvSpPr>
          <p:cNvPr id="10" name="Oval 9"/>
          <p:cNvSpPr/>
          <p:nvPr/>
        </p:nvSpPr>
        <p:spPr>
          <a:xfrm>
            <a:off x="603504" y="3886200"/>
            <a:ext cx="237744" cy="237744"/>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6696" y="3822191"/>
            <a:ext cx="4663440" cy="566928"/>
          </a:xfrm>
          <a:prstGeom prst="rect">
            <a:avLst/>
          </a:prstGeom>
          <a:noFill/>
        </p:spPr>
        <p:txBody>
          <a:bodyPr wrap="square" lIns="0" rIns="0" tIns="0" bIns="0" anchor="t">
            <a:spAutoFit/>
          </a:bodyPr>
          <a:lstStyle/>
          <a:p>
            <a:pPr algn="l">
              <a:spcAft>
                <a:spcPts val="0"/>
              </a:spcAft>
            </a:pPr>
            <a:r>
              <a:rPr sz="1300" b="1" i="0">
                <a:solidFill>
                  <a:srgbClr val="1F1F1F"/>
                </a:solidFill>
              </a:rPr>
              <a:t>fine for now</a:t>
            </a:r>
            <a:r>
              <a:rPr sz="1300" b="0" i="0">
                <a:solidFill>
                  <a:srgbClr val="1F1F1F"/>
                </a:solidFill>
              </a:rPr>
              <a:t> — e.g. no labs/.env because you use environment variables</a:t>
            </a:r>
          </a:p>
        </p:txBody>
      </p:sp>
      <p:sp>
        <p:nvSpPr>
          <p:cNvPr id="12" name="Oval 11"/>
          <p:cNvSpPr/>
          <p:nvPr/>
        </p:nvSpPr>
        <p:spPr>
          <a:xfrm>
            <a:off x="603504" y="4507992"/>
            <a:ext cx="237744" cy="237744"/>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4443983"/>
            <a:ext cx="4663440" cy="566928"/>
          </a:xfrm>
          <a:prstGeom prst="rect">
            <a:avLst/>
          </a:prstGeom>
          <a:noFill/>
        </p:spPr>
        <p:txBody>
          <a:bodyPr wrap="square" lIns="0" rIns="0" tIns="0" bIns="0" anchor="t">
            <a:spAutoFit/>
          </a:bodyPr>
          <a:lstStyle/>
          <a:p>
            <a:pPr algn="l">
              <a:spcAft>
                <a:spcPts val="0"/>
              </a:spcAft>
            </a:pPr>
            <a:r>
              <a:rPr sz="1300" b="1" i="0">
                <a:solidFill>
                  <a:srgbClr val="1F1F1F"/>
                </a:solidFill>
              </a:rPr>
              <a:t>fix it</a:t>
            </a:r>
            <a:r>
              <a:rPr sz="1300" b="0" i="0">
                <a:solidFill>
                  <a:srgbClr val="1F1F1F"/>
                </a:solidFill>
              </a:rPr>
              <a:t> — the next line names the fix, e.g. “401: key missing or wrong”</a:t>
            </a:r>
          </a:p>
        </p:txBody>
      </p:sp>
      <p:sp>
        <p:nvSpPr>
          <p:cNvPr id="14" name="TextBox 13"/>
          <p:cNvSpPr txBox="1"/>
          <p:nvPr/>
        </p:nvSpPr>
        <p:spPr>
          <a:xfrm>
            <a:off x="5897880" y="1371600"/>
            <a:ext cx="4343399" cy="274320"/>
          </a:xfrm>
          <a:prstGeom prst="rect">
            <a:avLst/>
          </a:prstGeom>
          <a:noFill/>
        </p:spPr>
        <p:txBody>
          <a:bodyPr wrap="square" lIns="0" rIns="0" tIns="0" bIns="0" anchor="t">
            <a:spAutoFit/>
          </a:bodyPr>
          <a:lstStyle/>
          <a:p>
            <a:pPr algn="l">
              <a:spcAft>
                <a:spcPts val="0"/>
              </a:spcAft>
            </a:pPr>
            <a:r>
              <a:rPr sz="1000" b="1" i="0">
                <a:solidFill>
                  <a:srgbClr val="6B6B6B"/>
                </a:solidFill>
              </a:rPr>
              <a:t>NO WI-FI? THE INSTRUCTOR SERVES THE ROOM</a:t>
            </a:r>
          </a:p>
        </p:txBody>
      </p:sp>
      <p:sp>
        <p:nvSpPr>
          <p:cNvPr id="15" name="Rounded Rectangle 14"/>
          <p:cNvSpPr/>
          <p:nvPr/>
        </p:nvSpPr>
        <p:spPr>
          <a:xfrm>
            <a:off x="5897880" y="1645920"/>
            <a:ext cx="4343399" cy="169164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052559" y="1755648"/>
            <a:ext cx="1005840" cy="228600"/>
          </a:xfrm>
          <a:prstGeom prst="rect">
            <a:avLst/>
          </a:prstGeom>
          <a:noFill/>
        </p:spPr>
        <p:txBody>
          <a:bodyPr wrap="square" lIns="0" rIns="0" tIns="0" bIns="0" anchor="t">
            <a:spAutoFit/>
          </a:bodyPr>
          <a:lstStyle/>
          <a:p>
            <a:pPr algn="r">
              <a:spcAft>
                <a:spcPts val="0"/>
              </a:spcAft>
            </a:pPr>
            <a:r>
              <a:rPr sz="900" b="1" i="0">
                <a:solidFill>
                  <a:srgbClr val="FFB900"/>
                </a:solidFill>
                <a:latin typeface="Consolas"/>
              </a:rPr>
              <a:t>FALLBACK</a:t>
            </a:r>
          </a:p>
        </p:txBody>
      </p:sp>
      <p:sp>
        <p:nvSpPr>
          <p:cNvPr id="17" name="TextBox 16"/>
          <p:cNvSpPr txBox="1"/>
          <p:nvPr/>
        </p:nvSpPr>
        <p:spPr>
          <a:xfrm>
            <a:off x="6080760" y="2029968"/>
            <a:ext cx="3977639" cy="1188720"/>
          </a:xfrm>
          <a:prstGeom prst="rect">
            <a:avLst/>
          </a:prstGeom>
          <a:noFill/>
        </p:spPr>
        <p:txBody>
          <a:bodyPr wrap="square" lIns="0" rIns="0" tIns="0" bIns="0">
            <a:spAutoFit/>
          </a:bodyPr>
          <a:lstStyle/>
          <a:p>
            <a:pPr>
              <a:spcAft>
                <a:spcPts val="0"/>
              </a:spcAft>
            </a:pPr>
            <a:r>
              <a:rPr sz="1100">
                <a:solidFill>
                  <a:srgbClr val="8FA1B7"/>
                </a:solidFill>
                <a:latin typeface="Consolas"/>
              </a:rPr>
              <a:t># instructor laptop</a:t>
            </a:r>
          </a:p>
          <a:p>
            <a:pPr>
              <a:spcAft>
                <a:spcPts val="0"/>
              </a:spcAft>
            </a:pPr>
            <a:r>
              <a:rPr sz="1100">
                <a:solidFill>
                  <a:srgbClr val="E8EEF7"/>
                </a:solidFill>
                <a:latin typeface="Consolas"/>
              </a:rPr>
              <a:t>MOCK_HOST=0.0.0.0 python mock_openai_server.py</a:t>
            </a:r>
          </a:p>
          <a:p>
            <a:pPr>
              <a:spcAft>
                <a:spcPts val="0"/>
              </a:spcAft>
            </a:pPr>
            <a:r>
              <a:rPr sz="1100">
                <a:solidFill>
                  <a:srgbClr val="8FA1B7"/>
                </a:solidFill>
                <a:latin typeface="Consolas"/>
              </a:rPr>
              <a:t># your labs/.env</a:t>
            </a:r>
          </a:p>
          <a:p>
            <a:pPr>
              <a:spcAft>
                <a:spcPts val="0"/>
              </a:spcAft>
            </a:pPr>
            <a:r>
              <a:rPr sz="1100">
                <a:solidFill>
                  <a:srgbClr val="E8EEF7"/>
                </a:solidFill>
                <a:latin typeface="Consolas"/>
              </a:rPr>
              <a:t>GENAI_BASE_URL=http://&lt;instructor-ip&gt;:8123/v1</a:t>
            </a:r>
          </a:p>
          <a:p>
            <a:pPr>
              <a:spcAft>
                <a:spcPts val="0"/>
              </a:spcAft>
            </a:pPr>
            <a:r>
              <a:rPr sz="1100">
                <a:solidFill>
                  <a:srgbClr val="E8EEF7"/>
                </a:solidFill>
                <a:latin typeface="Consolas"/>
              </a:rPr>
              <a:t>GENAI_API_KEY=test</a:t>
            </a:r>
          </a:p>
          <a:p>
            <a:pPr>
              <a:spcAft>
                <a:spcPts val="0"/>
              </a:spcAft>
            </a:pPr>
            <a:r>
              <a:rPr sz="1100">
                <a:solidFill>
                  <a:srgbClr val="E8EEF7"/>
                </a:solidFill>
                <a:latin typeface="Consolas"/>
              </a:rPr>
              <a:t>GENAI_MODEL=mock-model</a:t>
            </a:r>
          </a:p>
        </p:txBody>
      </p:sp>
      <p:sp>
        <p:nvSpPr>
          <p:cNvPr id="18" name="TextBox 17"/>
          <p:cNvSpPr txBox="1"/>
          <p:nvPr/>
        </p:nvSpPr>
        <p:spPr>
          <a:xfrm>
            <a:off x="5897880" y="3566160"/>
            <a:ext cx="4343399" cy="1188720"/>
          </a:xfrm>
          <a:prstGeom prst="rect">
            <a:avLst/>
          </a:prstGeom>
          <a:noFill/>
        </p:spPr>
        <p:txBody>
          <a:bodyPr wrap="square" lIns="0" rIns="0" tIns="0" bIns="0" anchor="t">
            <a:spAutoFit/>
          </a:bodyPr>
          <a:lstStyle/>
          <a:p>
            <a:pPr algn="l">
              <a:spcAft>
                <a:spcPts val="600"/>
              </a:spcAft>
            </a:pPr>
            <a:r>
              <a:rPr sz="1400" b="1" i="0">
                <a:solidFill>
                  <a:srgbClr val="2A446F"/>
                </a:solidFill>
              </a:rPr>
              <a:t>Answers become echoes, but every lab script runs.</a:t>
            </a:r>
          </a:p>
          <a:p>
            <a:pPr algn="l">
              <a:spcAft>
                <a:spcPts val="600"/>
              </a:spcAft>
            </a:pPr>
            <a:r>
              <a:rPr sz="1300" b="0" i="0">
                <a:solidFill>
                  <a:srgbClr val="1F1F1F"/>
                </a:solidFill>
              </a:rPr>
              <a:t>Or use the instructor’s Ollama — the address is on the screen.</a:t>
            </a:r>
          </a:p>
        </p:txBody>
      </p:sp>
      <p:sp>
        <p:nvSpPr>
          <p:cNvPr id="19" name="TextBox 18"/>
          <p:cNvSpPr txBox="1"/>
          <p:nvPr/>
        </p:nvSpPr>
        <p:spPr>
          <a:xfrm>
            <a:off x="585216" y="534924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Green before Segment 1 means no install drama in Lab 1.</a:t>
            </a:r>
          </a:p>
        </p:txBody>
      </p:sp>
      <p:sp>
        <p:nvSpPr>
          <p:cNvPr id="20" name="TextBox 19"/>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labs/00-setup/SETUP.md · check_env.py / .cs / .mjs · mock_openai_server.py · labs/README.md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000" b="1">
                <a:solidFill>
                  <a:srgbClr val="FFFFFF"/>
                </a:solidFill>
              </a:rPr>
              <a:t>Foundations</a:t>
            </a:r>
          </a:p>
        </p:txBody>
      </p:sp>
      <p:sp>
        <p:nvSpPr>
          <p:cNvPr id="3" name="Text Placeholder 2"/>
          <p:cNvSpPr>
            <a:spLocks noGrp="1"/>
          </p:cNvSpPr>
          <p:nvPr>
            <p:ph type="body" idx="12" sz="quarter"/>
          </p:nvPr>
        </p:nvSpPr>
        <p:spPr/>
        <p:txBody>
          <a:bodyPr/>
          <a:lstStyle/>
          <a:p>
            <a:r>
              <a:rPr sz="1800">
                <a:solidFill>
                  <a:srgbClr val="C8D0E8"/>
                </a:solidFill>
              </a:rPr>
              <a:t>From a bag of words to a callable function</a:t>
            </a:r>
          </a:p>
        </p:txBody>
      </p:sp>
      <p:sp>
        <p:nvSpPr>
          <p:cNvPr id="4" name="TextBox 3"/>
          <p:cNvSpPr txBox="1"/>
          <p:nvPr/>
        </p:nvSpPr>
        <p:spPr>
          <a:xfrm>
            <a:off x="585216" y="1874519"/>
            <a:ext cx="5486400" cy="411480"/>
          </a:xfrm>
          <a:prstGeom prst="rect">
            <a:avLst/>
          </a:prstGeom>
          <a:noFill/>
        </p:spPr>
        <p:txBody>
          <a:bodyPr wrap="square" lIns="0" rIns="0" tIns="0" bIns="0" anchor="t">
            <a:spAutoFit/>
          </a:bodyPr>
          <a:lstStyle/>
          <a:p>
            <a:pPr algn="l">
              <a:spcAft>
                <a:spcPts val="0"/>
              </a:spcAft>
            </a:pPr>
            <a:r>
              <a:rPr sz="1600" b="1" i="0">
                <a:solidFill>
                  <a:srgbClr val="FFB900"/>
                </a:solidFill>
              </a:rPr>
              <a:t>SEGMENT 1</a:t>
            </a:r>
          </a:p>
        </p:txBody>
      </p:sp>
      <p:sp>
        <p:nvSpPr>
          <p:cNvPr id="5" name="TextBox 4"/>
          <p:cNvSpPr txBox="1"/>
          <p:nvPr/>
        </p:nvSpPr>
        <p:spPr>
          <a:xfrm>
            <a:off x="585216" y="4434840"/>
            <a:ext cx="5669280" cy="548640"/>
          </a:xfrm>
          <a:prstGeom prst="rect">
            <a:avLst/>
          </a:prstGeom>
          <a:noFill/>
        </p:spPr>
        <p:txBody>
          <a:bodyPr wrap="square" lIns="0" rIns="0" tIns="0" bIns="0" anchor="t">
            <a:spAutoFit/>
          </a:bodyPr>
          <a:lstStyle/>
          <a:p>
            <a:pPr algn="l">
              <a:spcAft>
                <a:spcPts val="0"/>
              </a:spcAft>
            </a:pPr>
            <a:r>
              <a:rPr sz="1400" b="0" i="0">
                <a:solidFill>
                  <a:srgbClr val="9AA6C2"/>
                </a:solidFill>
              </a:rPr>
              <a:t>concepts &amp; APIs</a:t>
            </a:r>
          </a:p>
        </p:txBody>
      </p:sp>
      <p:sp>
        <p:nvSpPr>
          <p:cNvPr id="6" name="TextBox 5"/>
          <p:cNvSpPr txBox="1"/>
          <p:nvPr/>
        </p:nvSpPr>
        <p:spPr>
          <a:xfrm>
            <a:off x="585216" y="5074920"/>
            <a:ext cx="5486400" cy="365760"/>
          </a:xfrm>
          <a:prstGeom prst="rect">
            <a:avLst/>
          </a:prstGeom>
          <a:noFill/>
        </p:spPr>
        <p:txBody>
          <a:bodyPr wrap="square" lIns="0" rIns="0" tIns="0" bIns="0" anchor="t">
            <a:spAutoFit/>
          </a:bodyPr>
          <a:lstStyle/>
          <a:p>
            <a:pPr algn="l">
              <a:spcAft>
                <a:spcPts val="0"/>
              </a:spcAft>
            </a:pPr>
            <a:r>
              <a:rPr sz="1200" b="0" i="0">
                <a:solidFill>
                  <a:srgbClr val="9AA6C2"/>
                </a:solidFill>
              </a:rPr>
              <a:t>Talk · live demos · hands-on Lab 1</a:t>
            </a:r>
          </a:p>
        </p:txBody>
      </p:sp>
      <p:pic>
        <p:nvPicPr>
          <p:cNvPr id="7" name="Picture 6" descr="div_s1.jpg"/>
          <p:cNvPicPr>
            <a:picLocks noChangeAspect="1"/>
          </p:cNvPicPr>
          <p:nvPr/>
        </p:nvPicPr>
        <p:blipFill>
          <a:blip r:embed="rId3"/>
          <a:stretch>
            <a:fillRect/>
          </a:stretch>
        </p:blipFill>
        <p:spPr>
          <a:xfrm>
            <a:off x="6446520" y="868680"/>
            <a:ext cx="2971800" cy="4892040"/>
          </a:xfrm>
          <a:prstGeom prst="roundRect">
            <a:avLst>
              <a:gd name="adj" fmla="val 4000"/>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Watch attention run: GPT-2 small, live in your browser</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Rounded Rectangle 3"/>
          <p:cNvSpPr/>
          <p:nvPr/>
        </p:nvSpPr>
        <p:spPr>
          <a:xfrm>
            <a:off x="562356" y="1348740"/>
            <a:ext cx="8641080" cy="3993288"/>
          </a:xfrm>
          <a:prstGeom prst="roundRect">
            <a:avLst>
              <a:gd name="adj" fmla="val 3000"/>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transformer_explainer_abecd7b499b3.jpg">
            <a:hlinkClick r:id="rId4"/>
          </p:cNvPr>
          <p:cNvPicPr>
            <a:picLocks noChangeAspect="1"/>
          </p:cNvPicPr>
          <p:nvPr/>
        </p:nvPicPr>
        <p:blipFill>
          <a:blip r:embed="rId3"/>
          <a:stretch>
            <a:fillRect/>
          </a:stretch>
        </p:blipFill>
        <p:spPr>
          <a:xfrm>
            <a:off x="585216" y="1371600"/>
            <a:ext cx="8595360" cy="3947568"/>
          </a:xfrm>
          <a:prstGeom prst="roundRect">
            <a:avLst>
              <a:gd name="adj" fmla="val 4000"/>
            </a:avLst>
          </a:prstGeom>
        </p:spPr>
      </p:pic>
      <p:sp>
        <p:nvSpPr>
          <p:cNvPr id="6" name="TextBox 5"/>
          <p:cNvSpPr txBox="1"/>
          <p:nvPr/>
        </p:nvSpPr>
        <p:spPr>
          <a:xfrm>
            <a:off x="585216" y="5410608"/>
            <a:ext cx="8595360" cy="256032"/>
          </a:xfrm>
          <a:prstGeom prst="rect">
            <a:avLst/>
          </a:prstGeom>
          <a:noFill/>
        </p:spPr>
        <p:txBody>
          <a:bodyPr wrap="square" lIns="0" rIns="0" tIns="0" bIns="0" anchor="t">
            <a:spAutoFit/>
          </a:bodyPr>
          <a:lstStyle/>
          <a:p>
            <a:pPr algn="l">
              <a:spcAft>
                <a:spcPts val="0"/>
              </a:spcAft>
            </a:pPr>
            <a:r>
              <a:rPr sz="1200" b="0" i="0">
                <a:solidFill>
                  <a:srgbClr val="6B6B6B"/>
                </a:solidFill>
              </a:rPr>
              <a:t>Left to right: embedding → query · key · value → attention (head 1 of 12) → MLP → × 12 blocks → probabilities</a:t>
            </a:r>
          </a:p>
        </p:txBody>
      </p:sp>
      <p:sp>
        <p:nvSpPr>
          <p:cNvPr id="7" name="TextBox 6"/>
          <p:cNvSpPr txBox="1"/>
          <p:nvPr/>
        </p:nvSpPr>
        <p:spPr>
          <a:xfrm>
            <a:off x="585216" y="5684928"/>
            <a:ext cx="8412480" cy="420624"/>
          </a:xfrm>
          <a:prstGeom prst="rect">
            <a:avLst/>
          </a:prstGeom>
          <a:noFill/>
        </p:spPr>
        <p:txBody>
          <a:bodyPr wrap="square" lIns="0" rIns="0" tIns="0" bIns="0" anchor="t">
            <a:spAutoFit/>
          </a:bodyPr>
          <a:lstStyle/>
          <a:p>
            <a:pPr algn="l">
              <a:spcAft>
                <a:spcPts val="200"/>
              </a:spcAft>
            </a:pPr>
            <a:r>
              <a:rPr sz="1200" b="1" i="0">
                <a:solidFill>
                  <a:srgbClr val="0078D4"/>
                </a:solidFill>
              </a:rPr>
              <a:t>TRY IT  </a:t>
            </a:r>
            <a:r>
              <a:rPr sz="1300" b="1" i="0">
                <a:solidFill>
                  <a:srgbClr val="0078D4"/>
                </a:solidFill>
                <a:hlinkClick r:id="rId4"/>
              </a:rPr>
              <a:t>poloclub.github.io/transformer-explainer</a:t>
            </a:r>
            <a:r>
              <a:rPr sz="1200" b="0" i="0">
                <a:solidFill>
                  <a:srgbClr val="6B6B6B"/>
                </a:solidFill>
              </a:rPr>
              <a:t>   runs in the browser tab, nothing to install  ·  </a:t>
            </a:r>
            <a:r>
              <a:rPr sz="1200" b="0" i="0">
                <a:solidFill>
                  <a:srgbClr val="0078D4"/>
                </a:solidFill>
                <a:hlinkClick r:id="rId5"/>
              </a:rPr>
              <a:t>source on GitHub</a:t>
            </a:r>
          </a:p>
        </p:txBody>
      </p:sp>
      <p:sp>
        <p:nvSpPr>
          <p:cNvPr id="8" name="TextBox 7"/>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Transformer Explainer (Polo Club) · Transformer Explainer source (GitHub)</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Five ways to look inside a transformer from your browser</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Rounded Rectangle 3"/>
          <p:cNvSpPr/>
          <p:nvPr/>
        </p:nvSpPr>
        <p:spPr>
          <a:xfrm>
            <a:off x="562356" y="1348740"/>
            <a:ext cx="1653362" cy="813816"/>
          </a:xfrm>
          <a:prstGeom prst="roundRect">
            <a:avLst>
              <a:gd name="adj" fmla="val 3000"/>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thumb_transformer_explainer.png">
            <a:hlinkClick r:id="rId4"/>
          </p:cNvPr>
          <p:cNvPicPr>
            <a:picLocks noChangeAspect="1"/>
          </p:cNvPicPr>
          <p:nvPr/>
        </p:nvPicPr>
        <p:blipFill>
          <a:blip r:embed="rId3"/>
          <a:stretch>
            <a:fillRect/>
          </a:stretch>
        </p:blipFill>
        <p:spPr>
          <a:xfrm>
            <a:off x="585216" y="1371600"/>
            <a:ext cx="1607642" cy="768096"/>
          </a:xfrm>
          <a:prstGeom prst="roundRect">
            <a:avLst>
              <a:gd name="adj" fmla="val 4000"/>
            </a:avLst>
          </a:prstGeom>
        </p:spPr>
      </p:pic>
      <p:sp>
        <p:nvSpPr>
          <p:cNvPr id="6" name="TextBox 5"/>
          <p:cNvSpPr txBox="1"/>
          <p:nvPr/>
        </p:nvSpPr>
        <p:spPr>
          <a:xfrm>
            <a:off x="2467178" y="1353312"/>
            <a:ext cx="5259501" cy="274320"/>
          </a:xfrm>
          <a:prstGeom prst="rect">
            <a:avLst/>
          </a:prstGeom>
          <a:noFill/>
        </p:spPr>
        <p:txBody>
          <a:bodyPr wrap="square" lIns="0" rIns="0" tIns="0" bIns="0" anchor="t">
            <a:spAutoFit/>
          </a:bodyPr>
          <a:lstStyle/>
          <a:p>
            <a:pPr algn="l">
              <a:spcAft>
                <a:spcPts val="200"/>
              </a:spcAft>
            </a:pPr>
            <a:r>
              <a:rPr sz="1500" b="1" i="0">
                <a:solidFill>
                  <a:srgbClr val="2A446F"/>
                </a:solidFill>
              </a:rPr>
              <a:t>Transformer Explainer</a:t>
            </a:r>
            <a:r>
              <a:rPr sz="1100" b="0" i="0">
                <a:solidFill>
                  <a:srgbClr val="6B6B6B"/>
                </a:solidFill>
              </a:rPr>
              <a:t>   Polo Club, Georgia Tech</a:t>
            </a:r>
          </a:p>
        </p:txBody>
      </p:sp>
      <p:sp>
        <p:nvSpPr>
          <p:cNvPr id="7" name="Rounded Rectangle 6"/>
          <p:cNvSpPr/>
          <p:nvPr/>
        </p:nvSpPr>
        <p:spPr>
          <a:xfrm>
            <a:off x="7818120" y="1380744"/>
            <a:ext cx="1554480" cy="237744"/>
          </a:xfrm>
          <a:prstGeom prst="roundRect">
            <a:avLst>
              <a:gd name="adj" fmla="val 5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FFFFFF"/>
                </a:solidFill>
              </a:rPr>
              <a:t>LIVE GPT-2 · ATTENTION</a:t>
            </a:r>
          </a:p>
        </p:txBody>
      </p:sp>
      <p:sp>
        <p:nvSpPr>
          <p:cNvPr id="8" name="TextBox 7"/>
          <p:cNvSpPr txBox="1"/>
          <p:nvPr/>
        </p:nvSpPr>
        <p:spPr>
          <a:xfrm>
            <a:off x="2467178" y="1645920"/>
            <a:ext cx="6905421" cy="237744"/>
          </a:xfrm>
          <a:prstGeom prst="rect">
            <a:avLst/>
          </a:prstGeom>
          <a:noFill/>
        </p:spPr>
        <p:txBody>
          <a:bodyPr wrap="square" lIns="0" rIns="0" tIns="0" bIns="0" anchor="t">
            <a:spAutoFit/>
          </a:bodyPr>
          <a:lstStyle/>
          <a:p>
            <a:pPr algn="l">
              <a:spcAft>
                <a:spcPts val="0"/>
              </a:spcAft>
            </a:pPr>
            <a:r>
              <a:rPr sz="1200" b="0" i="0">
                <a:solidFill>
                  <a:srgbClr val="1F1F1F"/>
                </a:solidFill>
              </a:rPr>
              <a:t>GPT-2 small runs in the tab: type a prompt, open any of the 12 heads, drag the temperature</a:t>
            </a:r>
          </a:p>
        </p:txBody>
      </p:sp>
      <p:sp>
        <p:nvSpPr>
          <p:cNvPr id="9" name="TextBox 8"/>
          <p:cNvSpPr txBox="1"/>
          <p:nvPr/>
        </p:nvSpPr>
        <p:spPr>
          <a:xfrm>
            <a:off x="2467178" y="1892807"/>
            <a:ext cx="6905421" cy="219456"/>
          </a:xfrm>
          <a:prstGeom prst="rect">
            <a:avLst/>
          </a:prstGeom>
          <a:noFill/>
        </p:spPr>
        <p:txBody>
          <a:bodyPr wrap="square" lIns="0" rIns="0" tIns="0" bIns="0" anchor="t">
            <a:spAutoFit/>
          </a:bodyPr>
          <a:lstStyle/>
          <a:p>
            <a:pPr algn="l">
              <a:spcAft>
                <a:spcPts val="200"/>
              </a:spcAft>
            </a:pPr>
            <a:r>
              <a:rPr sz="1100" b="0" i="0">
                <a:solidFill>
                  <a:srgbClr val="0078D4"/>
                </a:solidFill>
                <a:hlinkClick r:id="rId4"/>
              </a:rPr>
              <a:t>poloclub.github.io/transformer-explainer</a:t>
            </a:r>
            <a:r>
              <a:rPr sz="1100" b="0" i="0">
                <a:solidFill>
                  <a:srgbClr val="6B6B6B"/>
                </a:solidFill>
              </a:rPr>
              <a:t>  ·  </a:t>
            </a:r>
            <a:r>
              <a:rPr sz="1100" b="0" i="0">
                <a:solidFill>
                  <a:srgbClr val="0078D4"/>
                </a:solidFill>
                <a:hlinkClick r:id="rId5"/>
              </a:rPr>
              <a:t>github.com/poloclub/transformer-explainer</a:t>
            </a:r>
          </a:p>
        </p:txBody>
      </p:sp>
      <p:sp>
        <p:nvSpPr>
          <p:cNvPr id="10" name="Rounded Rectangle 9"/>
          <p:cNvSpPr/>
          <p:nvPr/>
        </p:nvSpPr>
        <p:spPr>
          <a:xfrm>
            <a:off x="562356" y="2189988"/>
            <a:ext cx="1653362" cy="813816"/>
          </a:xfrm>
          <a:prstGeom prst="roundRect">
            <a:avLst>
              <a:gd name="adj" fmla="val 3000"/>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thumb_llm_visualization.png">
            <a:hlinkClick r:id="rId7"/>
          </p:cNvPr>
          <p:cNvPicPr>
            <a:picLocks noChangeAspect="1"/>
          </p:cNvPicPr>
          <p:nvPr/>
        </p:nvPicPr>
        <p:blipFill>
          <a:blip r:embed="rId6"/>
          <a:stretch>
            <a:fillRect/>
          </a:stretch>
        </p:blipFill>
        <p:spPr>
          <a:xfrm>
            <a:off x="585216" y="2212848"/>
            <a:ext cx="1607642" cy="768096"/>
          </a:xfrm>
          <a:prstGeom prst="roundRect">
            <a:avLst>
              <a:gd name="adj" fmla="val 4000"/>
            </a:avLst>
          </a:prstGeom>
        </p:spPr>
      </p:pic>
      <p:sp>
        <p:nvSpPr>
          <p:cNvPr id="12" name="TextBox 11"/>
          <p:cNvSpPr txBox="1"/>
          <p:nvPr/>
        </p:nvSpPr>
        <p:spPr>
          <a:xfrm>
            <a:off x="2467178" y="2194560"/>
            <a:ext cx="5259501" cy="274320"/>
          </a:xfrm>
          <a:prstGeom prst="rect">
            <a:avLst/>
          </a:prstGeom>
          <a:noFill/>
        </p:spPr>
        <p:txBody>
          <a:bodyPr wrap="square" lIns="0" rIns="0" tIns="0" bIns="0" anchor="t">
            <a:spAutoFit/>
          </a:bodyPr>
          <a:lstStyle/>
          <a:p>
            <a:pPr algn="l">
              <a:spcAft>
                <a:spcPts val="200"/>
              </a:spcAft>
            </a:pPr>
            <a:r>
              <a:rPr sz="1500" b="1" i="0">
                <a:solidFill>
                  <a:srgbClr val="2A446F"/>
                </a:solidFill>
              </a:rPr>
              <a:t>LLM Visualization</a:t>
            </a:r>
            <a:r>
              <a:rPr sz="1100" b="0" i="0">
                <a:solidFill>
                  <a:srgbClr val="6B6B6B"/>
                </a:solidFill>
              </a:rPr>
              <a:t>   Brendan Bycroft</a:t>
            </a:r>
          </a:p>
        </p:txBody>
      </p:sp>
      <p:sp>
        <p:nvSpPr>
          <p:cNvPr id="13" name="Rounded Rectangle 12"/>
          <p:cNvSpPr/>
          <p:nvPr/>
        </p:nvSpPr>
        <p:spPr>
          <a:xfrm>
            <a:off x="7818120" y="2221991"/>
            <a:ext cx="1554480" cy="237744"/>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3-D WALK-THROUGH</a:t>
            </a:r>
          </a:p>
        </p:txBody>
      </p:sp>
      <p:sp>
        <p:nvSpPr>
          <p:cNvPr id="14" name="TextBox 13"/>
          <p:cNvSpPr txBox="1"/>
          <p:nvPr/>
        </p:nvSpPr>
        <p:spPr>
          <a:xfrm>
            <a:off x="2467178" y="2487168"/>
            <a:ext cx="6905421" cy="237744"/>
          </a:xfrm>
          <a:prstGeom prst="rect">
            <a:avLst/>
          </a:prstGeom>
          <a:noFill/>
        </p:spPr>
        <p:txBody>
          <a:bodyPr wrap="square" lIns="0" rIns="0" tIns="0" bIns="0" anchor="t">
            <a:spAutoFit/>
          </a:bodyPr>
          <a:lstStyle/>
          <a:p>
            <a:pPr algn="l">
              <a:spcAft>
                <a:spcPts val="0"/>
              </a:spcAft>
            </a:pPr>
            <a:r>
              <a:rPr sz="1200" b="0" i="0">
                <a:solidFill>
                  <a:srgbClr val="1F1F1F"/>
                </a:solidFill>
              </a:rPr>
              <a:t>every matrix of a tiny GPT, animated step by step in 3-D — then GPT-2 and GPT-3 for scale</a:t>
            </a:r>
          </a:p>
        </p:txBody>
      </p:sp>
      <p:sp>
        <p:nvSpPr>
          <p:cNvPr id="15" name="TextBox 14"/>
          <p:cNvSpPr txBox="1"/>
          <p:nvPr/>
        </p:nvSpPr>
        <p:spPr>
          <a:xfrm>
            <a:off x="2467178" y="2734056"/>
            <a:ext cx="6905421" cy="219456"/>
          </a:xfrm>
          <a:prstGeom prst="rect">
            <a:avLst/>
          </a:prstGeom>
          <a:noFill/>
        </p:spPr>
        <p:txBody>
          <a:bodyPr wrap="square" lIns="0" rIns="0" tIns="0" bIns="0" anchor="t">
            <a:spAutoFit/>
          </a:bodyPr>
          <a:lstStyle/>
          <a:p>
            <a:pPr algn="l">
              <a:spcAft>
                <a:spcPts val="200"/>
              </a:spcAft>
            </a:pPr>
            <a:r>
              <a:rPr sz="1100" b="0" i="0">
                <a:solidFill>
                  <a:srgbClr val="0078D4"/>
                </a:solidFill>
                <a:hlinkClick r:id="rId7"/>
              </a:rPr>
              <a:t>bbycroft.net/llm</a:t>
            </a:r>
            <a:r>
              <a:rPr sz="1100" b="0" i="0">
                <a:solidFill>
                  <a:srgbClr val="6B6B6B"/>
                </a:solidFill>
              </a:rPr>
              <a:t>  ·  </a:t>
            </a:r>
            <a:r>
              <a:rPr sz="1100" b="0" i="0">
                <a:solidFill>
                  <a:srgbClr val="0078D4"/>
                </a:solidFill>
                <a:hlinkClick r:id="rId8"/>
              </a:rPr>
              <a:t>github.com/bbycroft/llm-viz</a:t>
            </a:r>
          </a:p>
        </p:txBody>
      </p:sp>
      <p:sp>
        <p:nvSpPr>
          <p:cNvPr id="16" name="Rounded Rectangle 15"/>
          <p:cNvSpPr/>
          <p:nvPr/>
        </p:nvSpPr>
        <p:spPr>
          <a:xfrm>
            <a:off x="562356" y="3031236"/>
            <a:ext cx="1653362" cy="813816"/>
          </a:xfrm>
          <a:prstGeom prst="roundRect">
            <a:avLst>
              <a:gd name="adj" fmla="val 3000"/>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thumb_llm_viewer.png">
            <a:hlinkClick r:id="rId10"/>
          </p:cNvPr>
          <p:cNvPicPr>
            <a:picLocks noChangeAspect="1"/>
          </p:cNvPicPr>
          <p:nvPr/>
        </p:nvPicPr>
        <p:blipFill>
          <a:blip r:embed="rId9"/>
          <a:stretch>
            <a:fillRect/>
          </a:stretch>
        </p:blipFill>
        <p:spPr>
          <a:xfrm>
            <a:off x="585216" y="3054096"/>
            <a:ext cx="1607642" cy="768096"/>
          </a:xfrm>
          <a:prstGeom prst="roundRect">
            <a:avLst>
              <a:gd name="adj" fmla="val 4000"/>
            </a:avLst>
          </a:prstGeom>
        </p:spPr>
      </p:pic>
      <p:sp>
        <p:nvSpPr>
          <p:cNvPr id="18" name="TextBox 17"/>
          <p:cNvSpPr txBox="1"/>
          <p:nvPr/>
        </p:nvSpPr>
        <p:spPr>
          <a:xfrm>
            <a:off x="2467178" y="3035808"/>
            <a:ext cx="5259501" cy="274320"/>
          </a:xfrm>
          <a:prstGeom prst="rect">
            <a:avLst/>
          </a:prstGeom>
          <a:noFill/>
        </p:spPr>
        <p:txBody>
          <a:bodyPr wrap="square" lIns="0" rIns="0" tIns="0" bIns="0" anchor="t">
            <a:spAutoFit/>
          </a:bodyPr>
          <a:lstStyle/>
          <a:p>
            <a:pPr algn="l">
              <a:spcAft>
                <a:spcPts val="200"/>
              </a:spcAft>
            </a:pPr>
            <a:r>
              <a:rPr sz="1500" b="1" i="0">
                <a:solidFill>
                  <a:srgbClr val="2A446F"/>
                </a:solidFill>
              </a:rPr>
              <a:t>LLM-Viewer</a:t>
            </a:r>
            <a:r>
              <a:rPr sz="1100" b="0" i="0">
                <a:solidFill>
                  <a:srgbClr val="6B6B6B"/>
                </a:solidFill>
              </a:rPr>
              <a:t>   hahnyuan</a:t>
            </a:r>
          </a:p>
        </p:txBody>
      </p:sp>
      <p:sp>
        <p:nvSpPr>
          <p:cNvPr id="19" name="Rounded Rectangle 18"/>
          <p:cNvSpPr/>
          <p:nvPr/>
        </p:nvSpPr>
        <p:spPr>
          <a:xfrm>
            <a:off x="7818120" y="3063239"/>
            <a:ext cx="1554480" cy="237744"/>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INFERENCE SIMULATOR</a:t>
            </a:r>
          </a:p>
        </p:txBody>
      </p:sp>
      <p:sp>
        <p:nvSpPr>
          <p:cNvPr id="20" name="TextBox 19"/>
          <p:cNvSpPr txBox="1"/>
          <p:nvPr/>
        </p:nvSpPr>
        <p:spPr>
          <a:xfrm>
            <a:off x="2467178" y="3328415"/>
            <a:ext cx="6905421" cy="237744"/>
          </a:xfrm>
          <a:prstGeom prst="rect">
            <a:avLst/>
          </a:prstGeom>
          <a:noFill/>
        </p:spPr>
        <p:txBody>
          <a:bodyPr wrap="square" lIns="0" rIns="0" tIns="0" bIns="0" anchor="t">
            <a:spAutoFit/>
          </a:bodyPr>
          <a:lstStyle/>
          <a:p>
            <a:pPr algn="l">
              <a:spcAft>
                <a:spcPts val="0"/>
              </a:spcAft>
            </a:pPr>
            <a:r>
              <a:rPr sz="1200" b="0" i="0">
                <a:solidFill>
                  <a:srgbClr val="1F1F1F"/>
                </a:solidFill>
              </a:rPr>
              <a:t>pick a model and a GPU, set batch and quantization — see memory, compute, time per layer</a:t>
            </a:r>
          </a:p>
        </p:txBody>
      </p:sp>
      <p:sp>
        <p:nvSpPr>
          <p:cNvPr id="21" name="TextBox 20"/>
          <p:cNvSpPr txBox="1"/>
          <p:nvPr/>
        </p:nvSpPr>
        <p:spPr>
          <a:xfrm>
            <a:off x="2467178" y="3575303"/>
            <a:ext cx="6905421" cy="219456"/>
          </a:xfrm>
          <a:prstGeom prst="rect">
            <a:avLst/>
          </a:prstGeom>
          <a:noFill/>
        </p:spPr>
        <p:txBody>
          <a:bodyPr wrap="square" lIns="0" rIns="0" tIns="0" bIns="0" anchor="t">
            <a:spAutoFit/>
          </a:bodyPr>
          <a:lstStyle/>
          <a:p>
            <a:pPr algn="l">
              <a:spcAft>
                <a:spcPts val="200"/>
              </a:spcAft>
            </a:pPr>
            <a:r>
              <a:rPr sz="1100" b="0" i="0">
                <a:solidFill>
                  <a:srgbClr val="0078D4"/>
                </a:solidFill>
                <a:hlinkClick r:id="rId10"/>
              </a:rPr>
              <a:t>llm-viewer.com</a:t>
            </a:r>
            <a:r>
              <a:rPr sz="1100" b="0" i="0">
                <a:solidFill>
                  <a:srgbClr val="6B6B6B"/>
                </a:solidFill>
              </a:rPr>
              <a:t>  ·  </a:t>
            </a:r>
            <a:r>
              <a:rPr sz="1100" b="0" i="0">
                <a:solidFill>
                  <a:srgbClr val="0078D4"/>
                </a:solidFill>
                <a:hlinkClick r:id="rId11"/>
              </a:rPr>
              <a:t>github.com/hahnyuan/LLM-Viewer</a:t>
            </a:r>
          </a:p>
        </p:txBody>
      </p:sp>
      <p:sp>
        <p:nvSpPr>
          <p:cNvPr id="22" name="Rounded Rectangle 21"/>
          <p:cNvSpPr/>
          <p:nvPr/>
        </p:nvSpPr>
        <p:spPr>
          <a:xfrm>
            <a:off x="562356" y="3872483"/>
            <a:ext cx="1653362" cy="813816"/>
          </a:xfrm>
          <a:prstGeom prst="roundRect">
            <a:avLst>
              <a:gd name="adj" fmla="val 3000"/>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thumb_bertviz.png">
            <a:hlinkClick r:id="rId13"/>
          </p:cNvPr>
          <p:cNvPicPr>
            <a:picLocks noChangeAspect="1"/>
          </p:cNvPicPr>
          <p:nvPr/>
        </p:nvPicPr>
        <p:blipFill>
          <a:blip r:embed="rId12"/>
          <a:stretch>
            <a:fillRect/>
          </a:stretch>
        </p:blipFill>
        <p:spPr>
          <a:xfrm>
            <a:off x="585216" y="3895344"/>
            <a:ext cx="1607642" cy="768096"/>
          </a:xfrm>
          <a:prstGeom prst="roundRect">
            <a:avLst>
              <a:gd name="adj" fmla="val 4000"/>
            </a:avLst>
          </a:prstGeom>
        </p:spPr>
      </p:pic>
      <p:sp>
        <p:nvSpPr>
          <p:cNvPr id="24" name="TextBox 23"/>
          <p:cNvSpPr txBox="1"/>
          <p:nvPr/>
        </p:nvSpPr>
        <p:spPr>
          <a:xfrm>
            <a:off x="2467178" y="3877056"/>
            <a:ext cx="5259501" cy="274320"/>
          </a:xfrm>
          <a:prstGeom prst="rect">
            <a:avLst/>
          </a:prstGeom>
          <a:noFill/>
        </p:spPr>
        <p:txBody>
          <a:bodyPr wrap="square" lIns="0" rIns="0" tIns="0" bIns="0" anchor="t">
            <a:spAutoFit/>
          </a:bodyPr>
          <a:lstStyle/>
          <a:p>
            <a:pPr algn="l">
              <a:spcAft>
                <a:spcPts val="200"/>
              </a:spcAft>
            </a:pPr>
            <a:r>
              <a:rPr sz="1500" b="1" i="0">
                <a:solidFill>
                  <a:srgbClr val="2A446F"/>
                </a:solidFill>
              </a:rPr>
              <a:t>BertViz</a:t>
            </a:r>
            <a:r>
              <a:rPr sz="1100" b="0" i="0">
                <a:solidFill>
                  <a:srgbClr val="6B6B6B"/>
                </a:solidFill>
              </a:rPr>
              <a:t>   Jesse Vig</a:t>
            </a:r>
          </a:p>
        </p:txBody>
      </p:sp>
      <p:sp>
        <p:nvSpPr>
          <p:cNvPr id="25" name="Rounded Rectangle 24"/>
          <p:cNvSpPr/>
          <p:nvPr/>
        </p:nvSpPr>
        <p:spPr>
          <a:xfrm>
            <a:off x="7818120" y="3904487"/>
            <a:ext cx="1554480" cy="237744"/>
          </a:xfrm>
          <a:prstGeom prst="roundRect">
            <a:avLst>
              <a:gd name="adj" fmla="val 5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FFFFFF"/>
                </a:solidFill>
              </a:rPr>
              <a:t>ATTENTION · NOTEBOOK</a:t>
            </a:r>
          </a:p>
        </p:txBody>
      </p:sp>
      <p:sp>
        <p:nvSpPr>
          <p:cNvPr id="26" name="TextBox 25"/>
          <p:cNvSpPr txBox="1"/>
          <p:nvPr/>
        </p:nvSpPr>
        <p:spPr>
          <a:xfrm>
            <a:off x="2467178" y="4169663"/>
            <a:ext cx="6905421" cy="237744"/>
          </a:xfrm>
          <a:prstGeom prst="rect">
            <a:avLst/>
          </a:prstGeom>
          <a:noFill/>
        </p:spPr>
        <p:txBody>
          <a:bodyPr wrap="square" lIns="0" rIns="0" tIns="0" bIns="0" anchor="t">
            <a:spAutoFit/>
          </a:bodyPr>
          <a:lstStyle/>
          <a:p>
            <a:pPr algn="l">
              <a:spcAft>
                <a:spcPts val="0"/>
              </a:spcAft>
            </a:pPr>
            <a:r>
              <a:rPr sz="1200" b="0" i="0">
                <a:solidFill>
                  <a:srgbClr val="1F1F1F"/>
                </a:solidFill>
              </a:rPr>
              <a:t>attention lines head by head for most Hugging Face models — runs in Jupyter or Colab</a:t>
            </a:r>
          </a:p>
        </p:txBody>
      </p:sp>
      <p:sp>
        <p:nvSpPr>
          <p:cNvPr id="27" name="TextBox 26"/>
          <p:cNvSpPr txBox="1"/>
          <p:nvPr/>
        </p:nvSpPr>
        <p:spPr>
          <a:xfrm>
            <a:off x="2467178" y="4416552"/>
            <a:ext cx="6905421" cy="219456"/>
          </a:xfrm>
          <a:prstGeom prst="rect">
            <a:avLst/>
          </a:prstGeom>
          <a:noFill/>
        </p:spPr>
        <p:txBody>
          <a:bodyPr wrap="square" lIns="0" rIns="0" tIns="0" bIns="0" anchor="t">
            <a:spAutoFit/>
          </a:bodyPr>
          <a:lstStyle/>
          <a:p>
            <a:pPr algn="l">
              <a:spcAft>
                <a:spcPts val="200"/>
              </a:spcAft>
            </a:pPr>
            <a:r>
              <a:rPr sz="1100" b="0" i="0">
                <a:solidFill>
                  <a:srgbClr val="0078D4"/>
                </a:solidFill>
                <a:hlinkClick r:id="rId13"/>
              </a:rPr>
              <a:t>github.com/jessevig/bertviz</a:t>
            </a:r>
          </a:p>
        </p:txBody>
      </p:sp>
      <p:sp>
        <p:nvSpPr>
          <p:cNvPr id="28" name="Rounded Rectangle 27"/>
          <p:cNvSpPr/>
          <p:nvPr/>
        </p:nvSpPr>
        <p:spPr>
          <a:xfrm>
            <a:off x="562356" y="4713731"/>
            <a:ext cx="1653362" cy="813816"/>
          </a:xfrm>
          <a:prstGeom prst="roundRect">
            <a:avLst>
              <a:gd name="adj" fmla="val 3000"/>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thumb_tiktokenizer.png">
            <a:hlinkClick r:id="rId15"/>
          </p:cNvPr>
          <p:cNvPicPr>
            <a:picLocks noChangeAspect="1"/>
          </p:cNvPicPr>
          <p:nvPr/>
        </p:nvPicPr>
        <p:blipFill>
          <a:blip r:embed="rId14"/>
          <a:stretch>
            <a:fillRect/>
          </a:stretch>
        </p:blipFill>
        <p:spPr>
          <a:xfrm>
            <a:off x="585216" y="4736592"/>
            <a:ext cx="1607642" cy="768096"/>
          </a:xfrm>
          <a:prstGeom prst="roundRect">
            <a:avLst>
              <a:gd name="adj" fmla="val 4000"/>
            </a:avLst>
          </a:prstGeom>
        </p:spPr>
      </p:pic>
      <p:sp>
        <p:nvSpPr>
          <p:cNvPr id="30" name="TextBox 29"/>
          <p:cNvSpPr txBox="1"/>
          <p:nvPr/>
        </p:nvSpPr>
        <p:spPr>
          <a:xfrm>
            <a:off x="2467178" y="4718304"/>
            <a:ext cx="5259501" cy="274320"/>
          </a:xfrm>
          <a:prstGeom prst="rect">
            <a:avLst/>
          </a:prstGeom>
          <a:noFill/>
        </p:spPr>
        <p:txBody>
          <a:bodyPr wrap="square" lIns="0" rIns="0" tIns="0" bIns="0" anchor="t">
            <a:spAutoFit/>
          </a:bodyPr>
          <a:lstStyle/>
          <a:p>
            <a:pPr algn="l">
              <a:spcAft>
                <a:spcPts val="200"/>
              </a:spcAft>
            </a:pPr>
            <a:r>
              <a:rPr sz="1500" b="1" i="0">
                <a:solidFill>
                  <a:srgbClr val="2A446F"/>
                </a:solidFill>
              </a:rPr>
              <a:t>Tiktokenizer</a:t>
            </a:r>
            <a:r>
              <a:rPr sz="1100" b="0" i="0">
                <a:solidFill>
                  <a:srgbClr val="6B6B6B"/>
                </a:solidFill>
              </a:rPr>
              <a:t>   dqbd</a:t>
            </a:r>
          </a:p>
        </p:txBody>
      </p:sp>
      <p:sp>
        <p:nvSpPr>
          <p:cNvPr id="31" name="Rounded Rectangle 30"/>
          <p:cNvSpPr/>
          <p:nvPr/>
        </p:nvSpPr>
        <p:spPr>
          <a:xfrm>
            <a:off x="7818120" y="4745736"/>
            <a:ext cx="1554480" cy="237744"/>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TOKENS</a:t>
            </a:r>
          </a:p>
        </p:txBody>
      </p:sp>
      <p:sp>
        <p:nvSpPr>
          <p:cNvPr id="32" name="TextBox 31"/>
          <p:cNvSpPr txBox="1"/>
          <p:nvPr/>
        </p:nvSpPr>
        <p:spPr>
          <a:xfrm>
            <a:off x="2467178" y="5010912"/>
            <a:ext cx="6905421" cy="237744"/>
          </a:xfrm>
          <a:prstGeom prst="rect">
            <a:avLst/>
          </a:prstGeom>
          <a:noFill/>
        </p:spPr>
        <p:txBody>
          <a:bodyPr wrap="square" lIns="0" rIns="0" tIns="0" bIns="0" anchor="t">
            <a:spAutoFit/>
          </a:bodyPr>
          <a:lstStyle/>
          <a:p>
            <a:pPr algn="l">
              <a:spcAft>
                <a:spcPts val="0"/>
              </a:spcAft>
            </a:pPr>
            <a:r>
              <a:rPr sz="1200" b="0" i="0">
                <a:solidFill>
                  <a:srgbClr val="1F1F1F"/>
                </a:solidFill>
              </a:rPr>
              <a:t>one step earlier: the tokens and token ids a prompt becomes, per model encoding</a:t>
            </a:r>
          </a:p>
        </p:txBody>
      </p:sp>
      <p:sp>
        <p:nvSpPr>
          <p:cNvPr id="33" name="TextBox 32"/>
          <p:cNvSpPr txBox="1"/>
          <p:nvPr/>
        </p:nvSpPr>
        <p:spPr>
          <a:xfrm>
            <a:off x="2467178" y="5257800"/>
            <a:ext cx="6905421" cy="219456"/>
          </a:xfrm>
          <a:prstGeom prst="rect">
            <a:avLst/>
          </a:prstGeom>
          <a:noFill/>
        </p:spPr>
        <p:txBody>
          <a:bodyPr wrap="square" lIns="0" rIns="0" tIns="0" bIns="0" anchor="t">
            <a:spAutoFit/>
          </a:bodyPr>
          <a:lstStyle/>
          <a:p>
            <a:pPr algn="l">
              <a:spcAft>
                <a:spcPts val="200"/>
              </a:spcAft>
            </a:pPr>
            <a:r>
              <a:rPr sz="1100" b="0" i="0">
                <a:solidFill>
                  <a:srgbClr val="0078D4"/>
                </a:solidFill>
                <a:hlinkClick r:id="rId15"/>
              </a:rPr>
              <a:t>tiktokenizer.vercel.app</a:t>
            </a:r>
          </a:p>
        </p:txBody>
      </p:sp>
      <p:sp>
        <p:nvSpPr>
          <p:cNvPr id="34" name="TextBox 33"/>
          <p:cNvSpPr txBox="1"/>
          <p:nvPr/>
        </p:nvSpPr>
        <p:spPr>
          <a:xfrm>
            <a:off x="585216" y="5577840"/>
            <a:ext cx="9656063" cy="320040"/>
          </a:xfrm>
          <a:prstGeom prst="rect">
            <a:avLst/>
          </a:prstGeom>
          <a:noFill/>
        </p:spPr>
        <p:txBody>
          <a:bodyPr wrap="square" lIns="0" rIns="0" tIns="0" bIns="0" anchor="t">
            <a:spAutoFit/>
          </a:bodyPr>
          <a:lstStyle/>
          <a:p>
            <a:pPr algn="l">
              <a:spcAft>
                <a:spcPts val="0"/>
              </a:spcAft>
            </a:pPr>
            <a:r>
              <a:rPr sz="1400" b="1" i="0">
                <a:solidFill>
                  <a:srgbClr val="0078D4"/>
                </a:solidFill>
              </a:rPr>
              <a:t>Open the first two before the session — and they are the best homework for this segment.</a:t>
            </a:r>
          </a:p>
        </p:txBody>
      </p:sp>
      <p:sp>
        <p:nvSpPr>
          <p:cNvPr id="35" name="TextBox 34"/>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Transformer Explainer (Polo Club) · LLM visualisation (bbycroft.net) · LLM-Viewer · bertviz · tiktokenizer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Why now: three curves crossed in 2022 and haven’t uncrossed</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Three trends got good enough at once — then ChatGPT added a chat box.</a:t>
            </a:r>
          </a:p>
        </p:txBody>
      </p:sp>
      <p:sp>
        <p:nvSpPr>
          <p:cNvPr id="5" name="Rectangle 4"/>
          <p:cNvSpPr/>
          <p:nvPr/>
        </p:nvSpPr>
        <p:spPr>
          <a:xfrm>
            <a:off x="868680" y="4846320"/>
            <a:ext cx="5715000" cy="13716"/>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02919" y="4901184"/>
            <a:ext cx="731520" cy="237744"/>
          </a:xfrm>
          <a:prstGeom prst="rect">
            <a:avLst/>
          </a:prstGeom>
          <a:noFill/>
        </p:spPr>
        <p:txBody>
          <a:bodyPr wrap="square" lIns="0" rIns="0" tIns="0" bIns="0" anchor="t">
            <a:spAutoFit/>
          </a:bodyPr>
          <a:lstStyle/>
          <a:p>
            <a:pPr algn="ctr">
              <a:spcAft>
                <a:spcPts val="0"/>
              </a:spcAft>
            </a:pPr>
            <a:r>
              <a:rPr sz="1000" b="0" i="0">
                <a:solidFill>
                  <a:srgbClr val="6B6B6B"/>
                </a:solidFill>
              </a:rPr>
              <a:t>2017</a:t>
            </a:r>
          </a:p>
        </p:txBody>
      </p:sp>
      <p:sp>
        <p:nvSpPr>
          <p:cNvPr id="7" name="TextBox 6"/>
          <p:cNvSpPr txBox="1"/>
          <p:nvPr/>
        </p:nvSpPr>
        <p:spPr>
          <a:xfrm>
            <a:off x="2407920" y="4901184"/>
            <a:ext cx="731520" cy="237744"/>
          </a:xfrm>
          <a:prstGeom prst="rect">
            <a:avLst/>
          </a:prstGeom>
          <a:noFill/>
        </p:spPr>
        <p:txBody>
          <a:bodyPr wrap="square" lIns="0" rIns="0" tIns="0" bIns="0" anchor="t">
            <a:spAutoFit/>
          </a:bodyPr>
          <a:lstStyle/>
          <a:p>
            <a:pPr algn="ctr">
              <a:spcAft>
                <a:spcPts val="0"/>
              </a:spcAft>
            </a:pPr>
            <a:r>
              <a:rPr sz="1000" b="0" i="0">
                <a:solidFill>
                  <a:srgbClr val="6B6B6B"/>
                </a:solidFill>
              </a:rPr>
              <a:t>2020</a:t>
            </a:r>
          </a:p>
        </p:txBody>
      </p:sp>
      <p:sp>
        <p:nvSpPr>
          <p:cNvPr id="8" name="TextBox 7"/>
          <p:cNvSpPr txBox="1"/>
          <p:nvPr/>
        </p:nvSpPr>
        <p:spPr>
          <a:xfrm>
            <a:off x="3677920" y="4901184"/>
            <a:ext cx="731520" cy="237744"/>
          </a:xfrm>
          <a:prstGeom prst="rect">
            <a:avLst/>
          </a:prstGeom>
          <a:noFill/>
        </p:spPr>
        <p:txBody>
          <a:bodyPr wrap="square" lIns="0" rIns="0" tIns="0" bIns="0" anchor="t">
            <a:spAutoFit/>
          </a:bodyPr>
          <a:lstStyle/>
          <a:p>
            <a:pPr algn="ctr">
              <a:spcAft>
                <a:spcPts val="0"/>
              </a:spcAft>
            </a:pPr>
            <a:r>
              <a:rPr sz="1000" b="0" i="0">
                <a:solidFill>
                  <a:srgbClr val="6B6B6B"/>
                </a:solidFill>
              </a:rPr>
              <a:t>2022</a:t>
            </a:r>
          </a:p>
        </p:txBody>
      </p:sp>
      <p:sp>
        <p:nvSpPr>
          <p:cNvPr id="9" name="TextBox 8"/>
          <p:cNvSpPr txBox="1"/>
          <p:nvPr/>
        </p:nvSpPr>
        <p:spPr>
          <a:xfrm>
            <a:off x="4947919" y="4901184"/>
            <a:ext cx="731520" cy="237744"/>
          </a:xfrm>
          <a:prstGeom prst="rect">
            <a:avLst/>
          </a:prstGeom>
          <a:noFill/>
        </p:spPr>
        <p:txBody>
          <a:bodyPr wrap="square" lIns="0" rIns="0" tIns="0" bIns="0" anchor="t">
            <a:spAutoFit/>
          </a:bodyPr>
          <a:lstStyle/>
          <a:p>
            <a:pPr algn="ctr">
              <a:spcAft>
                <a:spcPts val="0"/>
              </a:spcAft>
            </a:pPr>
            <a:r>
              <a:rPr sz="1000" b="0" i="0">
                <a:solidFill>
                  <a:srgbClr val="6B6B6B"/>
                </a:solidFill>
              </a:rPr>
              <a:t>2024</a:t>
            </a:r>
          </a:p>
        </p:txBody>
      </p:sp>
      <p:sp>
        <p:nvSpPr>
          <p:cNvPr id="10" name="TextBox 9"/>
          <p:cNvSpPr txBox="1"/>
          <p:nvPr/>
        </p:nvSpPr>
        <p:spPr>
          <a:xfrm>
            <a:off x="6217920" y="4901184"/>
            <a:ext cx="731520" cy="237744"/>
          </a:xfrm>
          <a:prstGeom prst="rect">
            <a:avLst/>
          </a:prstGeom>
          <a:noFill/>
        </p:spPr>
        <p:txBody>
          <a:bodyPr wrap="square" lIns="0" rIns="0" tIns="0" bIns="0" anchor="t">
            <a:spAutoFit/>
          </a:bodyPr>
          <a:lstStyle/>
          <a:p>
            <a:pPr algn="ctr">
              <a:spcAft>
                <a:spcPts val="0"/>
              </a:spcAft>
            </a:pPr>
            <a:r>
              <a:rPr sz="1000" b="0" i="0">
                <a:solidFill>
                  <a:srgbClr val="6B6B6B"/>
                </a:solidFill>
              </a:rPr>
              <a:t>2026</a:t>
            </a:r>
          </a:p>
        </p:txBody>
      </p:sp>
      <p:cxnSp>
        <p:nvCxnSpPr>
          <p:cNvPr id="11" name="Connector 10"/>
          <p:cNvCxnSpPr/>
          <p:nvPr/>
        </p:nvCxnSpPr>
        <p:spPr>
          <a:xfrm>
            <a:off x="868680" y="4069080"/>
            <a:ext cx="5715000" cy="0"/>
          </a:xfrm>
          <a:prstGeom prst="line">
            <a:avLst/>
          </a:prstGeom>
          <a:ln w="15875">
            <a:solidFill>
              <a:srgbClr val="6B6B6B"/>
            </a:solidFill>
            <a:prstDash val="dash"/>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68680" y="3794760"/>
            <a:ext cx="2377440" cy="237744"/>
          </a:xfrm>
          <a:prstGeom prst="rect">
            <a:avLst/>
          </a:prstGeom>
          <a:noFill/>
        </p:spPr>
        <p:txBody>
          <a:bodyPr wrap="square" lIns="0" rIns="0" tIns="0" bIns="0" anchor="t">
            <a:spAutoFit/>
          </a:bodyPr>
          <a:lstStyle/>
          <a:p>
            <a:pPr algn="l">
              <a:spcAft>
                <a:spcPts val="0"/>
              </a:spcAft>
            </a:pPr>
            <a:r>
              <a:rPr sz="1000" b="0" i="1">
                <a:solidFill>
                  <a:srgbClr val="6B6B6B"/>
                </a:solidFill>
              </a:rPr>
              <a:t>good enough to ship</a:t>
            </a:r>
          </a:p>
        </p:txBody>
      </p:sp>
      <p:sp>
        <p:nvSpPr>
          <p:cNvPr id="13" name="Rectangle 12"/>
          <p:cNvSpPr/>
          <p:nvPr/>
        </p:nvSpPr>
        <p:spPr>
          <a:xfrm>
            <a:off x="4572457" y="2240280"/>
            <a:ext cx="21945" cy="2606040"/>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3669029" y="1920240"/>
            <a:ext cx="1828800" cy="310896"/>
          </a:xfrm>
          <a:prstGeom prst="roundRect">
            <a:avLst>
              <a:gd name="adj" fmla="val 30000"/>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Nov 2022 · ChatGPT</a:t>
            </a:r>
          </a:p>
        </p:txBody>
      </p:sp>
      <p:sp>
        <p:nvSpPr>
          <p:cNvPr id="15" name="Freeform 14"/>
          <p:cNvSpPr/>
          <p:nvPr/>
        </p:nvSpPr>
        <p:spPr>
          <a:xfrm>
            <a:off x="868680" y="2103120"/>
            <a:ext cx="5715000" cy="2384755"/>
          </a:xfrm>
          <a:custGeom>
            <a:avLst/>
            <a:gdLst/>
            <a:ahLst/>
            <a:cxnLst/>
            <a:rect l="l" t="t" r="r" b="b"/>
            <a:pathLst>
              <a:path w="6250" h="2608">
                <a:moveTo>
                  <a:pt x="0" y="2608"/>
                </a:moveTo>
                <a:lnTo>
                  <a:pt x="156" y="2600"/>
                </a:lnTo>
                <a:lnTo>
                  <a:pt x="312" y="2591"/>
                </a:lnTo>
                <a:lnTo>
                  <a:pt x="468" y="2582"/>
                </a:lnTo>
                <a:lnTo>
                  <a:pt x="625" y="2572"/>
                </a:lnTo>
                <a:lnTo>
                  <a:pt x="781" y="2561"/>
                </a:lnTo>
                <a:lnTo>
                  <a:pt x="937" y="2549"/>
                </a:lnTo>
                <a:lnTo>
                  <a:pt x="1093" y="2536"/>
                </a:lnTo>
                <a:lnTo>
                  <a:pt x="1249" y="2521"/>
                </a:lnTo>
                <a:lnTo>
                  <a:pt x="1406" y="2506"/>
                </a:lnTo>
                <a:lnTo>
                  <a:pt x="1562" y="2489"/>
                </a:lnTo>
                <a:lnTo>
                  <a:pt x="1718" y="2470"/>
                </a:lnTo>
                <a:lnTo>
                  <a:pt x="1875" y="2450"/>
                </a:lnTo>
                <a:lnTo>
                  <a:pt x="2031" y="2428"/>
                </a:lnTo>
                <a:lnTo>
                  <a:pt x="2187" y="2404"/>
                </a:lnTo>
                <a:lnTo>
                  <a:pt x="2343" y="2378"/>
                </a:lnTo>
                <a:lnTo>
                  <a:pt x="2499" y="2350"/>
                </a:lnTo>
                <a:lnTo>
                  <a:pt x="2656" y="2319"/>
                </a:lnTo>
                <a:lnTo>
                  <a:pt x="2812" y="2285"/>
                </a:lnTo>
                <a:lnTo>
                  <a:pt x="2968" y="2248"/>
                </a:lnTo>
                <a:lnTo>
                  <a:pt x="3125" y="2208"/>
                </a:lnTo>
                <a:lnTo>
                  <a:pt x="3281" y="2165"/>
                </a:lnTo>
                <a:lnTo>
                  <a:pt x="3437" y="2117"/>
                </a:lnTo>
                <a:lnTo>
                  <a:pt x="3593" y="2066"/>
                </a:lnTo>
                <a:lnTo>
                  <a:pt x="3750" y="2010"/>
                </a:lnTo>
                <a:lnTo>
                  <a:pt x="3906" y="1948"/>
                </a:lnTo>
                <a:lnTo>
                  <a:pt x="4062" y="1881"/>
                </a:lnTo>
                <a:lnTo>
                  <a:pt x="4218" y="1809"/>
                </a:lnTo>
                <a:lnTo>
                  <a:pt x="4374" y="1730"/>
                </a:lnTo>
                <a:lnTo>
                  <a:pt x="4531" y="1643"/>
                </a:lnTo>
                <a:lnTo>
                  <a:pt x="4687" y="1549"/>
                </a:lnTo>
                <a:lnTo>
                  <a:pt x="4843" y="1447"/>
                </a:lnTo>
                <a:lnTo>
                  <a:pt x="5000" y="1335"/>
                </a:lnTo>
                <a:lnTo>
                  <a:pt x="5156" y="1214"/>
                </a:lnTo>
                <a:lnTo>
                  <a:pt x="5312" y="1082"/>
                </a:lnTo>
                <a:lnTo>
                  <a:pt x="5468" y="938"/>
                </a:lnTo>
                <a:lnTo>
                  <a:pt x="5624" y="781"/>
                </a:lnTo>
                <a:lnTo>
                  <a:pt x="5781" y="610"/>
                </a:lnTo>
                <a:lnTo>
                  <a:pt x="5937" y="423"/>
                </a:lnTo>
                <a:lnTo>
                  <a:pt x="6093" y="220"/>
                </a:lnTo>
                <a:lnTo>
                  <a:pt x="6250" y="0"/>
                </a:lnTo>
              </a:path>
            </a:pathLst>
          </a:custGeom>
          <a:noFill/>
          <a:ln w="381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56832" y="1965960"/>
            <a:ext cx="1234440" cy="274320"/>
          </a:xfrm>
          <a:prstGeom prst="rect">
            <a:avLst/>
          </a:prstGeom>
          <a:noFill/>
        </p:spPr>
        <p:txBody>
          <a:bodyPr wrap="square" lIns="0" rIns="0" tIns="0" bIns="0" anchor="t">
            <a:spAutoFit/>
          </a:bodyPr>
          <a:lstStyle/>
          <a:p>
            <a:pPr algn="l">
              <a:spcAft>
                <a:spcPts val="0"/>
              </a:spcAft>
            </a:pPr>
            <a:r>
              <a:rPr sz="1200" b="1" i="0">
                <a:solidFill>
                  <a:srgbClr val="0078D4"/>
                </a:solidFill>
              </a:rPr>
              <a:t>compute</a:t>
            </a:r>
          </a:p>
        </p:txBody>
      </p:sp>
      <p:sp>
        <p:nvSpPr>
          <p:cNvPr id="17" name="Freeform 16"/>
          <p:cNvSpPr/>
          <p:nvPr/>
        </p:nvSpPr>
        <p:spPr>
          <a:xfrm>
            <a:off x="868680" y="2468880"/>
            <a:ext cx="5715000" cy="2071116"/>
          </a:xfrm>
          <a:custGeom>
            <a:avLst/>
            <a:gdLst/>
            <a:ahLst/>
            <a:cxnLst/>
            <a:rect l="l" t="t" r="r" b="b"/>
            <a:pathLst>
              <a:path w="6250" h="2265">
                <a:moveTo>
                  <a:pt x="0" y="2265"/>
                </a:moveTo>
                <a:lnTo>
                  <a:pt x="156" y="2255"/>
                </a:lnTo>
                <a:lnTo>
                  <a:pt x="312" y="2245"/>
                </a:lnTo>
                <a:lnTo>
                  <a:pt x="468" y="2234"/>
                </a:lnTo>
                <a:lnTo>
                  <a:pt x="625" y="2223"/>
                </a:lnTo>
                <a:lnTo>
                  <a:pt x="781" y="2210"/>
                </a:lnTo>
                <a:lnTo>
                  <a:pt x="937" y="2196"/>
                </a:lnTo>
                <a:lnTo>
                  <a:pt x="1093" y="2181"/>
                </a:lnTo>
                <a:lnTo>
                  <a:pt x="1249" y="2166"/>
                </a:lnTo>
                <a:lnTo>
                  <a:pt x="1406" y="2148"/>
                </a:lnTo>
                <a:lnTo>
                  <a:pt x="1562" y="2130"/>
                </a:lnTo>
                <a:lnTo>
                  <a:pt x="1718" y="2110"/>
                </a:lnTo>
                <a:lnTo>
                  <a:pt x="1875" y="2089"/>
                </a:lnTo>
                <a:lnTo>
                  <a:pt x="2031" y="2066"/>
                </a:lnTo>
                <a:lnTo>
                  <a:pt x="2187" y="2041"/>
                </a:lnTo>
                <a:lnTo>
                  <a:pt x="2343" y="2014"/>
                </a:lnTo>
                <a:lnTo>
                  <a:pt x="2499" y="1986"/>
                </a:lnTo>
                <a:lnTo>
                  <a:pt x="2656" y="1955"/>
                </a:lnTo>
                <a:lnTo>
                  <a:pt x="2812" y="1921"/>
                </a:lnTo>
                <a:lnTo>
                  <a:pt x="2968" y="1885"/>
                </a:lnTo>
                <a:lnTo>
                  <a:pt x="3125" y="1847"/>
                </a:lnTo>
                <a:lnTo>
                  <a:pt x="3281" y="1805"/>
                </a:lnTo>
                <a:lnTo>
                  <a:pt x="3437" y="1760"/>
                </a:lnTo>
                <a:lnTo>
                  <a:pt x="3593" y="1712"/>
                </a:lnTo>
                <a:lnTo>
                  <a:pt x="3750" y="1659"/>
                </a:lnTo>
                <a:lnTo>
                  <a:pt x="3906" y="1603"/>
                </a:lnTo>
                <a:lnTo>
                  <a:pt x="4062" y="1543"/>
                </a:lnTo>
                <a:lnTo>
                  <a:pt x="4218" y="1478"/>
                </a:lnTo>
                <a:lnTo>
                  <a:pt x="4374" y="1408"/>
                </a:lnTo>
                <a:lnTo>
                  <a:pt x="4531" y="1332"/>
                </a:lnTo>
                <a:lnTo>
                  <a:pt x="4687" y="1251"/>
                </a:lnTo>
                <a:lnTo>
                  <a:pt x="4843" y="1163"/>
                </a:lnTo>
                <a:lnTo>
                  <a:pt x="5000" y="1069"/>
                </a:lnTo>
                <a:lnTo>
                  <a:pt x="5156" y="967"/>
                </a:lnTo>
                <a:lnTo>
                  <a:pt x="5312" y="858"/>
                </a:lnTo>
                <a:lnTo>
                  <a:pt x="5468" y="740"/>
                </a:lnTo>
                <a:lnTo>
                  <a:pt x="5624" y="613"/>
                </a:lnTo>
                <a:lnTo>
                  <a:pt x="5781" y="476"/>
                </a:lnTo>
                <a:lnTo>
                  <a:pt x="5937" y="329"/>
                </a:lnTo>
                <a:lnTo>
                  <a:pt x="6093" y="170"/>
                </a:lnTo>
                <a:lnTo>
                  <a:pt x="6250" y="0"/>
                </a:lnTo>
              </a:path>
            </a:pathLst>
          </a:custGeom>
          <a:noFill/>
          <a:ln w="38100">
            <a:solidFill>
              <a:srgbClr val="008B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56832" y="2331720"/>
            <a:ext cx="1234440" cy="274320"/>
          </a:xfrm>
          <a:prstGeom prst="rect">
            <a:avLst/>
          </a:prstGeom>
          <a:noFill/>
        </p:spPr>
        <p:txBody>
          <a:bodyPr wrap="square" lIns="0" rIns="0" tIns="0" bIns="0" anchor="t">
            <a:spAutoFit/>
          </a:bodyPr>
          <a:lstStyle/>
          <a:p>
            <a:pPr algn="l">
              <a:spcAft>
                <a:spcPts val="0"/>
              </a:spcAft>
            </a:pPr>
            <a:r>
              <a:rPr sz="1200" b="1" i="0">
                <a:solidFill>
                  <a:srgbClr val="008B8B"/>
                </a:solidFill>
              </a:rPr>
              <a:t>data</a:t>
            </a:r>
          </a:p>
        </p:txBody>
      </p:sp>
      <p:sp>
        <p:nvSpPr>
          <p:cNvPr id="19" name="Freeform 18"/>
          <p:cNvSpPr/>
          <p:nvPr/>
        </p:nvSpPr>
        <p:spPr>
          <a:xfrm>
            <a:off x="868680" y="2834640"/>
            <a:ext cx="5715000" cy="1429207"/>
          </a:xfrm>
          <a:custGeom>
            <a:avLst/>
            <a:gdLst/>
            <a:ahLst/>
            <a:cxnLst/>
            <a:rect l="l" t="t" r="r" b="b"/>
            <a:pathLst>
              <a:path w="6250" h="1563">
                <a:moveTo>
                  <a:pt x="0" y="1563"/>
                </a:moveTo>
                <a:lnTo>
                  <a:pt x="156" y="1560"/>
                </a:lnTo>
                <a:lnTo>
                  <a:pt x="312" y="1558"/>
                </a:lnTo>
                <a:lnTo>
                  <a:pt x="468" y="1555"/>
                </a:lnTo>
                <a:lnTo>
                  <a:pt x="625" y="1553"/>
                </a:lnTo>
                <a:lnTo>
                  <a:pt x="781" y="1549"/>
                </a:lnTo>
                <a:lnTo>
                  <a:pt x="937" y="1546"/>
                </a:lnTo>
                <a:lnTo>
                  <a:pt x="1093" y="1541"/>
                </a:lnTo>
                <a:lnTo>
                  <a:pt x="1249" y="1537"/>
                </a:lnTo>
                <a:lnTo>
                  <a:pt x="1406" y="1532"/>
                </a:lnTo>
                <a:lnTo>
                  <a:pt x="1562" y="1526"/>
                </a:lnTo>
                <a:lnTo>
                  <a:pt x="1718" y="1520"/>
                </a:lnTo>
                <a:lnTo>
                  <a:pt x="1875" y="1512"/>
                </a:lnTo>
                <a:lnTo>
                  <a:pt x="2031" y="1504"/>
                </a:lnTo>
                <a:lnTo>
                  <a:pt x="2187" y="1495"/>
                </a:lnTo>
                <a:lnTo>
                  <a:pt x="2343" y="1485"/>
                </a:lnTo>
                <a:lnTo>
                  <a:pt x="2499" y="1474"/>
                </a:lnTo>
                <a:lnTo>
                  <a:pt x="2656" y="1461"/>
                </a:lnTo>
                <a:lnTo>
                  <a:pt x="2812" y="1447"/>
                </a:lnTo>
                <a:lnTo>
                  <a:pt x="2968" y="1431"/>
                </a:lnTo>
                <a:lnTo>
                  <a:pt x="3125" y="1413"/>
                </a:lnTo>
                <a:lnTo>
                  <a:pt x="3281" y="1394"/>
                </a:lnTo>
                <a:lnTo>
                  <a:pt x="3437" y="1371"/>
                </a:lnTo>
                <a:lnTo>
                  <a:pt x="3593" y="1347"/>
                </a:lnTo>
                <a:lnTo>
                  <a:pt x="3750" y="1319"/>
                </a:lnTo>
                <a:lnTo>
                  <a:pt x="3906" y="1288"/>
                </a:lnTo>
                <a:lnTo>
                  <a:pt x="4062" y="1253"/>
                </a:lnTo>
                <a:lnTo>
                  <a:pt x="4218" y="1214"/>
                </a:lnTo>
                <a:lnTo>
                  <a:pt x="4374" y="1170"/>
                </a:lnTo>
                <a:lnTo>
                  <a:pt x="4531" y="1122"/>
                </a:lnTo>
                <a:lnTo>
                  <a:pt x="4687" y="1067"/>
                </a:lnTo>
                <a:lnTo>
                  <a:pt x="4843" y="1006"/>
                </a:lnTo>
                <a:lnTo>
                  <a:pt x="5000" y="937"/>
                </a:lnTo>
                <a:lnTo>
                  <a:pt x="5156" y="861"/>
                </a:lnTo>
                <a:lnTo>
                  <a:pt x="5312" y="775"/>
                </a:lnTo>
                <a:lnTo>
                  <a:pt x="5468" y="679"/>
                </a:lnTo>
                <a:lnTo>
                  <a:pt x="5624" y="572"/>
                </a:lnTo>
                <a:lnTo>
                  <a:pt x="5781" y="452"/>
                </a:lnTo>
                <a:lnTo>
                  <a:pt x="5937" y="318"/>
                </a:lnTo>
                <a:lnTo>
                  <a:pt x="6093" y="168"/>
                </a:lnTo>
                <a:lnTo>
                  <a:pt x="6250" y="0"/>
                </a:lnTo>
              </a:path>
            </a:pathLst>
          </a:custGeom>
          <a:noFill/>
          <a:ln w="38100">
            <a:solidFill>
              <a:srgbClr val="8661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56832" y="2697480"/>
            <a:ext cx="1234440" cy="274320"/>
          </a:xfrm>
          <a:prstGeom prst="rect">
            <a:avLst/>
          </a:prstGeom>
          <a:noFill/>
        </p:spPr>
        <p:txBody>
          <a:bodyPr wrap="square" lIns="0" rIns="0" tIns="0" bIns="0" anchor="t">
            <a:spAutoFit/>
          </a:bodyPr>
          <a:lstStyle/>
          <a:p>
            <a:pPr algn="l">
              <a:spcAft>
                <a:spcPts val="0"/>
              </a:spcAft>
            </a:pPr>
            <a:r>
              <a:rPr sz="1200" b="1" i="0">
                <a:solidFill>
                  <a:srgbClr val="8661C5"/>
                </a:solidFill>
              </a:rPr>
              <a:t>post-training</a:t>
            </a:r>
          </a:p>
        </p:txBody>
      </p:sp>
      <p:sp>
        <p:nvSpPr>
          <p:cNvPr id="21" name="TextBox 20"/>
          <p:cNvSpPr txBox="1"/>
          <p:nvPr/>
        </p:nvSpPr>
        <p:spPr>
          <a:xfrm>
            <a:off x="868680" y="5138928"/>
            <a:ext cx="3657600" cy="237744"/>
          </a:xfrm>
          <a:prstGeom prst="rect">
            <a:avLst/>
          </a:prstGeom>
          <a:noFill/>
        </p:spPr>
        <p:txBody>
          <a:bodyPr wrap="square" lIns="0" rIns="0" tIns="0" bIns="0" anchor="t">
            <a:spAutoFit/>
          </a:bodyPr>
          <a:lstStyle/>
          <a:p>
            <a:pPr algn="l">
              <a:spcAft>
                <a:spcPts val="0"/>
              </a:spcAft>
            </a:pPr>
            <a:r>
              <a:rPr sz="1000" b="0" i="1">
                <a:solidFill>
                  <a:srgbClr val="6B6B6B"/>
                </a:solidFill>
              </a:rPr>
              <a:t>schematic — shapes, not measurements</a:t>
            </a:r>
          </a:p>
        </p:txBody>
      </p:sp>
      <p:sp>
        <p:nvSpPr>
          <p:cNvPr id="22" name="Rounded Rectangle 21"/>
          <p:cNvSpPr/>
          <p:nvPr/>
        </p:nvSpPr>
        <p:spPr>
          <a:xfrm>
            <a:off x="8001000" y="1920240"/>
            <a:ext cx="2240280" cy="914400"/>
          </a:xfrm>
          <a:prstGeom prst="roundRect">
            <a:avLst>
              <a:gd name="adj" fmla="val 8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165592" y="2011680"/>
            <a:ext cx="1911096" cy="274320"/>
          </a:xfrm>
          <a:prstGeom prst="rect">
            <a:avLst/>
          </a:prstGeom>
          <a:noFill/>
        </p:spPr>
        <p:txBody>
          <a:bodyPr wrap="square" lIns="0" rIns="0" tIns="0" bIns="0" anchor="t">
            <a:spAutoFit/>
          </a:bodyPr>
          <a:lstStyle/>
          <a:p>
            <a:pPr algn="l">
              <a:spcAft>
                <a:spcPts val="0"/>
              </a:spcAft>
            </a:pPr>
            <a:r>
              <a:rPr sz="1100" b="1" i="0">
                <a:solidFill>
                  <a:srgbClr val="0078D4"/>
                </a:solidFill>
              </a:rPr>
              <a:t>COMPUTE</a:t>
            </a:r>
          </a:p>
        </p:txBody>
      </p:sp>
      <p:sp>
        <p:nvSpPr>
          <p:cNvPr id="24" name="TextBox 23"/>
          <p:cNvSpPr txBox="1"/>
          <p:nvPr/>
        </p:nvSpPr>
        <p:spPr>
          <a:xfrm>
            <a:off x="8165592" y="2232533"/>
            <a:ext cx="1911096" cy="528955"/>
          </a:xfrm>
          <a:prstGeom prst="rect">
            <a:avLst/>
          </a:prstGeom>
          <a:noFill/>
        </p:spPr>
        <p:txBody>
          <a:bodyPr wrap="square" lIns="0" rIns="0" tIns="0" bIns="0" anchor="t">
            <a:spAutoFit/>
          </a:bodyPr>
          <a:lstStyle/>
          <a:p>
            <a:pPr algn="l">
              <a:spcAft>
                <a:spcPts val="0"/>
              </a:spcAft>
            </a:pPr>
            <a:r>
              <a:rPr sz="1200" b="0" i="0">
                <a:solidFill>
                  <a:srgbClr val="1F1F1F"/>
                </a:solidFill>
              </a:rPr>
              <a:t>GPT-3 (2020): 175 B parameters, 3.14e23 FLOPs</a:t>
            </a:r>
          </a:p>
        </p:txBody>
      </p:sp>
      <p:sp>
        <p:nvSpPr>
          <p:cNvPr id="25" name="Rounded Rectangle 24"/>
          <p:cNvSpPr/>
          <p:nvPr/>
        </p:nvSpPr>
        <p:spPr>
          <a:xfrm>
            <a:off x="8001000" y="2944368"/>
            <a:ext cx="2240280" cy="914400"/>
          </a:xfrm>
          <a:prstGeom prst="roundRect">
            <a:avLst>
              <a:gd name="adj" fmla="val 8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165592" y="3035808"/>
            <a:ext cx="1911096" cy="274320"/>
          </a:xfrm>
          <a:prstGeom prst="rect">
            <a:avLst/>
          </a:prstGeom>
          <a:noFill/>
        </p:spPr>
        <p:txBody>
          <a:bodyPr wrap="square" lIns="0" rIns="0" tIns="0" bIns="0" anchor="t">
            <a:spAutoFit/>
          </a:bodyPr>
          <a:lstStyle/>
          <a:p>
            <a:pPr algn="l">
              <a:spcAft>
                <a:spcPts val="0"/>
              </a:spcAft>
            </a:pPr>
            <a:r>
              <a:rPr sz="1100" b="1" i="0">
                <a:solidFill>
                  <a:srgbClr val="008B8B"/>
                </a:solidFill>
              </a:rPr>
              <a:t>DATA</a:t>
            </a:r>
          </a:p>
        </p:txBody>
      </p:sp>
      <p:sp>
        <p:nvSpPr>
          <p:cNvPr id="27" name="TextBox 26"/>
          <p:cNvSpPr txBox="1"/>
          <p:nvPr/>
        </p:nvSpPr>
        <p:spPr>
          <a:xfrm>
            <a:off x="8165592" y="3256661"/>
            <a:ext cx="1911096" cy="528955"/>
          </a:xfrm>
          <a:prstGeom prst="rect">
            <a:avLst/>
          </a:prstGeom>
          <a:noFill/>
        </p:spPr>
        <p:txBody>
          <a:bodyPr wrap="square" lIns="0" rIns="0" tIns="0" bIns="0" anchor="t">
            <a:spAutoFit/>
          </a:bodyPr>
          <a:lstStyle/>
          <a:p>
            <a:pPr algn="l">
              <a:spcAft>
                <a:spcPts val="0"/>
              </a:spcAft>
            </a:pPr>
            <a:r>
              <a:rPr sz="1200" b="0" i="0">
                <a:solidFill>
                  <a:srgbClr val="1F1F1F"/>
                </a:solidFill>
              </a:rPr>
              <a:t>Llama 3 (2024): trained on 15 T tokens</a:t>
            </a:r>
          </a:p>
        </p:txBody>
      </p:sp>
      <p:sp>
        <p:nvSpPr>
          <p:cNvPr id="28" name="Rounded Rectangle 27"/>
          <p:cNvSpPr/>
          <p:nvPr/>
        </p:nvSpPr>
        <p:spPr>
          <a:xfrm>
            <a:off x="8001000" y="3968496"/>
            <a:ext cx="2240280" cy="914400"/>
          </a:xfrm>
          <a:prstGeom prst="roundRect">
            <a:avLst>
              <a:gd name="adj" fmla="val 8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165592" y="4059935"/>
            <a:ext cx="1911096" cy="274320"/>
          </a:xfrm>
          <a:prstGeom prst="rect">
            <a:avLst/>
          </a:prstGeom>
          <a:noFill/>
        </p:spPr>
        <p:txBody>
          <a:bodyPr wrap="square" lIns="0" rIns="0" tIns="0" bIns="0" anchor="t">
            <a:spAutoFit/>
          </a:bodyPr>
          <a:lstStyle/>
          <a:p>
            <a:pPr algn="l">
              <a:spcAft>
                <a:spcPts val="0"/>
              </a:spcAft>
            </a:pPr>
            <a:r>
              <a:rPr sz="1100" b="1" i="0">
                <a:solidFill>
                  <a:srgbClr val="8661C5"/>
                </a:solidFill>
              </a:rPr>
              <a:t>POST-TRAINING</a:t>
            </a:r>
          </a:p>
        </p:txBody>
      </p:sp>
      <p:sp>
        <p:nvSpPr>
          <p:cNvPr id="30" name="TextBox 29"/>
          <p:cNvSpPr txBox="1"/>
          <p:nvPr/>
        </p:nvSpPr>
        <p:spPr>
          <a:xfrm>
            <a:off x="8165592" y="4280789"/>
            <a:ext cx="1911096" cy="528955"/>
          </a:xfrm>
          <a:prstGeom prst="rect">
            <a:avLst/>
          </a:prstGeom>
          <a:noFill/>
        </p:spPr>
        <p:txBody>
          <a:bodyPr wrap="square" lIns="0" rIns="0" tIns="0" bIns="0" anchor="t">
            <a:spAutoFit/>
          </a:bodyPr>
          <a:lstStyle/>
          <a:p>
            <a:pPr algn="l">
              <a:spcAft>
                <a:spcPts val="0"/>
              </a:spcAft>
            </a:pPr>
            <a:r>
              <a:rPr sz="1200" b="0" i="0">
                <a:solidFill>
                  <a:srgbClr val="1F1F1F"/>
                </a:solidFill>
              </a:rPr>
              <a:t>InstructGPT (Jan 2022): SFT + RLHF</a:t>
            </a:r>
          </a:p>
        </p:txBody>
      </p:sp>
      <p:sp>
        <p:nvSpPr>
          <p:cNvPr id="31" name="TextBox 30"/>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ChatGPT was a UX event, not a model event — and none of the three curves has flattened since.</a:t>
            </a:r>
          </a:p>
        </p:txBody>
      </p:sp>
      <p:sp>
        <p:nvSpPr>
          <p:cNvPr id="32" name="TextBox 31"/>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GPT-3 paper (arXiv 2005.14165) · OpenAI, InstructGPT (2022) · Epoch AI model database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The whole day on one slide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Eight blocks: four this morning, the rest one segment at a time.</a:t>
            </a:r>
          </a:p>
        </p:txBody>
      </p:sp>
      <p:sp>
        <p:nvSpPr>
          <p:cNvPr id="5" name="Rounded Rectangle 4"/>
          <p:cNvSpPr/>
          <p:nvPr/>
        </p:nvSpPr>
        <p:spPr>
          <a:xfrm>
            <a:off x="585216" y="2057400"/>
            <a:ext cx="1046987" cy="91440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tokens</a:t>
            </a:r>
          </a:p>
        </p:txBody>
      </p:sp>
      <p:cxnSp>
        <p:nvCxnSpPr>
          <p:cNvPr id="6" name="Connector 5"/>
          <p:cNvCxnSpPr/>
          <p:nvPr/>
        </p:nvCxnSpPr>
        <p:spPr>
          <a:xfrm>
            <a:off x="1668779" y="251460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1815084" y="2057400"/>
            <a:ext cx="1046987" cy="91440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chat API</a:t>
            </a:r>
          </a:p>
        </p:txBody>
      </p:sp>
      <p:cxnSp>
        <p:nvCxnSpPr>
          <p:cNvPr id="8" name="Connector 7"/>
          <p:cNvCxnSpPr/>
          <p:nvPr/>
        </p:nvCxnSpPr>
        <p:spPr>
          <a:xfrm>
            <a:off x="2898648" y="251460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044951" y="2057400"/>
            <a:ext cx="1046987" cy="91440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structured output</a:t>
            </a:r>
          </a:p>
        </p:txBody>
      </p:sp>
      <p:cxnSp>
        <p:nvCxnSpPr>
          <p:cNvPr id="10" name="Connector 9"/>
          <p:cNvCxnSpPr/>
          <p:nvPr/>
        </p:nvCxnSpPr>
        <p:spPr>
          <a:xfrm>
            <a:off x="4128515" y="2514600"/>
            <a:ext cx="109729"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274819" y="2057400"/>
            <a:ext cx="1046987" cy="91440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tools</a:t>
            </a:r>
          </a:p>
        </p:txBody>
      </p:sp>
      <p:cxnSp>
        <p:nvCxnSpPr>
          <p:cNvPr id="12" name="Connector 11"/>
          <p:cNvCxnSpPr/>
          <p:nvPr/>
        </p:nvCxnSpPr>
        <p:spPr>
          <a:xfrm>
            <a:off x="5358383" y="251460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04687" y="2057400"/>
            <a:ext cx="1046987" cy="91440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6B6B6B"/>
                </a:solidFill>
              </a:rPr>
              <a:t>MCP / skills</a:t>
            </a:r>
          </a:p>
        </p:txBody>
      </p:sp>
      <p:cxnSp>
        <p:nvCxnSpPr>
          <p:cNvPr id="14" name="Connector 13"/>
          <p:cNvCxnSpPr/>
          <p:nvPr/>
        </p:nvCxnSpPr>
        <p:spPr>
          <a:xfrm>
            <a:off x="6588251" y="251460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734555" y="2057400"/>
            <a:ext cx="1046987" cy="91440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6B6B6B"/>
                </a:solidFill>
              </a:rPr>
              <a:t>agent loop</a:t>
            </a:r>
          </a:p>
        </p:txBody>
      </p:sp>
      <p:cxnSp>
        <p:nvCxnSpPr>
          <p:cNvPr id="16" name="Connector 15"/>
          <p:cNvCxnSpPr/>
          <p:nvPr/>
        </p:nvCxnSpPr>
        <p:spPr>
          <a:xfrm>
            <a:off x="7818119" y="251460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964423" y="2057400"/>
            <a:ext cx="1046987" cy="91440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6B6B6B"/>
                </a:solidFill>
              </a:rPr>
              <a:t>workflow</a:t>
            </a:r>
          </a:p>
        </p:txBody>
      </p:sp>
      <p:cxnSp>
        <p:nvCxnSpPr>
          <p:cNvPr id="18" name="Connector 17"/>
          <p:cNvCxnSpPr/>
          <p:nvPr/>
        </p:nvCxnSpPr>
        <p:spPr>
          <a:xfrm>
            <a:off x="9047987" y="251460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194292" y="2057400"/>
            <a:ext cx="1046987" cy="91440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6B6B6B"/>
                </a:solidFill>
              </a:rPr>
              <a:t>media pipeline</a:t>
            </a:r>
          </a:p>
        </p:txBody>
      </p:sp>
      <p:sp>
        <p:nvSpPr>
          <p:cNvPr id="20" name="Rounded Rectangle 19"/>
          <p:cNvSpPr/>
          <p:nvPr/>
        </p:nvSpPr>
        <p:spPr>
          <a:xfrm>
            <a:off x="585216" y="3200400"/>
            <a:ext cx="4736591" cy="310896"/>
          </a:xfrm>
          <a:prstGeom prst="roundRect">
            <a:avLst>
              <a:gd name="adj" fmla="val 3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S1 · Foundations</a:t>
            </a:r>
          </a:p>
        </p:txBody>
      </p:sp>
      <p:sp>
        <p:nvSpPr>
          <p:cNvPr id="21" name="Rounded Rectangle 20"/>
          <p:cNvSpPr/>
          <p:nvPr/>
        </p:nvSpPr>
        <p:spPr>
          <a:xfrm>
            <a:off x="6734555" y="3200400"/>
            <a:ext cx="2276856" cy="310896"/>
          </a:xfrm>
          <a:prstGeom prst="roundRect">
            <a:avLst>
              <a:gd name="adj" fmla="val 30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S3 · Agents</a:t>
            </a:r>
          </a:p>
        </p:txBody>
      </p:sp>
      <p:sp>
        <p:nvSpPr>
          <p:cNvPr id="22" name="Rounded Rectangle 21"/>
          <p:cNvSpPr/>
          <p:nvPr/>
        </p:nvSpPr>
        <p:spPr>
          <a:xfrm>
            <a:off x="3044951" y="3611880"/>
            <a:ext cx="3506723" cy="310896"/>
          </a:xfrm>
          <a:prstGeom prst="roundRect">
            <a:avLst>
              <a:gd name="adj" fmla="val 3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S2 · Integrating AI</a:t>
            </a:r>
          </a:p>
        </p:txBody>
      </p:sp>
      <p:sp>
        <p:nvSpPr>
          <p:cNvPr id="23" name="Rounded Rectangle 22"/>
          <p:cNvSpPr/>
          <p:nvPr/>
        </p:nvSpPr>
        <p:spPr>
          <a:xfrm>
            <a:off x="9194292" y="3611880"/>
            <a:ext cx="1046987" cy="310896"/>
          </a:xfrm>
          <a:prstGeom prst="roundRect">
            <a:avLst>
              <a:gd name="adj" fmla="val 30000"/>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S4 · Media</a:t>
            </a:r>
          </a:p>
        </p:txBody>
      </p:sp>
      <p:sp>
        <p:nvSpPr>
          <p:cNvPr id="24" name="TextBox 23"/>
          <p:cNvSpPr txBox="1"/>
          <p:nvPr/>
        </p:nvSpPr>
        <p:spPr>
          <a:xfrm>
            <a:off x="585216" y="4297680"/>
            <a:ext cx="9656063" cy="822960"/>
          </a:xfrm>
          <a:prstGeom prst="rect">
            <a:avLst/>
          </a:prstGeom>
          <a:noFill/>
        </p:spPr>
        <p:txBody>
          <a:bodyPr wrap="square" lIns="0" rIns="0" tIns="0" bIns="0" anchor="t">
            <a:spAutoFit/>
          </a:bodyPr>
          <a:lstStyle/>
          <a:p>
            <a:pPr algn="l">
              <a:spcAft>
                <a:spcPts val="0"/>
              </a:spcAft>
            </a:pPr>
            <a:r>
              <a:rPr sz="1600" b="0" i="0">
                <a:solidFill>
                  <a:srgbClr val="2A446F"/>
                </a:solidFill>
              </a:rPr>
              <a:t>Same diagram, four returns: each segment opens by lighting up its blocks. By the end of the day every block has a knob you have turned yourself.</a:t>
            </a:r>
          </a:p>
        </p:txBody>
      </p:sp>
      <p:sp>
        <p:nvSpPr>
          <p:cNvPr id="25" name="TextBox 24"/>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The thread through the day: same blocks, many vendors, your machine.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A model sees tokens, not words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A tokenizer cuts your text into pieces from a fixed vocabulary first.</a:t>
            </a:r>
          </a:p>
        </p:txBody>
      </p:sp>
      <p:sp>
        <p:nvSpPr>
          <p:cNvPr id="5" name="TextBox 4"/>
          <p:cNvSpPr txBox="1"/>
          <p:nvPr/>
        </p:nvSpPr>
        <p:spPr>
          <a:xfrm>
            <a:off x="585216" y="2011680"/>
            <a:ext cx="2743200" cy="274320"/>
          </a:xfrm>
          <a:prstGeom prst="rect">
            <a:avLst/>
          </a:prstGeom>
          <a:noFill/>
        </p:spPr>
        <p:txBody>
          <a:bodyPr wrap="square" lIns="0" rIns="0" tIns="0" bIns="0" anchor="t">
            <a:spAutoFit/>
          </a:bodyPr>
          <a:lstStyle/>
          <a:p>
            <a:pPr algn="l">
              <a:spcAft>
                <a:spcPts val="0"/>
              </a:spcAft>
            </a:pPr>
            <a:r>
              <a:rPr sz="1000" b="1" i="0">
                <a:solidFill>
                  <a:srgbClr val="6B6B6B"/>
                </a:solidFill>
              </a:rPr>
              <a:t>YOU TYPE</a:t>
            </a:r>
          </a:p>
        </p:txBody>
      </p:sp>
      <p:sp>
        <p:nvSpPr>
          <p:cNvPr id="6" name="Rounded Rectangle 5"/>
          <p:cNvSpPr/>
          <p:nvPr/>
        </p:nvSpPr>
        <p:spPr>
          <a:xfrm>
            <a:off x="585216" y="2267712"/>
            <a:ext cx="5669280" cy="548640"/>
          </a:xfrm>
          <a:prstGeom prst="roundRect">
            <a:avLst>
              <a:gd name="adj" fmla="val 10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00" b="0" i="0">
                <a:solidFill>
                  <a:srgbClr val="1F1F1F"/>
                </a:solidFill>
              </a:rPr>
              <a:t>  The cat is playing.</a:t>
            </a:r>
          </a:p>
        </p:txBody>
      </p:sp>
      <p:sp>
        <p:nvSpPr>
          <p:cNvPr id="7" name="TextBox 6"/>
          <p:cNvSpPr txBox="1"/>
          <p:nvPr/>
        </p:nvSpPr>
        <p:spPr>
          <a:xfrm>
            <a:off x="585216" y="3017520"/>
            <a:ext cx="5486400" cy="274320"/>
          </a:xfrm>
          <a:prstGeom prst="rect">
            <a:avLst/>
          </a:prstGeom>
          <a:noFill/>
        </p:spPr>
        <p:txBody>
          <a:bodyPr wrap="square" lIns="0" rIns="0" tIns="0" bIns="0" anchor="t">
            <a:spAutoFit/>
          </a:bodyPr>
          <a:lstStyle/>
          <a:p>
            <a:pPr algn="l">
              <a:spcAft>
                <a:spcPts val="0"/>
              </a:spcAft>
            </a:pPr>
            <a:r>
              <a:rPr sz="1000" b="1" i="0">
                <a:solidFill>
                  <a:srgbClr val="6B6B6B"/>
                </a:solidFill>
              </a:rPr>
              <a:t>THE MODEL GETS — illustrative split, check it live</a:t>
            </a:r>
          </a:p>
        </p:txBody>
      </p:sp>
      <p:sp>
        <p:nvSpPr>
          <p:cNvPr id="8" name="Rounded Rectangle 7"/>
          <p:cNvSpPr/>
          <p:nvPr/>
        </p:nvSpPr>
        <p:spPr>
          <a:xfrm>
            <a:off x="585216" y="3291840"/>
            <a:ext cx="713232" cy="502920"/>
          </a:xfrm>
          <a:prstGeom prst="roundRect">
            <a:avLst>
              <a:gd name="adj" fmla="val 15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0" i="0">
                <a:solidFill>
                  <a:srgbClr val="1F1F1F"/>
                </a:solidFill>
              </a:rPr>
              <a:t>The</a:t>
            </a:r>
          </a:p>
        </p:txBody>
      </p:sp>
      <p:sp>
        <p:nvSpPr>
          <p:cNvPr id="9" name="Rectangle 8"/>
          <p:cNvSpPr/>
          <p:nvPr/>
        </p:nvSpPr>
        <p:spPr>
          <a:xfrm>
            <a:off x="758952" y="3913632"/>
            <a:ext cx="91440" cy="21945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86968" y="3913632"/>
            <a:ext cx="91440" cy="21945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014984" y="3913632"/>
            <a:ext cx="91440" cy="21945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1408176" y="3291840"/>
            <a:ext cx="713232" cy="502920"/>
          </a:xfrm>
          <a:prstGeom prst="roundRect">
            <a:avLst>
              <a:gd name="adj" fmla="val 15000"/>
            </a:avLst>
          </a:prstGeom>
          <a:solidFill>
            <a:srgbClr val="FFEB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0" i="0">
                <a:solidFill>
                  <a:srgbClr val="1F1F1F"/>
                </a:solidFill>
              </a:rPr>
              <a:t>cat</a:t>
            </a:r>
          </a:p>
        </p:txBody>
      </p:sp>
      <p:sp>
        <p:nvSpPr>
          <p:cNvPr id="13" name="Rectangle 12"/>
          <p:cNvSpPr/>
          <p:nvPr/>
        </p:nvSpPr>
        <p:spPr>
          <a:xfrm>
            <a:off x="1581912" y="3913632"/>
            <a:ext cx="91440" cy="21945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709928" y="3913632"/>
            <a:ext cx="91440" cy="21945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837944" y="3913632"/>
            <a:ext cx="91440" cy="21945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2231136" y="3291840"/>
            <a:ext cx="566928" cy="502920"/>
          </a:xfrm>
          <a:prstGeom prst="roundRect">
            <a:avLst>
              <a:gd name="adj" fmla="val 15000"/>
            </a:avLst>
          </a:prstGeom>
          <a:solidFill>
            <a:srgbClr val="D5EE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0" i="0">
                <a:solidFill>
                  <a:srgbClr val="1F1F1F"/>
                </a:solidFill>
              </a:rPr>
              <a:t>is</a:t>
            </a:r>
          </a:p>
        </p:txBody>
      </p:sp>
      <p:sp>
        <p:nvSpPr>
          <p:cNvPr id="17" name="Rectangle 16"/>
          <p:cNvSpPr/>
          <p:nvPr/>
        </p:nvSpPr>
        <p:spPr>
          <a:xfrm>
            <a:off x="2331720" y="3913632"/>
            <a:ext cx="91440" cy="21945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2459736" y="3913632"/>
            <a:ext cx="91440" cy="21945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2587752" y="3913632"/>
            <a:ext cx="91440" cy="21945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2907791" y="3291840"/>
            <a:ext cx="859536" cy="502920"/>
          </a:xfrm>
          <a:prstGeom prst="roundRect">
            <a:avLst>
              <a:gd name="adj" fmla="val 15000"/>
            </a:avLst>
          </a:prstGeom>
          <a:solidFill>
            <a:srgbClr val="F6DA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0" i="0">
                <a:solidFill>
                  <a:srgbClr val="1F1F1F"/>
                </a:solidFill>
              </a:rPr>
              <a:t>play</a:t>
            </a:r>
          </a:p>
        </p:txBody>
      </p:sp>
      <p:sp>
        <p:nvSpPr>
          <p:cNvPr id="21" name="Rectangle 20"/>
          <p:cNvSpPr/>
          <p:nvPr/>
        </p:nvSpPr>
        <p:spPr>
          <a:xfrm>
            <a:off x="3154679" y="3913632"/>
            <a:ext cx="91440" cy="21945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3282695" y="3913632"/>
            <a:ext cx="91440" cy="21945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3410711" y="3913632"/>
            <a:ext cx="91440" cy="21945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3877056" y="3291840"/>
            <a:ext cx="713232" cy="502920"/>
          </a:xfrm>
          <a:prstGeom prst="roundRect">
            <a:avLst>
              <a:gd name="adj" fmla="val 15000"/>
            </a:avLst>
          </a:prstGeom>
          <a:solidFill>
            <a:srgbClr val="E6D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0" i="0">
                <a:solidFill>
                  <a:srgbClr val="1F1F1F"/>
                </a:solidFill>
              </a:rPr>
              <a:t>ing</a:t>
            </a:r>
          </a:p>
        </p:txBody>
      </p:sp>
      <p:sp>
        <p:nvSpPr>
          <p:cNvPr id="25" name="Rectangle 24"/>
          <p:cNvSpPr/>
          <p:nvPr/>
        </p:nvSpPr>
        <p:spPr>
          <a:xfrm>
            <a:off x="4050791" y="3913632"/>
            <a:ext cx="91440" cy="21945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4178807" y="3913632"/>
            <a:ext cx="91440" cy="21945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306824" y="3913632"/>
            <a:ext cx="91440" cy="21945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4700016" y="3291840"/>
            <a:ext cx="420623" cy="502920"/>
          </a:xfrm>
          <a:prstGeom prst="roundRect">
            <a:avLst>
              <a:gd name="adj" fmla="val 15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0" i="0">
                <a:solidFill>
                  <a:srgbClr val="1F1F1F"/>
                </a:solidFill>
              </a:rPr>
              <a:t>.</a:t>
            </a:r>
          </a:p>
        </p:txBody>
      </p:sp>
      <p:sp>
        <p:nvSpPr>
          <p:cNvPr id="29" name="Rectangle 28"/>
          <p:cNvSpPr/>
          <p:nvPr/>
        </p:nvSpPr>
        <p:spPr>
          <a:xfrm>
            <a:off x="4727448" y="3913632"/>
            <a:ext cx="91440" cy="21945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4855464" y="3913632"/>
            <a:ext cx="91440" cy="21945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983480" y="3913632"/>
            <a:ext cx="91440" cy="21945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5321808" y="3840480"/>
            <a:ext cx="1325880" cy="457200"/>
          </a:xfrm>
          <a:prstGeom prst="rect">
            <a:avLst/>
          </a:prstGeom>
          <a:noFill/>
        </p:spPr>
        <p:txBody>
          <a:bodyPr wrap="square" lIns="0" rIns="0" tIns="0" bIns="0" anchor="t">
            <a:spAutoFit/>
          </a:bodyPr>
          <a:lstStyle/>
          <a:p>
            <a:pPr algn="l">
              <a:spcAft>
                <a:spcPts val="0"/>
              </a:spcAft>
            </a:pPr>
            <a:r>
              <a:rPr sz="1000" b="0" i="0">
                <a:solidFill>
                  <a:srgbClr val="6B6B6B"/>
                </a:solidFill>
              </a:rPr>
              <a:t>← one vector</a:t>
            </a:r>
          </a:p>
          <a:p>
            <a:pPr algn="l">
              <a:spcAft>
                <a:spcPts val="600"/>
              </a:spcAft>
            </a:pPr>
            <a:r>
              <a:rPr sz="1000" b="0" i="0">
                <a:solidFill>
                  <a:srgbClr val="6B6B6B"/>
                </a:solidFill>
              </a:rPr>
              <a:t>per token</a:t>
            </a:r>
          </a:p>
        </p:txBody>
      </p:sp>
      <p:sp>
        <p:nvSpPr>
          <p:cNvPr id="33" name="TextBox 32"/>
          <p:cNvSpPr txBox="1"/>
          <p:nvPr/>
        </p:nvSpPr>
        <p:spPr>
          <a:xfrm>
            <a:off x="585216" y="4343400"/>
            <a:ext cx="5852160" cy="640080"/>
          </a:xfrm>
          <a:prstGeom prst="rect">
            <a:avLst/>
          </a:prstGeom>
          <a:noFill/>
        </p:spPr>
        <p:txBody>
          <a:bodyPr wrap="square" lIns="0" rIns="0" tIns="0" bIns="0" anchor="t">
            <a:spAutoFit/>
          </a:bodyPr>
          <a:lstStyle/>
          <a:p>
            <a:pPr algn="l">
              <a:spcAft>
                <a:spcPts val="0"/>
              </a:spcAft>
            </a:pPr>
            <a:r>
              <a:rPr sz="1300" b="0" i="0">
                <a:solidFill>
                  <a:srgbClr val="1F1F1F"/>
                </a:solidFill>
              </a:rPr>
              <a:t>GPT-2 small: </a:t>
            </a:r>
            <a:r>
              <a:rPr sz="1300" b="1" i="0">
                <a:solidFill>
                  <a:srgbClr val="1F1F1F"/>
                </a:solidFill>
              </a:rPr>
              <a:t>50,257</a:t>
            </a:r>
            <a:r>
              <a:rPr sz="1300" b="0" i="0">
                <a:solidFill>
                  <a:srgbClr val="1F1F1F"/>
                </a:solidFill>
              </a:rPr>
              <a:t> pieces in the vocabulary · </a:t>
            </a:r>
            <a:r>
              <a:rPr sz="1300" b="1" i="0">
                <a:solidFill>
                  <a:srgbClr val="1F1F1F"/>
                </a:solidFill>
              </a:rPr>
              <a:t>768</a:t>
            </a:r>
            <a:r>
              <a:rPr sz="1300" b="0" i="0">
                <a:solidFill>
                  <a:srgbClr val="1F1F1F"/>
                </a:solidFill>
              </a:rPr>
              <a:t> numbers per piece</a:t>
            </a:r>
          </a:p>
        </p:txBody>
      </p:sp>
      <p:sp>
        <p:nvSpPr>
          <p:cNvPr id="34" name="Rounded Rectangle 33"/>
          <p:cNvSpPr/>
          <p:nvPr/>
        </p:nvSpPr>
        <p:spPr>
          <a:xfrm>
            <a:off x="6720840" y="2011680"/>
            <a:ext cx="3520440" cy="150876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922007" y="2176272"/>
            <a:ext cx="3118104" cy="411480"/>
          </a:xfrm>
          <a:prstGeom prst="rect">
            <a:avLst/>
          </a:prstGeom>
          <a:noFill/>
        </p:spPr>
        <p:txBody>
          <a:bodyPr wrap="square" lIns="0" rIns="0" tIns="0" bIns="0" anchor="t">
            <a:spAutoFit/>
          </a:bodyPr>
          <a:lstStyle/>
          <a:p>
            <a:pPr algn="l">
              <a:spcAft>
                <a:spcPts val="0"/>
              </a:spcAft>
            </a:pPr>
            <a:r>
              <a:rPr sz="1300" b="1" i="0">
                <a:solidFill>
                  <a:srgbClr val="0078D4"/>
                </a:solidFill>
              </a:rPr>
              <a:t>THE STRAWBERRY TEST</a:t>
            </a:r>
          </a:p>
        </p:txBody>
      </p:sp>
      <p:sp>
        <p:nvSpPr>
          <p:cNvPr id="36" name="TextBox 35"/>
          <p:cNvSpPr txBox="1"/>
          <p:nvPr/>
        </p:nvSpPr>
        <p:spPr>
          <a:xfrm>
            <a:off x="6922007" y="2633472"/>
            <a:ext cx="3118104" cy="731519"/>
          </a:xfrm>
          <a:prstGeom prst="rect">
            <a:avLst/>
          </a:prstGeom>
          <a:noFill/>
        </p:spPr>
        <p:txBody>
          <a:bodyPr wrap="square" lIns="0" rIns="0" tIns="0" bIns="0" anchor="t">
            <a:spAutoFit/>
          </a:bodyPr>
          <a:lstStyle/>
          <a:p>
            <a:pPr algn="l">
              <a:spcAft>
                <a:spcPts val="0"/>
              </a:spcAft>
            </a:pPr>
            <a:r>
              <a:rPr sz="1300" b="0" i="0">
                <a:solidFill>
                  <a:srgbClr val="1F1F1F"/>
                </a:solidFill>
              </a:rPr>
              <a:t>The model sees pieces such as “straw” + “berry”, not letters — so counting r’s is hard.</a:t>
            </a:r>
          </a:p>
        </p:txBody>
      </p:sp>
      <p:sp>
        <p:nvSpPr>
          <p:cNvPr id="37" name="Rounded Rectangle 36"/>
          <p:cNvSpPr/>
          <p:nvPr/>
        </p:nvSpPr>
        <p:spPr>
          <a:xfrm>
            <a:off x="6720840" y="3657600"/>
            <a:ext cx="3520440" cy="150876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922007" y="3822191"/>
            <a:ext cx="3118104" cy="411480"/>
          </a:xfrm>
          <a:prstGeom prst="rect">
            <a:avLst/>
          </a:prstGeom>
          <a:noFill/>
        </p:spPr>
        <p:txBody>
          <a:bodyPr wrap="square" lIns="0" rIns="0" tIns="0" bIns="0" anchor="t">
            <a:spAutoFit/>
          </a:bodyPr>
          <a:lstStyle/>
          <a:p>
            <a:pPr algn="l">
              <a:spcAft>
                <a:spcPts val="0"/>
              </a:spcAft>
            </a:pPr>
            <a:r>
              <a:rPr sz="1300" b="1" i="0">
                <a:solidFill>
                  <a:srgbClr val="E86A10"/>
                </a:solidFill>
              </a:rPr>
              <a:t>TOKENS ARE THE UNIT OF COST</a:t>
            </a:r>
          </a:p>
        </p:txBody>
      </p:sp>
      <p:sp>
        <p:nvSpPr>
          <p:cNvPr id="39" name="TextBox 38"/>
          <p:cNvSpPr txBox="1"/>
          <p:nvPr/>
        </p:nvSpPr>
        <p:spPr>
          <a:xfrm>
            <a:off x="6922007" y="4279392"/>
            <a:ext cx="3118104" cy="731519"/>
          </a:xfrm>
          <a:prstGeom prst="rect">
            <a:avLst/>
          </a:prstGeom>
          <a:noFill/>
        </p:spPr>
        <p:txBody>
          <a:bodyPr wrap="square" lIns="0" rIns="0" tIns="0" bIns="0" anchor="t">
            <a:spAutoFit/>
          </a:bodyPr>
          <a:lstStyle/>
          <a:p>
            <a:pPr algn="l">
              <a:spcAft>
                <a:spcPts val="0"/>
              </a:spcAft>
            </a:pPr>
            <a:r>
              <a:rPr sz="1300" b="0" i="0">
                <a:solidFill>
                  <a:srgbClr val="1F1F1F"/>
                </a:solidFill>
              </a:rPr>
              <a:t>Price per 1M tokens, the context window, rate limits: all counted in tokens.</a:t>
            </a:r>
          </a:p>
        </p:txBody>
      </p:sp>
      <p:sp>
        <p:nvSpPr>
          <p:cNvPr id="40" name="TextBox 39"/>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Count tokens, not words — you pay, wait and hit limits per token.</a:t>
            </a:r>
          </a:p>
        </p:txBody>
      </p:sp>
      <p:sp>
        <p:nvSpPr>
          <p:cNvPr id="41" name="TextBox 40"/>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tiktokenizer · Foundry access research 2026-09-19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Embeddings put meaning on a map</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Every token becomes a vector; similar meanings land close together.</a:t>
            </a:r>
          </a:p>
        </p:txBody>
      </p:sp>
      <p:sp>
        <p:nvSpPr>
          <p:cNvPr id="5" name="Rounded Rectangle 4"/>
          <p:cNvSpPr/>
          <p:nvPr/>
        </p:nvSpPr>
        <p:spPr>
          <a:xfrm>
            <a:off x="585216" y="2011680"/>
            <a:ext cx="5486400" cy="3246120"/>
          </a:xfrm>
          <a:prstGeom prst="roundRect">
            <a:avLst>
              <a:gd name="adj" fmla="val 4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flipV="1">
            <a:off x="1143000" y="3127248"/>
            <a:ext cx="466344" cy="1335024"/>
          </a:xfrm>
          <a:prstGeom prst="line">
            <a:avLst/>
          </a:prstGeom>
          <a:ln w="28575">
            <a:solidFill>
              <a:srgbClr val="FF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2697480" y="3127248"/>
            <a:ext cx="466344" cy="1335024"/>
          </a:xfrm>
          <a:prstGeom prst="line">
            <a:avLst/>
          </a:prstGeom>
          <a:ln w="28575">
            <a:solidFill>
              <a:srgbClr val="FF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207008" y="4572000"/>
            <a:ext cx="1335024" cy="0"/>
          </a:xfrm>
          <a:prstGeom prst="line">
            <a:avLst/>
          </a:prstGeom>
          <a:ln w="19050">
            <a:solidFill>
              <a:srgbClr val="B8C2D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755648" y="3017520"/>
            <a:ext cx="1335024" cy="0"/>
          </a:xfrm>
          <a:prstGeom prst="line">
            <a:avLst/>
          </a:prstGeom>
          <a:ln w="19050">
            <a:solidFill>
              <a:srgbClr val="B8C2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24127" y="4498848"/>
            <a:ext cx="146304" cy="146304"/>
          </a:xfrm>
          <a:prstGeom prst="ellipse">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98448" y="4270248"/>
            <a:ext cx="868680" cy="274320"/>
          </a:xfrm>
          <a:prstGeom prst="rect">
            <a:avLst/>
          </a:prstGeom>
          <a:noFill/>
        </p:spPr>
        <p:txBody>
          <a:bodyPr wrap="square" lIns="0" rIns="0" tIns="0" bIns="0" anchor="t">
            <a:spAutoFit/>
          </a:bodyPr>
          <a:lstStyle/>
          <a:p>
            <a:pPr algn="l">
              <a:spcAft>
                <a:spcPts val="0"/>
              </a:spcAft>
            </a:pPr>
            <a:r>
              <a:rPr sz="1200" b="1" i="0">
                <a:solidFill>
                  <a:srgbClr val="2A446F"/>
                </a:solidFill>
              </a:rPr>
              <a:t>man</a:t>
            </a:r>
          </a:p>
        </p:txBody>
      </p:sp>
      <p:sp>
        <p:nvSpPr>
          <p:cNvPr id="12" name="Oval 11"/>
          <p:cNvSpPr/>
          <p:nvPr/>
        </p:nvSpPr>
        <p:spPr>
          <a:xfrm>
            <a:off x="2578608" y="4498848"/>
            <a:ext cx="146304" cy="146304"/>
          </a:xfrm>
          <a:prstGeom prst="ellipse">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52928" y="4270248"/>
            <a:ext cx="868680" cy="274320"/>
          </a:xfrm>
          <a:prstGeom prst="rect">
            <a:avLst/>
          </a:prstGeom>
          <a:noFill/>
        </p:spPr>
        <p:txBody>
          <a:bodyPr wrap="square" lIns="0" rIns="0" tIns="0" bIns="0" anchor="t">
            <a:spAutoFit/>
          </a:bodyPr>
          <a:lstStyle/>
          <a:p>
            <a:pPr algn="l">
              <a:spcAft>
                <a:spcPts val="0"/>
              </a:spcAft>
            </a:pPr>
            <a:r>
              <a:rPr sz="1200" b="1" i="0">
                <a:solidFill>
                  <a:srgbClr val="2A446F"/>
                </a:solidFill>
              </a:rPr>
              <a:t>woman</a:t>
            </a:r>
          </a:p>
        </p:txBody>
      </p:sp>
      <p:sp>
        <p:nvSpPr>
          <p:cNvPr id="14" name="Oval 13"/>
          <p:cNvSpPr/>
          <p:nvPr/>
        </p:nvSpPr>
        <p:spPr>
          <a:xfrm>
            <a:off x="1572768" y="2944368"/>
            <a:ext cx="146304" cy="146304"/>
          </a:xfrm>
          <a:prstGeom prst="ellipse">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755648" y="2715768"/>
            <a:ext cx="868680" cy="274320"/>
          </a:xfrm>
          <a:prstGeom prst="rect">
            <a:avLst/>
          </a:prstGeom>
          <a:noFill/>
        </p:spPr>
        <p:txBody>
          <a:bodyPr wrap="square" lIns="0" rIns="0" tIns="0" bIns="0" anchor="t">
            <a:spAutoFit/>
          </a:bodyPr>
          <a:lstStyle/>
          <a:p>
            <a:pPr algn="l">
              <a:spcAft>
                <a:spcPts val="0"/>
              </a:spcAft>
            </a:pPr>
            <a:r>
              <a:rPr sz="1200" b="1" i="0">
                <a:solidFill>
                  <a:srgbClr val="2A446F"/>
                </a:solidFill>
              </a:rPr>
              <a:t>king</a:t>
            </a:r>
          </a:p>
        </p:txBody>
      </p:sp>
      <p:sp>
        <p:nvSpPr>
          <p:cNvPr id="16" name="Oval 15"/>
          <p:cNvSpPr/>
          <p:nvPr/>
        </p:nvSpPr>
        <p:spPr>
          <a:xfrm>
            <a:off x="3127248" y="2944368"/>
            <a:ext cx="146304" cy="146304"/>
          </a:xfrm>
          <a:prstGeom prst="ellipse">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10128" y="2715768"/>
            <a:ext cx="868680" cy="274320"/>
          </a:xfrm>
          <a:prstGeom prst="rect">
            <a:avLst/>
          </a:prstGeom>
          <a:noFill/>
        </p:spPr>
        <p:txBody>
          <a:bodyPr wrap="square" lIns="0" rIns="0" tIns="0" bIns="0" anchor="t">
            <a:spAutoFit/>
          </a:bodyPr>
          <a:lstStyle/>
          <a:p>
            <a:pPr algn="l">
              <a:spcAft>
                <a:spcPts val="0"/>
              </a:spcAft>
            </a:pPr>
            <a:r>
              <a:rPr sz="1200" b="1" i="0">
                <a:solidFill>
                  <a:srgbClr val="2A446F"/>
                </a:solidFill>
              </a:rPr>
              <a:t>queen</a:t>
            </a:r>
          </a:p>
        </p:txBody>
      </p:sp>
      <p:sp>
        <p:nvSpPr>
          <p:cNvPr id="18" name="Oval 17"/>
          <p:cNvSpPr/>
          <p:nvPr/>
        </p:nvSpPr>
        <p:spPr>
          <a:xfrm>
            <a:off x="4361688" y="2395728"/>
            <a:ext cx="146304" cy="146304"/>
          </a:xfrm>
          <a:prstGeom prst="ellipse">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44568" y="2167128"/>
            <a:ext cx="868680" cy="274320"/>
          </a:xfrm>
          <a:prstGeom prst="rect">
            <a:avLst/>
          </a:prstGeom>
          <a:noFill/>
        </p:spPr>
        <p:txBody>
          <a:bodyPr wrap="square" lIns="0" rIns="0" tIns="0" bIns="0" anchor="t">
            <a:spAutoFit/>
          </a:bodyPr>
          <a:lstStyle/>
          <a:p>
            <a:pPr algn="l">
              <a:spcAft>
                <a:spcPts val="0"/>
              </a:spcAft>
            </a:pPr>
            <a:r>
              <a:rPr sz="1200" b="1" i="0">
                <a:solidFill>
                  <a:srgbClr val="008B8B"/>
                </a:solidFill>
              </a:rPr>
              <a:t>apple</a:t>
            </a:r>
          </a:p>
        </p:txBody>
      </p:sp>
      <p:sp>
        <p:nvSpPr>
          <p:cNvPr id="20" name="Oval 19"/>
          <p:cNvSpPr/>
          <p:nvPr/>
        </p:nvSpPr>
        <p:spPr>
          <a:xfrm>
            <a:off x="5184648" y="2258568"/>
            <a:ext cx="146304" cy="146304"/>
          </a:xfrm>
          <a:prstGeom prst="ellipse">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67528" y="2029967"/>
            <a:ext cx="868680" cy="274320"/>
          </a:xfrm>
          <a:prstGeom prst="rect">
            <a:avLst/>
          </a:prstGeom>
          <a:noFill/>
        </p:spPr>
        <p:txBody>
          <a:bodyPr wrap="square" lIns="0" rIns="0" tIns="0" bIns="0" anchor="t">
            <a:spAutoFit/>
          </a:bodyPr>
          <a:lstStyle/>
          <a:p>
            <a:pPr algn="l">
              <a:spcAft>
                <a:spcPts val="0"/>
              </a:spcAft>
            </a:pPr>
            <a:r>
              <a:rPr sz="1200" b="1" i="0">
                <a:solidFill>
                  <a:srgbClr val="008B8B"/>
                </a:solidFill>
              </a:rPr>
              <a:t>banana</a:t>
            </a:r>
          </a:p>
        </p:txBody>
      </p:sp>
      <p:sp>
        <p:nvSpPr>
          <p:cNvPr id="22" name="Oval 21"/>
          <p:cNvSpPr/>
          <p:nvPr/>
        </p:nvSpPr>
        <p:spPr>
          <a:xfrm>
            <a:off x="4453128" y="2990088"/>
            <a:ext cx="146304" cy="146304"/>
          </a:xfrm>
          <a:prstGeom prst="ellipse">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36008" y="2761488"/>
            <a:ext cx="868680" cy="274320"/>
          </a:xfrm>
          <a:prstGeom prst="rect">
            <a:avLst/>
          </a:prstGeom>
          <a:noFill/>
        </p:spPr>
        <p:txBody>
          <a:bodyPr wrap="square" lIns="0" rIns="0" tIns="0" bIns="0" anchor="t">
            <a:spAutoFit/>
          </a:bodyPr>
          <a:lstStyle/>
          <a:p>
            <a:pPr algn="l">
              <a:spcAft>
                <a:spcPts val="0"/>
              </a:spcAft>
            </a:pPr>
            <a:r>
              <a:rPr sz="1200" b="1" i="0">
                <a:solidFill>
                  <a:srgbClr val="008B8B"/>
                </a:solidFill>
              </a:rPr>
              <a:t>cherry</a:t>
            </a:r>
          </a:p>
        </p:txBody>
      </p:sp>
      <p:sp>
        <p:nvSpPr>
          <p:cNvPr id="24" name="Oval 23"/>
          <p:cNvSpPr/>
          <p:nvPr/>
        </p:nvSpPr>
        <p:spPr>
          <a:xfrm>
            <a:off x="4270248" y="3904487"/>
            <a:ext cx="146304" cy="146304"/>
          </a:xfrm>
          <a:prstGeom prst="ellipse">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53128" y="3675887"/>
            <a:ext cx="868680" cy="274320"/>
          </a:xfrm>
          <a:prstGeom prst="rect">
            <a:avLst/>
          </a:prstGeom>
          <a:noFill/>
        </p:spPr>
        <p:txBody>
          <a:bodyPr wrap="square" lIns="0" rIns="0" tIns="0" bIns="0" anchor="t">
            <a:spAutoFit/>
          </a:bodyPr>
          <a:lstStyle/>
          <a:p>
            <a:pPr algn="l">
              <a:spcAft>
                <a:spcPts val="0"/>
              </a:spcAft>
            </a:pPr>
            <a:r>
              <a:rPr sz="1200" b="1" i="0">
                <a:solidFill>
                  <a:srgbClr val="8661C5"/>
                </a:solidFill>
              </a:rPr>
              <a:t>car</a:t>
            </a:r>
          </a:p>
        </p:txBody>
      </p:sp>
      <p:sp>
        <p:nvSpPr>
          <p:cNvPr id="26" name="Oval 25"/>
          <p:cNvSpPr/>
          <p:nvPr/>
        </p:nvSpPr>
        <p:spPr>
          <a:xfrm>
            <a:off x="4956048" y="4087368"/>
            <a:ext cx="146304" cy="146304"/>
          </a:xfrm>
          <a:prstGeom prst="ellipse">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138928" y="3858768"/>
            <a:ext cx="868680" cy="274320"/>
          </a:xfrm>
          <a:prstGeom prst="rect">
            <a:avLst/>
          </a:prstGeom>
          <a:noFill/>
        </p:spPr>
        <p:txBody>
          <a:bodyPr wrap="square" lIns="0" rIns="0" tIns="0" bIns="0" anchor="t">
            <a:spAutoFit/>
          </a:bodyPr>
          <a:lstStyle/>
          <a:p>
            <a:pPr algn="l">
              <a:spcAft>
                <a:spcPts val="0"/>
              </a:spcAft>
            </a:pPr>
            <a:r>
              <a:rPr sz="1200" b="1" i="0">
                <a:solidFill>
                  <a:srgbClr val="8661C5"/>
                </a:solidFill>
              </a:rPr>
              <a:t>bus</a:t>
            </a:r>
          </a:p>
        </p:txBody>
      </p:sp>
      <p:sp>
        <p:nvSpPr>
          <p:cNvPr id="28" name="Oval 27"/>
          <p:cNvSpPr/>
          <p:nvPr/>
        </p:nvSpPr>
        <p:spPr>
          <a:xfrm>
            <a:off x="4453128" y="4498848"/>
            <a:ext cx="146304" cy="146304"/>
          </a:xfrm>
          <a:prstGeom prst="ellipse">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36008" y="4270248"/>
            <a:ext cx="868680" cy="274320"/>
          </a:xfrm>
          <a:prstGeom prst="rect">
            <a:avLst/>
          </a:prstGeom>
          <a:noFill/>
        </p:spPr>
        <p:txBody>
          <a:bodyPr wrap="square" lIns="0" rIns="0" tIns="0" bIns="0" anchor="t">
            <a:spAutoFit/>
          </a:bodyPr>
          <a:lstStyle/>
          <a:p>
            <a:pPr algn="l">
              <a:spcAft>
                <a:spcPts val="0"/>
              </a:spcAft>
            </a:pPr>
            <a:r>
              <a:rPr sz="1200" b="1" i="0">
                <a:solidFill>
                  <a:srgbClr val="8661C5"/>
                </a:solidFill>
              </a:rPr>
              <a:t>bike</a:t>
            </a:r>
          </a:p>
        </p:txBody>
      </p:sp>
      <p:sp>
        <p:nvSpPr>
          <p:cNvPr id="30" name="TextBox 29"/>
          <p:cNvSpPr txBox="1"/>
          <p:nvPr/>
        </p:nvSpPr>
        <p:spPr>
          <a:xfrm>
            <a:off x="1481328" y="3675887"/>
            <a:ext cx="1097280" cy="274320"/>
          </a:xfrm>
          <a:prstGeom prst="rect">
            <a:avLst/>
          </a:prstGeom>
          <a:noFill/>
        </p:spPr>
        <p:txBody>
          <a:bodyPr wrap="square" lIns="0" rIns="0" tIns="0" bIns="0" anchor="t">
            <a:spAutoFit/>
          </a:bodyPr>
          <a:lstStyle/>
          <a:p>
            <a:pPr algn="l">
              <a:spcAft>
                <a:spcPts val="0"/>
              </a:spcAft>
            </a:pPr>
            <a:r>
              <a:rPr sz="1000" b="1" i="0">
                <a:solidFill>
                  <a:srgbClr val="FFB900"/>
                </a:solidFill>
              </a:rPr>
              <a:t>+ royal</a:t>
            </a:r>
          </a:p>
        </p:txBody>
      </p:sp>
      <p:sp>
        <p:nvSpPr>
          <p:cNvPr id="31" name="TextBox 30"/>
          <p:cNvSpPr txBox="1"/>
          <p:nvPr/>
        </p:nvSpPr>
        <p:spPr>
          <a:xfrm>
            <a:off x="722376" y="4946904"/>
            <a:ext cx="5212080" cy="274320"/>
          </a:xfrm>
          <a:prstGeom prst="rect">
            <a:avLst/>
          </a:prstGeom>
          <a:noFill/>
        </p:spPr>
        <p:txBody>
          <a:bodyPr wrap="square" lIns="0" rIns="0" tIns="0" bIns="0" anchor="t">
            <a:spAutoFit/>
          </a:bodyPr>
          <a:lstStyle/>
          <a:p>
            <a:pPr algn="l">
              <a:spcAft>
                <a:spcPts val="0"/>
              </a:spcAft>
            </a:pPr>
            <a:r>
              <a:rPr sz="1000" b="0" i="1">
                <a:solidFill>
                  <a:srgbClr val="6B6B6B"/>
                </a:solidFill>
              </a:rPr>
              <a:t>schematic 2-D projection of a space with hundreds to thousands of dims</a:t>
            </a:r>
          </a:p>
        </p:txBody>
      </p:sp>
      <p:sp>
        <p:nvSpPr>
          <p:cNvPr id="32" name="TextBox 31"/>
          <p:cNvSpPr txBox="1"/>
          <p:nvPr/>
        </p:nvSpPr>
        <p:spPr>
          <a:xfrm>
            <a:off x="6400800" y="2011680"/>
            <a:ext cx="3840480" cy="3291840"/>
          </a:xfrm>
          <a:prstGeom prst="rect">
            <a:avLst/>
          </a:prstGeom>
          <a:noFill/>
        </p:spPr>
        <p:txBody>
          <a:bodyPr wrap="square" lIns="0" rIns="0" tIns="0" bIns="0" anchor="t">
            <a:spAutoFit/>
          </a:bodyPr>
          <a:lstStyle/>
          <a:p>
            <a:pPr algn="l" marL="256032" indent="-256032">
              <a:spcAft>
                <a:spcPts val="800"/>
              </a:spcAft>
              <a:buClr>
                <a:srgbClr val="0078D4"/>
              </a:buClr>
              <a:buChar char="•"/>
            </a:pPr>
            <a:r>
              <a:rPr sz="1400" b="1" i="0">
                <a:solidFill>
                  <a:srgbClr val="1F1F1F"/>
                </a:solidFill>
              </a:rPr>
              <a:t>A vector per token</a:t>
            </a:r>
            <a:r>
              <a:rPr sz="1400" b="0" i="0">
                <a:solidFill>
                  <a:srgbClr val="1F1F1F"/>
                </a:solidFill>
              </a:rPr>
              <a:t> — GPT-2 small: 768 numbers; modern models use thousands</a:t>
            </a:r>
          </a:p>
          <a:p>
            <a:pPr algn="l" marL="256032" indent="-256032">
              <a:spcAft>
                <a:spcPts val="800"/>
              </a:spcAft>
              <a:buClr>
                <a:srgbClr val="0078D4"/>
              </a:buClr>
              <a:buChar char="•"/>
            </a:pPr>
            <a:r>
              <a:rPr sz="1400" b="1" i="0">
                <a:solidFill>
                  <a:srgbClr val="1F1F1F"/>
                </a:solidFill>
              </a:rPr>
              <a:t>Distance = similarity</a:t>
            </a:r>
            <a:r>
              <a:rPr sz="1400" b="0" i="0">
                <a:solidFill>
                  <a:srgbClr val="1F1F1F"/>
                </a:solidFill>
              </a:rPr>
              <a:t> of meaning — words cluster by topic</a:t>
            </a:r>
          </a:p>
          <a:p>
            <a:pPr algn="l" marL="256032" indent="-256032">
              <a:spcAft>
                <a:spcPts val="800"/>
              </a:spcAft>
              <a:buClr>
                <a:srgbClr val="0078D4"/>
              </a:buClr>
              <a:buChar char="•"/>
            </a:pPr>
            <a:r>
              <a:rPr sz="1400" b="1" i="0">
                <a:solidFill>
                  <a:srgbClr val="1F1F1F"/>
                </a:solidFill>
              </a:rPr>
              <a:t>Directions carry meaning</a:t>
            </a:r>
            <a:r>
              <a:rPr sz="1400" b="0" i="0">
                <a:solidFill>
                  <a:srgbClr val="1F1F1F"/>
                </a:solidFill>
              </a:rPr>
              <a:t> — king − man + woman ≈ queen</a:t>
            </a:r>
          </a:p>
          <a:p>
            <a:pPr algn="l" marL="256032" indent="-256032">
              <a:spcAft>
                <a:spcPts val="800"/>
              </a:spcAft>
              <a:buClr>
                <a:srgbClr val="0078D4"/>
              </a:buClr>
              <a:buChar char="•"/>
            </a:pPr>
            <a:r>
              <a:rPr sz="1400" b="1" i="0">
                <a:solidFill>
                  <a:srgbClr val="1F1F1F"/>
                </a:solidFill>
              </a:rPr>
              <a:t>Segment 2 searches with it</a:t>
            </a:r>
            <a:r>
              <a:rPr sz="1400" b="0" i="0">
                <a:solidFill>
                  <a:srgbClr val="1F1F1F"/>
                </a:solidFill>
              </a:rPr>
              <a:t> — embeddings + cosine similarity = retrieval</a:t>
            </a:r>
          </a:p>
        </p:txBody>
      </p:sp>
      <p:sp>
        <p:nvSpPr>
          <p:cNvPr id="33" name="TextBox 32"/>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The same object powers search, RAG and clustering — you will build one in Lab 2.</a:t>
            </a:r>
          </a:p>
        </p:txBody>
      </p:sp>
      <p:sp>
        <p:nvSpPr>
          <p:cNvPr id="34" name="TextBox 3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TensorFlow Embedding Projector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Attention: every token looks back at every earlier token</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Each token weighs the earlier ones — a river “bank” is not a loan “bank”.</a:t>
            </a:r>
          </a:p>
        </p:txBody>
      </p:sp>
      <p:sp>
        <p:nvSpPr>
          <p:cNvPr id="5" name="TextBox 4"/>
          <p:cNvSpPr txBox="1"/>
          <p:nvPr/>
        </p:nvSpPr>
        <p:spPr>
          <a:xfrm>
            <a:off x="585216" y="2103120"/>
            <a:ext cx="1600200" cy="502920"/>
          </a:xfrm>
          <a:prstGeom prst="rect">
            <a:avLst/>
          </a:prstGeom>
          <a:noFill/>
        </p:spPr>
        <p:txBody>
          <a:bodyPr wrap="square" lIns="0" rIns="0" tIns="0" bIns="0" anchor="t">
            <a:spAutoFit/>
          </a:bodyPr>
          <a:lstStyle/>
          <a:p>
            <a:pPr algn="l">
              <a:spcAft>
                <a:spcPts val="0"/>
              </a:spcAft>
            </a:pPr>
            <a:r>
              <a:rPr sz="1100" b="1" i="0">
                <a:solidFill>
                  <a:srgbClr val="2A446F"/>
                </a:solidFill>
              </a:rPr>
              <a:t>ATTENTION</a:t>
            </a:r>
          </a:p>
          <a:p>
            <a:pPr algn="l">
              <a:spcAft>
                <a:spcPts val="600"/>
              </a:spcAft>
            </a:pPr>
            <a:r>
              <a:rPr sz="1100" b="1" i="0">
                <a:solidFill>
                  <a:srgbClr val="2A446F"/>
                </a:solidFill>
              </a:rPr>
              <a:t>FROM “mat”</a:t>
            </a:r>
          </a:p>
        </p:txBody>
      </p:sp>
      <p:sp>
        <p:nvSpPr>
          <p:cNvPr id="6" name="TextBox 5"/>
          <p:cNvSpPr txBox="1"/>
          <p:nvPr/>
        </p:nvSpPr>
        <p:spPr>
          <a:xfrm>
            <a:off x="585216" y="2651760"/>
            <a:ext cx="1554480" cy="731520"/>
          </a:xfrm>
          <a:prstGeom prst="rect">
            <a:avLst/>
          </a:prstGeom>
          <a:noFill/>
        </p:spPr>
        <p:txBody>
          <a:bodyPr wrap="square" lIns="0" rIns="0" tIns="0" bIns="0" anchor="t">
            <a:spAutoFit/>
          </a:bodyPr>
          <a:lstStyle/>
          <a:p>
            <a:pPr algn="l">
              <a:spcAft>
                <a:spcPts val="0"/>
              </a:spcAft>
            </a:pPr>
            <a:r>
              <a:rPr sz="1100" b="0" i="0">
                <a:solidFill>
                  <a:srgbClr val="6B6B6B"/>
                </a:solidFill>
              </a:rPr>
              <a:t>how much each earlier token counts</a:t>
            </a:r>
          </a:p>
        </p:txBody>
      </p:sp>
      <p:sp>
        <p:nvSpPr>
          <p:cNvPr id="7" name="Rectangle 6"/>
          <p:cNvSpPr/>
          <p:nvPr/>
        </p:nvSpPr>
        <p:spPr>
          <a:xfrm>
            <a:off x="2514600" y="2999232"/>
            <a:ext cx="548640" cy="109728"/>
          </a:xfrm>
          <a:prstGeom prst="rect">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2240280" y="3172968"/>
            <a:ext cx="1097280" cy="45720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700" b="0" i="0">
                <a:solidFill>
                  <a:srgbClr val="1F1F1F"/>
                </a:solidFill>
              </a:rPr>
              <a:t>the</a:t>
            </a:r>
          </a:p>
        </p:txBody>
      </p:sp>
      <p:sp>
        <p:nvSpPr>
          <p:cNvPr id="9" name="TextBox 8"/>
          <p:cNvSpPr txBox="1"/>
          <p:nvPr/>
        </p:nvSpPr>
        <p:spPr>
          <a:xfrm>
            <a:off x="2240280" y="3675887"/>
            <a:ext cx="1097280" cy="274320"/>
          </a:xfrm>
          <a:prstGeom prst="rect">
            <a:avLst/>
          </a:prstGeom>
          <a:noFill/>
        </p:spPr>
        <p:txBody>
          <a:bodyPr wrap="square" lIns="0" rIns="0" tIns="0" bIns="0" anchor="t">
            <a:spAutoFit/>
          </a:bodyPr>
          <a:lstStyle/>
          <a:p>
            <a:pPr algn="ctr">
              <a:spcAft>
                <a:spcPts val="0"/>
              </a:spcAft>
            </a:pPr>
            <a:r>
              <a:rPr sz="1100" b="0" i="0">
                <a:solidFill>
                  <a:srgbClr val="1F1F1F"/>
                </a:solidFill>
              </a:rPr>
              <a:t>0.05</a:t>
            </a:r>
          </a:p>
        </p:txBody>
      </p:sp>
      <p:sp>
        <p:nvSpPr>
          <p:cNvPr id="10" name="Rectangle 9"/>
          <p:cNvSpPr/>
          <p:nvPr/>
        </p:nvSpPr>
        <p:spPr>
          <a:xfrm>
            <a:off x="3813048" y="2231136"/>
            <a:ext cx="548640" cy="87782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3538728" y="3172968"/>
            <a:ext cx="1097280" cy="45720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700" b="0" i="0">
                <a:solidFill>
                  <a:srgbClr val="1F1F1F"/>
                </a:solidFill>
              </a:rPr>
              <a:t>cat</a:t>
            </a:r>
          </a:p>
        </p:txBody>
      </p:sp>
      <p:sp>
        <p:nvSpPr>
          <p:cNvPr id="12" name="TextBox 11"/>
          <p:cNvSpPr txBox="1"/>
          <p:nvPr/>
        </p:nvSpPr>
        <p:spPr>
          <a:xfrm>
            <a:off x="3538728" y="3675887"/>
            <a:ext cx="1097280" cy="274320"/>
          </a:xfrm>
          <a:prstGeom prst="rect">
            <a:avLst/>
          </a:prstGeom>
          <a:noFill/>
        </p:spPr>
        <p:txBody>
          <a:bodyPr wrap="square" lIns="0" rIns="0" tIns="0" bIns="0" anchor="t">
            <a:spAutoFit/>
          </a:bodyPr>
          <a:lstStyle/>
          <a:p>
            <a:pPr algn="ctr">
              <a:spcAft>
                <a:spcPts val="0"/>
              </a:spcAft>
            </a:pPr>
            <a:r>
              <a:rPr sz="1100" b="1" i="0">
                <a:solidFill>
                  <a:srgbClr val="1F1F1F"/>
                </a:solidFill>
              </a:rPr>
              <a:t>0.40</a:t>
            </a:r>
          </a:p>
        </p:txBody>
      </p:sp>
      <p:sp>
        <p:nvSpPr>
          <p:cNvPr id="13" name="Rectangle 12"/>
          <p:cNvSpPr/>
          <p:nvPr/>
        </p:nvSpPr>
        <p:spPr>
          <a:xfrm>
            <a:off x="5111496" y="2340864"/>
            <a:ext cx="548640" cy="76809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4837176" y="3172968"/>
            <a:ext cx="1097280" cy="45720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700" b="0" i="0">
                <a:solidFill>
                  <a:srgbClr val="1F1F1F"/>
                </a:solidFill>
              </a:rPr>
              <a:t>sat</a:t>
            </a:r>
          </a:p>
        </p:txBody>
      </p:sp>
      <p:sp>
        <p:nvSpPr>
          <p:cNvPr id="15" name="TextBox 14"/>
          <p:cNvSpPr txBox="1"/>
          <p:nvPr/>
        </p:nvSpPr>
        <p:spPr>
          <a:xfrm>
            <a:off x="4837176" y="3675887"/>
            <a:ext cx="1097280" cy="274320"/>
          </a:xfrm>
          <a:prstGeom prst="rect">
            <a:avLst/>
          </a:prstGeom>
          <a:noFill/>
        </p:spPr>
        <p:txBody>
          <a:bodyPr wrap="square" lIns="0" rIns="0" tIns="0" bIns="0" anchor="t">
            <a:spAutoFit/>
          </a:bodyPr>
          <a:lstStyle/>
          <a:p>
            <a:pPr algn="ctr">
              <a:spcAft>
                <a:spcPts val="0"/>
              </a:spcAft>
            </a:pPr>
            <a:r>
              <a:rPr sz="1100" b="1" i="0">
                <a:solidFill>
                  <a:srgbClr val="1F1F1F"/>
                </a:solidFill>
              </a:rPr>
              <a:t>0.35</a:t>
            </a:r>
          </a:p>
        </p:txBody>
      </p:sp>
      <p:sp>
        <p:nvSpPr>
          <p:cNvPr id="16" name="Rectangle 15"/>
          <p:cNvSpPr/>
          <p:nvPr/>
        </p:nvSpPr>
        <p:spPr>
          <a:xfrm>
            <a:off x="6409944" y="3021177"/>
            <a:ext cx="548640" cy="87782"/>
          </a:xfrm>
          <a:prstGeom prst="rect">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135624" y="3172968"/>
            <a:ext cx="1097280" cy="45720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700" b="0" i="0">
                <a:solidFill>
                  <a:srgbClr val="1F1F1F"/>
                </a:solidFill>
              </a:rPr>
              <a:t>on</a:t>
            </a:r>
          </a:p>
        </p:txBody>
      </p:sp>
      <p:sp>
        <p:nvSpPr>
          <p:cNvPr id="18" name="TextBox 17"/>
          <p:cNvSpPr txBox="1"/>
          <p:nvPr/>
        </p:nvSpPr>
        <p:spPr>
          <a:xfrm>
            <a:off x="6135624" y="3675887"/>
            <a:ext cx="1097280" cy="274320"/>
          </a:xfrm>
          <a:prstGeom prst="rect">
            <a:avLst/>
          </a:prstGeom>
          <a:noFill/>
        </p:spPr>
        <p:txBody>
          <a:bodyPr wrap="square" lIns="0" rIns="0" tIns="0" bIns="0" anchor="t">
            <a:spAutoFit/>
          </a:bodyPr>
          <a:lstStyle/>
          <a:p>
            <a:pPr algn="ctr">
              <a:spcAft>
                <a:spcPts val="0"/>
              </a:spcAft>
            </a:pPr>
            <a:r>
              <a:rPr sz="1100" b="0" i="0">
                <a:solidFill>
                  <a:srgbClr val="1F1F1F"/>
                </a:solidFill>
              </a:rPr>
              <a:t>0.04</a:t>
            </a:r>
          </a:p>
        </p:txBody>
      </p:sp>
      <p:sp>
        <p:nvSpPr>
          <p:cNvPr id="19" name="Rectangle 18"/>
          <p:cNvSpPr/>
          <p:nvPr/>
        </p:nvSpPr>
        <p:spPr>
          <a:xfrm>
            <a:off x="7708392" y="2977286"/>
            <a:ext cx="548640" cy="131673"/>
          </a:xfrm>
          <a:prstGeom prst="rect">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7434071" y="3172968"/>
            <a:ext cx="1097280" cy="45720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700" b="0" i="0">
                <a:solidFill>
                  <a:srgbClr val="1F1F1F"/>
                </a:solidFill>
              </a:rPr>
              <a:t>the</a:t>
            </a:r>
          </a:p>
        </p:txBody>
      </p:sp>
      <p:sp>
        <p:nvSpPr>
          <p:cNvPr id="21" name="TextBox 20"/>
          <p:cNvSpPr txBox="1"/>
          <p:nvPr/>
        </p:nvSpPr>
        <p:spPr>
          <a:xfrm>
            <a:off x="7434071" y="3675887"/>
            <a:ext cx="1097280" cy="274320"/>
          </a:xfrm>
          <a:prstGeom prst="rect">
            <a:avLst/>
          </a:prstGeom>
          <a:noFill/>
        </p:spPr>
        <p:txBody>
          <a:bodyPr wrap="square" lIns="0" rIns="0" tIns="0" bIns="0" anchor="t">
            <a:spAutoFit/>
          </a:bodyPr>
          <a:lstStyle/>
          <a:p>
            <a:pPr algn="ctr">
              <a:spcAft>
                <a:spcPts val="0"/>
              </a:spcAft>
            </a:pPr>
            <a:r>
              <a:rPr sz="1100" b="0" i="0">
                <a:solidFill>
                  <a:srgbClr val="1F1F1F"/>
                </a:solidFill>
              </a:rPr>
              <a:t>0.06</a:t>
            </a:r>
          </a:p>
        </p:txBody>
      </p:sp>
      <p:sp>
        <p:nvSpPr>
          <p:cNvPr id="22" name="Rounded Rectangle 21"/>
          <p:cNvSpPr/>
          <p:nvPr/>
        </p:nvSpPr>
        <p:spPr>
          <a:xfrm>
            <a:off x="8732520" y="3172968"/>
            <a:ext cx="1097280" cy="45720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700" b="1" i="0">
                <a:solidFill>
                  <a:srgbClr val="FFFFFF"/>
                </a:solidFill>
              </a:rPr>
              <a:t>mat</a:t>
            </a:r>
          </a:p>
        </p:txBody>
      </p:sp>
      <p:sp>
        <p:nvSpPr>
          <p:cNvPr id="23" name="TextBox 22"/>
          <p:cNvSpPr txBox="1"/>
          <p:nvPr/>
        </p:nvSpPr>
        <p:spPr>
          <a:xfrm>
            <a:off x="8732520" y="3675887"/>
            <a:ext cx="1097280" cy="274320"/>
          </a:xfrm>
          <a:prstGeom prst="rect">
            <a:avLst/>
          </a:prstGeom>
          <a:noFill/>
        </p:spPr>
        <p:txBody>
          <a:bodyPr wrap="square" lIns="0" rIns="0" tIns="0" bIns="0" anchor="t">
            <a:spAutoFit/>
          </a:bodyPr>
          <a:lstStyle/>
          <a:p>
            <a:pPr algn="ctr">
              <a:spcAft>
                <a:spcPts val="0"/>
              </a:spcAft>
            </a:pPr>
            <a:r>
              <a:rPr sz="1100" b="0" i="1">
                <a:solidFill>
                  <a:srgbClr val="6B6B6B"/>
                </a:solidFill>
              </a:rPr>
              <a:t>current token</a:t>
            </a:r>
          </a:p>
        </p:txBody>
      </p:sp>
      <p:sp>
        <p:nvSpPr>
          <p:cNvPr id="24" name="Rounded Rectangle 23"/>
          <p:cNvSpPr/>
          <p:nvPr/>
        </p:nvSpPr>
        <p:spPr>
          <a:xfrm>
            <a:off x="585216" y="4069080"/>
            <a:ext cx="3096767" cy="11887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86384" y="4233672"/>
            <a:ext cx="2694431" cy="411480"/>
          </a:xfrm>
          <a:prstGeom prst="rect">
            <a:avLst/>
          </a:prstGeom>
          <a:noFill/>
        </p:spPr>
        <p:txBody>
          <a:bodyPr wrap="square" lIns="0" rIns="0" tIns="0" bIns="0" anchor="t">
            <a:spAutoFit/>
          </a:bodyPr>
          <a:lstStyle/>
          <a:p>
            <a:pPr algn="l">
              <a:spcAft>
                <a:spcPts val="0"/>
              </a:spcAft>
            </a:pPr>
            <a:r>
              <a:rPr sz="1300" b="1" i="0">
                <a:solidFill>
                  <a:srgbClr val="0078D4"/>
                </a:solidFill>
              </a:rPr>
              <a:t>QUERY</a:t>
            </a:r>
          </a:p>
        </p:txBody>
      </p:sp>
      <p:sp>
        <p:nvSpPr>
          <p:cNvPr id="26" name="TextBox 25"/>
          <p:cNvSpPr txBox="1"/>
          <p:nvPr/>
        </p:nvSpPr>
        <p:spPr>
          <a:xfrm>
            <a:off x="786384" y="4690872"/>
            <a:ext cx="2694431" cy="411480"/>
          </a:xfrm>
          <a:prstGeom prst="rect">
            <a:avLst/>
          </a:prstGeom>
          <a:noFill/>
        </p:spPr>
        <p:txBody>
          <a:bodyPr wrap="square" lIns="0" rIns="0" tIns="0" bIns="0" anchor="t">
            <a:spAutoFit/>
          </a:bodyPr>
          <a:lstStyle/>
          <a:p>
            <a:pPr algn="l">
              <a:spcAft>
                <a:spcPts val="0"/>
              </a:spcAft>
            </a:pPr>
            <a:r>
              <a:rPr sz="1300" b="0" i="0">
                <a:solidFill>
                  <a:srgbClr val="1F1F1F"/>
                </a:solidFill>
              </a:rPr>
              <a:t>what this token is looking for</a:t>
            </a:r>
          </a:p>
        </p:txBody>
      </p:sp>
      <p:sp>
        <p:nvSpPr>
          <p:cNvPr id="27" name="Rounded Rectangle 26"/>
          <p:cNvSpPr/>
          <p:nvPr/>
        </p:nvSpPr>
        <p:spPr>
          <a:xfrm>
            <a:off x="3864864" y="4069080"/>
            <a:ext cx="3096767" cy="11887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066031" y="4233672"/>
            <a:ext cx="2694431" cy="411480"/>
          </a:xfrm>
          <a:prstGeom prst="rect">
            <a:avLst/>
          </a:prstGeom>
          <a:noFill/>
        </p:spPr>
        <p:txBody>
          <a:bodyPr wrap="square" lIns="0" rIns="0" tIns="0" bIns="0" anchor="t">
            <a:spAutoFit/>
          </a:bodyPr>
          <a:lstStyle/>
          <a:p>
            <a:pPr algn="l">
              <a:spcAft>
                <a:spcPts val="0"/>
              </a:spcAft>
            </a:pPr>
            <a:r>
              <a:rPr sz="1300" b="1" i="0">
                <a:solidFill>
                  <a:srgbClr val="008B8B"/>
                </a:solidFill>
              </a:rPr>
              <a:t>KEY</a:t>
            </a:r>
          </a:p>
        </p:txBody>
      </p:sp>
      <p:sp>
        <p:nvSpPr>
          <p:cNvPr id="29" name="TextBox 28"/>
          <p:cNvSpPr txBox="1"/>
          <p:nvPr/>
        </p:nvSpPr>
        <p:spPr>
          <a:xfrm>
            <a:off x="4066031" y="4690872"/>
            <a:ext cx="2694431" cy="411480"/>
          </a:xfrm>
          <a:prstGeom prst="rect">
            <a:avLst/>
          </a:prstGeom>
          <a:noFill/>
        </p:spPr>
        <p:txBody>
          <a:bodyPr wrap="square" lIns="0" rIns="0" tIns="0" bIns="0" anchor="t">
            <a:spAutoFit/>
          </a:bodyPr>
          <a:lstStyle/>
          <a:p>
            <a:pPr algn="l">
              <a:spcAft>
                <a:spcPts val="0"/>
              </a:spcAft>
            </a:pPr>
            <a:r>
              <a:rPr sz="1300" b="0" i="0">
                <a:solidFill>
                  <a:srgbClr val="1F1F1F"/>
                </a:solidFill>
              </a:rPr>
              <a:t>the label each token offers</a:t>
            </a:r>
          </a:p>
        </p:txBody>
      </p:sp>
      <p:sp>
        <p:nvSpPr>
          <p:cNvPr id="30" name="Rounded Rectangle 29"/>
          <p:cNvSpPr/>
          <p:nvPr/>
        </p:nvSpPr>
        <p:spPr>
          <a:xfrm>
            <a:off x="7144511" y="4069080"/>
            <a:ext cx="3096767" cy="11887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345680" y="4233672"/>
            <a:ext cx="2694431" cy="411480"/>
          </a:xfrm>
          <a:prstGeom prst="rect">
            <a:avLst/>
          </a:prstGeom>
          <a:noFill/>
        </p:spPr>
        <p:txBody>
          <a:bodyPr wrap="square" lIns="0" rIns="0" tIns="0" bIns="0" anchor="t">
            <a:spAutoFit/>
          </a:bodyPr>
          <a:lstStyle/>
          <a:p>
            <a:pPr algn="l">
              <a:spcAft>
                <a:spcPts val="0"/>
              </a:spcAft>
            </a:pPr>
            <a:r>
              <a:rPr sz="1300" b="1" i="0">
                <a:solidFill>
                  <a:srgbClr val="8661C5"/>
                </a:solidFill>
              </a:rPr>
              <a:t>VALUE</a:t>
            </a:r>
          </a:p>
        </p:txBody>
      </p:sp>
      <p:sp>
        <p:nvSpPr>
          <p:cNvPr id="32" name="TextBox 31"/>
          <p:cNvSpPr txBox="1"/>
          <p:nvPr/>
        </p:nvSpPr>
        <p:spPr>
          <a:xfrm>
            <a:off x="7345680" y="4690872"/>
            <a:ext cx="2694431" cy="411480"/>
          </a:xfrm>
          <a:prstGeom prst="rect">
            <a:avLst/>
          </a:prstGeom>
          <a:noFill/>
        </p:spPr>
        <p:txBody>
          <a:bodyPr wrap="square" lIns="0" rIns="0" tIns="0" bIns="0" anchor="t">
            <a:spAutoFit/>
          </a:bodyPr>
          <a:lstStyle/>
          <a:p>
            <a:pPr algn="l">
              <a:spcAft>
                <a:spcPts val="0"/>
              </a:spcAft>
            </a:pPr>
            <a:r>
              <a:rPr sz="1300" b="0" i="0">
                <a:solidFill>
                  <a:srgbClr val="1F1F1F"/>
                </a:solidFill>
              </a:rPr>
              <a:t>what gets blended in, weighted by query · key</a:t>
            </a:r>
          </a:p>
        </p:txBody>
      </p:sp>
      <p:sp>
        <p:nvSpPr>
          <p:cNvPr id="33" name="TextBox 32"/>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500" b="1" i="0">
                <a:solidFill>
                  <a:srgbClr val="0078D4"/>
                </a:solidFill>
              </a:rPr>
              <a:t>Multi-head attention runs many of these searches in parallel — grammar, meaning, references.</a:t>
            </a:r>
          </a:p>
        </p:txBody>
      </p:sp>
      <p:sp>
        <p:nvSpPr>
          <p:cNvPr id="34" name="TextBox 3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Vaswani et al. 2017, Attention Is All You Need · Transformer Explainer (Polo Club)</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Demo: tokens and attention, live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DEMO · SEGMENT 1</a:t>
            </a:r>
          </a:p>
        </p:txBody>
      </p:sp>
      <p:sp>
        <p:nvSpPr>
          <p:cNvPr id="4" name="Rounded Rectangle 3"/>
          <p:cNvSpPr/>
          <p:nvPr/>
        </p:nvSpPr>
        <p:spPr>
          <a:xfrm>
            <a:off x="585216" y="1371600"/>
            <a:ext cx="1234440" cy="274320"/>
          </a:xfrm>
          <a:prstGeom prst="roundRect">
            <a:avLst>
              <a:gd name="adj" fmla="val 5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LIVE DEMO</a:t>
            </a:r>
          </a:p>
        </p:txBody>
      </p:sp>
      <p:sp>
        <p:nvSpPr>
          <p:cNvPr id="5" name="TextBox 4"/>
          <p:cNvSpPr txBox="1"/>
          <p:nvPr/>
        </p:nvSpPr>
        <p:spPr>
          <a:xfrm>
            <a:off x="585216" y="1828800"/>
            <a:ext cx="3931920" cy="2331720"/>
          </a:xfrm>
          <a:prstGeom prst="rect">
            <a:avLst/>
          </a:prstGeom>
          <a:noFill/>
        </p:spPr>
        <p:txBody>
          <a:bodyPr wrap="square" lIns="0" rIns="0" tIns="0" bIns="0" anchor="t">
            <a:spAutoFit/>
          </a:bodyPr>
          <a:lstStyle/>
          <a:p>
            <a:pPr algn="l">
              <a:spcAft>
                <a:spcPts val="0"/>
              </a:spcAft>
            </a:pPr>
            <a:r>
              <a:rPr sz="1800" b="1" i="0">
                <a:solidFill>
                  <a:srgbClr val="2A446F"/>
                </a:solidFill>
              </a:rPr>
              <a:t>Not metaphors: watch tokens and attention live in a browser.</a:t>
            </a:r>
          </a:p>
        </p:txBody>
      </p:sp>
      <p:sp>
        <p:nvSpPr>
          <p:cNvPr id="6" name="Rectangle 5"/>
          <p:cNvSpPr/>
          <p:nvPr/>
        </p:nvSpPr>
        <p:spPr>
          <a:xfrm>
            <a:off x="585216" y="4343400"/>
            <a:ext cx="3931920" cy="2743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rot="5400000">
            <a:off x="859536" y="4590288"/>
            <a:ext cx="713232" cy="713232"/>
          </a:xfrm>
          <a:prstGeom prst="triangl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093976" y="4553712"/>
            <a:ext cx="2423160" cy="960120"/>
          </a:xfrm>
          <a:prstGeom prst="rect">
            <a:avLst/>
          </a:prstGeom>
          <a:noFill/>
        </p:spPr>
        <p:txBody>
          <a:bodyPr wrap="square" lIns="0" rIns="0" tIns="0" bIns="0" anchor="t">
            <a:spAutoFit/>
          </a:bodyPr>
          <a:lstStyle/>
          <a:p>
            <a:pPr algn="l">
              <a:spcAft>
                <a:spcPts val="600"/>
              </a:spcAft>
            </a:pPr>
            <a:r>
              <a:rPr sz="1300" b="1" i="0">
                <a:solidFill>
                  <a:srgbClr val="2A446F"/>
                </a:solidFill>
              </a:rPr>
              <a:t>live on the instructor laptop</a:t>
            </a:r>
          </a:p>
          <a:p>
            <a:pPr algn="l">
              <a:spcAft>
                <a:spcPts val="600"/>
              </a:spcAft>
            </a:pPr>
            <a:r>
              <a:rPr sz="1200" b="0" i="0">
                <a:solidFill>
                  <a:srgbClr val="6B6B6B"/>
                </a:solidFill>
              </a:rPr>
              <a:t>you watch — the lab comes later</a:t>
            </a:r>
          </a:p>
        </p:txBody>
      </p:sp>
      <p:sp>
        <p:nvSpPr>
          <p:cNvPr id="9" name="Rectangle 8"/>
          <p:cNvSpPr/>
          <p:nvPr/>
        </p:nvSpPr>
        <p:spPr>
          <a:xfrm>
            <a:off x="4800600" y="1417320"/>
            <a:ext cx="27432" cy="4343400"/>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029200" y="1417320"/>
            <a:ext cx="5120640" cy="2255520"/>
          </a:xfrm>
          <a:prstGeom prst="rect">
            <a:avLst/>
          </a:prstGeom>
          <a:noFill/>
        </p:spPr>
        <p:txBody>
          <a:bodyPr wrap="square" lIns="0" rIns="0" tIns="0" bIns="0" anchor="t">
            <a:spAutoFit/>
          </a:bodyPr>
          <a:lstStyle/>
          <a:p>
            <a:pPr algn="l">
              <a:spcAft>
                <a:spcPts val="900"/>
              </a:spcAft>
            </a:pPr>
            <a:r>
              <a:rPr sz="1400" b="0" i="0">
                <a:solidFill>
                  <a:srgbClr val="1F1F1F"/>
                </a:solidFill>
              </a:rPr>
              <a:t>1. tiktokenizer.vercel.app: paste a sentence, pick the demo model’s encoding, read the token count</a:t>
            </a:r>
          </a:p>
          <a:p>
            <a:pPr algn="l">
              <a:spcAft>
                <a:spcPts val="900"/>
              </a:spcAft>
            </a:pPr>
            <a:r>
              <a:rPr sz="1400" b="0" i="0">
                <a:solidFill>
                  <a:srgbClr val="1F1F1F"/>
                </a:solidFill>
              </a:rPr>
              <a:t>2. type “strawberry”, a long German compound and a line of code — compare the splits</a:t>
            </a:r>
          </a:p>
          <a:p>
            <a:pPr algn="l">
              <a:spcAft>
                <a:spcPts val="900"/>
              </a:spcAft>
            </a:pPr>
            <a:r>
              <a:rPr sz="1400" b="0" i="0">
                <a:solidFill>
                  <a:srgbClr val="1F1F1F"/>
                </a:solidFill>
              </a:rPr>
              <a:t>3. poloclub.github.io/transformer-explainer: type “the cat sat on the”, open one attention head</a:t>
            </a:r>
          </a:p>
          <a:p>
            <a:pPr algn="l">
              <a:spcAft>
                <a:spcPts val="900"/>
              </a:spcAft>
            </a:pPr>
            <a:r>
              <a:rPr sz="1400" b="0" i="0">
                <a:solidFill>
                  <a:srgbClr val="1F1F1F"/>
                </a:solidFill>
              </a:rPr>
              <a:t>4. move the temperature slider and watch the next-token bars reshape (preview of the knobs slide)</a:t>
            </a:r>
          </a:p>
        </p:txBody>
      </p:sp>
      <p:sp>
        <p:nvSpPr>
          <p:cNvPr id="11" name="Rounded Rectangle 10"/>
          <p:cNvSpPr/>
          <p:nvPr/>
        </p:nvSpPr>
        <p:spPr>
          <a:xfrm>
            <a:off x="5029200" y="3947160"/>
            <a:ext cx="5120640" cy="91744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230368" y="4111751"/>
            <a:ext cx="4718303" cy="411480"/>
          </a:xfrm>
          <a:prstGeom prst="rect">
            <a:avLst/>
          </a:prstGeom>
          <a:noFill/>
        </p:spPr>
        <p:txBody>
          <a:bodyPr wrap="square" lIns="0" rIns="0" tIns="0" bIns="0" anchor="t">
            <a:spAutoFit/>
          </a:bodyPr>
          <a:lstStyle/>
          <a:p>
            <a:pPr algn="l">
              <a:spcAft>
                <a:spcPts val="0"/>
              </a:spcAft>
            </a:pPr>
            <a:r>
              <a:rPr sz="1200" b="1" i="0">
                <a:solidFill>
                  <a:srgbClr val="C52B2B"/>
                </a:solidFill>
              </a:rPr>
              <a:t>IF IT BREAKS</a:t>
            </a:r>
          </a:p>
        </p:txBody>
      </p:sp>
      <p:sp>
        <p:nvSpPr>
          <p:cNvPr id="13" name="TextBox 12"/>
          <p:cNvSpPr txBox="1"/>
          <p:nvPr/>
        </p:nvSpPr>
        <p:spPr>
          <a:xfrm>
            <a:off x="5230368" y="4568951"/>
            <a:ext cx="4718303" cy="274320"/>
          </a:xfrm>
          <a:prstGeom prst="rect">
            <a:avLst/>
          </a:prstGeom>
          <a:noFill/>
        </p:spPr>
        <p:txBody>
          <a:bodyPr wrap="square" lIns="0" rIns="0" tIns="0" bIns="0" anchor="t">
            <a:spAutoFit/>
          </a:bodyPr>
          <a:lstStyle/>
          <a:p>
            <a:pPr algn="l">
              <a:spcAft>
                <a:spcPts val="0"/>
              </a:spcAft>
            </a:pPr>
            <a:r>
              <a:rPr sz="1100" b="0" i="0">
                <a:solidFill>
                  <a:srgbClr val="1F1F1F"/>
                </a:solidFill>
              </a:rPr>
              <a:t>screenshots of both tools, the same four steps</a:t>
            </a:r>
          </a:p>
        </p:txBody>
      </p:sp>
      <p:sp>
        <p:nvSpPr>
          <p:cNvPr id="14" name="TextBox 13"/>
          <p:cNvSpPr txBox="1"/>
          <p:nvPr/>
        </p:nvSpPr>
        <p:spPr>
          <a:xfrm>
            <a:off x="585216" y="2834640"/>
            <a:ext cx="3931920" cy="274320"/>
          </a:xfrm>
          <a:prstGeom prst="rect">
            <a:avLst/>
          </a:prstGeom>
          <a:noFill/>
        </p:spPr>
        <p:txBody>
          <a:bodyPr wrap="square" lIns="0" rIns="0" tIns="0" bIns="0" anchor="t">
            <a:spAutoFit/>
          </a:bodyPr>
          <a:lstStyle/>
          <a:p>
            <a:pPr algn="l">
              <a:spcAft>
                <a:spcPts val="0"/>
              </a:spcAft>
            </a:pPr>
            <a:r>
              <a:rPr sz="1000" b="1" i="0">
                <a:solidFill>
                  <a:srgbClr val="6B6B6B"/>
                </a:solidFill>
              </a:rPr>
              <a:t>WHAT TO LOOK FOR — illustrative splits</a:t>
            </a:r>
          </a:p>
        </p:txBody>
      </p:sp>
      <p:sp>
        <p:nvSpPr>
          <p:cNvPr id="15" name="Rounded Rectangle 14"/>
          <p:cNvSpPr/>
          <p:nvPr/>
        </p:nvSpPr>
        <p:spPr>
          <a:xfrm>
            <a:off x="585216" y="3127248"/>
            <a:ext cx="822960" cy="384048"/>
          </a:xfrm>
          <a:prstGeom prst="roundRect">
            <a:avLst>
              <a:gd name="adj" fmla="val 15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0" i="0">
                <a:solidFill>
                  <a:srgbClr val="1F1F1F"/>
                </a:solidFill>
              </a:rPr>
              <a:t>straw</a:t>
            </a:r>
          </a:p>
        </p:txBody>
      </p:sp>
      <p:sp>
        <p:nvSpPr>
          <p:cNvPr id="16" name="Rounded Rectangle 15"/>
          <p:cNvSpPr/>
          <p:nvPr/>
        </p:nvSpPr>
        <p:spPr>
          <a:xfrm>
            <a:off x="1481328" y="3127248"/>
            <a:ext cx="822960" cy="384048"/>
          </a:xfrm>
          <a:prstGeom prst="roundRect">
            <a:avLst>
              <a:gd name="adj" fmla="val 15000"/>
            </a:avLst>
          </a:prstGeom>
          <a:solidFill>
            <a:srgbClr val="FFEB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0" i="0">
                <a:solidFill>
                  <a:srgbClr val="1F1F1F"/>
                </a:solidFill>
              </a:rPr>
              <a:t>berry</a:t>
            </a:r>
          </a:p>
        </p:txBody>
      </p:sp>
      <p:sp>
        <p:nvSpPr>
          <p:cNvPr id="17" name="Rounded Rectangle 16"/>
          <p:cNvSpPr/>
          <p:nvPr/>
        </p:nvSpPr>
        <p:spPr>
          <a:xfrm>
            <a:off x="585216" y="3602736"/>
            <a:ext cx="822960" cy="384048"/>
          </a:xfrm>
          <a:prstGeom prst="roundRect">
            <a:avLst>
              <a:gd name="adj" fmla="val 15000"/>
            </a:avLst>
          </a:prstGeom>
          <a:solidFill>
            <a:srgbClr val="D5EE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0" i="0">
                <a:solidFill>
                  <a:srgbClr val="1F1F1F"/>
                </a:solidFill>
              </a:rPr>
              <a:t>Donau</a:t>
            </a:r>
          </a:p>
        </p:txBody>
      </p:sp>
      <p:sp>
        <p:nvSpPr>
          <p:cNvPr id="18" name="Rounded Rectangle 17"/>
          <p:cNvSpPr/>
          <p:nvPr/>
        </p:nvSpPr>
        <p:spPr>
          <a:xfrm>
            <a:off x="1481328" y="3602736"/>
            <a:ext cx="822960" cy="384048"/>
          </a:xfrm>
          <a:prstGeom prst="roundRect">
            <a:avLst>
              <a:gd name="adj" fmla="val 15000"/>
            </a:avLst>
          </a:prstGeom>
          <a:solidFill>
            <a:srgbClr val="F6DA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0" i="0">
                <a:solidFill>
                  <a:srgbClr val="1F1F1F"/>
                </a:solidFill>
              </a:rPr>
              <a:t>dampf</a:t>
            </a:r>
          </a:p>
        </p:txBody>
      </p:sp>
      <p:sp>
        <p:nvSpPr>
          <p:cNvPr id="19" name="Rounded Rectangle 18"/>
          <p:cNvSpPr/>
          <p:nvPr/>
        </p:nvSpPr>
        <p:spPr>
          <a:xfrm>
            <a:off x="2377440" y="3602736"/>
            <a:ext cx="941832" cy="384048"/>
          </a:xfrm>
          <a:prstGeom prst="roundRect">
            <a:avLst>
              <a:gd name="adj" fmla="val 15000"/>
            </a:avLst>
          </a:prstGeom>
          <a:solidFill>
            <a:srgbClr val="E6D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0" i="0">
                <a:solidFill>
                  <a:srgbClr val="1F1F1F"/>
                </a:solidFill>
              </a:rPr>
              <a:t>schiff</a:t>
            </a:r>
          </a:p>
        </p:txBody>
      </p:sp>
      <p:sp>
        <p:nvSpPr>
          <p:cNvPr id="20" name="Rounded Rectangle 19"/>
          <p:cNvSpPr/>
          <p:nvPr/>
        </p:nvSpPr>
        <p:spPr>
          <a:xfrm>
            <a:off x="3392424" y="3602736"/>
            <a:ext cx="822960" cy="384048"/>
          </a:xfrm>
          <a:prstGeom prst="roundRect">
            <a:avLst>
              <a:gd name="adj" fmla="val 15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0" i="0">
                <a:solidFill>
                  <a:srgbClr val="1F1F1F"/>
                </a:solidFill>
              </a:rPr>
              <a:t>fahrt</a:t>
            </a:r>
          </a:p>
        </p:txBody>
      </p:sp>
      <p:sp>
        <p:nvSpPr>
          <p:cNvPr id="21" name="TextBox 20"/>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tiktokenizer · Transformer Explainer (Polo Club)</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The transformer block is attention + a small MLP, stacked</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Attention lets tokens talk; the MLP lets each token think; stack it N times.</a:t>
            </a:r>
          </a:p>
        </p:txBody>
      </p:sp>
      <p:sp>
        <p:nvSpPr>
          <p:cNvPr id="5" name="Rounded Rectangle 4"/>
          <p:cNvSpPr/>
          <p:nvPr/>
        </p:nvSpPr>
        <p:spPr>
          <a:xfrm>
            <a:off x="585216" y="2514600"/>
            <a:ext cx="1600200" cy="100584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1F1F1F"/>
                </a:solidFill>
              </a:rPr>
              <a:t>tokens</a:t>
            </a:r>
          </a:p>
          <a:p>
            <a:pPr algn="ctr"/>
            <a:r>
              <a:rPr sz="1300" b="1" i="0">
                <a:solidFill>
                  <a:srgbClr val="1F1F1F"/>
                </a:solidFill>
              </a:rPr>
              <a:t>+ positions</a:t>
            </a:r>
          </a:p>
        </p:txBody>
      </p:sp>
      <p:cxnSp>
        <p:nvCxnSpPr>
          <p:cNvPr id="6" name="Connector 5"/>
          <p:cNvCxnSpPr/>
          <p:nvPr/>
        </p:nvCxnSpPr>
        <p:spPr>
          <a:xfrm>
            <a:off x="2231136" y="3017520"/>
            <a:ext cx="256032"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514600" y="2148840"/>
            <a:ext cx="4343400" cy="1828800"/>
          </a:xfrm>
          <a:prstGeom prst="roundRect">
            <a:avLst>
              <a:gd name="adj" fmla="val 6000"/>
            </a:avLst>
          </a:prstGeom>
          <a:solidFill>
            <a:srgbClr val="FFFFFF"/>
          </a:solidFill>
          <a:ln w="127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6172200" y="2011680"/>
            <a:ext cx="822960" cy="310896"/>
          </a:xfrm>
          <a:prstGeom prst="roundRect">
            <a:avLst>
              <a:gd name="adj" fmla="val 50000"/>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 N</a:t>
            </a:r>
          </a:p>
        </p:txBody>
      </p:sp>
      <p:sp>
        <p:nvSpPr>
          <p:cNvPr id="9" name="Rounded Rectangle 8"/>
          <p:cNvSpPr/>
          <p:nvPr/>
        </p:nvSpPr>
        <p:spPr>
          <a:xfrm>
            <a:off x="2697480" y="2514600"/>
            <a:ext cx="1783080" cy="100584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self-attention</a:t>
            </a:r>
          </a:p>
        </p:txBody>
      </p:sp>
      <p:cxnSp>
        <p:nvCxnSpPr>
          <p:cNvPr id="10" name="Connector 9"/>
          <p:cNvCxnSpPr/>
          <p:nvPr/>
        </p:nvCxnSpPr>
        <p:spPr>
          <a:xfrm>
            <a:off x="4526280" y="3017520"/>
            <a:ext cx="320040"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892040" y="2514600"/>
            <a:ext cx="1783080" cy="1005840"/>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feed-forward</a:t>
            </a:r>
          </a:p>
          <a:p>
            <a:pPr algn="ctr"/>
            <a:r>
              <a:rPr sz="1400" b="1" i="0">
                <a:solidFill>
                  <a:srgbClr val="FFFFFF"/>
                </a:solidFill>
              </a:rPr>
              <a:t>(MLP)</a:t>
            </a:r>
          </a:p>
        </p:txBody>
      </p:sp>
      <p:sp>
        <p:nvSpPr>
          <p:cNvPr id="12" name="TextBox 11"/>
          <p:cNvSpPr txBox="1"/>
          <p:nvPr/>
        </p:nvSpPr>
        <p:spPr>
          <a:xfrm>
            <a:off x="2697480" y="3566160"/>
            <a:ext cx="1783080" cy="274320"/>
          </a:xfrm>
          <a:prstGeom prst="rect">
            <a:avLst/>
          </a:prstGeom>
          <a:noFill/>
        </p:spPr>
        <p:txBody>
          <a:bodyPr wrap="square" lIns="0" rIns="0" tIns="0" bIns="0" anchor="t">
            <a:spAutoFit/>
          </a:bodyPr>
          <a:lstStyle/>
          <a:p>
            <a:pPr algn="ctr">
              <a:spcAft>
                <a:spcPts val="0"/>
              </a:spcAft>
            </a:pPr>
            <a:r>
              <a:rPr sz="1000" b="0" i="0">
                <a:solidFill>
                  <a:srgbClr val="6B6B6B"/>
                </a:solidFill>
              </a:rPr>
              <a:t>+ residual · norm</a:t>
            </a:r>
          </a:p>
        </p:txBody>
      </p:sp>
      <p:sp>
        <p:nvSpPr>
          <p:cNvPr id="13" name="TextBox 12"/>
          <p:cNvSpPr txBox="1"/>
          <p:nvPr/>
        </p:nvSpPr>
        <p:spPr>
          <a:xfrm>
            <a:off x="4892040" y="3566160"/>
            <a:ext cx="1783080" cy="274320"/>
          </a:xfrm>
          <a:prstGeom prst="rect">
            <a:avLst/>
          </a:prstGeom>
          <a:noFill/>
        </p:spPr>
        <p:txBody>
          <a:bodyPr wrap="square" lIns="0" rIns="0" tIns="0" bIns="0" anchor="t">
            <a:spAutoFit/>
          </a:bodyPr>
          <a:lstStyle/>
          <a:p>
            <a:pPr algn="ctr">
              <a:spcAft>
                <a:spcPts val="0"/>
              </a:spcAft>
            </a:pPr>
            <a:r>
              <a:rPr sz="1000" b="0" i="0">
                <a:solidFill>
                  <a:srgbClr val="6B6B6B"/>
                </a:solidFill>
              </a:rPr>
              <a:t>+ residual · norm</a:t>
            </a:r>
          </a:p>
        </p:txBody>
      </p:sp>
      <p:cxnSp>
        <p:nvCxnSpPr>
          <p:cNvPr id="14" name="Connector 13"/>
          <p:cNvCxnSpPr/>
          <p:nvPr/>
        </p:nvCxnSpPr>
        <p:spPr>
          <a:xfrm>
            <a:off x="6903720" y="3017520"/>
            <a:ext cx="274320"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223760" y="2514600"/>
            <a:ext cx="1325880" cy="100584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1F1F1F"/>
                </a:solidFill>
              </a:rPr>
              <a:t>project to</a:t>
            </a:r>
          </a:p>
          <a:p>
            <a:pPr algn="ctr"/>
            <a:r>
              <a:rPr sz="1300" b="1" i="0">
                <a:solidFill>
                  <a:srgbClr val="1F1F1F"/>
                </a:solidFill>
              </a:rPr>
              <a:t>vocabulary</a:t>
            </a:r>
          </a:p>
        </p:txBody>
      </p:sp>
      <p:cxnSp>
        <p:nvCxnSpPr>
          <p:cNvPr id="16" name="Connector 15"/>
          <p:cNvCxnSpPr/>
          <p:nvPr/>
        </p:nvCxnSpPr>
        <p:spPr>
          <a:xfrm>
            <a:off x="8595360" y="3017520"/>
            <a:ext cx="274320"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915400" y="2514600"/>
            <a:ext cx="1325880" cy="100584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1F1F1F"/>
                </a:solidFill>
              </a:rPr>
              <a:t>softmax →</a:t>
            </a:r>
          </a:p>
          <a:p>
            <a:pPr algn="ctr"/>
            <a:r>
              <a:rPr sz="1300" b="1" i="0">
                <a:solidFill>
                  <a:srgbClr val="1F1F1F"/>
                </a:solidFill>
              </a:rPr>
              <a:t>p(next token)</a:t>
            </a:r>
          </a:p>
        </p:txBody>
      </p:sp>
      <p:sp>
        <p:nvSpPr>
          <p:cNvPr id="18" name="TextBox 17"/>
          <p:cNvSpPr txBox="1"/>
          <p:nvPr/>
        </p:nvSpPr>
        <p:spPr>
          <a:xfrm>
            <a:off x="585216" y="4297680"/>
            <a:ext cx="2651760" cy="320040"/>
          </a:xfrm>
          <a:prstGeom prst="rect">
            <a:avLst/>
          </a:prstGeom>
          <a:noFill/>
        </p:spPr>
        <p:txBody>
          <a:bodyPr wrap="square" lIns="0" rIns="0" tIns="0" bIns="0" anchor="t">
            <a:spAutoFit/>
          </a:bodyPr>
          <a:lstStyle/>
          <a:p>
            <a:pPr algn="l">
              <a:spcAft>
                <a:spcPts val="0"/>
              </a:spcAft>
            </a:pPr>
            <a:r>
              <a:rPr sz="1050" b="1" i="0">
                <a:solidFill>
                  <a:srgbClr val="6B6B6B"/>
                </a:solidFill>
              </a:rPr>
              <a:t>GPT-2 SMALL</a:t>
            </a:r>
          </a:p>
        </p:txBody>
      </p:sp>
      <p:sp>
        <p:nvSpPr>
          <p:cNvPr id="19" name="TextBox 18"/>
          <p:cNvSpPr txBox="1"/>
          <p:nvPr/>
        </p:nvSpPr>
        <p:spPr>
          <a:xfrm>
            <a:off x="585216" y="4599432"/>
            <a:ext cx="2651760" cy="731520"/>
          </a:xfrm>
          <a:prstGeom prst="rect">
            <a:avLst/>
          </a:prstGeom>
          <a:noFill/>
        </p:spPr>
        <p:txBody>
          <a:bodyPr wrap="square" lIns="0" rIns="0" tIns="0" bIns="0" anchor="t">
            <a:spAutoFit/>
          </a:bodyPr>
          <a:lstStyle/>
          <a:p>
            <a:pPr algn="l">
              <a:spcAft>
                <a:spcPts val="0"/>
              </a:spcAft>
            </a:pPr>
            <a:r>
              <a:rPr sz="3000" b="1" i="0">
                <a:solidFill>
                  <a:srgbClr val="2A446F"/>
                </a:solidFill>
              </a:rPr>
              <a:t>12 blocks</a:t>
            </a:r>
          </a:p>
        </p:txBody>
      </p:sp>
      <p:sp>
        <p:nvSpPr>
          <p:cNvPr id="20" name="TextBox 19"/>
          <p:cNvSpPr txBox="1"/>
          <p:nvPr/>
        </p:nvSpPr>
        <p:spPr>
          <a:xfrm>
            <a:off x="3236976" y="4645152"/>
            <a:ext cx="457200" cy="640080"/>
          </a:xfrm>
          <a:prstGeom prst="rect">
            <a:avLst/>
          </a:prstGeom>
          <a:noFill/>
        </p:spPr>
        <p:txBody>
          <a:bodyPr wrap="square" lIns="0" rIns="0" tIns="0" bIns="0" anchor="t">
            <a:spAutoFit/>
          </a:bodyPr>
          <a:lstStyle/>
          <a:p>
            <a:pPr algn="ctr">
              <a:spcAft>
                <a:spcPts val="0"/>
              </a:spcAft>
            </a:pPr>
            <a:r>
              <a:rPr sz="2400" b="1" i="0">
                <a:solidFill>
                  <a:srgbClr val="6B6B6B"/>
                </a:solidFill>
              </a:rPr>
              <a:t>→</a:t>
            </a:r>
          </a:p>
        </p:txBody>
      </p:sp>
      <p:sp>
        <p:nvSpPr>
          <p:cNvPr id="21" name="TextBox 20"/>
          <p:cNvSpPr txBox="1"/>
          <p:nvPr/>
        </p:nvSpPr>
        <p:spPr>
          <a:xfrm>
            <a:off x="3694176" y="4297680"/>
            <a:ext cx="2651760" cy="320040"/>
          </a:xfrm>
          <a:prstGeom prst="rect">
            <a:avLst/>
          </a:prstGeom>
          <a:noFill/>
        </p:spPr>
        <p:txBody>
          <a:bodyPr wrap="square" lIns="0" rIns="0" tIns="0" bIns="0" anchor="t">
            <a:spAutoFit/>
          </a:bodyPr>
          <a:lstStyle/>
          <a:p>
            <a:pPr algn="l">
              <a:spcAft>
                <a:spcPts val="0"/>
              </a:spcAft>
            </a:pPr>
            <a:r>
              <a:rPr sz="1050" b="1" i="0">
                <a:solidFill>
                  <a:srgbClr val="6B6B6B"/>
                </a:solidFill>
              </a:rPr>
              <a:t>GPT-3 AND FRONTIER</a:t>
            </a:r>
          </a:p>
        </p:txBody>
      </p:sp>
      <p:sp>
        <p:nvSpPr>
          <p:cNvPr id="22" name="TextBox 21"/>
          <p:cNvSpPr txBox="1"/>
          <p:nvPr/>
        </p:nvSpPr>
        <p:spPr>
          <a:xfrm>
            <a:off x="3694176" y="4599432"/>
            <a:ext cx="2651760" cy="731520"/>
          </a:xfrm>
          <a:prstGeom prst="rect">
            <a:avLst/>
          </a:prstGeom>
          <a:noFill/>
        </p:spPr>
        <p:txBody>
          <a:bodyPr wrap="square" lIns="0" rIns="0" tIns="0" bIns="0" anchor="t">
            <a:spAutoFit/>
          </a:bodyPr>
          <a:lstStyle/>
          <a:p>
            <a:pPr algn="l">
              <a:spcAft>
                <a:spcPts val="0"/>
              </a:spcAft>
            </a:pPr>
            <a:r>
              <a:rPr sz="3000" b="1" i="0">
                <a:solidFill>
                  <a:srgbClr val="0078D4"/>
                </a:solidFill>
              </a:rPr>
              <a:t>96+ blocks</a:t>
            </a:r>
          </a:p>
        </p:txBody>
      </p:sp>
      <p:sp>
        <p:nvSpPr>
          <p:cNvPr id="23" name="TextBox 22"/>
          <p:cNvSpPr txBox="1"/>
          <p:nvPr/>
        </p:nvSpPr>
        <p:spPr>
          <a:xfrm>
            <a:off x="6675120" y="4343400"/>
            <a:ext cx="3566160" cy="1097280"/>
          </a:xfrm>
          <a:prstGeom prst="rect">
            <a:avLst/>
          </a:prstGeom>
          <a:noFill/>
        </p:spPr>
        <p:txBody>
          <a:bodyPr wrap="square" lIns="0" rIns="0" tIns="0" bIns="0" anchor="t">
            <a:spAutoFit/>
          </a:bodyPr>
          <a:lstStyle/>
          <a:p>
            <a:pPr algn="l">
              <a:spcAft>
                <a:spcPts val="600"/>
              </a:spcAft>
            </a:pPr>
            <a:r>
              <a:rPr sz="1500" b="1" i="0">
                <a:solidFill>
                  <a:srgbClr val="2A446F"/>
                </a:solidFill>
              </a:rPr>
              <a:t>Parameters = the weights</a:t>
            </a:r>
          </a:p>
          <a:p>
            <a:pPr algn="l">
              <a:spcAft>
                <a:spcPts val="600"/>
              </a:spcAft>
            </a:pPr>
            <a:r>
              <a:rPr sz="1300" b="0" i="0">
                <a:solidFill>
                  <a:srgbClr val="1F1F1F"/>
                </a:solidFill>
              </a:rPr>
              <a:t>the numbers inside the attention and MLP matrices, learned in training</a:t>
            </a:r>
          </a:p>
        </p:txBody>
      </p:sp>
      <p:sp>
        <p:nvSpPr>
          <p:cNvPr id="24" name="TextBox 23"/>
          <p:cNvSpPr txBox="1"/>
          <p:nvPr/>
        </p:nvSpPr>
        <p:spPr>
          <a:xfrm>
            <a:off x="585216" y="5504688"/>
            <a:ext cx="9656063" cy="274320"/>
          </a:xfrm>
          <a:prstGeom prst="rect">
            <a:avLst/>
          </a:prstGeom>
          <a:noFill/>
        </p:spPr>
        <p:txBody>
          <a:bodyPr wrap="square" lIns="0" rIns="0" tIns="0" bIns="0" anchor="t">
            <a:spAutoFit/>
          </a:bodyPr>
          <a:lstStyle/>
          <a:p>
            <a:pPr algn="l">
              <a:spcAft>
                <a:spcPts val="0"/>
              </a:spcAft>
            </a:pPr>
            <a:r>
              <a:rPr sz="1100" b="1" i="0">
                <a:solidFill>
                  <a:srgbClr val="0078D4"/>
                </a:solidFill>
              </a:rPr>
              <a:t>TRY IT  bbycroft.net/llm (3-D walk-through) · poloclub.github.io/transformer-explainer</a:t>
            </a:r>
          </a:p>
        </p:txBody>
      </p:sp>
      <p:sp>
        <p:nvSpPr>
          <p:cNvPr id="25" name="TextBox 24"/>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Vaswani et al. 2017, Attention Is All You Need · LLM visualisation (bbycroft.net)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Encoders understand, decoders generate — the 2018 fork</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Same transformer block, different mask: who is allowed to look at whom.</a:t>
            </a:r>
          </a:p>
        </p:txBody>
      </p:sp>
      <p:sp>
        <p:nvSpPr>
          <p:cNvPr id="5" name="Rounded Rectangle 4"/>
          <p:cNvSpPr/>
          <p:nvPr/>
        </p:nvSpPr>
        <p:spPr>
          <a:xfrm>
            <a:off x="585216" y="3017520"/>
            <a:ext cx="1920240" cy="109728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i="0">
                <a:solidFill>
                  <a:srgbClr val="1F1F1F"/>
                </a:solidFill>
              </a:rPr>
              <a:t>Transformer</a:t>
            </a:r>
          </a:p>
          <a:p>
            <a:pPr algn="ctr"/>
            <a:r>
              <a:rPr sz="1200" b="0" i="0">
                <a:solidFill>
                  <a:srgbClr val="1F1F1F"/>
                </a:solidFill>
              </a:rPr>
              <a:t>2017</a:t>
            </a:r>
          </a:p>
          <a:p>
            <a:pPr algn="ctr"/>
            <a:r>
              <a:rPr sz="1200" b="1" i="0">
                <a:solidFill>
                  <a:srgbClr val="1F1F1F"/>
                </a:solidFill>
              </a:rPr>
              <a:t>encoder + decoder</a:t>
            </a:r>
          </a:p>
        </p:txBody>
      </p:sp>
      <p:cxnSp>
        <p:nvCxnSpPr>
          <p:cNvPr id="6" name="Connector 5"/>
          <p:cNvCxnSpPr/>
          <p:nvPr/>
        </p:nvCxnSpPr>
        <p:spPr>
          <a:xfrm flipV="1">
            <a:off x="2560320" y="2514600"/>
            <a:ext cx="502920" cy="77724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560320" y="3840480"/>
            <a:ext cx="502920" cy="77724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108960" y="1874519"/>
            <a:ext cx="3017520" cy="12344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310128" y="2039112"/>
            <a:ext cx="2615184" cy="411480"/>
          </a:xfrm>
          <a:prstGeom prst="rect">
            <a:avLst/>
          </a:prstGeom>
          <a:noFill/>
        </p:spPr>
        <p:txBody>
          <a:bodyPr wrap="square" lIns="0" rIns="0" tIns="0" bIns="0" anchor="t">
            <a:spAutoFit/>
          </a:bodyPr>
          <a:lstStyle/>
          <a:p>
            <a:pPr algn="l">
              <a:spcAft>
                <a:spcPts val="0"/>
              </a:spcAft>
            </a:pPr>
            <a:r>
              <a:rPr sz="1300" b="1" i="0">
                <a:solidFill>
                  <a:srgbClr val="0078D4"/>
                </a:solidFill>
              </a:rPr>
              <a:t>GPT-1 · OpenAI · Jun 2018</a:t>
            </a:r>
          </a:p>
        </p:txBody>
      </p:sp>
      <p:sp>
        <p:nvSpPr>
          <p:cNvPr id="10" name="TextBox 9"/>
          <p:cNvSpPr txBox="1"/>
          <p:nvPr/>
        </p:nvSpPr>
        <p:spPr>
          <a:xfrm>
            <a:off x="3310128" y="2496312"/>
            <a:ext cx="2615184" cy="457200"/>
          </a:xfrm>
          <a:prstGeom prst="rect">
            <a:avLst/>
          </a:prstGeom>
          <a:noFill/>
        </p:spPr>
        <p:txBody>
          <a:bodyPr wrap="square" lIns="0" rIns="0" tIns="0" bIns="0" anchor="t">
            <a:spAutoFit/>
          </a:bodyPr>
          <a:lstStyle/>
          <a:p>
            <a:pPr algn="l">
              <a:spcAft>
                <a:spcPts val="0"/>
              </a:spcAft>
            </a:pPr>
            <a:r>
              <a:rPr sz="1200" b="0" i="0">
                <a:solidFill>
                  <a:srgbClr val="1F1F1F"/>
                </a:solidFill>
              </a:rPr>
              <a:t>decoder-only: reads left to right, predicts the next token</a:t>
            </a:r>
          </a:p>
        </p:txBody>
      </p:sp>
      <p:sp>
        <p:nvSpPr>
          <p:cNvPr id="11" name="Rounded Rectangle 10"/>
          <p:cNvSpPr/>
          <p:nvPr/>
        </p:nvSpPr>
        <p:spPr>
          <a:xfrm>
            <a:off x="3108960" y="4023360"/>
            <a:ext cx="3017520" cy="12344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310128" y="4187952"/>
            <a:ext cx="2615184" cy="411480"/>
          </a:xfrm>
          <a:prstGeom prst="rect">
            <a:avLst/>
          </a:prstGeom>
          <a:noFill/>
        </p:spPr>
        <p:txBody>
          <a:bodyPr wrap="square" lIns="0" rIns="0" tIns="0" bIns="0" anchor="t">
            <a:spAutoFit/>
          </a:bodyPr>
          <a:lstStyle/>
          <a:p>
            <a:pPr algn="l">
              <a:spcAft>
                <a:spcPts val="0"/>
              </a:spcAft>
            </a:pPr>
            <a:r>
              <a:rPr sz="1300" b="1" i="0">
                <a:solidFill>
                  <a:srgbClr val="008B8B"/>
                </a:solidFill>
              </a:rPr>
              <a:t>BERT · Google · Oct 2018</a:t>
            </a:r>
          </a:p>
        </p:txBody>
      </p:sp>
      <p:sp>
        <p:nvSpPr>
          <p:cNvPr id="13" name="TextBox 12"/>
          <p:cNvSpPr txBox="1"/>
          <p:nvPr/>
        </p:nvSpPr>
        <p:spPr>
          <a:xfrm>
            <a:off x="3310128" y="4645152"/>
            <a:ext cx="2615184" cy="457200"/>
          </a:xfrm>
          <a:prstGeom prst="rect">
            <a:avLst/>
          </a:prstGeom>
          <a:noFill/>
        </p:spPr>
        <p:txBody>
          <a:bodyPr wrap="square" lIns="0" rIns="0" tIns="0" bIns="0" anchor="t">
            <a:spAutoFit/>
          </a:bodyPr>
          <a:lstStyle/>
          <a:p>
            <a:pPr algn="l">
              <a:spcAft>
                <a:spcPts val="0"/>
              </a:spcAft>
            </a:pPr>
            <a:r>
              <a:rPr sz="1200" b="0" i="0">
                <a:solidFill>
                  <a:srgbClr val="1F1F1F"/>
                </a:solidFill>
              </a:rPr>
              <a:t>encoder-only: reads the whole sentence, fills in masked words</a:t>
            </a:r>
          </a:p>
        </p:txBody>
      </p:sp>
      <p:sp>
        <p:nvSpPr>
          <p:cNvPr id="14" name="Rectangle 13"/>
          <p:cNvSpPr/>
          <p:nvPr/>
        </p:nvSpPr>
        <p:spPr>
          <a:xfrm>
            <a:off x="6446520" y="1965960"/>
            <a:ext cx="182880" cy="1828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656832" y="1965960"/>
            <a:ext cx="182880" cy="18288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867144" y="1965960"/>
            <a:ext cx="182880" cy="18288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077456" y="1965960"/>
            <a:ext cx="182880" cy="18288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287768" y="1965960"/>
            <a:ext cx="182880" cy="18288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446520" y="2176272"/>
            <a:ext cx="182880" cy="1828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656832" y="2176272"/>
            <a:ext cx="182880" cy="1828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867144" y="2176272"/>
            <a:ext cx="182880" cy="18288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077456" y="2176272"/>
            <a:ext cx="182880" cy="18288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287768" y="2176272"/>
            <a:ext cx="182880" cy="18288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6446520" y="2386584"/>
            <a:ext cx="182880" cy="1828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656832" y="2386584"/>
            <a:ext cx="182880" cy="1828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6867144" y="2386584"/>
            <a:ext cx="182880" cy="1828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077456" y="2386584"/>
            <a:ext cx="182880" cy="18288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287768" y="2386584"/>
            <a:ext cx="182880" cy="18288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6446520" y="2596896"/>
            <a:ext cx="182880" cy="1828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6656832" y="2596896"/>
            <a:ext cx="182880" cy="1828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6867144" y="2596896"/>
            <a:ext cx="182880" cy="1828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7077456" y="2596896"/>
            <a:ext cx="182880" cy="1828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287768" y="2596896"/>
            <a:ext cx="182880" cy="18288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6446520" y="2807208"/>
            <a:ext cx="182880" cy="1828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656832" y="2807208"/>
            <a:ext cx="182880" cy="1828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6867144" y="2807208"/>
            <a:ext cx="182880" cy="1828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077456" y="2807208"/>
            <a:ext cx="182880" cy="1828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7287768" y="2807208"/>
            <a:ext cx="182880" cy="1828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6446520" y="4114800"/>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6656832" y="4114800"/>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6867144" y="4114800"/>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7077456" y="4114800"/>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7287768" y="4114800"/>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6446520" y="4325112"/>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6656832" y="4325112"/>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6867144" y="4325112"/>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7077456" y="4325112"/>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7287768" y="4325112"/>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6446520" y="4535424"/>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6656832" y="4535424"/>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6867144" y="4535424"/>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7077456" y="4535424"/>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7287768" y="4535424"/>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6446520" y="4745736"/>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6656832" y="4745736"/>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6867144" y="4745736"/>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7077456" y="4745736"/>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7287768" y="4745736"/>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6446520" y="4956048"/>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ectangle 59"/>
          <p:cNvSpPr/>
          <p:nvPr/>
        </p:nvSpPr>
        <p:spPr>
          <a:xfrm>
            <a:off x="6656832" y="4956048"/>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ectangle 60"/>
          <p:cNvSpPr/>
          <p:nvPr/>
        </p:nvSpPr>
        <p:spPr>
          <a:xfrm>
            <a:off x="6867144" y="4956048"/>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7077456" y="4956048"/>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Rectangle 62"/>
          <p:cNvSpPr/>
          <p:nvPr/>
        </p:nvSpPr>
        <p:spPr>
          <a:xfrm>
            <a:off x="7287768" y="4956048"/>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6263640" y="3063240"/>
            <a:ext cx="1463040" cy="237744"/>
          </a:xfrm>
          <a:prstGeom prst="rect">
            <a:avLst/>
          </a:prstGeom>
          <a:noFill/>
        </p:spPr>
        <p:txBody>
          <a:bodyPr wrap="square" lIns="0" rIns="0" tIns="0" bIns="0" anchor="t">
            <a:spAutoFit/>
          </a:bodyPr>
          <a:lstStyle/>
          <a:p>
            <a:pPr algn="ctr">
              <a:spcAft>
                <a:spcPts val="0"/>
              </a:spcAft>
            </a:pPr>
            <a:r>
              <a:rPr sz="1000" b="0" i="0">
                <a:solidFill>
                  <a:srgbClr val="6B6B6B"/>
                </a:solidFill>
              </a:rPr>
              <a:t>causal mask</a:t>
            </a:r>
          </a:p>
        </p:txBody>
      </p:sp>
      <p:sp>
        <p:nvSpPr>
          <p:cNvPr id="65" name="TextBox 64"/>
          <p:cNvSpPr txBox="1"/>
          <p:nvPr/>
        </p:nvSpPr>
        <p:spPr>
          <a:xfrm>
            <a:off x="6263640" y="5212080"/>
            <a:ext cx="1463040" cy="237744"/>
          </a:xfrm>
          <a:prstGeom prst="rect">
            <a:avLst/>
          </a:prstGeom>
          <a:noFill/>
        </p:spPr>
        <p:txBody>
          <a:bodyPr wrap="square" lIns="0" rIns="0" tIns="0" bIns="0" anchor="t">
            <a:spAutoFit/>
          </a:bodyPr>
          <a:lstStyle/>
          <a:p>
            <a:pPr algn="ctr">
              <a:spcAft>
                <a:spcPts val="0"/>
              </a:spcAft>
            </a:pPr>
            <a:r>
              <a:rPr sz="1000" b="0" i="0">
                <a:solidFill>
                  <a:srgbClr val="6B6B6B"/>
                </a:solidFill>
              </a:rPr>
              <a:t>full attention</a:t>
            </a:r>
          </a:p>
        </p:txBody>
      </p:sp>
      <p:sp>
        <p:nvSpPr>
          <p:cNvPr id="66" name="TextBox 65"/>
          <p:cNvSpPr txBox="1"/>
          <p:nvPr/>
        </p:nvSpPr>
        <p:spPr>
          <a:xfrm>
            <a:off x="7726679" y="2103120"/>
            <a:ext cx="2514600" cy="914400"/>
          </a:xfrm>
          <a:prstGeom prst="rect">
            <a:avLst/>
          </a:prstGeom>
          <a:noFill/>
        </p:spPr>
        <p:txBody>
          <a:bodyPr wrap="square" lIns="0" rIns="0" tIns="0" bIns="0" anchor="t">
            <a:spAutoFit/>
          </a:bodyPr>
          <a:lstStyle/>
          <a:p>
            <a:pPr algn="l">
              <a:spcAft>
                <a:spcPts val="600"/>
              </a:spcAft>
            </a:pPr>
            <a:r>
              <a:rPr sz="1400" b="1" i="0">
                <a:solidFill>
                  <a:srgbClr val="0078D4"/>
                </a:solidFill>
              </a:rPr>
              <a:t>→ chat &amp; code models</a:t>
            </a:r>
          </a:p>
          <a:p>
            <a:pPr algn="l">
              <a:spcAft>
                <a:spcPts val="600"/>
              </a:spcAft>
            </a:pPr>
            <a:r>
              <a:rPr sz="1200" b="0" i="0">
                <a:solidFill>
                  <a:srgbClr val="1F1F1F"/>
                </a:solidFill>
              </a:rPr>
              <a:t>GPT, Llama, Claude, DeepSeek, Qwen</a:t>
            </a:r>
          </a:p>
        </p:txBody>
      </p:sp>
      <p:sp>
        <p:nvSpPr>
          <p:cNvPr id="67" name="TextBox 66"/>
          <p:cNvSpPr txBox="1"/>
          <p:nvPr/>
        </p:nvSpPr>
        <p:spPr>
          <a:xfrm>
            <a:off x="7726679" y="4251960"/>
            <a:ext cx="2514600" cy="914400"/>
          </a:xfrm>
          <a:prstGeom prst="rect">
            <a:avLst/>
          </a:prstGeom>
          <a:noFill/>
        </p:spPr>
        <p:txBody>
          <a:bodyPr wrap="square" lIns="0" rIns="0" tIns="0" bIns="0" anchor="t">
            <a:spAutoFit/>
          </a:bodyPr>
          <a:lstStyle/>
          <a:p>
            <a:pPr algn="l">
              <a:spcAft>
                <a:spcPts val="600"/>
              </a:spcAft>
            </a:pPr>
            <a:r>
              <a:rPr sz="1400" b="1" i="0">
                <a:solidFill>
                  <a:srgbClr val="008B8B"/>
                </a:solidFill>
              </a:rPr>
              <a:t>→ search &amp; embeddings</a:t>
            </a:r>
          </a:p>
          <a:p>
            <a:pPr algn="l">
              <a:spcAft>
                <a:spcPts val="600"/>
              </a:spcAft>
            </a:pPr>
            <a:r>
              <a:rPr sz="1200" b="0" i="0">
                <a:solidFill>
                  <a:srgbClr val="1F1F1F"/>
                </a:solidFill>
              </a:rPr>
              <a:t>BERT, RoBERTa, ModernBERT</a:t>
            </a:r>
          </a:p>
        </p:txBody>
      </p:sp>
      <p:sp>
        <p:nvSpPr>
          <p:cNvPr id="68" name="TextBox 67"/>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That’s why embedding models and chat models are cousins: same block, different mask.</a:t>
            </a:r>
          </a:p>
        </p:txBody>
      </p:sp>
      <p:sp>
        <p:nvSpPr>
          <p:cNvPr id="69" name="TextBox 68"/>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BERT paper (arXiv 1810.04805) · Vaswani et al. 2017, Attention Is All You Need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Three lineages you’ll meet today</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Three wirings of the same block — and each one has a job in today’s labs.</a:t>
            </a:r>
          </a:p>
        </p:txBody>
      </p:sp>
      <p:sp>
        <p:nvSpPr>
          <p:cNvPr id="5" name="Rounded Rectangle 4"/>
          <p:cNvSpPr/>
          <p:nvPr/>
        </p:nvSpPr>
        <p:spPr>
          <a:xfrm>
            <a:off x="585216" y="2011680"/>
            <a:ext cx="3096767" cy="324612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86384" y="2148840"/>
            <a:ext cx="2694431" cy="365760"/>
          </a:xfrm>
          <a:prstGeom prst="rect">
            <a:avLst/>
          </a:prstGeom>
          <a:noFill/>
        </p:spPr>
        <p:txBody>
          <a:bodyPr wrap="square" lIns="0" rIns="0" tIns="0" bIns="0" anchor="t">
            <a:spAutoFit/>
          </a:bodyPr>
          <a:lstStyle/>
          <a:p>
            <a:pPr algn="l">
              <a:spcAft>
                <a:spcPts val="0"/>
              </a:spcAft>
            </a:pPr>
            <a:r>
              <a:rPr sz="1400" b="1" i="0">
                <a:solidFill>
                  <a:srgbClr val="008B8B"/>
                </a:solidFill>
              </a:rPr>
              <a:t>ENCODER-ONLY</a:t>
            </a:r>
          </a:p>
        </p:txBody>
      </p:sp>
      <p:sp>
        <p:nvSpPr>
          <p:cNvPr id="7" name="Rectangle 6"/>
          <p:cNvSpPr/>
          <p:nvPr/>
        </p:nvSpPr>
        <p:spPr>
          <a:xfrm>
            <a:off x="859536" y="2651760"/>
            <a:ext cx="274320" cy="27432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1188719" y="2651760"/>
            <a:ext cx="274320" cy="27432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517904" y="2651760"/>
            <a:ext cx="274320" cy="27432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847088" y="2651760"/>
            <a:ext cx="274320" cy="27432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1" name="Connector 10"/>
          <p:cNvCxnSpPr/>
          <p:nvPr/>
        </p:nvCxnSpPr>
        <p:spPr>
          <a:xfrm>
            <a:off x="2231136" y="2788920"/>
            <a:ext cx="411479" cy="0"/>
          </a:xfrm>
          <a:prstGeom prst="line">
            <a:avLst/>
          </a:prstGeom>
          <a:ln w="22225">
            <a:solidFill>
              <a:srgbClr val="008B8B"/>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734056" y="2633472"/>
            <a:ext cx="914400" cy="310896"/>
          </a:xfrm>
          <a:prstGeom prst="rect">
            <a:avLst/>
          </a:prstGeom>
          <a:noFill/>
        </p:spPr>
        <p:txBody>
          <a:bodyPr wrap="square" lIns="0" rIns="0" tIns="0" bIns="0" anchor="t">
            <a:spAutoFit/>
          </a:bodyPr>
          <a:lstStyle/>
          <a:p>
            <a:pPr algn="l">
              <a:spcAft>
                <a:spcPts val="0"/>
              </a:spcAft>
            </a:pPr>
            <a:r>
              <a:rPr sz="1100" b="0" i="0">
                <a:solidFill>
                  <a:srgbClr val="6B6B6B"/>
                </a:solidFill>
              </a:rPr>
              <a:t>both ways</a:t>
            </a:r>
          </a:p>
        </p:txBody>
      </p:sp>
      <p:sp>
        <p:nvSpPr>
          <p:cNvPr id="13" name="TextBox 12"/>
          <p:cNvSpPr txBox="1"/>
          <p:nvPr/>
        </p:nvSpPr>
        <p:spPr>
          <a:xfrm>
            <a:off x="786384" y="3200400"/>
            <a:ext cx="2694431" cy="2011680"/>
          </a:xfrm>
          <a:prstGeom prst="rect">
            <a:avLst/>
          </a:prstGeom>
          <a:noFill/>
        </p:spPr>
        <p:txBody>
          <a:bodyPr wrap="square" lIns="0" rIns="0" tIns="0" bIns="0" anchor="t">
            <a:spAutoFit/>
          </a:bodyPr>
          <a:lstStyle/>
          <a:p>
            <a:pPr algn="l">
              <a:spcAft>
                <a:spcPts val="900"/>
              </a:spcAft>
            </a:pPr>
            <a:r>
              <a:rPr sz="1300" b="1" i="0">
                <a:solidFill>
                  <a:srgbClr val="1F1F1F"/>
                </a:solidFill>
              </a:rPr>
              <a:t>Reads</a:t>
            </a:r>
            <a:r>
              <a:rPr sz="1300" b="0" i="0">
                <a:solidFill>
                  <a:srgbClr val="1F1F1F"/>
                </a:solidFill>
              </a:rPr>
              <a:t>  all tokens at once</a:t>
            </a:r>
          </a:p>
          <a:p>
            <a:pPr algn="l">
              <a:spcAft>
                <a:spcPts val="900"/>
              </a:spcAft>
            </a:pPr>
            <a:r>
              <a:rPr sz="1300" b="1" i="0">
                <a:solidFill>
                  <a:srgbClr val="1F1F1F"/>
                </a:solidFill>
              </a:rPr>
              <a:t>Outputs</a:t>
            </a:r>
            <a:r>
              <a:rPr sz="1300" b="0" i="0">
                <a:solidFill>
                  <a:srgbClr val="1F1F1F"/>
                </a:solidFill>
              </a:rPr>
              <a:t>  one vector per token</a:t>
            </a:r>
          </a:p>
          <a:p>
            <a:pPr algn="l">
              <a:spcAft>
                <a:spcPts val="900"/>
              </a:spcAft>
            </a:pPr>
            <a:r>
              <a:rPr sz="1300" b="1" i="0">
                <a:solidFill>
                  <a:srgbClr val="1F1F1F"/>
                </a:solidFill>
              </a:rPr>
              <a:t>Good for</a:t>
            </a:r>
            <a:r>
              <a:rPr sz="1300" b="0" i="0">
                <a:solidFill>
                  <a:srgbClr val="1F1F1F"/>
                </a:solidFill>
              </a:rPr>
              <a:t>  search, classification</a:t>
            </a:r>
          </a:p>
          <a:p>
            <a:pPr algn="l">
              <a:spcAft>
                <a:spcPts val="900"/>
              </a:spcAft>
            </a:pPr>
            <a:r>
              <a:rPr sz="1300" b="1" i="0">
                <a:solidFill>
                  <a:srgbClr val="1F1F1F"/>
                </a:solidFill>
              </a:rPr>
              <a:t>Today</a:t>
            </a:r>
            <a:r>
              <a:rPr sz="1300" b="0" i="0">
                <a:solidFill>
                  <a:srgbClr val="1F1F1F"/>
                </a:solidFill>
              </a:rPr>
              <a:t>  BGE-M3 embeddings (Lab 2)</a:t>
            </a:r>
          </a:p>
        </p:txBody>
      </p:sp>
      <p:sp>
        <p:nvSpPr>
          <p:cNvPr id="14" name="Rounded Rectangle 13"/>
          <p:cNvSpPr/>
          <p:nvPr/>
        </p:nvSpPr>
        <p:spPr>
          <a:xfrm>
            <a:off x="3864864" y="2011680"/>
            <a:ext cx="3096767" cy="324612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066031" y="2148840"/>
            <a:ext cx="2694431" cy="365760"/>
          </a:xfrm>
          <a:prstGeom prst="rect">
            <a:avLst/>
          </a:prstGeom>
          <a:noFill/>
        </p:spPr>
        <p:txBody>
          <a:bodyPr wrap="square" lIns="0" rIns="0" tIns="0" bIns="0" anchor="t">
            <a:spAutoFit/>
          </a:bodyPr>
          <a:lstStyle/>
          <a:p>
            <a:pPr algn="l">
              <a:spcAft>
                <a:spcPts val="0"/>
              </a:spcAft>
            </a:pPr>
            <a:r>
              <a:rPr sz="1400" b="1" i="0">
                <a:solidFill>
                  <a:srgbClr val="0078D4"/>
                </a:solidFill>
              </a:rPr>
              <a:t>DECODER-ONLY</a:t>
            </a:r>
          </a:p>
        </p:txBody>
      </p:sp>
      <p:sp>
        <p:nvSpPr>
          <p:cNvPr id="16" name="Rectangle 15"/>
          <p:cNvSpPr/>
          <p:nvPr/>
        </p:nvSpPr>
        <p:spPr>
          <a:xfrm>
            <a:off x="4139183" y="2651760"/>
            <a:ext cx="274320" cy="27432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468368" y="2651760"/>
            <a:ext cx="274320" cy="27432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797551" y="2651760"/>
            <a:ext cx="274320" cy="27432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26736" y="2651760"/>
            <a:ext cx="274320" cy="27432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0" name="Connector 19"/>
          <p:cNvCxnSpPr/>
          <p:nvPr/>
        </p:nvCxnSpPr>
        <p:spPr>
          <a:xfrm>
            <a:off x="5510784" y="2788920"/>
            <a:ext cx="411480" cy="0"/>
          </a:xfrm>
          <a:prstGeom prst="line">
            <a:avLst/>
          </a:prstGeom>
          <a:ln w="22225">
            <a:solidFill>
              <a:srgbClr val="0078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013704" y="2633472"/>
            <a:ext cx="914400" cy="310896"/>
          </a:xfrm>
          <a:prstGeom prst="rect">
            <a:avLst/>
          </a:prstGeom>
          <a:noFill/>
        </p:spPr>
        <p:txBody>
          <a:bodyPr wrap="square" lIns="0" rIns="0" tIns="0" bIns="0" anchor="t">
            <a:spAutoFit/>
          </a:bodyPr>
          <a:lstStyle/>
          <a:p>
            <a:pPr algn="l">
              <a:spcAft>
                <a:spcPts val="0"/>
              </a:spcAft>
            </a:pPr>
            <a:r>
              <a:rPr sz="1100" b="0" i="0">
                <a:solidFill>
                  <a:srgbClr val="6B6B6B"/>
                </a:solidFill>
              </a:rPr>
              <a:t>one way</a:t>
            </a:r>
          </a:p>
        </p:txBody>
      </p:sp>
      <p:sp>
        <p:nvSpPr>
          <p:cNvPr id="22" name="TextBox 21"/>
          <p:cNvSpPr txBox="1"/>
          <p:nvPr/>
        </p:nvSpPr>
        <p:spPr>
          <a:xfrm>
            <a:off x="4066031" y="3200400"/>
            <a:ext cx="2694431" cy="2011680"/>
          </a:xfrm>
          <a:prstGeom prst="rect">
            <a:avLst/>
          </a:prstGeom>
          <a:noFill/>
        </p:spPr>
        <p:txBody>
          <a:bodyPr wrap="square" lIns="0" rIns="0" tIns="0" bIns="0" anchor="t">
            <a:spAutoFit/>
          </a:bodyPr>
          <a:lstStyle/>
          <a:p>
            <a:pPr algn="l">
              <a:spcAft>
                <a:spcPts val="900"/>
              </a:spcAft>
            </a:pPr>
            <a:r>
              <a:rPr sz="1300" b="1" i="0">
                <a:solidFill>
                  <a:srgbClr val="1F1F1F"/>
                </a:solidFill>
              </a:rPr>
              <a:t>Reads</a:t>
            </a:r>
            <a:r>
              <a:rPr sz="1300" b="0" i="0">
                <a:solidFill>
                  <a:srgbClr val="1F1F1F"/>
                </a:solidFill>
              </a:rPr>
              <a:t>  left to right</a:t>
            </a:r>
          </a:p>
          <a:p>
            <a:pPr algn="l">
              <a:spcAft>
                <a:spcPts val="900"/>
              </a:spcAft>
            </a:pPr>
            <a:r>
              <a:rPr sz="1300" b="1" i="0">
                <a:solidFill>
                  <a:srgbClr val="1F1F1F"/>
                </a:solidFill>
              </a:rPr>
              <a:t>Outputs</a:t>
            </a:r>
            <a:r>
              <a:rPr sz="1300" b="0" i="0">
                <a:solidFill>
                  <a:srgbClr val="1F1F1F"/>
                </a:solidFill>
              </a:rPr>
              <a:t>  the next token</a:t>
            </a:r>
          </a:p>
          <a:p>
            <a:pPr algn="l">
              <a:spcAft>
                <a:spcPts val="900"/>
              </a:spcAft>
            </a:pPr>
            <a:r>
              <a:rPr sz="1300" b="1" i="0">
                <a:solidFill>
                  <a:srgbClr val="1F1F1F"/>
                </a:solidFill>
              </a:rPr>
              <a:t>Good for</a:t>
            </a:r>
            <a:r>
              <a:rPr sz="1300" b="0" i="0">
                <a:solidFill>
                  <a:srgbClr val="1F1F1F"/>
                </a:solidFill>
              </a:rPr>
              <a:t>  chat, code, agents</a:t>
            </a:r>
          </a:p>
          <a:p>
            <a:pPr algn="l">
              <a:spcAft>
                <a:spcPts val="900"/>
              </a:spcAft>
            </a:pPr>
            <a:r>
              <a:rPr sz="1300" b="1" i="0">
                <a:solidFill>
                  <a:srgbClr val="1F1F1F"/>
                </a:solidFill>
              </a:rPr>
              <a:t>Today</a:t>
            </a:r>
            <a:r>
              <a:rPr sz="1300" b="0" i="0">
                <a:solidFill>
                  <a:srgbClr val="1F1F1F"/>
                </a:solidFill>
              </a:rPr>
              <a:t>  gpt-5-mini, DeepSeek, Qwen (Labs 1–4)</a:t>
            </a:r>
          </a:p>
        </p:txBody>
      </p:sp>
      <p:sp>
        <p:nvSpPr>
          <p:cNvPr id="23" name="Rounded Rectangle 22"/>
          <p:cNvSpPr/>
          <p:nvPr/>
        </p:nvSpPr>
        <p:spPr>
          <a:xfrm>
            <a:off x="7144511" y="2011680"/>
            <a:ext cx="3096767" cy="324612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345680" y="2148840"/>
            <a:ext cx="2694431" cy="365760"/>
          </a:xfrm>
          <a:prstGeom prst="rect">
            <a:avLst/>
          </a:prstGeom>
          <a:noFill/>
        </p:spPr>
        <p:txBody>
          <a:bodyPr wrap="square" lIns="0" rIns="0" tIns="0" bIns="0" anchor="t">
            <a:spAutoFit/>
          </a:bodyPr>
          <a:lstStyle/>
          <a:p>
            <a:pPr algn="l">
              <a:spcAft>
                <a:spcPts val="0"/>
              </a:spcAft>
            </a:pPr>
            <a:r>
              <a:rPr sz="1400" b="1" i="0">
                <a:solidFill>
                  <a:srgbClr val="8661C5"/>
                </a:solidFill>
              </a:rPr>
              <a:t>ENCODER–DECODER</a:t>
            </a:r>
          </a:p>
        </p:txBody>
      </p:sp>
      <p:sp>
        <p:nvSpPr>
          <p:cNvPr id="25" name="Rectangle 24"/>
          <p:cNvSpPr/>
          <p:nvPr/>
        </p:nvSpPr>
        <p:spPr>
          <a:xfrm>
            <a:off x="7418832" y="2651760"/>
            <a:ext cx="274320" cy="27432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7748015" y="2651760"/>
            <a:ext cx="274320" cy="27432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7" name="Connector 26"/>
          <p:cNvCxnSpPr/>
          <p:nvPr/>
        </p:nvCxnSpPr>
        <p:spPr>
          <a:xfrm>
            <a:off x="8077200" y="2788920"/>
            <a:ext cx="365760" cy="0"/>
          </a:xfrm>
          <a:prstGeom prst="line">
            <a:avLst/>
          </a:prstGeom>
          <a:ln w="22225">
            <a:solidFill>
              <a:srgbClr val="8661C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8497824" y="2651760"/>
            <a:ext cx="274320" cy="274320"/>
          </a:xfrm>
          <a:prstGeom prst="rect">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827008" y="2651760"/>
            <a:ext cx="274320" cy="274320"/>
          </a:xfrm>
          <a:prstGeom prst="rect">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201912" y="2633472"/>
            <a:ext cx="1097280" cy="310896"/>
          </a:xfrm>
          <a:prstGeom prst="rect">
            <a:avLst/>
          </a:prstGeom>
          <a:noFill/>
        </p:spPr>
        <p:txBody>
          <a:bodyPr wrap="square" lIns="0" rIns="0" tIns="0" bIns="0" anchor="t">
            <a:spAutoFit/>
          </a:bodyPr>
          <a:lstStyle/>
          <a:p>
            <a:pPr algn="l">
              <a:spcAft>
                <a:spcPts val="0"/>
              </a:spcAft>
            </a:pPr>
            <a:r>
              <a:rPr sz="1000" b="0" i="0">
                <a:solidFill>
                  <a:srgbClr val="6B6B6B"/>
                </a:solidFill>
              </a:rPr>
              <a:t>cross-attn</a:t>
            </a:r>
          </a:p>
        </p:txBody>
      </p:sp>
      <p:sp>
        <p:nvSpPr>
          <p:cNvPr id="31" name="TextBox 30"/>
          <p:cNvSpPr txBox="1"/>
          <p:nvPr/>
        </p:nvSpPr>
        <p:spPr>
          <a:xfrm>
            <a:off x="7345680" y="3200400"/>
            <a:ext cx="2694431" cy="2011680"/>
          </a:xfrm>
          <a:prstGeom prst="rect">
            <a:avLst/>
          </a:prstGeom>
          <a:noFill/>
        </p:spPr>
        <p:txBody>
          <a:bodyPr wrap="square" lIns="0" rIns="0" tIns="0" bIns="0" anchor="t">
            <a:spAutoFit/>
          </a:bodyPr>
          <a:lstStyle/>
          <a:p>
            <a:pPr algn="l">
              <a:spcAft>
                <a:spcPts val="900"/>
              </a:spcAft>
            </a:pPr>
            <a:r>
              <a:rPr sz="1300" b="1" i="0">
                <a:solidFill>
                  <a:srgbClr val="1F1F1F"/>
                </a:solidFill>
              </a:rPr>
              <a:t>Reads</a:t>
            </a:r>
            <a:r>
              <a:rPr sz="1300" b="0" i="0">
                <a:solidFill>
                  <a:srgbClr val="1F1F1F"/>
                </a:solidFill>
              </a:rPr>
              <a:t>  the input, then writes</a:t>
            </a:r>
          </a:p>
          <a:p>
            <a:pPr algn="l">
              <a:spcAft>
                <a:spcPts val="900"/>
              </a:spcAft>
            </a:pPr>
            <a:r>
              <a:rPr sz="1300" b="1" i="0">
                <a:solidFill>
                  <a:srgbClr val="1F1F1F"/>
                </a:solidFill>
              </a:rPr>
              <a:t>Outputs</a:t>
            </a:r>
            <a:r>
              <a:rPr sz="1300" b="0" i="0">
                <a:solidFill>
                  <a:srgbClr val="1F1F1F"/>
                </a:solidFill>
              </a:rPr>
              <a:t>  a new sequence</a:t>
            </a:r>
          </a:p>
          <a:p>
            <a:pPr algn="l">
              <a:spcAft>
                <a:spcPts val="900"/>
              </a:spcAft>
            </a:pPr>
            <a:r>
              <a:rPr sz="1300" b="1" i="0">
                <a:solidFill>
                  <a:srgbClr val="1F1F1F"/>
                </a:solidFill>
              </a:rPr>
              <a:t>Good for</a:t>
            </a:r>
            <a:r>
              <a:rPr sz="1300" b="0" i="0">
                <a:solidFill>
                  <a:srgbClr val="1F1F1F"/>
                </a:solidFill>
              </a:rPr>
              <a:t>  translation, ASR</a:t>
            </a:r>
          </a:p>
          <a:p>
            <a:pPr algn="l">
              <a:spcAft>
                <a:spcPts val="900"/>
              </a:spcAft>
            </a:pPr>
            <a:r>
              <a:rPr sz="1300" b="1" i="0">
                <a:solidFill>
                  <a:srgbClr val="1F1F1F"/>
                </a:solidFill>
              </a:rPr>
              <a:t>Today</a:t>
            </a:r>
            <a:r>
              <a:rPr sz="1300" b="0" i="0">
                <a:solidFill>
                  <a:srgbClr val="1F1F1F"/>
                </a:solidFill>
              </a:rPr>
              <a:t>  Whisper-style ASR (Segment 4)</a:t>
            </a:r>
          </a:p>
        </p:txBody>
      </p:sp>
      <p:sp>
        <p:nvSpPr>
          <p:cNvPr id="32" name="TextBox 31"/>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Decoder-only won for chat: one model handles any input and any output.</a:t>
            </a:r>
          </a:p>
        </p:txBody>
      </p:sp>
      <p:sp>
        <p:nvSpPr>
          <p:cNvPr id="33" name="TextBox 32"/>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Raschka, The Big LLM Architecture Comparison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An LLM is a next-token machine; the rest is scaffolding</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Predict one token, append it, repeat. That loop is the whole engine.</a:t>
            </a:r>
          </a:p>
        </p:txBody>
      </p:sp>
      <p:sp>
        <p:nvSpPr>
          <p:cNvPr id="5" name="Rounded Rectangle 4"/>
          <p:cNvSpPr/>
          <p:nvPr/>
        </p:nvSpPr>
        <p:spPr>
          <a:xfrm>
            <a:off x="2560320" y="2020824"/>
            <a:ext cx="1828800" cy="713232"/>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the model</a:t>
            </a:r>
          </a:p>
        </p:txBody>
      </p:sp>
      <p:sp>
        <p:nvSpPr>
          <p:cNvPr id="6" name="Rounded Rectangle 5"/>
          <p:cNvSpPr/>
          <p:nvPr/>
        </p:nvSpPr>
        <p:spPr>
          <a:xfrm>
            <a:off x="4480560" y="3255264"/>
            <a:ext cx="1828800" cy="713232"/>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probabilities over</a:t>
            </a:r>
          </a:p>
          <a:p>
            <a:pPr algn="ctr"/>
            <a:r>
              <a:rPr sz="1200" b="1" i="0">
                <a:solidFill>
                  <a:srgbClr val="1F1F1F"/>
                </a:solidFill>
              </a:rPr>
              <a:t>the vocabulary</a:t>
            </a:r>
          </a:p>
        </p:txBody>
      </p:sp>
      <p:sp>
        <p:nvSpPr>
          <p:cNvPr id="7" name="Rounded Rectangle 6"/>
          <p:cNvSpPr/>
          <p:nvPr/>
        </p:nvSpPr>
        <p:spPr>
          <a:xfrm>
            <a:off x="2560320" y="4489704"/>
            <a:ext cx="1828800" cy="713232"/>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pick one token</a:t>
            </a:r>
          </a:p>
          <a:p>
            <a:pPr algn="ctr"/>
            <a:r>
              <a:rPr sz="1200" b="1" i="0">
                <a:solidFill>
                  <a:srgbClr val="1F1F1F"/>
                </a:solidFill>
              </a:rPr>
              <a:t>(sampling)</a:t>
            </a:r>
          </a:p>
        </p:txBody>
      </p:sp>
      <p:sp>
        <p:nvSpPr>
          <p:cNvPr id="8" name="Rounded Rectangle 7"/>
          <p:cNvSpPr/>
          <p:nvPr/>
        </p:nvSpPr>
        <p:spPr>
          <a:xfrm>
            <a:off x="640079" y="3255264"/>
            <a:ext cx="1828800" cy="713232"/>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append it to</a:t>
            </a:r>
          </a:p>
          <a:p>
            <a:pPr algn="ctr"/>
            <a:r>
              <a:rPr sz="1200" b="1" i="0">
                <a:solidFill>
                  <a:srgbClr val="1F1F1F"/>
                </a:solidFill>
              </a:rPr>
              <a:t>the input</a:t>
            </a:r>
          </a:p>
        </p:txBody>
      </p:sp>
      <p:cxnSp>
        <p:nvCxnSpPr>
          <p:cNvPr id="9" name="Connector 8"/>
          <p:cNvCxnSpPr/>
          <p:nvPr/>
        </p:nvCxnSpPr>
        <p:spPr>
          <a:xfrm>
            <a:off x="4114800" y="2788920"/>
            <a:ext cx="640080" cy="41148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4114800" y="4023360"/>
            <a:ext cx="640080" cy="41148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2194559" y="4023360"/>
            <a:ext cx="640081" cy="41148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194559" y="2788920"/>
            <a:ext cx="640080" cy="41148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492240" y="2011680"/>
            <a:ext cx="3749039" cy="274320"/>
          </a:xfrm>
          <a:prstGeom prst="rect">
            <a:avLst/>
          </a:prstGeom>
          <a:noFill/>
        </p:spPr>
        <p:txBody>
          <a:bodyPr wrap="square" lIns="0" rIns="0" tIns="0" bIns="0" anchor="t">
            <a:spAutoFit/>
          </a:bodyPr>
          <a:lstStyle/>
          <a:p>
            <a:pPr algn="l">
              <a:spcAft>
                <a:spcPts val="0"/>
              </a:spcAft>
            </a:pPr>
            <a:r>
              <a:rPr sz="1000" b="1" i="0">
                <a:solidFill>
                  <a:srgbClr val="2A446F"/>
                </a:solidFill>
              </a:rPr>
              <a:t>WHAT THE MODEL OUTPUTS AFTER “the cat sat on the”</a:t>
            </a:r>
          </a:p>
        </p:txBody>
      </p:sp>
      <p:sp>
        <p:nvSpPr>
          <p:cNvPr id="14" name="Rectangle 13"/>
          <p:cNvSpPr/>
          <p:nvPr/>
        </p:nvSpPr>
        <p:spPr>
          <a:xfrm>
            <a:off x="6629400" y="2450591"/>
            <a:ext cx="457200" cy="1709928"/>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501384" y="4206240"/>
            <a:ext cx="713232" cy="274320"/>
          </a:xfrm>
          <a:prstGeom prst="rect">
            <a:avLst/>
          </a:prstGeom>
          <a:noFill/>
        </p:spPr>
        <p:txBody>
          <a:bodyPr wrap="square" lIns="0" rIns="0" tIns="0" bIns="0" anchor="t">
            <a:spAutoFit/>
          </a:bodyPr>
          <a:lstStyle/>
          <a:p>
            <a:pPr algn="ctr">
              <a:spcAft>
                <a:spcPts val="0"/>
              </a:spcAft>
            </a:pPr>
            <a:r>
              <a:rPr sz="1200" b="0" i="0">
                <a:solidFill>
                  <a:srgbClr val="1F1F1F"/>
                </a:solidFill>
              </a:rPr>
              <a:t>mat</a:t>
            </a:r>
          </a:p>
        </p:txBody>
      </p:sp>
      <p:sp>
        <p:nvSpPr>
          <p:cNvPr id="16" name="Rectangle 15"/>
          <p:cNvSpPr/>
          <p:nvPr/>
        </p:nvSpPr>
        <p:spPr>
          <a:xfrm>
            <a:off x="7342631" y="3538727"/>
            <a:ext cx="457200" cy="621792"/>
          </a:xfrm>
          <a:prstGeom prst="rect">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214616" y="4206240"/>
            <a:ext cx="713232" cy="274320"/>
          </a:xfrm>
          <a:prstGeom prst="rect">
            <a:avLst/>
          </a:prstGeom>
          <a:noFill/>
        </p:spPr>
        <p:txBody>
          <a:bodyPr wrap="square" lIns="0" rIns="0" tIns="0" bIns="0" anchor="t">
            <a:spAutoFit/>
          </a:bodyPr>
          <a:lstStyle/>
          <a:p>
            <a:pPr algn="ctr">
              <a:spcAft>
                <a:spcPts val="0"/>
              </a:spcAft>
            </a:pPr>
            <a:r>
              <a:rPr sz="1200" b="0" i="0">
                <a:solidFill>
                  <a:srgbClr val="1F1F1F"/>
                </a:solidFill>
              </a:rPr>
              <a:t>floor</a:t>
            </a:r>
          </a:p>
        </p:txBody>
      </p:sp>
      <p:sp>
        <p:nvSpPr>
          <p:cNvPr id="18" name="Rectangle 17"/>
          <p:cNvSpPr/>
          <p:nvPr/>
        </p:nvSpPr>
        <p:spPr>
          <a:xfrm>
            <a:off x="8055864" y="3787444"/>
            <a:ext cx="457200" cy="373075"/>
          </a:xfrm>
          <a:prstGeom prst="rect">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927848" y="4206240"/>
            <a:ext cx="713232" cy="274320"/>
          </a:xfrm>
          <a:prstGeom prst="rect">
            <a:avLst/>
          </a:prstGeom>
          <a:noFill/>
        </p:spPr>
        <p:txBody>
          <a:bodyPr wrap="square" lIns="0" rIns="0" tIns="0" bIns="0" anchor="t">
            <a:spAutoFit/>
          </a:bodyPr>
          <a:lstStyle/>
          <a:p>
            <a:pPr algn="ctr">
              <a:spcAft>
                <a:spcPts val="0"/>
              </a:spcAft>
            </a:pPr>
            <a:r>
              <a:rPr sz="1200" b="0" i="0">
                <a:solidFill>
                  <a:srgbClr val="1F1F1F"/>
                </a:solidFill>
              </a:rPr>
              <a:t>sofa</a:t>
            </a:r>
          </a:p>
        </p:txBody>
      </p:sp>
      <p:sp>
        <p:nvSpPr>
          <p:cNvPr id="20" name="Rectangle 19"/>
          <p:cNvSpPr/>
          <p:nvPr/>
        </p:nvSpPr>
        <p:spPr>
          <a:xfrm>
            <a:off x="8769096" y="3911803"/>
            <a:ext cx="457200" cy="248716"/>
          </a:xfrm>
          <a:prstGeom prst="rect">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641080" y="4206240"/>
            <a:ext cx="713232" cy="274320"/>
          </a:xfrm>
          <a:prstGeom prst="rect">
            <a:avLst/>
          </a:prstGeom>
          <a:noFill/>
        </p:spPr>
        <p:txBody>
          <a:bodyPr wrap="square" lIns="0" rIns="0" tIns="0" bIns="0" anchor="t">
            <a:spAutoFit/>
          </a:bodyPr>
          <a:lstStyle/>
          <a:p>
            <a:pPr algn="ctr">
              <a:spcAft>
                <a:spcPts val="0"/>
              </a:spcAft>
            </a:pPr>
            <a:r>
              <a:rPr sz="1200" b="0" i="0">
                <a:solidFill>
                  <a:srgbClr val="1F1F1F"/>
                </a:solidFill>
              </a:rPr>
              <a:t>roof</a:t>
            </a:r>
          </a:p>
        </p:txBody>
      </p:sp>
      <p:sp>
        <p:nvSpPr>
          <p:cNvPr id="22" name="Rectangle 21"/>
          <p:cNvSpPr/>
          <p:nvPr/>
        </p:nvSpPr>
        <p:spPr>
          <a:xfrm>
            <a:off x="9482328" y="4005072"/>
            <a:ext cx="457200" cy="155448"/>
          </a:xfrm>
          <a:prstGeom prst="rect">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54312" y="4206240"/>
            <a:ext cx="713232" cy="274320"/>
          </a:xfrm>
          <a:prstGeom prst="rect">
            <a:avLst/>
          </a:prstGeom>
          <a:noFill/>
        </p:spPr>
        <p:txBody>
          <a:bodyPr wrap="square" lIns="0" rIns="0" tIns="0" bIns="0" anchor="t">
            <a:spAutoFit/>
          </a:bodyPr>
          <a:lstStyle/>
          <a:p>
            <a:pPr algn="ctr">
              <a:spcAft>
                <a:spcPts val="0"/>
              </a:spcAft>
            </a:pPr>
            <a:r>
              <a:rPr sz="1200" b="0" i="0">
                <a:solidFill>
                  <a:srgbClr val="1F1F1F"/>
                </a:solidFill>
              </a:rPr>
              <a:t>moon</a:t>
            </a:r>
          </a:p>
        </p:txBody>
      </p:sp>
      <p:sp>
        <p:nvSpPr>
          <p:cNvPr id="24" name="TextBox 23"/>
          <p:cNvSpPr txBox="1"/>
          <p:nvPr/>
        </p:nvSpPr>
        <p:spPr>
          <a:xfrm>
            <a:off x="6492240" y="4526280"/>
            <a:ext cx="3749039" cy="548640"/>
          </a:xfrm>
          <a:prstGeom prst="rect">
            <a:avLst/>
          </a:prstGeom>
          <a:noFill/>
        </p:spPr>
        <p:txBody>
          <a:bodyPr wrap="square" lIns="0" rIns="0" tIns="0" bIns="0" anchor="t">
            <a:spAutoFit/>
          </a:bodyPr>
          <a:lstStyle/>
          <a:p>
            <a:pPr algn="l">
              <a:spcAft>
                <a:spcPts val="0"/>
              </a:spcAft>
            </a:pPr>
            <a:r>
              <a:rPr sz="1100" b="0" i="1">
                <a:solidFill>
                  <a:srgbClr val="6B6B6B"/>
                </a:solidFill>
              </a:rPr>
              <a:t>illustrative bars · temperature reshapes them before the pick</a:t>
            </a:r>
          </a:p>
        </p:txBody>
      </p:sp>
      <p:sp>
        <p:nvSpPr>
          <p:cNvPr id="25" name="TextBox 24"/>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Chat formats, tools, agents: all scaffolding around this one loop.</a:t>
            </a:r>
          </a:p>
        </p:txBody>
      </p:sp>
      <p:sp>
        <p:nvSpPr>
          <p:cNvPr id="26" name="TextBox 25"/>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OpenAI, Better language models (GPT-2) · GPT-3 paper (arXiv 2005.14165)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GPT-3: what 175 B parameters cost and ate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The 2020 model that made scaling a strategy — its diet and its bill are public.</a:t>
            </a:r>
          </a:p>
        </p:txBody>
      </p:sp>
      <p:sp>
        <p:nvSpPr>
          <p:cNvPr id="5" name="TextBox 4"/>
          <p:cNvSpPr txBox="1"/>
          <p:nvPr/>
        </p:nvSpPr>
        <p:spPr>
          <a:xfrm>
            <a:off x="585216" y="1965960"/>
            <a:ext cx="5029200" cy="274320"/>
          </a:xfrm>
          <a:prstGeom prst="rect">
            <a:avLst/>
          </a:prstGeom>
          <a:noFill/>
        </p:spPr>
        <p:txBody>
          <a:bodyPr wrap="square" lIns="0" rIns="0" tIns="0" bIns="0" anchor="t">
            <a:spAutoFit/>
          </a:bodyPr>
          <a:lstStyle/>
          <a:p>
            <a:pPr algn="l">
              <a:spcAft>
                <a:spcPts val="0"/>
              </a:spcAft>
            </a:pPr>
            <a:r>
              <a:rPr sz="1100" b="1" i="0">
                <a:solidFill>
                  <a:srgbClr val="2A446F"/>
                </a:solidFill>
              </a:rPr>
              <a:t>WHAT IT ATE — the training mix</a:t>
            </a:r>
          </a:p>
        </p:txBody>
      </p:sp>
      <p:graphicFrame>
        <p:nvGraphicFramePr>
          <p:cNvPr id="6" name="Table 5"/>
          <p:cNvGraphicFramePr>
            <a:graphicFrameLocks noGrp="1"/>
          </p:cNvGraphicFramePr>
          <p:nvPr/>
        </p:nvGraphicFramePr>
        <p:xfrm>
          <a:off x="585216" y="2240280"/>
          <a:ext cx="4846320" cy="1975104"/>
        </p:xfrm>
        <a:graphic>
          <a:graphicData uri="http://schemas.openxmlformats.org/drawingml/2006/table">
            <a:tbl>
              <a:tblPr firstRow="1" bandRow="1">
                <a:tableStyleId>{5C22544A-7EE6-4342-B048-85BDC9FD1C3A}</a:tableStyleId>
              </a:tblPr>
              <a:tblGrid>
                <a:gridCol w="2468880"/>
                <a:gridCol w="914400"/>
                <a:gridCol w="1463040"/>
              </a:tblGrid>
              <a:tr h="329184">
                <a:tc>
                  <a:txBody>
                    <a:bodyPr/>
                    <a:lstStyle/>
                    <a:p>
                      <a:r>
                        <a:rPr sz="1200" b="1">
                          <a:solidFill>
                            <a:srgbClr val="FFFFFF"/>
                          </a:solidFill>
                        </a:rPr>
                        <a:t>Source</a:t>
                      </a:r>
                    </a:p>
                  </a:txBody>
                  <a:tcPr marT="27432" marB="27432" marL="73152" marR="73152" anchor="ctr">
                    <a:solidFill>
                      <a:srgbClr val="2A446F"/>
                    </a:solidFill>
                  </a:tcPr>
                </a:tc>
                <a:tc>
                  <a:txBody>
                    <a:bodyPr/>
                    <a:lstStyle/>
                    <a:p>
                      <a:r>
                        <a:rPr sz="1200" b="1">
                          <a:solidFill>
                            <a:srgbClr val="FFFFFF"/>
                          </a:solidFill>
                        </a:rPr>
                        <a:t>Tokens</a:t>
                      </a:r>
                    </a:p>
                  </a:txBody>
                  <a:tcPr marT="27432" marB="27432" marL="73152" marR="73152" anchor="ctr">
                    <a:solidFill>
                      <a:srgbClr val="2A446F"/>
                    </a:solidFill>
                  </a:tcPr>
                </a:tc>
                <a:tc>
                  <a:txBody>
                    <a:bodyPr/>
                    <a:lstStyle/>
                    <a:p>
                      <a:r>
                        <a:rPr sz="1200" b="1">
                          <a:solidFill>
                            <a:srgbClr val="FFFFFF"/>
                          </a:solidFill>
                        </a:rPr>
                        <a:t>Weight in training</a:t>
                      </a:r>
                    </a:p>
                  </a:txBody>
                  <a:tcPr marT="27432" marB="27432" marL="73152" marR="73152" anchor="ctr">
                    <a:solidFill>
                      <a:srgbClr val="2A446F"/>
                    </a:solidFill>
                  </a:tcPr>
                </a:tc>
              </a:tr>
              <a:tr h="329184">
                <a:tc>
                  <a:txBody>
                    <a:bodyPr/>
                    <a:lstStyle/>
                    <a:p>
                      <a:r>
                        <a:rPr sz="1200" b="0">
                          <a:solidFill>
                            <a:srgbClr val="1F1F1F"/>
                          </a:solidFill>
                        </a:rPr>
                        <a:t>Common Crawl (filtered)</a:t>
                      </a:r>
                    </a:p>
                  </a:txBody>
                  <a:tcPr marT="27432" marB="27432" marL="73152" marR="73152" anchor="ctr">
                    <a:solidFill>
                      <a:srgbClr val="FFFFFF"/>
                    </a:solidFill>
                  </a:tcPr>
                </a:tc>
                <a:tc>
                  <a:txBody>
                    <a:bodyPr/>
                    <a:lstStyle/>
                    <a:p>
                      <a:r>
                        <a:rPr sz="1200" b="0">
                          <a:solidFill>
                            <a:srgbClr val="1F1F1F"/>
                          </a:solidFill>
                        </a:rPr>
                        <a:t>410 B</a:t>
                      </a:r>
                    </a:p>
                  </a:txBody>
                  <a:tcPr marT="27432" marB="27432" marL="73152" marR="73152" anchor="ctr">
                    <a:solidFill>
                      <a:srgbClr val="FFFFFF"/>
                    </a:solidFill>
                  </a:tcPr>
                </a:tc>
                <a:tc>
                  <a:txBody>
                    <a:bodyPr/>
                    <a:lstStyle/>
                    <a:p>
                      <a:r>
                        <a:rPr sz="1200" b="0">
                          <a:solidFill>
                            <a:srgbClr val="1F1F1F"/>
                          </a:solidFill>
                        </a:rPr>
                        <a:t>60 %</a:t>
                      </a:r>
                    </a:p>
                  </a:txBody>
                  <a:tcPr marT="27432" marB="27432" marL="73152" marR="73152" anchor="ctr">
                    <a:solidFill>
                      <a:srgbClr val="FFFFFF"/>
                    </a:solidFill>
                  </a:tcPr>
                </a:tc>
              </a:tr>
              <a:tr h="329184">
                <a:tc>
                  <a:txBody>
                    <a:bodyPr/>
                    <a:lstStyle/>
                    <a:p>
                      <a:r>
                        <a:rPr sz="1200" b="0">
                          <a:solidFill>
                            <a:srgbClr val="1F1F1F"/>
                          </a:solidFill>
                        </a:rPr>
                        <a:t>WebText2 (Reddit-linked)</a:t>
                      </a:r>
                    </a:p>
                  </a:txBody>
                  <a:tcPr marT="27432" marB="27432" marL="73152" marR="73152" anchor="ctr">
                    <a:solidFill>
                      <a:srgbClr val="F3F4F8"/>
                    </a:solidFill>
                  </a:tcPr>
                </a:tc>
                <a:tc>
                  <a:txBody>
                    <a:bodyPr/>
                    <a:lstStyle/>
                    <a:p>
                      <a:r>
                        <a:rPr sz="1200" b="0">
                          <a:solidFill>
                            <a:srgbClr val="1F1F1F"/>
                          </a:solidFill>
                        </a:rPr>
                        <a:t>19 B</a:t>
                      </a:r>
                    </a:p>
                  </a:txBody>
                  <a:tcPr marT="27432" marB="27432" marL="73152" marR="73152" anchor="ctr">
                    <a:solidFill>
                      <a:srgbClr val="F3F4F8"/>
                    </a:solidFill>
                  </a:tcPr>
                </a:tc>
                <a:tc>
                  <a:txBody>
                    <a:bodyPr/>
                    <a:lstStyle/>
                    <a:p>
                      <a:r>
                        <a:rPr sz="1200" b="0">
                          <a:solidFill>
                            <a:srgbClr val="1F1F1F"/>
                          </a:solidFill>
                        </a:rPr>
                        <a:t>22 %</a:t>
                      </a:r>
                    </a:p>
                  </a:txBody>
                  <a:tcPr marT="27432" marB="27432" marL="73152" marR="73152" anchor="ctr">
                    <a:solidFill>
                      <a:srgbClr val="F3F4F8"/>
                    </a:solidFill>
                  </a:tcPr>
                </a:tc>
              </a:tr>
              <a:tr h="329184">
                <a:tc>
                  <a:txBody>
                    <a:bodyPr/>
                    <a:lstStyle/>
                    <a:p>
                      <a:r>
                        <a:rPr sz="1200" b="0">
                          <a:solidFill>
                            <a:srgbClr val="1F1F1F"/>
                          </a:solidFill>
                        </a:rPr>
                        <a:t>Books1</a:t>
                      </a:r>
                    </a:p>
                  </a:txBody>
                  <a:tcPr marT="27432" marB="27432" marL="73152" marR="73152" anchor="ctr">
                    <a:solidFill>
                      <a:srgbClr val="FFFFFF"/>
                    </a:solidFill>
                  </a:tcPr>
                </a:tc>
                <a:tc>
                  <a:txBody>
                    <a:bodyPr/>
                    <a:lstStyle/>
                    <a:p>
                      <a:r>
                        <a:rPr sz="1200" b="0">
                          <a:solidFill>
                            <a:srgbClr val="1F1F1F"/>
                          </a:solidFill>
                        </a:rPr>
                        <a:t>12 B</a:t>
                      </a:r>
                    </a:p>
                  </a:txBody>
                  <a:tcPr marT="27432" marB="27432" marL="73152" marR="73152" anchor="ctr">
                    <a:solidFill>
                      <a:srgbClr val="FFFFFF"/>
                    </a:solidFill>
                  </a:tcPr>
                </a:tc>
                <a:tc>
                  <a:txBody>
                    <a:bodyPr/>
                    <a:lstStyle/>
                    <a:p>
                      <a:r>
                        <a:rPr sz="1200" b="0">
                          <a:solidFill>
                            <a:srgbClr val="1F1F1F"/>
                          </a:solidFill>
                        </a:rPr>
                        <a:t>8 %</a:t>
                      </a:r>
                    </a:p>
                  </a:txBody>
                  <a:tcPr marT="27432" marB="27432" marL="73152" marR="73152" anchor="ctr">
                    <a:solidFill>
                      <a:srgbClr val="FFFFFF"/>
                    </a:solidFill>
                  </a:tcPr>
                </a:tc>
              </a:tr>
              <a:tr h="329184">
                <a:tc>
                  <a:txBody>
                    <a:bodyPr/>
                    <a:lstStyle/>
                    <a:p>
                      <a:r>
                        <a:rPr sz="1200" b="0">
                          <a:solidFill>
                            <a:srgbClr val="1F1F1F"/>
                          </a:solidFill>
                        </a:rPr>
                        <a:t>Books2</a:t>
                      </a:r>
                    </a:p>
                  </a:txBody>
                  <a:tcPr marT="27432" marB="27432" marL="73152" marR="73152" anchor="ctr">
                    <a:solidFill>
                      <a:srgbClr val="F3F4F8"/>
                    </a:solidFill>
                  </a:tcPr>
                </a:tc>
                <a:tc>
                  <a:txBody>
                    <a:bodyPr/>
                    <a:lstStyle/>
                    <a:p>
                      <a:r>
                        <a:rPr sz="1200" b="0">
                          <a:solidFill>
                            <a:srgbClr val="1F1F1F"/>
                          </a:solidFill>
                        </a:rPr>
                        <a:t>55 B</a:t>
                      </a:r>
                    </a:p>
                  </a:txBody>
                  <a:tcPr marT="27432" marB="27432" marL="73152" marR="73152" anchor="ctr">
                    <a:solidFill>
                      <a:srgbClr val="F3F4F8"/>
                    </a:solidFill>
                  </a:tcPr>
                </a:tc>
                <a:tc>
                  <a:txBody>
                    <a:bodyPr/>
                    <a:lstStyle/>
                    <a:p>
                      <a:r>
                        <a:rPr sz="1200" b="0">
                          <a:solidFill>
                            <a:srgbClr val="1F1F1F"/>
                          </a:solidFill>
                        </a:rPr>
                        <a:t>8 %</a:t>
                      </a:r>
                    </a:p>
                  </a:txBody>
                  <a:tcPr marT="27432" marB="27432" marL="73152" marR="73152" anchor="ctr">
                    <a:solidFill>
                      <a:srgbClr val="F3F4F8"/>
                    </a:solidFill>
                  </a:tcPr>
                </a:tc>
              </a:tr>
              <a:tr h="329184">
                <a:tc>
                  <a:txBody>
                    <a:bodyPr/>
                    <a:lstStyle/>
                    <a:p>
                      <a:r>
                        <a:rPr sz="1200" b="0">
                          <a:solidFill>
                            <a:srgbClr val="1F1F1F"/>
                          </a:solidFill>
                        </a:rPr>
                        <a:t>Wikipedia</a:t>
                      </a:r>
                    </a:p>
                  </a:txBody>
                  <a:tcPr marT="27432" marB="27432" marL="73152" marR="73152" anchor="ctr">
                    <a:solidFill>
                      <a:srgbClr val="FFFFFF"/>
                    </a:solidFill>
                  </a:tcPr>
                </a:tc>
                <a:tc>
                  <a:txBody>
                    <a:bodyPr/>
                    <a:lstStyle/>
                    <a:p>
                      <a:r>
                        <a:rPr sz="1200" b="0">
                          <a:solidFill>
                            <a:srgbClr val="1F1F1F"/>
                          </a:solidFill>
                        </a:rPr>
                        <a:t>3 B</a:t>
                      </a:r>
                    </a:p>
                  </a:txBody>
                  <a:tcPr marT="27432" marB="27432" marL="73152" marR="73152" anchor="ctr">
                    <a:solidFill>
                      <a:srgbClr val="FFFFFF"/>
                    </a:solidFill>
                  </a:tcPr>
                </a:tc>
                <a:tc>
                  <a:txBody>
                    <a:bodyPr/>
                    <a:lstStyle/>
                    <a:p>
                      <a:r>
                        <a:rPr sz="1200" b="0">
                          <a:solidFill>
                            <a:srgbClr val="1F1F1F"/>
                          </a:solidFill>
                        </a:rPr>
                        <a:t>3 %</a:t>
                      </a:r>
                    </a:p>
                  </a:txBody>
                  <a:tcPr marT="27432" marB="27432" marL="73152" marR="73152" anchor="ctr">
                    <a:solidFill>
                      <a:srgbClr val="FFFFFF"/>
                    </a:solidFill>
                  </a:tcPr>
                </a:tc>
              </a:tr>
            </a:tbl>
          </a:graphicData>
        </a:graphic>
      </p:graphicFrame>
      <p:sp>
        <p:nvSpPr>
          <p:cNvPr id="7" name="TextBox 6"/>
          <p:cNvSpPr txBox="1"/>
          <p:nvPr/>
        </p:nvSpPr>
        <p:spPr>
          <a:xfrm>
            <a:off x="585216" y="4297680"/>
            <a:ext cx="4846320" cy="548640"/>
          </a:xfrm>
          <a:prstGeom prst="rect">
            <a:avLst/>
          </a:prstGeom>
          <a:noFill/>
        </p:spPr>
        <p:txBody>
          <a:bodyPr wrap="square" lIns="0" rIns="0" tIns="0" bIns="0" anchor="t">
            <a:spAutoFit/>
          </a:bodyPr>
          <a:lstStyle/>
          <a:p>
            <a:pPr algn="l">
              <a:spcAft>
                <a:spcPts val="0"/>
              </a:spcAft>
            </a:pPr>
            <a:r>
              <a:rPr sz="1200" b="0" i="1">
                <a:solidFill>
                  <a:srgbClr val="6B6B6B"/>
                </a:solidFill>
              </a:rPr>
              <a:t>~499 B tokens raw, ~300 B used — good sources up-weighted</a:t>
            </a:r>
          </a:p>
        </p:txBody>
      </p:sp>
      <p:sp>
        <p:nvSpPr>
          <p:cNvPr id="8" name="TextBox 7"/>
          <p:cNvSpPr txBox="1"/>
          <p:nvPr/>
        </p:nvSpPr>
        <p:spPr>
          <a:xfrm>
            <a:off x="5669280" y="1965960"/>
            <a:ext cx="4572000" cy="274320"/>
          </a:xfrm>
          <a:prstGeom prst="rect">
            <a:avLst/>
          </a:prstGeom>
          <a:noFill/>
        </p:spPr>
        <p:txBody>
          <a:bodyPr wrap="square" lIns="0" rIns="0" tIns="0" bIns="0" anchor="t">
            <a:spAutoFit/>
          </a:bodyPr>
          <a:lstStyle/>
          <a:p>
            <a:pPr algn="l">
              <a:spcAft>
                <a:spcPts val="0"/>
              </a:spcAft>
            </a:pPr>
            <a:r>
              <a:rPr sz="1100" b="1" i="0">
                <a:solidFill>
                  <a:srgbClr val="2A446F"/>
                </a:solidFill>
              </a:rPr>
              <a:t>WHAT IT COST</a:t>
            </a:r>
          </a:p>
        </p:txBody>
      </p:sp>
      <p:graphicFrame>
        <p:nvGraphicFramePr>
          <p:cNvPr id="9" name="Table 8"/>
          <p:cNvGraphicFramePr>
            <a:graphicFrameLocks noGrp="1"/>
          </p:cNvGraphicFramePr>
          <p:nvPr/>
        </p:nvGraphicFramePr>
        <p:xfrm>
          <a:off x="5669280" y="2240280"/>
          <a:ext cx="4572000" cy="2304288"/>
        </p:xfrm>
        <a:graphic>
          <a:graphicData uri="http://schemas.openxmlformats.org/drawingml/2006/table">
            <a:tbl>
              <a:tblPr firstRow="1" bandRow="1">
                <a:tableStyleId>{5C22544A-7EE6-4342-B048-85BDC9FD1C3A}</a:tableStyleId>
              </a:tblPr>
              <a:tblGrid>
                <a:gridCol w="2057400"/>
                <a:gridCol w="2514600"/>
              </a:tblGrid>
              <a:tr h="329184">
                <a:tc>
                  <a:txBody>
                    <a:bodyPr/>
                    <a:lstStyle/>
                    <a:p>
                      <a:r>
                        <a:rPr sz="1200" b="1">
                          <a:solidFill>
                            <a:srgbClr val="FFFFFF"/>
                          </a:solidFill>
                        </a:rPr>
                        <a:t>Metric</a:t>
                      </a:r>
                    </a:p>
                  </a:txBody>
                  <a:tcPr marT="27432" marB="27432" marL="73152" marR="73152" anchor="ctr">
                    <a:solidFill>
                      <a:srgbClr val="2A446F"/>
                    </a:solidFill>
                  </a:tcPr>
                </a:tc>
                <a:tc>
                  <a:txBody>
                    <a:bodyPr/>
                    <a:lstStyle/>
                    <a:p>
                      <a:r>
                        <a:rPr sz="1200" b="1">
                          <a:solidFill>
                            <a:srgbClr val="FFFFFF"/>
                          </a:solidFill>
                        </a:rPr>
                        <a:t>Value</a:t>
                      </a:r>
                    </a:p>
                  </a:txBody>
                  <a:tcPr marT="27432" marB="27432" marL="73152" marR="73152" anchor="ctr">
                    <a:solidFill>
                      <a:srgbClr val="2A446F"/>
                    </a:solidFill>
                  </a:tcPr>
                </a:tc>
              </a:tr>
              <a:tr h="329184">
                <a:tc>
                  <a:txBody>
                    <a:bodyPr/>
                    <a:lstStyle/>
                    <a:p>
                      <a:r>
                        <a:rPr sz="1200" b="0">
                          <a:solidFill>
                            <a:srgbClr val="1F1F1F"/>
                          </a:solidFill>
                        </a:rPr>
                        <a:t>Parameters</a:t>
                      </a:r>
                    </a:p>
                  </a:txBody>
                  <a:tcPr marT="27432" marB="27432" marL="73152" marR="73152" anchor="ctr">
                    <a:solidFill>
                      <a:srgbClr val="FFFFFF"/>
                    </a:solidFill>
                  </a:tcPr>
                </a:tc>
                <a:tc>
                  <a:txBody>
                    <a:bodyPr/>
                    <a:lstStyle/>
                    <a:p>
                      <a:r>
                        <a:rPr sz="1200" b="0">
                          <a:solidFill>
                            <a:srgbClr val="1F1F1F"/>
                          </a:solidFill>
                        </a:rPr>
                        <a:t>175 B (largest dense LM then)</a:t>
                      </a:r>
                    </a:p>
                  </a:txBody>
                  <a:tcPr marT="27432" marB="27432" marL="73152" marR="73152" anchor="ctr">
                    <a:solidFill>
                      <a:srgbClr val="FFFFFF"/>
                    </a:solidFill>
                  </a:tcPr>
                </a:tc>
              </a:tr>
              <a:tr h="329184">
                <a:tc>
                  <a:txBody>
                    <a:bodyPr/>
                    <a:lstStyle/>
                    <a:p>
                      <a:r>
                        <a:rPr sz="1200" b="0">
                          <a:solidFill>
                            <a:srgbClr val="1F1F1F"/>
                          </a:solidFill>
                        </a:rPr>
                        <a:t>Compute</a:t>
                      </a:r>
                    </a:p>
                  </a:txBody>
                  <a:tcPr marT="27432" marB="27432" marL="73152" marR="73152" anchor="ctr">
                    <a:solidFill>
                      <a:srgbClr val="F3F4F8"/>
                    </a:solidFill>
                  </a:tcPr>
                </a:tc>
                <a:tc>
                  <a:txBody>
                    <a:bodyPr/>
                    <a:lstStyle/>
                    <a:p>
                      <a:r>
                        <a:rPr sz="1200" b="0">
                          <a:solidFill>
                            <a:srgbClr val="1F1F1F"/>
                          </a:solidFill>
                        </a:rPr>
                        <a:t>3.14e23 FLOPs</a:t>
                      </a:r>
                    </a:p>
                  </a:txBody>
                  <a:tcPr marT="27432" marB="27432" marL="73152" marR="73152" anchor="ctr">
                    <a:solidFill>
                      <a:srgbClr val="F3F4F8"/>
                    </a:solidFill>
                  </a:tcPr>
                </a:tc>
              </a:tr>
              <a:tr h="329184">
                <a:tc>
                  <a:txBody>
                    <a:bodyPr/>
                    <a:lstStyle/>
                    <a:p>
                      <a:r>
                        <a:rPr sz="1200" b="0">
                          <a:solidFill>
                            <a:srgbClr val="1F1F1F"/>
                          </a:solidFill>
                        </a:rPr>
                        <a:t>Hardware</a:t>
                      </a:r>
                    </a:p>
                  </a:txBody>
                  <a:tcPr marT="27432" marB="27432" marL="73152" marR="73152" anchor="ctr">
                    <a:solidFill>
                      <a:srgbClr val="FFFFFF"/>
                    </a:solidFill>
                  </a:tcPr>
                </a:tc>
                <a:tc>
                  <a:txBody>
                    <a:bodyPr/>
                    <a:lstStyle/>
                    <a:p>
                      <a:r>
                        <a:rPr sz="1200" b="0">
                          <a:solidFill>
                            <a:srgbClr val="1F1F1F"/>
                          </a:solidFill>
                        </a:rPr>
                        <a:t>10,000 V100 (Azure)</a:t>
                      </a:r>
                    </a:p>
                  </a:txBody>
                  <a:tcPr marT="27432" marB="27432" marL="73152" marR="73152" anchor="ctr">
                    <a:solidFill>
                      <a:srgbClr val="FFFFFF"/>
                    </a:solidFill>
                  </a:tcPr>
                </a:tc>
              </a:tr>
              <a:tr h="329184">
                <a:tc>
                  <a:txBody>
                    <a:bodyPr/>
                    <a:lstStyle/>
                    <a:p>
                      <a:r>
                        <a:rPr sz="1200" b="0">
                          <a:solidFill>
                            <a:srgbClr val="1F1F1F"/>
                          </a:solidFill>
                        </a:rPr>
                        <a:t>Training time</a:t>
                      </a:r>
                    </a:p>
                  </a:txBody>
                  <a:tcPr marT="27432" marB="27432" marL="73152" marR="73152" anchor="ctr">
                    <a:solidFill>
                      <a:srgbClr val="F3F4F8"/>
                    </a:solidFill>
                  </a:tcPr>
                </a:tc>
                <a:tc>
                  <a:txBody>
                    <a:bodyPr/>
                    <a:lstStyle/>
                    <a:p>
                      <a:r>
                        <a:rPr sz="1200" b="0">
                          <a:solidFill>
                            <a:srgbClr val="1F1F1F"/>
                          </a:solidFill>
                        </a:rPr>
                        <a:t>~15 days</a:t>
                      </a:r>
                    </a:p>
                  </a:txBody>
                  <a:tcPr marT="27432" marB="27432" marL="73152" marR="73152" anchor="ctr">
                    <a:solidFill>
                      <a:srgbClr val="F3F4F8"/>
                    </a:solidFill>
                  </a:tcPr>
                </a:tc>
              </a:tr>
              <a:tr h="329184">
                <a:tc>
                  <a:txBody>
                    <a:bodyPr/>
                    <a:lstStyle/>
                    <a:p>
                      <a:r>
                        <a:rPr sz="1200" b="0">
                          <a:solidFill>
                            <a:srgbClr val="1F1F1F"/>
                          </a:solidFill>
                        </a:rPr>
                        <a:t>Cost (compute only, est.)</a:t>
                      </a:r>
                    </a:p>
                  </a:txBody>
                  <a:tcPr marT="27432" marB="27432" marL="73152" marR="73152" anchor="ctr">
                    <a:solidFill>
                      <a:srgbClr val="FFFFFF"/>
                    </a:solidFill>
                  </a:tcPr>
                </a:tc>
                <a:tc>
                  <a:txBody>
                    <a:bodyPr/>
                    <a:lstStyle/>
                    <a:p>
                      <a:r>
                        <a:rPr sz="1200" b="0">
                          <a:solidFill>
                            <a:srgbClr val="1F1F1F"/>
                          </a:solidFill>
                        </a:rPr>
                        <a:t>≈ $4.6 M</a:t>
                      </a:r>
                    </a:p>
                  </a:txBody>
                  <a:tcPr marT="27432" marB="27432" marL="73152" marR="73152" anchor="ctr">
                    <a:solidFill>
                      <a:srgbClr val="FFFFFF"/>
                    </a:solidFill>
                  </a:tcPr>
                </a:tc>
              </a:tr>
              <a:tr h="329184">
                <a:tc>
                  <a:txBody>
                    <a:bodyPr/>
                    <a:lstStyle/>
                    <a:p>
                      <a:r>
                        <a:rPr sz="1200" b="0">
                          <a:solidFill>
                            <a:srgbClr val="1F1F1F"/>
                          </a:solidFill>
                        </a:rPr>
                        <a:t>Carbon</a:t>
                      </a:r>
                    </a:p>
                  </a:txBody>
                  <a:tcPr marT="27432" marB="27432" marL="73152" marR="73152" anchor="ctr">
                    <a:solidFill>
                      <a:srgbClr val="F3F4F8"/>
                    </a:solidFill>
                  </a:tcPr>
                </a:tc>
                <a:tc>
                  <a:txBody>
                    <a:bodyPr/>
                    <a:lstStyle/>
                    <a:p>
                      <a:r>
                        <a:rPr sz="1200" b="0">
                          <a:solidFill>
                            <a:srgbClr val="1F1F1F"/>
                          </a:solidFill>
                        </a:rPr>
                        <a:t>552 t CO₂</a:t>
                      </a:r>
                    </a:p>
                  </a:txBody>
                  <a:tcPr marT="27432" marB="27432" marL="73152" marR="73152" anchor="ctr">
                    <a:solidFill>
                      <a:srgbClr val="F3F4F8"/>
                    </a:solidFill>
                  </a:tcPr>
                </a:tc>
              </a:tr>
            </a:tbl>
          </a:graphicData>
        </a:graphic>
      </p:graphicFrame>
      <p:sp>
        <p:nvSpPr>
          <p:cNvPr id="10" name="TextBox 9"/>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Rule of thumb (Chinchilla): training FLOPs ≈ 6 × parameters × tokens.</a:t>
            </a:r>
          </a:p>
        </p:txBody>
      </p:sp>
      <p:sp>
        <p:nvSpPr>
          <p:cNvPr id="11" name="TextBox 10"/>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GPT-3 paper (arXiv 2005.14165) · Chinchilla paper (arXiv 2203.15556)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Instruct-tuning turned a text predictor into an assistant</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Two training steps taught a text continuer to answer — InstructGPT, 2022.</a:t>
            </a:r>
          </a:p>
        </p:txBody>
      </p:sp>
      <p:sp>
        <p:nvSpPr>
          <p:cNvPr id="5" name="Rounded Rectangle 4"/>
          <p:cNvSpPr/>
          <p:nvPr/>
        </p:nvSpPr>
        <p:spPr>
          <a:xfrm>
            <a:off x="585216" y="2103120"/>
            <a:ext cx="1711756" cy="105156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base model</a:t>
            </a:r>
          </a:p>
          <a:p>
            <a:pPr algn="ctr"/>
            <a:r>
              <a:rPr sz="1200" b="0" i="0">
                <a:solidFill>
                  <a:srgbClr val="1F1F1F"/>
                </a:solidFill>
              </a:rPr>
              <a:t>continues text</a:t>
            </a:r>
          </a:p>
        </p:txBody>
      </p:sp>
      <p:cxnSp>
        <p:nvCxnSpPr>
          <p:cNvPr id="6" name="Connector 5"/>
          <p:cNvCxnSpPr/>
          <p:nvPr/>
        </p:nvCxnSpPr>
        <p:spPr>
          <a:xfrm>
            <a:off x="2333548" y="2628900"/>
            <a:ext cx="20116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571292" y="2103120"/>
            <a:ext cx="1711756" cy="105156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SFT</a:t>
            </a:r>
          </a:p>
          <a:p>
            <a:pPr algn="ctr"/>
            <a:r>
              <a:rPr sz="1200" b="0" i="0">
                <a:solidFill>
                  <a:srgbClr val="1F1F1F"/>
                </a:solidFill>
              </a:rPr>
              <a:t>learns from human-written answers</a:t>
            </a:r>
          </a:p>
        </p:txBody>
      </p:sp>
      <p:cxnSp>
        <p:nvCxnSpPr>
          <p:cNvPr id="8" name="Connector 7"/>
          <p:cNvCxnSpPr/>
          <p:nvPr/>
        </p:nvCxnSpPr>
        <p:spPr>
          <a:xfrm>
            <a:off x="4319625" y="2628900"/>
            <a:ext cx="20116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557369" y="2103120"/>
            <a:ext cx="1711756" cy="105156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reward model</a:t>
            </a:r>
          </a:p>
          <a:p>
            <a:pPr algn="ctr"/>
            <a:r>
              <a:rPr sz="1200" b="0" i="0">
                <a:solidFill>
                  <a:srgbClr val="1F1F1F"/>
                </a:solidFill>
              </a:rPr>
              <a:t>humans rank answers</a:t>
            </a:r>
          </a:p>
        </p:txBody>
      </p:sp>
      <p:cxnSp>
        <p:nvCxnSpPr>
          <p:cNvPr id="10" name="Connector 9"/>
          <p:cNvCxnSpPr/>
          <p:nvPr/>
        </p:nvCxnSpPr>
        <p:spPr>
          <a:xfrm>
            <a:off x="6305702" y="2628900"/>
            <a:ext cx="20116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543446" y="2103120"/>
            <a:ext cx="1711756" cy="105156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RL (PPO)</a:t>
            </a:r>
          </a:p>
          <a:p>
            <a:pPr algn="ctr"/>
            <a:r>
              <a:rPr sz="1200" b="0" i="0">
                <a:solidFill>
                  <a:srgbClr val="1F1F1F"/>
                </a:solidFill>
              </a:rPr>
              <a:t>optimises for the rewards</a:t>
            </a:r>
          </a:p>
        </p:txBody>
      </p:sp>
      <p:cxnSp>
        <p:nvCxnSpPr>
          <p:cNvPr id="12" name="Connector 11"/>
          <p:cNvCxnSpPr/>
          <p:nvPr/>
        </p:nvCxnSpPr>
        <p:spPr>
          <a:xfrm>
            <a:off x="8291779" y="2628900"/>
            <a:ext cx="20116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529523" y="2103120"/>
            <a:ext cx="1711756" cy="105156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assistant</a:t>
            </a:r>
          </a:p>
          <a:p>
            <a:pPr algn="ctr"/>
            <a:r>
              <a:rPr sz="1200" b="0" i="0">
                <a:solidFill>
                  <a:srgbClr val="FFFFFF"/>
                </a:solidFill>
              </a:rPr>
              <a:t>follows instructions</a:t>
            </a:r>
          </a:p>
        </p:txBody>
      </p:sp>
      <p:sp>
        <p:nvSpPr>
          <p:cNvPr id="14" name="Rectangle 13"/>
          <p:cNvSpPr/>
          <p:nvPr/>
        </p:nvSpPr>
        <p:spPr>
          <a:xfrm>
            <a:off x="4557369" y="3273552"/>
            <a:ext cx="3697833" cy="27432"/>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57369" y="3319272"/>
            <a:ext cx="3697833" cy="274320"/>
          </a:xfrm>
          <a:prstGeom prst="rect">
            <a:avLst/>
          </a:prstGeom>
          <a:noFill/>
        </p:spPr>
        <p:txBody>
          <a:bodyPr wrap="square" lIns="0" rIns="0" tIns="0" bIns="0" anchor="t">
            <a:spAutoFit/>
          </a:bodyPr>
          <a:lstStyle/>
          <a:p>
            <a:pPr algn="ctr">
              <a:spcAft>
                <a:spcPts val="0"/>
              </a:spcAft>
            </a:pPr>
            <a:r>
              <a:rPr sz="1100" b="1" i="0">
                <a:solidFill>
                  <a:srgbClr val="8661C5"/>
                </a:solidFill>
              </a:rPr>
              <a:t>RLHF = reward model + RL</a:t>
            </a:r>
          </a:p>
        </p:txBody>
      </p:sp>
      <p:sp>
        <p:nvSpPr>
          <p:cNvPr id="16" name="Rounded Rectangle 15"/>
          <p:cNvSpPr/>
          <p:nvPr/>
        </p:nvSpPr>
        <p:spPr>
          <a:xfrm>
            <a:off x="585216" y="3794760"/>
            <a:ext cx="4736592" cy="14630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86384" y="3959352"/>
            <a:ext cx="4334255" cy="411480"/>
          </a:xfrm>
          <a:prstGeom prst="rect">
            <a:avLst/>
          </a:prstGeom>
          <a:noFill/>
        </p:spPr>
        <p:txBody>
          <a:bodyPr wrap="square" lIns="0" rIns="0" tIns="0" bIns="0" anchor="t">
            <a:spAutoFit/>
          </a:bodyPr>
          <a:lstStyle/>
          <a:p>
            <a:pPr algn="l">
              <a:spcAft>
                <a:spcPts val="0"/>
              </a:spcAft>
            </a:pPr>
            <a:r>
              <a:rPr sz="1200" b="1" i="0">
                <a:solidFill>
                  <a:srgbClr val="6B6B6B"/>
                </a:solidFill>
              </a:rPr>
              <a:t>BASE MODEL (continues)</a:t>
            </a:r>
          </a:p>
        </p:txBody>
      </p:sp>
      <p:sp>
        <p:nvSpPr>
          <p:cNvPr id="18" name="TextBox 17"/>
          <p:cNvSpPr txBox="1"/>
          <p:nvPr/>
        </p:nvSpPr>
        <p:spPr>
          <a:xfrm>
            <a:off x="786384" y="4416552"/>
            <a:ext cx="4334255" cy="685800"/>
          </a:xfrm>
          <a:prstGeom prst="rect">
            <a:avLst/>
          </a:prstGeom>
          <a:noFill/>
        </p:spPr>
        <p:txBody>
          <a:bodyPr wrap="square" lIns="0" rIns="0" tIns="0" bIns="0" anchor="t">
            <a:spAutoFit/>
          </a:bodyPr>
          <a:lstStyle/>
          <a:p>
            <a:pPr algn="l">
              <a:spcAft>
                <a:spcPts val="600"/>
              </a:spcAft>
            </a:pPr>
            <a:r>
              <a:rPr sz="1200" b="1" i="0">
                <a:solidFill>
                  <a:srgbClr val="1F1F1F"/>
                </a:solidFill>
              </a:rPr>
              <a:t>“What is the capital of France?”</a:t>
            </a:r>
          </a:p>
          <a:p>
            <a:pPr algn="l">
              <a:spcAft>
                <a:spcPts val="600"/>
              </a:spcAft>
            </a:pPr>
            <a:r>
              <a:rPr sz="1200" b="0" i="0">
                <a:solidFill>
                  <a:srgbClr val="1F1F1F"/>
                </a:solidFill>
              </a:rPr>
              <a:t>→ “What is the capital of Germany? What is the capital of …”</a:t>
            </a:r>
          </a:p>
        </p:txBody>
      </p:sp>
      <p:sp>
        <p:nvSpPr>
          <p:cNvPr id="19" name="Rounded Rectangle 18"/>
          <p:cNvSpPr/>
          <p:nvPr/>
        </p:nvSpPr>
        <p:spPr>
          <a:xfrm>
            <a:off x="5504688" y="3794760"/>
            <a:ext cx="4736592" cy="14630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705855" y="3959352"/>
            <a:ext cx="4334255" cy="411480"/>
          </a:xfrm>
          <a:prstGeom prst="rect">
            <a:avLst/>
          </a:prstGeom>
          <a:noFill/>
        </p:spPr>
        <p:txBody>
          <a:bodyPr wrap="square" lIns="0" rIns="0" tIns="0" bIns="0" anchor="t">
            <a:spAutoFit/>
          </a:bodyPr>
          <a:lstStyle/>
          <a:p>
            <a:pPr algn="l">
              <a:spcAft>
                <a:spcPts val="0"/>
              </a:spcAft>
            </a:pPr>
            <a:r>
              <a:rPr sz="1200" b="1" i="0">
                <a:solidFill>
                  <a:srgbClr val="0078D4"/>
                </a:solidFill>
              </a:rPr>
              <a:t>INSTRUCT MODEL (answers)</a:t>
            </a:r>
          </a:p>
        </p:txBody>
      </p:sp>
      <p:sp>
        <p:nvSpPr>
          <p:cNvPr id="21" name="TextBox 20"/>
          <p:cNvSpPr txBox="1"/>
          <p:nvPr/>
        </p:nvSpPr>
        <p:spPr>
          <a:xfrm>
            <a:off x="5705855" y="4416552"/>
            <a:ext cx="4334255" cy="685800"/>
          </a:xfrm>
          <a:prstGeom prst="rect">
            <a:avLst/>
          </a:prstGeom>
          <a:noFill/>
        </p:spPr>
        <p:txBody>
          <a:bodyPr wrap="square" lIns="0" rIns="0" tIns="0" bIns="0" anchor="t">
            <a:spAutoFit/>
          </a:bodyPr>
          <a:lstStyle/>
          <a:p>
            <a:pPr algn="l">
              <a:spcAft>
                <a:spcPts val="600"/>
              </a:spcAft>
            </a:pPr>
            <a:r>
              <a:rPr sz="1200" b="1" i="0">
                <a:solidFill>
                  <a:srgbClr val="1F1F1F"/>
                </a:solidFill>
              </a:rPr>
              <a:t>“What is the capital of France?”</a:t>
            </a:r>
          </a:p>
          <a:p>
            <a:pPr algn="l">
              <a:spcAft>
                <a:spcPts val="600"/>
              </a:spcAft>
            </a:pPr>
            <a:r>
              <a:rPr sz="1200" b="0" i="0">
                <a:solidFill>
                  <a:srgbClr val="1F1F1F"/>
                </a:solidFill>
              </a:rPr>
              <a:t>→ “Paris.”</a:t>
            </a:r>
          </a:p>
        </p:txBody>
      </p:sp>
      <p:sp>
        <p:nvSpPr>
          <p:cNvPr id="22" name="TextBox 21"/>
          <p:cNvSpPr txBox="1"/>
          <p:nvPr/>
        </p:nvSpPr>
        <p:spPr>
          <a:xfrm>
            <a:off x="7498079" y="3566160"/>
            <a:ext cx="2743200" cy="237744"/>
          </a:xfrm>
          <a:prstGeom prst="rect">
            <a:avLst/>
          </a:prstGeom>
          <a:noFill/>
        </p:spPr>
        <p:txBody>
          <a:bodyPr wrap="square" lIns="0" rIns="0" tIns="0" bIns="0" anchor="t">
            <a:spAutoFit/>
          </a:bodyPr>
          <a:lstStyle/>
          <a:p>
            <a:pPr algn="r">
              <a:spcAft>
                <a:spcPts val="0"/>
              </a:spcAft>
            </a:pPr>
            <a:r>
              <a:rPr sz="1000" b="0" i="1">
                <a:solidFill>
                  <a:srgbClr val="6B6B6B"/>
                </a:solidFill>
              </a:rPr>
              <a:t>illustrative outputs</a:t>
            </a:r>
          </a:p>
        </p:txBody>
      </p:sp>
      <p:sp>
        <p:nvSpPr>
          <p:cNvPr id="23" name="TextBox 22"/>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The recipe behind almost every chat model since 2022.</a:t>
            </a:r>
          </a:p>
        </p:txBody>
      </p:sp>
      <p:sp>
        <p:nvSpPr>
          <p:cNvPr id="24" name="TextBox 2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OpenAI, InstructGPT (2022)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ChatGPT = InstructGPT + a chat box (+ a system prompt)</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FFB900"/>
                </a:solidFill>
              </a:rPr>
              <a:t>SEGMENT 1 · FOUNDATIONS</a:t>
            </a:r>
          </a:p>
        </p:txBody>
      </p:sp>
      <p:sp>
        <p:nvSpPr>
          <p:cNvPr id="4" name="Rounded Rectangle 3"/>
          <p:cNvSpPr/>
          <p:nvPr/>
        </p:nvSpPr>
        <p:spPr>
          <a:xfrm>
            <a:off x="676656" y="2514600"/>
            <a:ext cx="2011680" cy="1325880"/>
          </a:xfrm>
          <a:prstGeom prst="roundRect">
            <a:avLst>
              <a:gd name="adj" fmla="val 12000"/>
            </a:avLst>
          </a:prstGeom>
          <a:solidFill>
            <a:srgbClr val="141E4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rPr>
              <a:t>GPT-3.5</a:t>
            </a:r>
          </a:p>
          <a:p>
            <a:pPr algn="ctr">
              <a:spcBef>
                <a:spcPts val="300"/>
              </a:spcBef>
            </a:pPr>
            <a:r>
              <a:rPr sz="1200" b="0">
                <a:solidFill>
                  <a:srgbClr val="FFFFFF"/>
                </a:solidFill>
              </a:rPr>
              <a:t>instruct-tuned + RLHF</a:t>
            </a:r>
          </a:p>
        </p:txBody>
      </p:sp>
      <p:sp>
        <p:nvSpPr>
          <p:cNvPr id="5" name="TextBox 4"/>
          <p:cNvSpPr txBox="1"/>
          <p:nvPr/>
        </p:nvSpPr>
        <p:spPr>
          <a:xfrm>
            <a:off x="2688336" y="2788920"/>
            <a:ext cx="502920" cy="731520"/>
          </a:xfrm>
          <a:prstGeom prst="rect">
            <a:avLst/>
          </a:prstGeom>
          <a:noFill/>
        </p:spPr>
        <p:txBody>
          <a:bodyPr wrap="square" lIns="0" rIns="0" tIns="0" bIns="0" anchor="t">
            <a:spAutoFit/>
          </a:bodyPr>
          <a:lstStyle/>
          <a:p>
            <a:pPr algn="ctr">
              <a:spcAft>
                <a:spcPts val="0"/>
              </a:spcAft>
            </a:pPr>
            <a:r>
              <a:rPr sz="3400" b="1" i="0">
                <a:solidFill>
                  <a:srgbClr val="FFB900"/>
                </a:solidFill>
              </a:rPr>
              <a:t>+</a:t>
            </a:r>
          </a:p>
        </p:txBody>
      </p:sp>
      <p:sp>
        <p:nvSpPr>
          <p:cNvPr id="6" name="Rounded Rectangle 5"/>
          <p:cNvSpPr/>
          <p:nvPr/>
        </p:nvSpPr>
        <p:spPr>
          <a:xfrm>
            <a:off x="3191256" y="2514600"/>
            <a:ext cx="2011680" cy="1325880"/>
          </a:xfrm>
          <a:prstGeom prst="roundRect">
            <a:avLst>
              <a:gd name="adj" fmla="val 12000"/>
            </a:avLst>
          </a:prstGeom>
          <a:solidFill>
            <a:srgbClr val="141E4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rPr>
              <a:t>a chat box</a:t>
            </a:r>
          </a:p>
          <a:p>
            <a:pPr algn="ctr">
              <a:spcBef>
                <a:spcPts val="300"/>
              </a:spcBef>
            </a:pPr>
            <a:r>
              <a:rPr sz="1200" b="0">
                <a:solidFill>
                  <a:srgbClr val="FFFFFF"/>
                </a:solidFill>
              </a:rPr>
              <a:t>multi-turn, keeps the thread</a:t>
            </a:r>
          </a:p>
        </p:txBody>
      </p:sp>
      <p:sp>
        <p:nvSpPr>
          <p:cNvPr id="7" name="TextBox 6"/>
          <p:cNvSpPr txBox="1"/>
          <p:nvPr/>
        </p:nvSpPr>
        <p:spPr>
          <a:xfrm>
            <a:off x="5202936" y="2788920"/>
            <a:ext cx="502920" cy="731520"/>
          </a:xfrm>
          <a:prstGeom prst="rect">
            <a:avLst/>
          </a:prstGeom>
          <a:noFill/>
        </p:spPr>
        <p:txBody>
          <a:bodyPr wrap="square" lIns="0" rIns="0" tIns="0" bIns="0" anchor="t">
            <a:spAutoFit/>
          </a:bodyPr>
          <a:lstStyle/>
          <a:p>
            <a:pPr algn="ctr">
              <a:spcAft>
                <a:spcPts val="0"/>
              </a:spcAft>
            </a:pPr>
            <a:r>
              <a:rPr sz="3400" b="1" i="0">
                <a:solidFill>
                  <a:srgbClr val="FFB900"/>
                </a:solidFill>
              </a:rPr>
              <a:t>+</a:t>
            </a:r>
          </a:p>
        </p:txBody>
      </p:sp>
      <p:sp>
        <p:nvSpPr>
          <p:cNvPr id="8" name="Rounded Rectangle 7"/>
          <p:cNvSpPr/>
          <p:nvPr/>
        </p:nvSpPr>
        <p:spPr>
          <a:xfrm>
            <a:off x="5705856" y="2514600"/>
            <a:ext cx="2011680" cy="1325880"/>
          </a:xfrm>
          <a:prstGeom prst="roundRect">
            <a:avLst>
              <a:gd name="adj" fmla="val 12000"/>
            </a:avLst>
          </a:prstGeom>
          <a:solidFill>
            <a:srgbClr val="141E4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rPr>
              <a:t>a system prompt</a:t>
            </a:r>
          </a:p>
          <a:p>
            <a:pPr algn="ctr">
              <a:spcBef>
                <a:spcPts val="300"/>
              </a:spcBef>
            </a:pPr>
            <a:r>
              <a:rPr sz="1200" b="0">
                <a:solidFill>
                  <a:srgbClr val="FFFFFF"/>
                </a:solidFill>
              </a:rPr>
              <a:t>hidden instructions</a:t>
            </a:r>
          </a:p>
        </p:txBody>
      </p:sp>
      <p:sp>
        <p:nvSpPr>
          <p:cNvPr id="9" name="TextBox 8"/>
          <p:cNvSpPr txBox="1"/>
          <p:nvPr/>
        </p:nvSpPr>
        <p:spPr>
          <a:xfrm>
            <a:off x="7717536" y="2788920"/>
            <a:ext cx="502920" cy="731520"/>
          </a:xfrm>
          <a:prstGeom prst="rect">
            <a:avLst/>
          </a:prstGeom>
          <a:noFill/>
        </p:spPr>
        <p:txBody>
          <a:bodyPr wrap="square" lIns="0" rIns="0" tIns="0" bIns="0" anchor="t">
            <a:spAutoFit/>
          </a:bodyPr>
          <a:lstStyle/>
          <a:p>
            <a:pPr algn="ctr">
              <a:spcAft>
                <a:spcPts val="0"/>
              </a:spcAft>
            </a:pPr>
            <a:r>
              <a:rPr sz="3400" b="1" i="0">
                <a:solidFill>
                  <a:srgbClr val="FFB900"/>
                </a:solidFill>
              </a:rPr>
              <a:t>=</a:t>
            </a:r>
          </a:p>
        </p:txBody>
      </p:sp>
      <p:sp>
        <p:nvSpPr>
          <p:cNvPr id="10" name="Rounded Rectangle 9"/>
          <p:cNvSpPr/>
          <p:nvPr/>
        </p:nvSpPr>
        <p:spPr>
          <a:xfrm>
            <a:off x="8220456" y="2514600"/>
            <a:ext cx="2011680" cy="1325880"/>
          </a:xfrm>
          <a:prstGeom prst="roundRect">
            <a:avLst>
              <a:gd name="adj" fmla="val 12000"/>
            </a:avLst>
          </a:prstGeom>
          <a:solidFill>
            <a:srgbClr val="0078D4"/>
          </a:solidFill>
          <a:ln w="12700">
            <a:solidFill>
              <a:srgbClr val="FFB9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rPr>
              <a:t>ChatGPT</a:t>
            </a:r>
          </a:p>
          <a:p>
            <a:pPr algn="ctr">
              <a:spcBef>
                <a:spcPts val="300"/>
              </a:spcBef>
            </a:pPr>
            <a:r>
              <a:rPr sz="1200" b="0">
                <a:solidFill>
                  <a:srgbClr val="FFFFFF"/>
                </a:solidFill>
              </a:rPr>
              <a:t>November 2022</a:t>
            </a:r>
          </a:p>
        </p:txBody>
      </p:sp>
      <p:sp>
        <p:nvSpPr>
          <p:cNvPr id="11" name="TextBox 10"/>
          <p:cNvSpPr txBox="1"/>
          <p:nvPr/>
        </p:nvSpPr>
        <p:spPr>
          <a:xfrm>
            <a:off x="585216" y="4251960"/>
            <a:ext cx="9656063" cy="822960"/>
          </a:xfrm>
          <a:prstGeom prst="rect">
            <a:avLst/>
          </a:prstGeom>
          <a:noFill/>
        </p:spPr>
        <p:txBody>
          <a:bodyPr wrap="square" lIns="0" rIns="0" tIns="0" bIns="0" anchor="t">
            <a:spAutoFit/>
          </a:bodyPr>
          <a:lstStyle/>
          <a:p>
            <a:pPr algn="l">
              <a:spcAft>
                <a:spcPts val="0"/>
              </a:spcAft>
            </a:pPr>
            <a:r>
              <a:rPr sz="2800" b="0" i="1">
                <a:solidFill>
                  <a:srgbClr val="FFFFFF"/>
                </a:solidFill>
              </a:rPr>
              <a:t>“The model barely changed — the interface did.”</a:t>
            </a:r>
          </a:p>
        </p:txBody>
      </p:sp>
      <p:sp>
        <p:nvSpPr>
          <p:cNvPr id="12" name="TextBox 11"/>
          <p:cNvSpPr txBox="1"/>
          <p:nvPr/>
        </p:nvSpPr>
        <p:spPr>
          <a:xfrm>
            <a:off x="585216" y="5074920"/>
            <a:ext cx="9656063" cy="548640"/>
          </a:xfrm>
          <a:prstGeom prst="rect">
            <a:avLst/>
          </a:prstGeom>
          <a:noFill/>
        </p:spPr>
        <p:txBody>
          <a:bodyPr wrap="square" lIns="0" rIns="0" tIns="0" bIns="0" anchor="t">
            <a:spAutoFit/>
          </a:bodyPr>
          <a:lstStyle/>
          <a:p>
            <a:pPr algn="l">
              <a:spcAft>
                <a:spcPts val="0"/>
              </a:spcAft>
            </a:pPr>
            <a:r>
              <a:rPr sz="1500" b="0" i="0">
                <a:solidFill>
                  <a:srgbClr val="9AA6C2"/>
                </a:solidFill>
              </a:rPr>
              <a:t>What users got: multi-turn conversation · follow-up questions · it declines some harmful requests.</a:t>
            </a:r>
          </a:p>
        </p:txBody>
      </p:sp>
      <p:sp>
        <p:nvSpPr>
          <p:cNvPr id="13" name="TextBox 12"/>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9AA6C2"/>
                </a:solidFill>
              </a:rPr>
              <a:t>Sources: LLM 101 deck (Day of Data 2026) · OpenAI, Introducing ChatGPT (2022)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The 2026 post-training stack: SFT → DPO → GRPO/RL → distil</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Post-training is a modular pipeline now — and most teams never run RL.</a:t>
            </a:r>
          </a:p>
        </p:txBody>
      </p:sp>
      <p:sp>
        <p:nvSpPr>
          <p:cNvPr id="5" name="Rounded Rectangle 4"/>
          <p:cNvSpPr/>
          <p:nvPr/>
        </p:nvSpPr>
        <p:spPr>
          <a:xfrm>
            <a:off x="585216" y="2011680"/>
            <a:ext cx="2173985" cy="123444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SFT</a:t>
            </a:r>
          </a:p>
          <a:p>
            <a:pPr algn="ctr"/>
            <a:r>
              <a:rPr sz="1200" b="0" i="0">
                <a:solidFill>
                  <a:srgbClr val="1F1F1F"/>
                </a:solidFill>
              </a:rPr>
              <a:t>format + instructions</a:t>
            </a:r>
          </a:p>
          <a:p>
            <a:pPr algn="ctr"/>
            <a:r>
              <a:rPr sz="1200" b="0" i="0">
                <a:solidFill>
                  <a:srgbClr val="1F1F1F"/>
                </a:solidFill>
              </a:rPr>
              <a:t>1k–100k examples</a:t>
            </a:r>
          </a:p>
        </p:txBody>
      </p:sp>
      <p:cxnSp>
        <p:nvCxnSpPr>
          <p:cNvPr id="6" name="Connector 5"/>
          <p:cNvCxnSpPr/>
          <p:nvPr/>
        </p:nvCxnSpPr>
        <p:spPr>
          <a:xfrm>
            <a:off x="2795777" y="2628900"/>
            <a:ext cx="24688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079241" y="2011680"/>
            <a:ext cx="2173985" cy="123444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DPO</a:t>
            </a:r>
          </a:p>
          <a:p>
            <a:pPr algn="ctr"/>
            <a:r>
              <a:rPr sz="1200" b="0" i="0">
                <a:solidFill>
                  <a:srgbClr val="1F1F1F"/>
                </a:solidFill>
              </a:rPr>
              <a:t>preferences, no reward</a:t>
            </a:r>
          </a:p>
          <a:p>
            <a:pPr algn="ctr"/>
            <a:r>
              <a:rPr sz="1200" b="0" i="0">
                <a:solidFill>
                  <a:srgbClr val="1F1F1F"/>
                </a:solidFill>
              </a:rPr>
              <a:t>model, no PPO loop</a:t>
            </a:r>
          </a:p>
        </p:txBody>
      </p:sp>
      <p:cxnSp>
        <p:nvCxnSpPr>
          <p:cNvPr id="8" name="Connector 7"/>
          <p:cNvCxnSpPr/>
          <p:nvPr/>
        </p:nvCxnSpPr>
        <p:spPr>
          <a:xfrm>
            <a:off x="5289803" y="2628900"/>
            <a:ext cx="24688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573267" y="2011680"/>
            <a:ext cx="2173985" cy="123444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GRPO / RL</a:t>
            </a:r>
          </a:p>
          <a:p>
            <a:pPr algn="ctr"/>
            <a:r>
              <a:rPr sz="1200" b="0" i="0">
                <a:solidFill>
                  <a:srgbClr val="FFFFFF"/>
                </a:solidFill>
              </a:rPr>
              <a:t>verifiable rewards</a:t>
            </a:r>
          </a:p>
          <a:p>
            <a:pPr algn="ctr"/>
            <a:r>
              <a:rPr sz="1200" b="0" i="0">
                <a:solidFill>
                  <a:srgbClr val="FFFFFF"/>
                </a:solidFill>
              </a:rPr>
              <a:t>(math, code) → reasoning</a:t>
            </a:r>
          </a:p>
        </p:txBody>
      </p:sp>
      <p:cxnSp>
        <p:nvCxnSpPr>
          <p:cNvPr id="10" name="Connector 9"/>
          <p:cNvCxnSpPr/>
          <p:nvPr/>
        </p:nvCxnSpPr>
        <p:spPr>
          <a:xfrm>
            <a:off x="7783829" y="2628900"/>
            <a:ext cx="24688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067294" y="2011680"/>
            <a:ext cx="2173985" cy="123444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distil</a:t>
            </a:r>
          </a:p>
          <a:p>
            <a:pPr algn="ctr"/>
            <a:r>
              <a:rPr sz="1200" b="0" i="0">
                <a:solidFill>
                  <a:srgbClr val="1F1F1F"/>
                </a:solidFill>
              </a:rPr>
              <a:t>a big teacher trains</a:t>
            </a:r>
          </a:p>
          <a:p>
            <a:pPr algn="ctr"/>
            <a:r>
              <a:rPr sz="1200" b="0" i="0">
                <a:solidFill>
                  <a:srgbClr val="1F1F1F"/>
                </a:solidFill>
              </a:rPr>
              <a:t>a small student</a:t>
            </a:r>
          </a:p>
        </p:txBody>
      </p:sp>
      <p:sp>
        <p:nvSpPr>
          <p:cNvPr id="12" name="Rounded Rectangle 11"/>
          <p:cNvSpPr/>
          <p:nvPr/>
        </p:nvSpPr>
        <p:spPr>
          <a:xfrm>
            <a:off x="585216" y="3474720"/>
            <a:ext cx="9656063" cy="457200"/>
          </a:xfrm>
          <a:prstGeom prst="roundRect">
            <a:avLst>
              <a:gd name="adj" fmla="val 2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2A446F"/>
                </a:solidFill>
              </a:rPr>
              <a:t>PEFT under any step:</a:t>
            </a:r>
            <a:r>
              <a:rPr sz="1300" b="0" i="0">
                <a:solidFill>
                  <a:srgbClr val="2A446F"/>
                </a:solidFill>
              </a:rPr>
              <a:t> LoRA → QLoRA (4-bit: 70 B on one H100) → DoRA — next two slides</a:t>
            </a:r>
          </a:p>
        </p:txBody>
      </p:sp>
      <p:sp>
        <p:nvSpPr>
          <p:cNvPr id="13" name="Rounded Rectangle 12"/>
          <p:cNvSpPr/>
          <p:nvPr/>
        </p:nvSpPr>
        <p:spPr>
          <a:xfrm>
            <a:off x="585216" y="4114800"/>
            <a:ext cx="4736592" cy="11887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86384" y="4279392"/>
            <a:ext cx="4334255" cy="411480"/>
          </a:xfrm>
          <a:prstGeom prst="rect">
            <a:avLst/>
          </a:prstGeom>
          <a:noFill/>
        </p:spPr>
        <p:txBody>
          <a:bodyPr wrap="square" lIns="0" rIns="0" tIns="0" bIns="0" anchor="t">
            <a:spAutoFit/>
          </a:bodyPr>
          <a:lstStyle/>
          <a:p>
            <a:pPr algn="l">
              <a:spcAft>
                <a:spcPts val="0"/>
              </a:spcAft>
            </a:pPr>
            <a:r>
              <a:rPr sz="1200" b="1" i="0">
                <a:solidFill>
                  <a:srgbClr val="0078D4"/>
                </a:solidFill>
              </a:rPr>
              <a:t>WHAT IS ACTUALLY IN PRODUCTION</a:t>
            </a:r>
          </a:p>
        </p:txBody>
      </p:sp>
      <p:sp>
        <p:nvSpPr>
          <p:cNvPr id="15" name="TextBox 14"/>
          <p:cNvSpPr txBox="1"/>
          <p:nvPr/>
        </p:nvSpPr>
        <p:spPr>
          <a:xfrm>
            <a:off x="786384" y="4736592"/>
            <a:ext cx="4334255" cy="411480"/>
          </a:xfrm>
          <a:prstGeom prst="rect">
            <a:avLst/>
          </a:prstGeom>
          <a:noFill/>
        </p:spPr>
        <p:txBody>
          <a:bodyPr wrap="square" lIns="0" rIns="0" tIns="0" bIns="0" anchor="t">
            <a:spAutoFit/>
          </a:bodyPr>
          <a:lstStyle/>
          <a:p>
            <a:pPr algn="l">
              <a:spcAft>
                <a:spcPts val="0"/>
              </a:spcAft>
            </a:pPr>
            <a:r>
              <a:rPr sz="1300" b="0" i="0">
                <a:solidFill>
                  <a:srgbClr val="1F1F1F"/>
                </a:solidFill>
              </a:rPr>
              <a:t>QLoRA + DPO on a few thousand preference pairs; full fine-tunes are rare.</a:t>
            </a:r>
          </a:p>
        </p:txBody>
      </p:sp>
      <p:sp>
        <p:nvSpPr>
          <p:cNvPr id="16" name="Rounded Rectangle 15"/>
          <p:cNvSpPr/>
          <p:nvPr/>
        </p:nvSpPr>
        <p:spPr>
          <a:xfrm>
            <a:off x="5504688" y="4114800"/>
            <a:ext cx="4736592" cy="11887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705855" y="4279392"/>
            <a:ext cx="4334255" cy="411480"/>
          </a:xfrm>
          <a:prstGeom prst="rect">
            <a:avLst/>
          </a:prstGeom>
          <a:noFill/>
        </p:spPr>
        <p:txBody>
          <a:bodyPr wrap="square" lIns="0" rIns="0" tIns="0" bIns="0" anchor="t">
            <a:spAutoFit/>
          </a:bodyPr>
          <a:lstStyle/>
          <a:p>
            <a:pPr algn="l">
              <a:spcAft>
                <a:spcPts val="0"/>
              </a:spcAft>
            </a:pPr>
            <a:r>
              <a:rPr sz="1200" b="1" i="0">
                <a:solidFill>
                  <a:srgbClr val="E86A10"/>
                </a:solidFill>
              </a:rPr>
              <a:t>DECISION RULE</a:t>
            </a:r>
          </a:p>
        </p:txBody>
      </p:sp>
      <p:sp>
        <p:nvSpPr>
          <p:cNvPr id="18" name="TextBox 17"/>
          <p:cNvSpPr txBox="1"/>
          <p:nvPr/>
        </p:nvSpPr>
        <p:spPr>
          <a:xfrm>
            <a:off x="5705855" y="4736592"/>
            <a:ext cx="4334255" cy="411480"/>
          </a:xfrm>
          <a:prstGeom prst="rect">
            <a:avLst/>
          </a:prstGeom>
          <a:noFill/>
        </p:spPr>
        <p:txBody>
          <a:bodyPr wrap="square" lIns="0" rIns="0" tIns="0" bIns="0" anchor="t">
            <a:spAutoFit/>
          </a:bodyPr>
          <a:lstStyle/>
          <a:p>
            <a:pPr algn="l">
              <a:spcAft>
                <a:spcPts val="0"/>
              </a:spcAft>
            </a:pPr>
            <a:r>
              <a:rPr sz="1300" b="0" i="0">
                <a:solidFill>
                  <a:srgbClr val="1F1F1F"/>
                </a:solidFill>
              </a:rPr>
              <a:t>prompt → RAG → fine-tune: fine-tune for behaviour, RAG for knowledge.</a:t>
            </a:r>
          </a:p>
        </p:txBody>
      </p:sp>
      <p:sp>
        <p:nvSpPr>
          <p:cNvPr id="19" name="TextBox 18"/>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“Reasoning” = RL on answers that can be checked automatically.</a:t>
            </a:r>
          </a:p>
        </p:txBody>
      </p:sp>
      <p:sp>
        <p:nvSpPr>
          <p:cNvPr id="20" name="TextBox 19"/>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Hugging Face TRL docs · DAPO paper (arXiv 2503.14476) · DeepSeek-R1 (arXiv 2501.12948)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Hyperparameters — which room are you in?</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Hyperparameter = a setting you choose, not one the model learns.</a:t>
            </a:r>
          </a:p>
        </p:txBody>
      </p:sp>
      <p:sp>
        <p:nvSpPr>
          <p:cNvPr id="5" name="Rounded Rectangle 4"/>
          <p:cNvSpPr/>
          <p:nvPr/>
        </p:nvSpPr>
        <p:spPr>
          <a:xfrm>
            <a:off x="585216" y="2057400"/>
            <a:ext cx="4690871" cy="3154680"/>
          </a:xfrm>
          <a:prstGeom prst="roundRect">
            <a:avLst>
              <a:gd name="adj" fmla="val 4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585216" y="2057400"/>
            <a:ext cx="4690871" cy="420624"/>
          </a:xfrm>
          <a:prstGeom prst="roundRect">
            <a:avLst>
              <a:gd name="adj" fmla="val 20000"/>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INFERENCE ROOM</a:t>
            </a:r>
          </a:p>
        </p:txBody>
      </p:sp>
      <p:sp>
        <p:nvSpPr>
          <p:cNvPr id="7" name="TextBox 6"/>
          <p:cNvSpPr txBox="1"/>
          <p:nvPr/>
        </p:nvSpPr>
        <p:spPr>
          <a:xfrm>
            <a:off x="813816" y="2606040"/>
            <a:ext cx="4233671" cy="320040"/>
          </a:xfrm>
          <a:prstGeom prst="rect">
            <a:avLst/>
          </a:prstGeom>
          <a:noFill/>
        </p:spPr>
        <p:txBody>
          <a:bodyPr wrap="square" lIns="0" rIns="0" tIns="0" bIns="0" anchor="t">
            <a:spAutoFit/>
          </a:bodyPr>
          <a:lstStyle/>
          <a:p>
            <a:pPr algn="l">
              <a:spcAft>
                <a:spcPts val="0"/>
              </a:spcAft>
            </a:pPr>
            <a:r>
              <a:rPr sz="1300" b="1" i="0">
                <a:solidFill>
                  <a:srgbClr val="0078D4"/>
                </a:solidFill>
              </a:rPr>
              <a:t>turn them per request — free and instant</a:t>
            </a:r>
          </a:p>
        </p:txBody>
      </p:sp>
      <p:sp>
        <p:nvSpPr>
          <p:cNvPr id="8" name="Rounded Rectangle 7"/>
          <p:cNvSpPr/>
          <p:nvPr/>
        </p:nvSpPr>
        <p:spPr>
          <a:xfrm>
            <a:off x="813816" y="3017520"/>
            <a:ext cx="1276136" cy="34747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temperature</a:t>
            </a:r>
          </a:p>
        </p:txBody>
      </p:sp>
      <p:sp>
        <p:nvSpPr>
          <p:cNvPr id="9" name="Rounded Rectangle 8"/>
          <p:cNvSpPr/>
          <p:nvPr/>
        </p:nvSpPr>
        <p:spPr>
          <a:xfrm>
            <a:off x="2181392" y="3017520"/>
            <a:ext cx="729691" cy="34747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top_p</a:t>
            </a:r>
          </a:p>
        </p:txBody>
      </p:sp>
      <p:sp>
        <p:nvSpPr>
          <p:cNvPr id="10" name="Rounded Rectangle 9"/>
          <p:cNvSpPr/>
          <p:nvPr/>
        </p:nvSpPr>
        <p:spPr>
          <a:xfrm>
            <a:off x="3002523" y="3017520"/>
            <a:ext cx="638616" cy="34747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seed</a:t>
            </a:r>
          </a:p>
        </p:txBody>
      </p:sp>
      <p:sp>
        <p:nvSpPr>
          <p:cNvPr id="11" name="Rounded Rectangle 10"/>
          <p:cNvSpPr/>
          <p:nvPr/>
        </p:nvSpPr>
        <p:spPr>
          <a:xfrm>
            <a:off x="3732580" y="3017520"/>
            <a:ext cx="1185062" cy="34747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max_tokens</a:t>
            </a:r>
          </a:p>
        </p:txBody>
      </p:sp>
      <p:sp>
        <p:nvSpPr>
          <p:cNvPr id="12" name="Rounded Rectangle 11"/>
          <p:cNvSpPr/>
          <p:nvPr/>
        </p:nvSpPr>
        <p:spPr>
          <a:xfrm>
            <a:off x="813816" y="3456432"/>
            <a:ext cx="1731507" cy="34747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reasoning_effort</a:t>
            </a:r>
          </a:p>
        </p:txBody>
      </p:sp>
      <p:sp>
        <p:nvSpPr>
          <p:cNvPr id="13" name="TextBox 12"/>
          <p:cNvSpPr txBox="1"/>
          <p:nvPr/>
        </p:nvSpPr>
        <p:spPr>
          <a:xfrm>
            <a:off x="813816" y="3941064"/>
            <a:ext cx="4233671" cy="320040"/>
          </a:xfrm>
          <a:prstGeom prst="rect">
            <a:avLst/>
          </a:prstGeom>
          <a:noFill/>
        </p:spPr>
        <p:txBody>
          <a:bodyPr wrap="square" lIns="0" rIns="0" tIns="0" bIns="0" anchor="t">
            <a:spAutoFit/>
          </a:bodyPr>
          <a:lstStyle/>
          <a:p>
            <a:pPr algn="l">
              <a:spcAft>
                <a:spcPts val="0"/>
              </a:spcAft>
            </a:pPr>
            <a:r>
              <a:rPr sz="1200" b="0" i="1">
                <a:solidFill>
                  <a:srgbClr val="6B6B6B"/>
                </a:solidFill>
              </a:rPr>
              <a:t>Segment 4 adds: steps · CFG · sampler · LoRA strength</a:t>
            </a:r>
          </a:p>
        </p:txBody>
      </p:sp>
      <p:sp>
        <p:nvSpPr>
          <p:cNvPr id="14" name="TextBox 13"/>
          <p:cNvSpPr txBox="1"/>
          <p:nvPr/>
        </p:nvSpPr>
        <p:spPr>
          <a:xfrm>
            <a:off x="813816" y="4663440"/>
            <a:ext cx="4233671" cy="365760"/>
          </a:xfrm>
          <a:prstGeom prst="rect">
            <a:avLst/>
          </a:prstGeom>
          <a:noFill/>
        </p:spPr>
        <p:txBody>
          <a:bodyPr wrap="square" lIns="0" rIns="0" tIns="0" bIns="0" anchor="t">
            <a:spAutoFit/>
          </a:bodyPr>
          <a:lstStyle/>
          <a:p>
            <a:pPr algn="l">
              <a:spcAft>
                <a:spcPts val="0"/>
              </a:spcAft>
            </a:pPr>
            <a:r>
              <a:rPr sz="1200" b="1" i="0">
                <a:solidFill>
                  <a:srgbClr val="1F1F1F"/>
                </a:solidFill>
              </a:rPr>
              <a:t>Cost of a mistake: one bad answer. Try again.</a:t>
            </a:r>
          </a:p>
        </p:txBody>
      </p:sp>
      <p:sp>
        <p:nvSpPr>
          <p:cNvPr id="15" name="Rounded Rectangle 14"/>
          <p:cNvSpPr/>
          <p:nvPr/>
        </p:nvSpPr>
        <p:spPr>
          <a:xfrm>
            <a:off x="5550407" y="2057400"/>
            <a:ext cx="4690871" cy="3154680"/>
          </a:xfrm>
          <a:prstGeom prst="roundRect">
            <a:avLst>
              <a:gd name="adj" fmla="val 4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5550407" y="2057400"/>
            <a:ext cx="4690871" cy="420624"/>
          </a:xfrm>
          <a:prstGeom prst="roundRect">
            <a:avLst>
              <a:gd name="adj" fmla="val 20000"/>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TRAINING ROOM</a:t>
            </a:r>
          </a:p>
        </p:txBody>
      </p:sp>
      <p:sp>
        <p:nvSpPr>
          <p:cNvPr id="17" name="TextBox 16"/>
          <p:cNvSpPr txBox="1"/>
          <p:nvPr/>
        </p:nvSpPr>
        <p:spPr>
          <a:xfrm>
            <a:off x="5779007" y="2606040"/>
            <a:ext cx="4233671" cy="320040"/>
          </a:xfrm>
          <a:prstGeom prst="rect">
            <a:avLst/>
          </a:prstGeom>
          <a:noFill/>
        </p:spPr>
        <p:txBody>
          <a:bodyPr wrap="square" lIns="0" rIns="0" tIns="0" bIns="0" anchor="t">
            <a:spAutoFit/>
          </a:bodyPr>
          <a:lstStyle/>
          <a:p>
            <a:pPr algn="l">
              <a:spcAft>
                <a:spcPts val="0"/>
              </a:spcAft>
            </a:pPr>
            <a:r>
              <a:rPr sz="1300" b="1" i="0">
                <a:solidFill>
                  <a:srgbClr val="E86A10"/>
                </a:solidFill>
              </a:rPr>
              <a:t>set them per training run — hours and GPUs</a:t>
            </a:r>
          </a:p>
        </p:txBody>
      </p:sp>
      <p:sp>
        <p:nvSpPr>
          <p:cNvPr id="18" name="Rounded Rectangle 17"/>
          <p:cNvSpPr/>
          <p:nvPr/>
        </p:nvSpPr>
        <p:spPr>
          <a:xfrm>
            <a:off x="5779007" y="3017520"/>
            <a:ext cx="1458285" cy="34747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learning rate</a:t>
            </a:r>
          </a:p>
        </p:txBody>
      </p:sp>
      <p:sp>
        <p:nvSpPr>
          <p:cNvPr id="19" name="Rounded Rectangle 18"/>
          <p:cNvSpPr/>
          <p:nvPr/>
        </p:nvSpPr>
        <p:spPr>
          <a:xfrm>
            <a:off x="7328733" y="3017520"/>
            <a:ext cx="1185062" cy="34747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batch size</a:t>
            </a:r>
          </a:p>
        </p:txBody>
      </p:sp>
      <p:sp>
        <p:nvSpPr>
          <p:cNvPr id="20" name="Rounded Rectangle 19"/>
          <p:cNvSpPr/>
          <p:nvPr/>
        </p:nvSpPr>
        <p:spPr>
          <a:xfrm>
            <a:off x="8605235" y="3017520"/>
            <a:ext cx="820765" cy="34747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epochs</a:t>
            </a:r>
          </a:p>
        </p:txBody>
      </p:sp>
      <p:sp>
        <p:nvSpPr>
          <p:cNvPr id="21" name="Rounded Rectangle 20"/>
          <p:cNvSpPr/>
          <p:nvPr/>
        </p:nvSpPr>
        <p:spPr>
          <a:xfrm>
            <a:off x="5779007" y="3456432"/>
            <a:ext cx="1276136" cy="34747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LoRA rank r</a:t>
            </a:r>
          </a:p>
        </p:txBody>
      </p:sp>
      <p:sp>
        <p:nvSpPr>
          <p:cNvPr id="22" name="Rounded Rectangle 21"/>
          <p:cNvSpPr/>
          <p:nvPr/>
        </p:nvSpPr>
        <p:spPr>
          <a:xfrm>
            <a:off x="7146584" y="3456432"/>
            <a:ext cx="729691" cy="34747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alpha</a:t>
            </a:r>
          </a:p>
        </p:txBody>
      </p:sp>
      <p:sp>
        <p:nvSpPr>
          <p:cNvPr id="23" name="Rounded Rectangle 22"/>
          <p:cNvSpPr/>
          <p:nvPr/>
        </p:nvSpPr>
        <p:spPr>
          <a:xfrm>
            <a:off x="7967715" y="3456432"/>
            <a:ext cx="911839" cy="34747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dropout</a:t>
            </a:r>
          </a:p>
        </p:txBody>
      </p:sp>
      <p:sp>
        <p:nvSpPr>
          <p:cNvPr id="24" name="TextBox 23"/>
          <p:cNvSpPr txBox="1"/>
          <p:nvPr/>
        </p:nvSpPr>
        <p:spPr>
          <a:xfrm>
            <a:off x="5779007" y="3941064"/>
            <a:ext cx="4233671" cy="320040"/>
          </a:xfrm>
          <a:prstGeom prst="rect">
            <a:avLst/>
          </a:prstGeom>
          <a:noFill/>
        </p:spPr>
        <p:txBody>
          <a:bodyPr wrap="square" lIns="0" rIns="0" tIns="0" bIns="0" anchor="t">
            <a:spAutoFit/>
          </a:bodyPr>
          <a:lstStyle/>
          <a:p>
            <a:pPr algn="l">
              <a:spcAft>
                <a:spcPts val="0"/>
              </a:spcAft>
            </a:pPr>
            <a:r>
              <a:rPr sz="1200" b="0" i="1">
                <a:solidFill>
                  <a:srgbClr val="6B6B6B"/>
                </a:solidFill>
              </a:rPr>
              <a:t>plus: which layers get adapters</a:t>
            </a:r>
          </a:p>
        </p:txBody>
      </p:sp>
      <p:sp>
        <p:nvSpPr>
          <p:cNvPr id="25" name="TextBox 24"/>
          <p:cNvSpPr txBox="1"/>
          <p:nvPr/>
        </p:nvSpPr>
        <p:spPr>
          <a:xfrm>
            <a:off x="5779007" y="4663440"/>
            <a:ext cx="4233671" cy="365760"/>
          </a:xfrm>
          <a:prstGeom prst="rect">
            <a:avLst/>
          </a:prstGeom>
          <a:noFill/>
        </p:spPr>
        <p:txBody>
          <a:bodyPr wrap="square" lIns="0" rIns="0" tIns="0" bIns="0" anchor="t">
            <a:spAutoFit/>
          </a:bodyPr>
          <a:lstStyle/>
          <a:p>
            <a:pPr algn="l">
              <a:spcAft>
                <a:spcPts val="0"/>
              </a:spcAft>
            </a:pPr>
            <a:r>
              <a:rPr sz="1200" b="1" i="0">
                <a:solidFill>
                  <a:srgbClr val="1F1F1F"/>
                </a:solidFill>
              </a:rPr>
              <a:t>Cost of a mistake: a burnt evening and a useless file.</a:t>
            </a:r>
          </a:p>
        </p:txBody>
      </p:sp>
      <p:sp>
        <p:nvSpPr>
          <p:cNvPr id="26" name="TextBox 25"/>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When a tutorial says “tune the hyperparameters” — first ask: which room?</a:t>
            </a:r>
          </a:p>
        </p:txBody>
      </p:sp>
      <p:sp>
        <p:nvSpPr>
          <p:cNvPr id="27" name="TextBox 26"/>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Beyond the Slop (daenet, Jul 2026) · Lab 1 code (tested 2026-09-22)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LoRA on a sticky note: ΔW = B·A</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Freeze the big weight matrix W; train a tiny low-rank correction and add it on top.</a:t>
            </a:r>
          </a:p>
        </p:txBody>
      </p:sp>
      <p:sp>
        <p:nvSpPr>
          <p:cNvPr id="5" name="Rounded Rectangle 4"/>
          <p:cNvSpPr/>
          <p:nvPr/>
        </p:nvSpPr>
        <p:spPr>
          <a:xfrm>
            <a:off x="585216" y="2103120"/>
            <a:ext cx="2011680" cy="2011680"/>
          </a:xfrm>
          <a:prstGeom prst="roundRect">
            <a:avLst>
              <a:gd name="adj" fmla="val 4000"/>
            </a:avLst>
          </a:prstGeom>
          <a:solidFill>
            <a:srgbClr val="DDEEF8"/>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2A446F"/>
                </a:solidFill>
              </a:rPr>
              <a:t>W</a:t>
            </a:r>
          </a:p>
          <a:p>
            <a:pPr algn="ctr"/>
            <a:r>
              <a:rPr sz="1600" b="0" i="0">
                <a:solidFill>
                  <a:srgbClr val="2A446F"/>
                </a:solidFill>
              </a:rPr>
              <a:t>d × d</a:t>
            </a:r>
          </a:p>
          <a:p>
            <a:pPr algn="ctr"/>
            <a:r>
              <a:rPr sz="1600" b="0" i="0">
                <a:solidFill>
                  <a:srgbClr val="2A446F"/>
                </a:solidFill>
              </a:rPr>
              <a:t>frozen</a:t>
            </a:r>
          </a:p>
        </p:txBody>
      </p:sp>
      <p:sp>
        <p:nvSpPr>
          <p:cNvPr id="6" name="TextBox 5"/>
          <p:cNvSpPr txBox="1"/>
          <p:nvPr/>
        </p:nvSpPr>
        <p:spPr>
          <a:xfrm>
            <a:off x="2651760" y="2834640"/>
            <a:ext cx="457200" cy="548640"/>
          </a:xfrm>
          <a:prstGeom prst="rect">
            <a:avLst/>
          </a:prstGeom>
          <a:noFill/>
        </p:spPr>
        <p:txBody>
          <a:bodyPr wrap="square" lIns="0" rIns="0" tIns="0" bIns="0" anchor="ctr">
            <a:spAutoFit/>
          </a:bodyPr>
          <a:lstStyle/>
          <a:p>
            <a:pPr algn="ctr">
              <a:spcAft>
                <a:spcPts val="0"/>
              </a:spcAft>
            </a:pPr>
            <a:r>
              <a:rPr sz="3200" b="1" i="0">
                <a:solidFill>
                  <a:srgbClr val="6B6B6B"/>
                </a:solidFill>
              </a:rPr>
              <a:t>+</a:t>
            </a:r>
          </a:p>
        </p:txBody>
      </p:sp>
      <p:sp>
        <p:nvSpPr>
          <p:cNvPr id="7" name="Rounded Rectangle 6"/>
          <p:cNvSpPr/>
          <p:nvPr/>
        </p:nvSpPr>
        <p:spPr>
          <a:xfrm>
            <a:off x="3154680" y="2103120"/>
            <a:ext cx="411480" cy="2011680"/>
          </a:xfrm>
          <a:prstGeom prst="roundRect">
            <a:avLst>
              <a:gd name="adj" fmla="val 1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FFFFFF"/>
                </a:solidFill>
              </a:rPr>
              <a:t>B</a:t>
            </a:r>
          </a:p>
        </p:txBody>
      </p:sp>
      <p:sp>
        <p:nvSpPr>
          <p:cNvPr id="8" name="TextBox 7"/>
          <p:cNvSpPr txBox="1"/>
          <p:nvPr/>
        </p:nvSpPr>
        <p:spPr>
          <a:xfrm>
            <a:off x="3566160" y="2788920"/>
            <a:ext cx="411480" cy="640080"/>
          </a:xfrm>
          <a:prstGeom prst="rect">
            <a:avLst/>
          </a:prstGeom>
          <a:noFill/>
        </p:spPr>
        <p:txBody>
          <a:bodyPr wrap="square" lIns="0" rIns="0" tIns="0" bIns="0" anchor="ctr">
            <a:spAutoFit/>
          </a:bodyPr>
          <a:lstStyle/>
          <a:p>
            <a:pPr algn="ctr">
              <a:spcAft>
                <a:spcPts val="0"/>
              </a:spcAft>
            </a:pPr>
            <a:r>
              <a:rPr sz="4400" b="1" i="0">
                <a:solidFill>
                  <a:srgbClr val="6B6B6B"/>
                </a:solidFill>
              </a:rPr>
              <a:t>·</a:t>
            </a:r>
          </a:p>
        </p:txBody>
      </p:sp>
      <p:sp>
        <p:nvSpPr>
          <p:cNvPr id="9" name="Rounded Rectangle 8"/>
          <p:cNvSpPr/>
          <p:nvPr/>
        </p:nvSpPr>
        <p:spPr>
          <a:xfrm>
            <a:off x="3977639" y="2903220"/>
            <a:ext cx="2011680" cy="411480"/>
          </a:xfrm>
          <a:prstGeom prst="roundRect">
            <a:avLst>
              <a:gd name="adj" fmla="val 2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FFFFFF"/>
                </a:solidFill>
              </a:rPr>
              <a:t>A</a:t>
            </a:r>
          </a:p>
        </p:txBody>
      </p:sp>
      <p:sp>
        <p:nvSpPr>
          <p:cNvPr id="10" name="TextBox 9"/>
          <p:cNvSpPr txBox="1"/>
          <p:nvPr/>
        </p:nvSpPr>
        <p:spPr>
          <a:xfrm>
            <a:off x="2926080" y="4160520"/>
            <a:ext cx="914400" cy="274320"/>
          </a:xfrm>
          <a:prstGeom prst="rect">
            <a:avLst/>
          </a:prstGeom>
          <a:noFill/>
        </p:spPr>
        <p:txBody>
          <a:bodyPr wrap="square" lIns="0" rIns="0" tIns="0" bIns="0" anchor="t">
            <a:spAutoFit/>
          </a:bodyPr>
          <a:lstStyle/>
          <a:p>
            <a:pPr algn="ctr">
              <a:spcAft>
                <a:spcPts val="0"/>
              </a:spcAft>
            </a:pPr>
            <a:r>
              <a:rPr sz="1100" b="0" i="0">
                <a:solidFill>
                  <a:srgbClr val="6B6B6B"/>
                </a:solidFill>
              </a:rPr>
              <a:t>d × r</a:t>
            </a:r>
          </a:p>
        </p:txBody>
      </p:sp>
      <p:sp>
        <p:nvSpPr>
          <p:cNvPr id="11" name="TextBox 10"/>
          <p:cNvSpPr txBox="1"/>
          <p:nvPr/>
        </p:nvSpPr>
        <p:spPr>
          <a:xfrm>
            <a:off x="3977639" y="3364991"/>
            <a:ext cx="2011680" cy="274320"/>
          </a:xfrm>
          <a:prstGeom prst="rect">
            <a:avLst/>
          </a:prstGeom>
          <a:noFill/>
        </p:spPr>
        <p:txBody>
          <a:bodyPr wrap="square" lIns="0" rIns="0" tIns="0" bIns="0" anchor="t">
            <a:spAutoFit/>
          </a:bodyPr>
          <a:lstStyle/>
          <a:p>
            <a:pPr algn="ctr">
              <a:spcAft>
                <a:spcPts val="0"/>
              </a:spcAft>
            </a:pPr>
            <a:r>
              <a:rPr sz="1100" b="0" i="0">
                <a:solidFill>
                  <a:srgbClr val="6B6B6B"/>
                </a:solidFill>
              </a:rPr>
              <a:t>r × d</a:t>
            </a:r>
          </a:p>
        </p:txBody>
      </p:sp>
      <p:sp>
        <p:nvSpPr>
          <p:cNvPr id="12" name="TextBox 11"/>
          <p:cNvSpPr txBox="1"/>
          <p:nvPr/>
        </p:nvSpPr>
        <p:spPr>
          <a:xfrm>
            <a:off x="3977639" y="3657600"/>
            <a:ext cx="2103120" cy="685800"/>
          </a:xfrm>
          <a:prstGeom prst="rect">
            <a:avLst/>
          </a:prstGeom>
          <a:noFill/>
        </p:spPr>
        <p:txBody>
          <a:bodyPr wrap="square" lIns="0" rIns="0" tIns="0" bIns="0" anchor="t">
            <a:spAutoFit/>
          </a:bodyPr>
          <a:lstStyle/>
          <a:p>
            <a:pPr algn="l">
              <a:spcAft>
                <a:spcPts val="0"/>
              </a:spcAft>
            </a:pPr>
            <a:r>
              <a:rPr sz="1800" b="1" i="0">
                <a:solidFill>
                  <a:srgbClr val="0078D4"/>
                </a:solidFill>
              </a:rPr>
              <a:t>ΔW = B·A</a:t>
            </a:r>
          </a:p>
          <a:p>
            <a:pPr algn="l">
              <a:spcAft>
                <a:spcPts val="600"/>
              </a:spcAft>
            </a:pPr>
            <a:r>
              <a:rPr sz="1300" b="0" i="0">
                <a:solidFill>
                  <a:srgbClr val="1F1F1F"/>
                </a:solidFill>
              </a:rPr>
              <a:t>rank r ≈ 4–128</a:t>
            </a:r>
          </a:p>
        </p:txBody>
      </p:sp>
      <p:sp>
        <p:nvSpPr>
          <p:cNvPr id="13" name="TextBox 12"/>
          <p:cNvSpPr txBox="1"/>
          <p:nvPr/>
        </p:nvSpPr>
        <p:spPr>
          <a:xfrm>
            <a:off x="585216" y="4434840"/>
            <a:ext cx="2560320" cy="320040"/>
          </a:xfrm>
          <a:prstGeom prst="rect">
            <a:avLst/>
          </a:prstGeom>
          <a:noFill/>
        </p:spPr>
        <p:txBody>
          <a:bodyPr wrap="square" lIns="0" rIns="0" tIns="0" bIns="0" anchor="t">
            <a:spAutoFit/>
          </a:bodyPr>
          <a:lstStyle/>
          <a:p>
            <a:pPr algn="l">
              <a:spcAft>
                <a:spcPts val="0"/>
              </a:spcAft>
            </a:pPr>
            <a:r>
              <a:rPr sz="1050" b="1" i="0">
                <a:solidFill>
                  <a:srgbClr val="6B6B6B"/>
                </a:solidFill>
              </a:rPr>
              <a:t>TO TRAIN · FULL 4096 × 4096 MATRIX</a:t>
            </a:r>
          </a:p>
        </p:txBody>
      </p:sp>
      <p:sp>
        <p:nvSpPr>
          <p:cNvPr id="14" name="TextBox 13"/>
          <p:cNvSpPr txBox="1"/>
          <p:nvPr/>
        </p:nvSpPr>
        <p:spPr>
          <a:xfrm>
            <a:off x="585216" y="4736592"/>
            <a:ext cx="2560320" cy="731520"/>
          </a:xfrm>
          <a:prstGeom prst="rect">
            <a:avLst/>
          </a:prstGeom>
          <a:noFill/>
        </p:spPr>
        <p:txBody>
          <a:bodyPr wrap="square" lIns="0" rIns="0" tIns="0" bIns="0" anchor="t">
            <a:spAutoFit/>
          </a:bodyPr>
          <a:lstStyle/>
          <a:p>
            <a:pPr algn="l">
              <a:spcAft>
                <a:spcPts val="0"/>
              </a:spcAft>
            </a:pPr>
            <a:r>
              <a:rPr sz="3000" b="1" i="0">
                <a:solidFill>
                  <a:srgbClr val="2A446F"/>
                </a:solidFill>
              </a:rPr>
              <a:t>16.8 M</a:t>
            </a:r>
          </a:p>
        </p:txBody>
      </p:sp>
      <p:sp>
        <p:nvSpPr>
          <p:cNvPr id="15" name="TextBox 14"/>
          <p:cNvSpPr txBox="1"/>
          <p:nvPr/>
        </p:nvSpPr>
        <p:spPr>
          <a:xfrm>
            <a:off x="3145536" y="4782312"/>
            <a:ext cx="457200" cy="640080"/>
          </a:xfrm>
          <a:prstGeom prst="rect">
            <a:avLst/>
          </a:prstGeom>
          <a:noFill/>
        </p:spPr>
        <p:txBody>
          <a:bodyPr wrap="square" lIns="0" rIns="0" tIns="0" bIns="0" anchor="t">
            <a:spAutoFit/>
          </a:bodyPr>
          <a:lstStyle/>
          <a:p>
            <a:pPr algn="ctr">
              <a:spcAft>
                <a:spcPts val="0"/>
              </a:spcAft>
            </a:pPr>
            <a:r>
              <a:rPr sz="2400" b="1" i="0">
                <a:solidFill>
                  <a:srgbClr val="6B6B6B"/>
                </a:solidFill>
              </a:rPr>
              <a:t>→</a:t>
            </a:r>
          </a:p>
        </p:txBody>
      </p:sp>
      <p:sp>
        <p:nvSpPr>
          <p:cNvPr id="16" name="TextBox 15"/>
          <p:cNvSpPr txBox="1"/>
          <p:nvPr/>
        </p:nvSpPr>
        <p:spPr>
          <a:xfrm>
            <a:off x="3602736" y="4434840"/>
            <a:ext cx="2560320" cy="320040"/>
          </a:xfrm>
          <a:prstGeom prst="rect">
            <a:avLst/>
          </a:prstGeom>
          <a:noFill/>
        </p:spPr>
        <p:txBody>
          <a:bodyPr wrap="square" lIns="0" rIns="0" tIns="0" bIns="0" anchor="t">
            <a:spAutoFit/>
          </a:bodyPr>
          <a:lstStyle/>
          <a:p>
            <a:pPr algn="l">
              <a:spcAft>
                <a:spcPts val="0"/>
              </a:spcAft>
            </a:pPr>
            <a:r>
              <a:rPr sz="1050" b="1" i="0">
                <a:solidFill>
                  <a:srgbClr val="6B6B6B"/>
                </a:solidFill>
              </a:rPr>
              <a:t>TO TRAIN · LoRA, r = 16</a:t>
            </a:r>
          </a:p>
        </p:txBody>
      </p:sp>
      <p:sp>
        <p:nvSpPr>
          <p:cNvPr id="17" name="TextBox 16"/>
          <p:cNvSpPr txBox="1"/>
          <p:nvPr/>
        </p:nvSpPr>
        <p:spPr>
          <a:xfrm>
            <a:off x="3602736" y="4736592"/>
            <a:ext cx="2560320" cy="731520"/>
          </a:xfrm>
          <a:prstGeom prst="rect">
            <a:avLst/>
          </a:prstGeom>
          <a:noFill/>
        </p:spPr>
        <p:txBody>
          <a:bodyPr wrap="square" lIns="0" rIns="0" tIns="0" bIns="0" anchor="t">
            <a:spAutoFit/>
          </a:bodyPr>
          <a:lstStyle/>
          <a:p>
            <a:pPr algn="l">
              <a:spcAft>
                <a:spcPts val="0"/>
              </a:spcAft>
            </a:pPr>
            <a:r>
              <a:rPr sz="3000" b="1" i="0">
                <a:solidFill>
                  <a:srgbClr val="0078D4"/>
                </a:solidFill>
              </a:rPr>
              <a:t>131 k</a:t>
            </a:r>
          </a:p>
        </p:txBody>
      </p:sp>
      <p:pic>
        <p:nvPicPr>
          <p:cNvPr id="18" name="Picture 17" descr="meme_stickynote_8405b755de5d.jpg"/>
          <p:cNvPicPr>
            <a:picLocks noChangeAspect="1"/>
          </p:cNvPicPr>
          <p:nvPr/>
        </p:nvPicPr>
        <p:blipFill>
          <a:blip r:embed="rId3"/>
          <a:stretch>
            <a:fillRect/>
          </a:stretch>
        </p:blipFill>
        <p:spPr>
          <a:xfrm>
            <a:off x="6583680" y="2011680"/>
            <a:ext cx="3657600" cy="2438400"/>
          </a:xfrm>
          <a:prstGeom prst="roundRect">
            <a:avLst>
              <a:gd name="adj" fmla="val 4000"/>
            </a:avLst>
          </a:prstGeom>
        </p:spPr>
      </p:pic>
      <p:sp>
        <p:nvSpPr>
          <p:cNvPr id="19" name="TextBox 18"/>
          <p:cNvSpPr txBox="1"/>
          <p:nvPr/>
        </p:nvSpPr>
        <p:spPr>
          <a:xfrm>
            <a:off x="6583680" y="4480560"/>
            <a:ext cx="3657600" cy="228600"/>
          </a:xfrm>
          <a:prstGeom prst="rect">
            <a:avLst/>
          </a:prstGeom>
          <a:noFill/>
        </p:spPr>
        <p:txBody>
          <a:bodyPr wrap="square" lIns="0" rIns="0" tIns="0" bIns="0" anchor="t">
            <a:spAutoFit/>
          </a:bodyPr>
          <a:lstStyle/>
          <a:p>
            <a:pPr algn="l">
              <a:spcAft>
                <a:spcPts val="0"/>
              </a:spcAft>
            </a:pPr>
            <a:r>
              <a:rPr sz="900" b="0" i="1">
                <a:solidFill>
                  <a:srgbClr val="6B6B6B"/>
                </a:solidFill>
              </a:rPr>
              <a:t>AI-generated · Beyond the Slop</a:t>
            </a:r>
          </a:p>
        </p:txBody>
      </p:sp>
      <p:sp>
        <p:nvSpPr>
          <p:cNvPr id="20" name="TextBox 19"/>
          <p:cNvSpPr txBox="1"/>
          <p:nvPr/>
        </p:nvSpPr>
        <p:spPr>
          <a:xfrm>
            <a:off x="6583680" y="4754880"/>
            <a:ext cx="3657600" cy="640080"/>
          </a:xfrm>
          <a:prstGeom prst="rect">
            <a:avLst/>
          </a:prstGeom>
          <a:noFill/>
        </p:spPr>
        <p:txBody>
          <a:bodyPr wrap="square" lIns="0" rIns="0" tIns="0" bIns="0" anchor="t">
            <a:spAutoFit/>
          </a:bodyPr>
          <a:lstStyle/>
          <a:p>
            <a:pPr algn="l">
              <a:spcAft>
                <a:spcPts val="0"/>
              </a:spcAft>
            </a:pPr>
            <a:r>
              <a:rPr sz="1200" b="0" i="0">
                <a:solidFill>
                  <a:srgbClr val="1F1F1F"/>
                </a:solidFill>
              </a:rPr>
              <a:t>a few-MB file · stackable (style + character) · a strength dial at inference</a:t>
            </a:r>
          </a:p>
        </p:txBody>
      </p:sp>
      <p:sp>
        <p:nvSpPr>
          <p:cNvPr id="21" name="TextBox 20"/>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The same trick fine-tunes a diffusion model in Segment 4 — LoRA is the bridge.</a:t>
            </a:r>
          </a:p>
        </p:txBody>
      </p:sp>
      <p:sp>
        <p:nvSpPr>
          <p:cNvPr id="22" name="TextBox 21"/>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Beyond the Slop (daenet, Jul 2026) · LLM 101 deck (Day of Data 2026)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Scale kept paying, then MoE made it affordable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Many expert MLPs, a router picks a few per token: total ≠ active parameters.</a:t>
            </a:r>
          </a:p>
        </p:txBody>
      </p:sp>
      <p:sp>
        <p:nvSpPr>
          <p:cNvPr id="5" name="Rounded Rectangle 4"/>
          <p:cNvSpPr/>
          <p:nvPr/>
        </p:nvSpPr>
        <p:spPr>
          <a:xfrm>
            <a:off x="585216" y="3246120"/>
            <a:ext cx="960120" cy="54864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1F1F1F"/>
                </a:solidFill>
              </a:rPr>
              <a:t>token</a:t>
            </a:r>
          </a:p>
        </p:txBody>
      </p:sp>
      <p:cxnSp>
        <p:nvCxnSpPr>
          <p:cNvPr id="6" name="Connector 5"/>
          <p:cNvCxnSpPr/>
          <p:nvPr/>
        </p:nvCxnSpPr>
        <p:spPr>
          <a:xfrm>
            <a:off x="1591056" y="3520440"/>
            <a:ext cx="192024"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1828800" y="3154680"/>
            <a:ext cx="1051560" cy="731520"/>
          </a:xfrm>
          <a:prstGeom prst="roundRect">
            <a:avLst>
              <a:gd name="adj" fmla="val 12000"/>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2A446F"/>
                </a:solidFill>
              </a:rPr>
              <a:t>router</a:t>
            </a:r>
          </a:p>
        </p:txBody>
      </p:sp>
      <p:sp>
        <p:nvSpPr>
          <p:cNvPr id="8" name="Rounded Rectangle 7"/>
          <p:cNvSpPr/>
          <p:nvPr/>
        </p:nvSpPr>
        <p:spPr>
          <a:xfrm>
            <a:off x="3291840" y="2057400"/>
            <a:ext cx="1051560" cy="50292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6B6B6B"/>
                </a:solidFill>
              </a:rPr>
              <a:t>expert 1</a:t>
            </a:r>
          </a:p>
        </p:txBody>
      </p:sp>
      <p:sp>
        <p:nvSpPr>
          <p:cNvPr id="9" name="Rounded Rectangle 8"/>
          <p:cNvSpPr/>
          <p:nvPr/>
        </p:nvSpPr>
        <p:spPr>
          <a:xfrm>
            <a:off x="4480560" y="2057400"/>
            <a:ext cx="1051560" cy="50292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6B6B6B"/>
                </a:solidFill>
              </a:rPr>
              <a:t>expert 2</a:t>
            </a:r>
          </a:p>
        </p:txBody>
      </p:sp>
      <p:sp>
        <p:nvSpPr>
          <p:cNvPr id="10" name="Rounded Rectangle 9"/>
          <p:cNvSpPr/>
          <p:nvPr/>
        </p:nvSpPr>
        <p:spPr>
          <a:xfrm>
            <a:off x="3291840" y="2715768"/>
            <a:ext cx="1051560" cy="50292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expert 3</a:t>
            </a:r>
          </a:p>
        </p:txBody>
      </p:sp>
      <p:cxnSp>
        <p:nvCxnSpPr>
          <p:cNvPr id="11" name="Connector 10"/>
          <p:cNvCxnSpPr/>
          <p:nvPr/>
        </p:nvCxnSpPr>
        <p:spPr>
          <a:xfrm flipV="1">
            <a:off x="2907792" y="2971800"/>
            <a:ext cx="356616" cy="548640"/>
          </a:xfrm>
          <a:prstGeom prst="line">
            <a:avLst/>
          </a:prstGeom>
          <a:ln w="25400">
            <a:solidFill>
              <a:srgbClr val="0078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480560" y="2715768"/>
            <a:ext cx="1051560" cy="50292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6B6B6B"/>
                </a:solidFill>
              </a:rPr>
              <a:t>expert 4</a:t>
            </a:r>
          </a:p>
        </p:txBody>
      </p:sp>
      <p:sp>
        <p:nvSpPr>
          <p:cNvPr id="13" name="Rounded Rectangle 12"/>
          <p:cNvSpPr/>
          <p:nvPr/>
        </p:nvSpPr>
        <p:spPr>
          <a:xfrm>
            <a:off x="3291840" y="3374136"/>
            <a:ext cx="1051560" cy="50292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expert 5</a:t>
            </a:r>
          </a:p>
        </p:txBody>
      </p:sp>
      <p:cxnSp>
        <p:nvCxnSpPr>
          <p:cNvPr id="14" name="Connector 13"/>
          <p:cNvCxnSpPr/>
          <p:nvPr/>
        </p:nvCxnSpPr>
        <p:spPr>
          <a:xfrm>
            <a:off x="2907792" y="3520440"/>
            <a:ext cx="356616" cy="109728"/>
          </a:xfrm>
          <a:prstGeom prst="line">
            <a:avLst/>
          </a:prstGeom>
          <a:ln w="25400">
            <a:solidFill>
              <a:srgbClr val="0078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480560" y="3374136"/>
            <a:ext cx="1051560" cy="50292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6B6B6B"/>
                </a:solidFill>
              </a:rPr>
              <a:t>expert 6</a:t>
            </a:r>
          </a:p>
        </p:txBody>
      </p:sp>
      <p:sp>
        <p:nvSpPr>
          <p:cNvPr id="16" name="Rounded Rectangle 15"/>
          <p:cNvSpPr/>
          <p:nvPr/>
        </p:nvSpPr>
        <p:spPr>
          <a:xfrm>
            <a:off x="3291840" y="4032504"/>
            <a:ext cx="1051560" cy="50292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6B6B6B"/>
                </a:solidFill>
              </a:rPr>
              <a:t>expert 7</a:t>
            </a:r>
          </a:p>
        </p:txBody>
      </p:sp>
      <p:sp>
        <p:nvSpPr>
          <p:cNvPr id="17" name="Rounded Rectangle 16"/>
          <p:cNvSpPr/>
          <p:nvPr/>
        </p:nvSpPr>
        <p:spPr>
          <a:xfrm>
            <a:off x="4480560" y="4032504"/>
            <a:ext cx="1051560" cy="50292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6B6B6B"/>
                </a:solidFill>
              </a:rPr>
              <a:t>expert 8</a:t>
            </a:r>
          </a:p>
        </p:txBody>
      </p:sp>
      <p:sp>
        <p:nvSpPr>
          <p:cNvPr id="18" name="TextBox 17"/>
          <p:cNvSpPr txBox="1"/>
          <p:nvPr/>
        </p:nvSpPr>
        <p:spPr>
          <a:xfrm>
            <a:off x="3291840" y="4754880"/>
            <a:ext cx="2286000" cy="274320"/>
          </a:xfrm>
          <a:prstGeom prst="rect">
            <a:avLst/>
          </a:prstGeom>
          <a:noFill/>
        </p:spPr>
        <p:txBody>
          <a:bodyPr wrap="square" lIns="0" rIns="0" tIns="0" bIns="0" anchor="t">
            <a:spAutoFit/>
          </a:bodyPr>
          <a:lstStyle/>
          <a:p>
            <a:pPr algn="l">
              <a:spcAft>
                <a:spcPts val="0"/>
              </a:spcAft>
            </a:pPr>
            <a:r>
              <a:rPr sz="1100" b="0" i="1">
                <a:solidFill>
                  <a:srgbClr val="6B6B6B"/>
                </a:solidFill>
              </a:rPr>
              <a:t>only the lit experts run</a:t>
            </a:r>
          </a:p>
        </p:txBody>
      </p:sp>
      <p:graphicFrame>
        <p:nvGraphicFramePr>
          <p:cNvPr id="19" name="Table 18"/>
          <p:cNvGraphicFramePr>
            <a:graphicFrameLocks noGrp="1"/>
          </p:cNvGraphicFramePr>
          <p:nvPr/>
        </p:nvGraphicFramePr>
        <p:xfrm>
          <a:off x="5715000" y="2057400"/>
          <a:ext cx="4526280" cy="2194560"/>
        </p:xfrm>
        <a:graphic>
          <a:graphicData uri="http://schemas.openxmlformats.org/drawingml/2006/table">
            <a:tbl>
              <a:tblPr firstRow="1" bandRow="1">
                <a:tableStyleId>{5C22544A-7EE6-4342-B048-85BDC9FD1C3A}</a:tableStyleId>
              </a:tblPr>
              <a:tblGrid>
                <a:gridCol w="2286000"/>
                <a:gridCol w="731520"/>
                <a:gridCol w="1508760"/>
              </a:tblGrid>
              <a:tr h="365760">
                <a:tc>
                  <a:txBody>
                    <a:bodyPr/>
                    <a:lstStyle/>
                    <a:p>
                      <a:r>
                        <a:rPr sz="1100" b="1">
                          <a:solidFill>
                            <a:srgbClr val="FFFFFF"/>
                          </a:solidFill>
                        </a:rPr>
                        <a:t>Model</a:t>
                      </a:r>
                    </a:p>
                  </a:txBody>
                  <a:tcPr marT="27432" marB="27432" marL="73152" marR="73152" anchor="ctr">
                    <a:solidFill>
                      <a:srgbClr val="2A446F"/>
                    </a:solidFill>
                  </a:tcPr>
                </a:tc>
                <a:tc>
                  <a:txBody>
                    <a:bodyPr/>
                    <a:lstStyle/>
                    <a:p>
                      <a:r>
                        <a:rPr sz="1100" b="1">
                          <a:solidFill>
                            <a:srgbClr val="FFFFFF"/>
                          </a:solidFill>
                        </a:rPr>
                        <a:t>Total</a:t>
                      </a:r>
                    </a:p>
                  </a:txBody>
                  <a:tcPr marT="27432" marB="27432" marL="73152" marR="73152" anchor="ctr">
                    <a:solidFill>
                      <a:srgbClr val="2A446F"/>
                    </a:solidFill>
                  </a:tcPr>
                </a:tc>
                <a:tc>
                  <a:txBody>
                    <a:bodyPr/>
                    <a:lstStyle/>
                    <a:p>
                      <a:r>
                        <a:rPr sz="1100" b="1">
                          <a:solidFill>
                            <a:srgbClr val="FFFFFF"/>
                          </a:solidFill>
                        </a:rPr>
                        <a:t>Active per token</a:t>
                      </a:r>
                    </a:p>
                  </a:txBody>
                  <a:tcPr marT="27432" marB="27432" marL="73152" marR="73152" anchor="ctr">
                    <a:solidFill>
                      <a:srgbClr val="2A446F"/>
                    </a:solidFill>
                  </a:tcPr>
                </a:tc>
              </a:tr>
              <a:tr h="365760">
                <a:tc>
                  <a:txBody>
                    <a:bodyPr/>
                    <a:lstStyle/>
                    <a:p>
                      <a:r>
                        <a:rPr sz="1100" b="1">
                          <a:solidFill>
                            <a:srgbClr val="1F1F1F"/>
                          </a:solidFill>
                        </a:rPr>
                        <a:t>GPT-4 (2023, leaked)</a:t>
                      </a:r>
                    </a:p>
                  </a:txBody>
                  <a:tcPr marT="27432" marB="27432" marL="73152" marR="73152" anchor="ctr">
                    <a:solidFill>
                      <a:srgbClr val="FFFFFF"/>
                    </a:solidFill>
                  </a:tcPr>
                </a:tc>
                <a:tc>
                  <a:txBody>
                    <a:bodyPr/>
                    <a:lstStyle/>
                    <a:p>
                      <a:r>
                        <a:rPr sz="1100" b="0">
                          <a:solidFill>
                            <a:srgbClr val="1F1F1F"/>
                          </a:solidFill>
                        </a:rPr>
                        <a:t>≈ 1.8 T</a:t>
                      </a:r>
                    </a:p>
                  </a:txBody>
                  <a:tcPr marT="27432" marB="27432" marL="73152" marR="73152" anchor="ctr">
                    <a:solidFill>
                      <a:srgbClr val="FFFFFF"/>
                    </a:solidFill>
                  </a:tcPr>
                </a:tc>
                <a:tc>
                  <a:txBody>
                    <a:bodyPr/>
                    <a:lstStyle/>
                    <a:p>
                      <a:r>
                        <a:rPr sz="1100" b="0">
                          <a:solidFill>
                            <a:srgbClr val="1F1F1F"/>
                          </a:solidFill>
                        </a:rPr>
                        <a:t>top-2 of 8–16 experts</a:t>
                      </a:r>
                    </a:p>
                  </a:txBody>
                  <a:tcPr marT="27432" marB="27432" marL="73152" marR="73152" anchor="ctr">
                    <a:solidFill>
                      <a:srgbClr val="FFFFFF"/>
                    </a:solidFill>
                  </a:tcPr>
                </a:tc>
              </a:tr>
              <a:tr h="365760">
                <a:tc>
                  <a:txBody>
                    <a:bodyPr/>
                    <a:lstStyle/>
                    <a:p>
                      <a:r>
                        <a:rPr sz="1100" b="1">
                          <a:solidFill>
                            <a:srgbClr val="1F1F1F"/>
                          </a:solidFill>
                        </a:rPr>
                        <a:t>DeepSeek V3 (Dec 2024)</a:t>
                      </a:r>
                    </a:p>
                  </a:txBody>
                  <a:tcPr marT="27432" marB="27432" marL="73152" marR="73152" anchor="ctr">
                    <a:solidFill>
                      <a:srgbClr val="F3F4F8"/>
                    </a:solidFill>
                  </a:tcPr>
                </a:tc>
                <a:tc>
                  <a:txBody>
                    <a:bodyPr/>
                    <a:lstStyle/>
                    <a:p>
                      <a:r>
                        <a:rPr sz="1100" b="0">
                          <a:solidFill>
                            <a:srgbClr val="1F1F1F"/>
                          </a:solidFill>
                        </a:rPr>
                        <a:t>671 B</a:t>
                      </a:r>
                    </a:p>
                  </a:txBody>
                  <a:tcPr marT="27432" marB="27432" marL="73152" marR="73152" anchor="ctr">
                    <a:solidFill>
                      <a:srgbClr val="F3F4F8"/>
                    </a:solidFill>
                  </a:tcPr>
                </a:tc>
                <a:tc>
                  <a:txBody>
                    <a:bodyPr/>
                    <a:lstStyle/>
                    <a:p>
                      <a:r>
                        <a:rPr sz="1100" b="0">
                          <a:solidFill>
                            <a:srgbClr val="1F1F1F"/>
                          </a:solidFill>
                        </a:rPr>
                        <a:t>37 B</a:t>
                      </a:r>
                    </a:p>
                  </a:txBody>
                  <a:tcPr marT="27432" marB="27432" marL="73152" marR="73152" anchor="ctr">
                    <a:solidFill>
                      <a:srgbClr val="F3F4F8"/>
                    </a:solidFill>
                  </a:tcPr>
                </a:tc>
              </a:tr>
              <a:tr h="365760">
                <a:tc>
                  <a:txBody>
                    <a:bodyPr/>
                    <a:lstStyle/>
                    <a:p>
                      <a:r>
                        <a:rPr sz="1100" b="1">
                          <a:solidFill>
                            <a:srgbClr val="1F1F1F"/>
                          </a:solidFill>
                        </a:rPr>
                        <a:t>Kimi K3 (Jul 2026)</a:t>
                      </a:r>
                    </a:p>
                  </a:txBody>
                  <a:tcPr marT="27432" marB="27432" marL="73152" marR="73152" anchor="ctr">
                    <a:solidFill>
                      <a:srgbClr val="FFFFFF"/>
                    </a:solidFill>
                  </a:tcPr>
                </a:tc>
                <a:tc>
                  <a:txBody>
                    <a:bodyPr/>
                    <a:lstStyle/>
                    <a:p>
                      <a:r>
                        <a:rPr sz="1100" b="0">
                          <a:solidFill>
                            <a:srgbClr val="1F1F1F"/>
                          </a:solidFill>
                        </a:rPr>
                        <a:t>2.8 T</a:t>
                      </a:r>
                    </a:p>
                  </a:txBody>
                  <a:tcPr marT="27432" marB="27432" marL="73152" marR="73152" anchor="ctr">
                    <a:solidFill>
                      <a:srgbClr val="FFFFFF"/>
                    </a:solidFill>
                  </a:tcPr>
                </a:tc>
                <a:tc>
                  <a:txBody>
                    <a:bodyPr/>
                    <a:lstStyle/>
                    <a:p>
                      <a:r>
                        <a:rPr sz="1100" b="0">
                          <a:solidFill>
                            <a:srgbClr val="1F1F1F"/>
                          </a:solidFill>
                        </a:rPr>
                        <a:t>104 B</a:t>
                      </a:r>
                    </a:p>
                  </a:txBody>
                  <a:tcPr marT="27432" marB="27432" marL="73152" marR="73152" anchor="ctr">
                    <a:solidFill>
                      <a:srgbClr val="FFFFFF"/>
                    </a:solidFill>
                  </a:tcPr>
                </a:tc>
              </a:tr>
              <a:tr h="365760">
                <a:tc>
                  <a:txBody>
                    <a:bodyPr/>
                    <a:lstStyle/>
                    <a:p>
                      <a:r>
                        <a:rPr sz="1100" b="1">
                          <a:solidFill>
                            <a:srgbClr val="1F1F1F"/>
                          </a:solidFill>
                        </a:rPr>
                        <a:t>DeepSeek V4.1 Flash (Sep 2026)</a:t>
                      </a:r>
                    </a:p>
                  </a:txBody>
                  <a:tcPr marT="27432" marB="27432" marL="73152" marR="73152" anchor="ctr">
                    <a:solidFill>
                      <a:srgbClr val="F3F4F8"/>
                    </a:solidFill>
                  </a:tcPr>
                </a:tc>
                <a:tc>
                  <a:txBody>
                    <a:bodyPr/>
                    <a:lstStyle/>
                    <a:p>
                      <a:r>
                        <a:rPr sz="1100" b="0">
                          <a:solidFill>
                            <a:srgbClr val="1F1F1F"/>
                          </a:solidFill>
                        </a:rPr>
                        <a:t>552 B</a:t>
                      </a:r>
                    </a:p>
                  </a:txBody>
                  <a:tcPr marT="27432" marB="27432" marL="73152" marR="73152" anchor="ctr">
                    <a:solidFill>
                      <a:srgbClr val="F3F4F8"/>
                    </a:solidFill>
                  </a:tcPr>
                </a:tc>
                <a:tc>
                  <a:txBody>
                    <a:bodyPr/>
                    <a:lstStyle/>
                    <a:p>
                      <a:r>
                        <a:rPr sz="1100" b="0">
                          <a:solidFill>
                            <a:srgbClr val="1F1F1F"/>
                          </a:solidFill>
                        </a:rPr>
                        <a:t>8–16 B</a:t>
                      </a:r>
                    </a:p>
                  </a:txBody>
                  <a:tcPr marT="27432" marB="27432" marL="73152" marR="73152" anchor="ctr">
                    <a:solidFill>
                      <a:srgbClr val="F3F4F8"/>
                    </a:solidFill>
                  </a:tcPr>
                </a:tc>
              </a:tr>
              <a:tr h="365760">
                <a:tc>
                  <a:txBody>
                    <a:bodyPr/>
                    <a:lstStyle/>
                    <a:p>
                      <a:r>
                        <a:rPr sz="1100" b="1">
                          <a:solidFill>
                            <a:srgbClr val="1F1F1F"/>
                          </a:solidFill>
                        </a:rPr>
                        <a:t>GLM-5.3 (Aug 2026)</a:t>
                      </a:r>
                    </a:p>
                  </a:txBody>
                  <a:tcPr marT="27432" marB="27432" marL="73152" marR="73152" anchor="ctr">
                    <a:solidFill>
                      <a:srgbClr val="FFFFFF"/>
                    </a:solidFill>
                  </a:tcPr>
                </a:tc>
                <a:tc>
                  <a:txBody>
                    <a:bodyPr/>
                    <a:lstStyle/>
                    <a:p>
                      <a:r>
                        <a:rPr sz="1100" b="0">
                          <a:solidFill>
                            <a:srgbClr val="1F1F1F"/>
                          </a:solidFill>
                        </a:rPr>
                        <a:t>753 B</a:t>
                      </a:r>
                    </a:p>
                  </a:txBody>
                  <a:tcPr marT="27432" marB="27432" marL="73152" marR="73152" anchor="ctr">
                    <a:solidFill>
                      <a:srgbClr val="FFFFFF"/>
                    </a:solidFill>
                  </a:tcPr>
                </a:tc>
                <a:tc>
                  <a:txBody>
                    <a:bodyPr/>
                    <a:lstStyle/>
                    <a:p>
                      <a:r>
                        <a:rPr sz="1100" b="0">
                          <a:solidFill>
                            <a:srgbClr val="1F1F1F"/>
                          </a:solidFill>
                        </a:rPr>
                        <a:t>≈ 40 B</a:t>
                      </a:r>
                    </a:p>
                  </a:txBody>
                  <a:tcPr marT="27432" marB="27432" marL="73152" marR="73152" anchor="ctr">
                    <a:solidFill>
                      <a:srgbClr val="FFFFFF"/>
                    </a:solidFill>
                  </a:tcPr>
                </a:tc>
              </a:tr>
            </a:tbl>
          </a:graphicData>
        </a:graphic>
      </p:graphicFrame>
      <p:sp>
        <p:nvSpPr>
          <p:cNvPr id="20" name="TextBox 19"/>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Total parameters are the memory bill; active parameters are the compute bill.</a:t>
            </a:r>
          </a:p>
        </p:txBody>
      </p:sp>
      <p:sp>
        <p:nvSpPr>
          <p:cNvPr id="21" name="TextBox 20"/>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slide 35 (GPT-4: leaked figures) · DeepSeek-V3 (arXiv 2412.19437) · Model catalog §2 (checked 2026-09-21)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Attention got cheap: GQA, MLA, sparse/hybrid layers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The inference bottleneck is the KV cache — every trick here shrinks it.</a:t>
            </a:r>
          </a:p>
        </p:txBody>
      </p:sp>
      <p:graphicFrame>
        <p:nvGraphicFramePr>
          <p:cNvPr id="5" name="Table 4"/>
          <p:cNvGraphicFramePr>
            <a:graphicFrameLocks noGrp="1"/>
          </p:cNvGraphicFramePr>
          <p:nvPr/>
        </p:nvGraphicFramePr>
        <p:xfrm>
          <a:off x="585216" y="2103120"/>
          <a:ext cx="9656064" cy="2926080"/>
        </p:xfrm>
        <a:graphic>
          <a:graphicData uri="http://schemas.openxmlformats.org/drawingml/2006/table">
            <a:tbl>
              <a:tblPr firstRow="1" bandRow="1">
                <a:tableStyleId>{5C22544A-7EE6-4342-B048-85BDC9FD1C3A}</a:tableStyleId>
              </a:tblPr>
              <a:tblGrid>
                <a:gridCol w="1920240"/>
                <a:gridCol w="4626864"/>
                <a:gridCol w="3108960"/>
              </a:tblGrid>
              <a:tr h="365760">
                <a:tc>
                  <a:txBody>
                    <a:bodyPr/>
                    <a:lstStyle/>
                    <a:p>
                      <a:r>
                        <a:rPr sz="1200" b="1">
                          <a:solidFill>
                            <a:srgbClr val="FFFFFF"/>
                          </a:solidFill>
                        </a:rPr>
                        <a:t>Trick</a:t>
                      </a:r>
                    </a:p>
                  </a:txBody>
                  <a:tcPr marT="27432" marB="27432" marL="73152" marR="73152" anchor="ctr">
                    <a:solidFill>
                      <a:srgbClr val="2A446F"/>
                    </a:solidFill>
                  </a:tcPr>
                </a:tc>
                <a:tc>
                  <a:txBody>
                    <a:bodyPr/>
                    <a:lstStyle/>
                    <a:p>
                      <a:r>
                        <a:rPr sz="1200" b="1">
                          <a:solidFill>
                            <a:srgbClr val="FFFFFF"/>
                          </a:solidFill>
                        </a:rPr>
                        <a:t>What it does</a:t>
                      </a:r>
                    </a:p>
                  </a:txBody>
                  <a:tcPr marT="27432" marB="27432" marL="73152" marR="73152" anchor="ctr">
                    <a:solidFill>
                      <a:srgbClr val="2A446F"/>
                    </a:solidFill>
                  </a:tcPr>
                </a:tc>
                <a:tc>
                  <a:txBody>
                    <a:bodyPr/>
                    <a:lstStyle/>
                    <a:p>
                      <a:r>
                        <a:rPr sz="1200" b="1">
                          <a:solidFill>
                            <a:srgbClr val="FFFFFF"/>
                          </a:solidFill>
                        </a:rPr>
                        <a:t>Popularised by</a:t>
                      </a:r>
                    </a:p>
                  </a:txBody>
                  <a:tcPr marT="27432" marB="27432" marL="73152" marR="73152" anchor="ctr">
                    <a:solidFill>
                      <a:srgbClr val="2A446F"/>
                    </a:solidFill>
                  </a:tcPr>
                </a:tc>
              </a:tr>
              <a:tr h="365760">
                <a:tc>
                  <a:txBody>
                    <a:bodyPr/>
                    <a:lstStyle/>
                    <a:p>
                      <a:r>
                        <a:rPr sz="1200" b="1">
                          <a:solidFill>
                            <a:srgbClr val="1F1F1F"/>
                          </a:solidFill>
                        </a:rPr>
                        <a:t>MHA (2017)</a:t>
                      </a:r>
                    </a:p>
                  </a:txBody>
                  <a:tcPr marT="27432" marB="27432" marL="73152" marR="73152" anchor="ctr">
                    <a:solidFill>
                      <a:srgbClr val="FFFFFF"/>
                    </a:solidFill>
                  </a:tcPr>
                </a:tc>
                <a:tc>
                  <a:txBody>
                    <a:bodyPr/>
                    <a:lstStyle/>
                    <a:p>
                      <a:r>
                        <a:rPr sz="1200" b="0">
                          <a:solidFill>
                            <a:srgbClr val="1F1F1F"/>
                          </a:solidFill>
                        </a:rPr>
                        <a:t>own K/V per head: best quality, biggest cache</a:t>
                      </a:r>
                    </a:p>
                  </a:txBody>
                  <a:tcPr marT="27432" marB="27432" marL="73152" marR="73152" anchor="ctr">
                    <a:solidFill>
                      <a:srgbClr val="FFFFFF"/>
                    </a:solidFill>
                  </a:tcPr>
                </a:tc>
                <a:tc>
                  <a:txBody>
                    <a:bodyPr/>
                    <a:lstStyle/>
                    <a:p>
                      <a:r>
                        <a:rPr sz="1200" b="0">
                          <a:solidFill>
                            <a:srgbClr val="1F1F1F"/>
                          </a:solidFill>
                        </a:rPr>
                        <a:t>the original transformer</a:t>
                      </a:r>
                    </a:p>
                  </a:txBody>
                  <a:tcPr marT="27432" marB="27432" marL="73152" marR="73152" anchor="ctr">
                    <a:solidFill>
                      <a:srgbClr val="FFFFFF"/>
                    </a:solidFill>
                  </a:tcPr>
                </a:tc>
              </a:tr>
              <a:tr h="365760">
                <a:tc>
                  <a:txBody>
                    <a:bodyPr/>
                    <a:lstStyle/>
                    <a:p>
                      <a:r>
                        <a:rPr sz="1200" b="1">
                          <a:solidFill>
                            <a:srgbClr val="1F1F1F"/>
                          </a:solidFill>
                        </a:rPr>
                        <a:t>MQA (2019)</a:t>
                      </a:r>
                    </a:p>
                  </a:txBody>
                  <a:tcPr marT="27432" marB="27432" marL="73152" marR="73152" anchor="ctr">
                    <a:solidFill>
                      <a:srgbClr val="F3F4F8"/>
                    </a:solidFill>
                  </a:tcPr>
                </a:tc>
                <a:tc>
                  <a:txBody>
                    <a:bodyPr/>
                    <a:lstStyle/>
                    <a:p>
                      <a:r>
                        <a:rPr sz="1200" b="0">
                          <a:solidFill>
                            <a:srgbClr val="1F1F1F"/>
                          </a:solidFill>
                        </a:rPr>
                        <a:t>one shared K/V for all heads: fastest, quality dips</a:t>
                      </a:r>
                    </a:p>
                  </a:txBody>
                  <a:tcPr marT="27432" marB="27432" marL="73152" marR="73152" anchor="ctr">
                    <a:solidFill>
                      <a:srgbClr val="F3F4F8"/>
                    </a:solidFill>
                  </a:tcPr>
                </a:tc>
                <a:tc>
                  <a:txBody>
                    <a:bodyPr/>
                    <a:lstStyle/>
                    <a:p>
                      <a:r>
                        <a:rPr sz="1200" b="0">
                          <a:solidFill>
                            <a:srgbClr val="1F1F1F"/>
                          </a:solidFill>
                        </a:rPr>
                        <a:t>—</a:t>
                      </a:r>
                    </a:p>
                  </a:txBody>
                  <a:tcPr marT="27432" marB="27432" marL="73152" marR="73152" anchor="ctr">
                    <a:solidFill>
                      <a:srgbClr val="F3F4F8"/>
                    </a:solidFill>
                  </a:tcPr>
                </a:tc>
              </a:tr>
              <a:tr h="365760">
                <a:tc>
                  <a:txBody>
                    <a:bodyPr/>
                    <a:lstStyle/>
                    <a:p>
                      <a:r>
                        <a:rPr sz="1200" b="1">
                          <a:solidFill>
                            <a:srgbClr val="1F1F1F"/>
                          </a:solidFill>
                        </a:rPr>
                        <a:t>GQA (2023)</a:t>
                      </a:r>
                    </a:p>
                  </a:txBody>
                  <a:tcPr marT="27432" marB="27432" marL="73152" marR="73152" anchor="ctr">
                    <a:solidFill>
                      <a:srgbClr val="FFFFFF"/>
                    </a:solidFill>
                  </a:tcPr>
                </a:tc>
                <a:tc>
                  <a:txBody>
                    <a:bodyPr/>
                    <a:lstStyle/>
                    <a:p>
                      <a:r>
                        <a:rPr sz="1200" b="0">
                          <a:solidFill>
                            <a:srgbClr val="1F1F1F"/>
                          </a:solidFill>
                        </a:rPr>
                        <a:t>groups of heads share K/V: the middle ground</a:t>
                      </a:r>
                    </a:p>
                  </a:txBody>
                  <a:tcPr marT="27432" marB="27432" marL="73152" marR="73152" anchor="ctr">
                    <a:solidFill>
                      <a:srgbClr val="FFFFFF"/>
                    </a:solidFill>
                  </a:tcPr>
                </a:tc>
                <a:tc>
                  <a:txBody>
                    <a:bodyPr/>
                    <a:lstStyle/>
                    <a:p>
                      <a:r>
                        <a:rPr sz="1200" b="0">
                          <a:solidFill>
                            <a:srgbClr val="1F1F1F"/>
                          </a:solidFill>
                        </a:rPr>
                        <a:t>Llama 2/3, Mistral, Qwen</a:t>
                      </a:r>
                    </a:p>
                  </a:txBody>
                  <a:tcPr marT="27432" marB="27432" marL="73152" marR="73152" anchor="ctr">
                    <a:solidFill>
                      <a:srgbClr val="FFFFFF"/>
                    </a:solidFill>
                  </a:tcPr>
                </a:tc>
              </a:tr>
              <a:tr h="365760">
                <a:tc>
                  <a:txBody>
                    <a:bodyPr/>
                    <a:lstStyle/>
                    <a:p>
                      <a:r>
                        <a:rPr sz="1200" b="1">
                          <a:solidFill>
                            <a:srgbClr val="1F1F1F"/>
                          </a:solidFill>
                        </a:rPr>
                        <a:t>MLA (2024)</a:t>
                      </a:r>
                    </a:p>
                  </a:txBody>
                  <a:tcPr marT="27432" marB="27432" marL="73152" marR="73152" anchor="ctr">
                    <a:solidFill>
                      <a:srgbClr val="F3F4F8"/>
                    </a:solidFill>
                  </a:tcPr>
                </a:tc>
                <a:tc>
                  <a:txBody>
                    <a:bodyPr/>
                    <a:lstStyle/>
                    <a:p>
                      <a:r>
                        <a:rPr sz="1200" b="0">
                          <a:solidFill>
                            <a:srgbClr val="1F1F1F"/>
                          </a:solidFill>
                        </a:rPr>
                        <a:t>compress K/V into a small latent vector</a:t>
                      </a:r>
                    </a:p>
                  </a:txBody>
                  <a:tcPr marT="27432" marB="27432" marL="73152" marR="73152" anchor="ctr">
                    <a:solidFill>
                      <a:srgbClr val="F3F4F8"/>
                    </a:solidFill>
                  </a:tcPr>
                </a:tc>
                <a:tc>
                  <a:txBody>
                    <a:bodyPr/>
                    <a:lstStyle/>
                    <a:p>
                      <a:r>
                        <a:rPr sz="1200" b="0">
                          <a:solidFill>
                            <a:srgbClr val="1F1F1F"/>
                          </a:solidFill>
                        </a:rPr>
                        <a:t>DeepSeek V2 → V3</a:t>
                      </a:r>
                    </a:p>
                  </a:txBody>
                  <a:tcPr marT="27432" marB="27432" marL="73152" marR="73152" anchor="ctr">
                    <a:solidFill>
                      <a:srgbClr val="F3F4F8"/>
                    </a:solidFill>
                  </a:tcPr>
                </a:tc>
              </a:tr>
              <a:tr h="365760">
                <a:tc>
                  <a:txBody>
                    <a:bodyPr/>
                    <a:lstStyle/>
                    <a:p>
                      <a:r>
                        <a:rPr sz="1200" b="1">
                          <a:solidFill>
                            <a:srgbClr val="1F1F1F"/>
                          </a:solidFill>
                        </a:rPr>
                        <a:t>Sliding window</a:t>
                      </a:r>
                    </a:p>
                  </a:txBody>
                  <a:tcPr marT="27432" marB="27432" marL="73152" marR="73152" anchor="ctr">
                    <a:solidFill>
                      <a:srgbClr val="FFFFFF"/>
                    </a:solidFill>
                  </a:tcPr>
                </a:tc>
                <a:tc>
                  <a:txBody>
                    <a:bodyPr/>
                    <a:lstStyle/>
                    <a:p>
                      <a:r>
                        <a:rPr sz="1200" b="0">
                          <a:solidFill>
                            <a:srgbClr val="1F1F1F"/>
                          </a:solidFill>
                        </a:rPr>
                        <a:t>attend to the last N tokens only</a:t>
                      </a:r>
                    </a:p>
                  </a:txBody>
                  <a:tcPr marT="27432" marB="27432" marL="73152" marR="73152" anchor="ctr">
                    <a:solidFill>
                      <a:srgbClr val="FFFFFF"/>
                    </a:solidFill>
                  </a:tcPr>
                </a:tc>
                <a:tc>
                  <a:txBody>
                    <a:bodyPr/>
                    <a:lstStyle/>
                    <a:p>
                      <a:r>
                        <a:rPr sz="1200" b="0">
                          <a:solidFill>
                            <a:srgbClr val="1F1F1F"/>
                          </a:solidFill>
                        </a:rPr>
                        <a:t>Gemma 3, Mistral</a:t>
                      </a:r>
                    </a:p>
                  </a:txBody>
                  <a:tcPr marT="27432" marB="27432" marL="73152" marR="73152" anchor="ctr">
                    <a:solidFill>
                      <a:srgbClr val="FFFFFF"/>
                    </a:solidFill>
                  </a:tcPr>
                </a:tc>
              </a:tr>
              <a:tr h="365760">
                <a:tc>
                  <a:txBody>
                    <a:bodyPr/>
                    <a:lstStyle/>
                    <a:p>
                      <a:r>
                        <a:rPr sz="1200" b="1">
                          <a:solidFill>
                            <a:srgbClr val="1F1F1F"/>
                          </a:solidFill>
                        </a:rPr>
                        <a:t>Hybrid layers</a:t>
                      </a:r>
                    </a:p>
                  </a:txBody>
                  <a:tcPr marT="27432" marB="27432" marL="73152" marR="73152" anchor="ctr">
                    <a:solidFill>
                      <a:srgbClr val="F3F4F8"/>
                    </a:solidFill>
                  </a:tcPr>
                </a:tc>
                <a:tc>
                  <a:txBody>
                    <a:bodyPr/>
                    <a:lstStyle/>
                    <a:p>
                      <a:r>
                        <a:rPr sz="1200" b="0">
                          <a:solidFill>
                            <a:srgbClr val="1F1F1F"/>
                          </a:solidFill>
                        </a:rPr>
                        <a:t>not every layer is attention (Mamba-2 MoE, 1M ctx)</a:t>
                      </a:r>
                    </a:p>
                  </a:txBody>
                  <a:tcPr marT="27432" marB="27432" marL="73152" marR="73152" anchor="ctr">
                    <a:solidFill>
                      <a:srgbClr val="F3F4F8"/>
                    </a:solidFill>
                  </a:tcPr>
                </a:tc>
                <a:tc>
                  <a:txBody>
                    <a:bodyPr/>
                    <a:lstStyle/>
                    <a:p>
                      <a:r>
                        <a:rPr sz="1200" b="0">
                          <a:solidFill>
                            <a:srgbClr val="1F1F1F"/>
                          </a:solidFill>
                        </a:rPr>
                        <a:t>Nemotron 3.5 Lightning</a:t>
                      </a:r>
                    </a:p>
                  </a:txBody>
                  <a:tcPr marT="27432" marB="27432" marL="73152" marR="73152" anchor="ctr">
                    <a:solidFill>
                      <a:srgbClr val="F3F4F8"/>
                    </a:solidFill>
                  </a:tcPr>
                </a:tc>
              </a:tr>
              <a:tr h="365760">
                <a:tc>
                  <a:txBody>
                    <a:bodyPr/>
                    <a:lstStyle/>
                    <a:p>
                      <a:r>
                        <a:rPr sz="1200" b="1">
                          <a:solidFill>
                            <a:srgbClr val="1F1F1F"/>
                          </a:solidFill>
                        </a:rPr>
                        <a:t>MoE</a:t>
                      </a:r>
                    </a:p>
                  </a:txBody>
                  <a:tcPr marT="27432" marB="27432" marL="73152" marR="73152" anchor="ctr">
                    <a:solidFill>
                      <a:srgbClr val="FFFFFF"/>
                    </a:solidFill>
                  </a:tcPr>
                </a:tc>
                <a:tc>
                  <a:txBody>
                    <a:bodyPr/>
                    <a:lstStyle/>
                    <a:p>
                      <a:r>
                        <a:rPr sz="1200" b="0">
                          <a:solidFill>
                            <a:srgbClr val="1F1F1F"/>
                          </a:solidFill>
                        </a:rPr>
                        <a:t>only a few expert MLPs run per token</a:t>
                      </a:r>
                    </a:p>
                  </a:txBody>
                  <a:tcPr marT="27432" marB="27432" marL="73152" marR="73152" anchor="ctr">
                    <a:solidFill>
                      <a:srgbClr val="FFFFFF"/>
                    </a:solidFill>
                  </a:tcPr>
                </a:tc>
                <a:tc>
                  <a:txBody>
                    <a:bodyPr/>
                    <a:lstStyle/>
                    <a:p>
                      <a:r>
                        <a:rPr sz="1200" b="0">
                          <a:solidFill>
                            <a:srgbClr val="1F1F1F"/>
                          </a:solidFill>
                        </a:rPr>
                        <a:t>DeepSeek V3: 671 B total, 37 B active</a:t>
                      </a:r>
                    </a:p>
                  </a:txBody>
                  <a:tcPr marT="27432" marB="27432" marL="73152" marR="73152" anchor="ctr">
                    <a:solidFill>
                      <a:srgbClr val="FFFFFF"/>
                    </a:solidFill>
                  </a:tcPr>
                </a:tc>
              </a:tr>
            </a:tbl>
          </a:graphicData>
        </a:graphic>
      </p:graphicFrame>
      <p:sp>
        <p:nvSpPr>
          <p:cNvPr id="6" name="TextBox 5"/>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Chinese labs publish these tricks most openly — you run the results in Segment 4.</a:t>
            </a:r>
          </a:p>
        </p:txBody>
      </p:sp>
      <p:sp>
        <p:nvSpPr>
          <p:cNvPr id="7" name="TextBox 6"/>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Raschka, LLM architecture gallery (MLA) · Model catalog §2 (checked 2026-09-21)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The DeepSeek shock: frontier quality, a fraction of the bill</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January 2025: R1 matched OpenAI’s o1 on reasoning, with open weights.</a:t>
            </a:r>
          </a:p>
        </p:txBody>
      </p:sp>
      <p:sp>
        <p:nvSpPr>
          <p:cNvPr id="5" name="Rounded Rectangle 4"/>
          <p:cNvSpPr/>
          <p:nvPr/>
        </p:nvSpPr>
        <p:spPr>
          <a:xfrm>
            <a:off x="585216" y="2011680"/>
            <a:ext cx="2208275" cy="96012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V3 · Dec 2024</a:t>
            </a:r>
          </a:p>
          <a:p>
            <a:pPr algn="ctr"/>
            <a:r>
              <a:rPr sz="1200" b="0" i="0">
                <a:solidFill>
                  <a:srgbClr val="1F1F1F"/>
                </a:solidFill>
              </a:rPr>
              <a:t>671 B MoE, FP8</a:t>
            </a:r>
          </a:p>
        </p:txBody>
      </p:sp>
      <p:cxnSp>
        <p:nvCxnSpPr>
          <p:cNvPr id="6" name="Connector 5"/>
          <p:cNvCxnSpPr/>
          <p:nvPr/>
        </p:nvCxnSpPr>
        <p:spPr>
          <a:xfrm>
            <a:off x="2830068" y="2491740"/>
            <a:ext cx="201167"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067811" y="2011680"/>
            <a:ext cx="2208275" cy="96012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R1 · Jan 2025</a:t>
            </a:r>
          </a:p>
          <a:p>
            <a:pPr algn="ctr"/>
            <a:r>
              <a:rPr sz="1200" b="0" i="0">
                <a:solidFill>
                  <a:srgbClr val="1F1F1F"/>
                </a:solidFill>
              </a:rPr>
              <a:t>RL reasoning (GRPO)</a:t>
            </a:r>
          </a:p>
        </p:txBody>
      </p:sp>
      <p:cxnSp>
        <p:nvCxnSpPr>
          <p:cNvPr id="8" name="Connector 7"/>
          <p:cNvCxnSpPr/>
          <p:nvPr/>
        </p:nvCxnSpPr>
        <p:spPr>
          <a:xfrm>
            <a:off x="5312664" y="2491740"/>
            <a:ext cx="201167"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550407" y="2011680"/>
            <a:ext cx="2208275" cy="96012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V4 Pro / Flash · 2026</a:t>
            </a:r>
          </a:p>
          <a:p>
            <a:pPr algn="ctr"/>
            <a:r>
              <a:rPr sz="1200" b="0" i="0">
                <a:solidFill>
                  <a:srgbClr val="1F1F1F"/>
                </a:solidFill>
              </a:rPr>
              <a:t>sold by Azure (Foundry)</a:t>
            </a:r>
          </a:p>
        </p:txBody>
      </p:sp>
      <p:cxnSp>
        <p:nvCxnSpPr>
          <p:cNvPr id="10" name="Connector 9"/>
          <p:cNvCxnSpPr/>
          <p:nvPr/>
        </p:nvCxnSpPr>
        <p:spPr>
          <a:xfrm>
            <a:off x="7795259" y="2491740"/>
            <a:ext cx="20116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033003" y="2011680"/>
            <a:ext cx="2208275" cy="96012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V4.1 Flash · 2026-09-10</a:t>
            </a:r>
          </a:p>
          <a:p>
            <a:pPr algn="ctr"/>
            <a:r>
              <a:rPr sz="1200" b="0" i="0">
                <a:solidFill>
                  <a:srgbClr val="FFFFFF"/>
                </a:solidFill>
              </a:rPr>
              <a:t>MIT, 552 B / 8–16 B active</a:t>
            </a:r>
          </a:p>
        </p:txBody>
      </p:sp>
      <p:sp>
        <p:nvSpPr>
          <p:cNvPr id="12" name="TextBox 11"/>
          <p:cNvSpPr txBox="1"/>
          <p:nvPr/>
        </p:nvSpPr>
        <p:spPr>
          <a:xfrm>
            <a:off x="585216" y="3291840"/>
            <a:ext cx="2948940" cy="320040"/>
          </a:xfrm>
          <a:prstGeom prst="rect">
            <a:avLst/>
          </a:prstGeom>
          <a:noFill/>
        </p:spPr>
        <p:txBody>
          <a:bodyPr wrap="square" lIns="0" rIns="0" tIns="0" bIns="0" anchor="t">
            <a:spAutoFit/>
          </a:bodyPr>
          <a:lstStyle/>
          <a:p>
            <a:pPr algn="l">
              <a:spcAft>
                <a:spcPts val="0"/>
              </a:spcAft>
            </a:pPr>
            <a:r>
              <a:rPr sz="1050" b="1" i="0">
                <a:solidFill>
                  <a:srgbClr val="6B6B6B"/>
                </a:solidFill>
              </a:rPr>
              <a:t>V3 FINAL PRETRAINING RUN (REPORTED)</a:t>
            </a:r>
          </a:p>
        </p:txBody>
      </p:sp>
      <p:sp>
        <p:nvSpPr>
          <p:cNvPr id="13" name="TextBox 12"/>
          <p:cNvSpPr txBox="1"/>
          <p:nvPr/>
        </p:nvSpPr>
        <p:spPr>
          <a:xfrm>
            <a:off x="585216" y="3593592"/>
            <a:ext cx="2948940" cy="731520"/>
          </a:xfrm>
          <a:prstGeom prst="rect">
            <a:avLst/>
          </a:prstGeom>
          <a:noFill/>
        </p:spPr>
        <p:txBody>
          <a:bodyPr wrap="square" lIns="0" rIns="0" tIns="0" bIns="0" anchor="t">
            <a:spAutoFit/>
          </a:bodyPr>
          <a:lstStyle/>
          <a:p>
            <a:pPr algn="l">
              <a:spcAft>
                <a:spcPts val="0"/>
              </a:spcAft>
            </a:pPr>
            <a:r>
              <a:rPr sz="3400" b="1" i="0">
                <a:solidFill>
                  <a:srgbClr val="2A446F"/>
                </a:solidFill>
              </a:rPr>
              <a:t>$5.6 M</a:t>
            </a:r>
          </a:p>
        </p:txBody>
      </p:sp>
      <p:sp>
        <p:nvSpPr>
          <p:cNvPr id="14" name="TextBox 13"/>
          <p:cNvSpPr txBox="1"/>
          <p:nvPr/>
        </p:nvSpPr>
        <p:spPr>
          <a:xfrm>
            <a:off x="3534156" y="3730752"/>
            <a:ext cx="502920" cy="411480"/>
          </a:xfrm>
          <a:prstGeom prst="rect">
            <a:avLst/>
          </a:prstGeom>
          <a:noFill/>
        </p:spPr>
        <p:txBody>
          <a:bodyPr wrap="square" lIns="0" rIns="0" tIns="0" bIns="0" anchor="t">
            <a:spAutoFit/>
          </a:bodyPr>
          <a:lstStyle/>
          <a:p>
            <a:pPr algn="ctr">
              <a:spcAft>
                <a:spcPts val="0"/>
              </a:spcAft>
            </a:pPr>
            <a:r>
              <a:rPr sz="1400" b="1" i="0">
                <a:solidFill>
                  <a:srgbClr val="6B6B6B"/>
                </a:solidFill>
              </a:rPr>
              <a:t>vs</a:t>
            </a:r>
          </a:p>
        </p:txBody>
      </p:sp>
      <p:sp>
        <p:nvSpPr>
          <p:cNvPr id="15" name="TextBox 14"/>
          <p:cNvSpPr txBox="1"/>
          <p:nvPr/>
        </p:nvSpPr>
        <p:spPr>
          <a:xfrm>
            <a:off x="4037076" y="3291840"/>
            <a:ext cx="2948940" cy="320040"/>
          </a:xfrm>
          <a:prstGeom prst="rect">
            <a:avLst/>
          </a:prstGeom>
          <a:noFill/>
        </p:spPr>
        <p:txBody>
          <a:bodyPr wrap="square" lIns="0" rIns="0" tIns="0" bIns="0" anchor="t">
            <a:spAutoFit/>
          </a:bodyPr>
          <a:lstStyle/>
          <a:p>
            <a:pPr algn="l">
              <a:spcAft>
                <a:spcPts val="0"/>
              </a:spcAft>
            </a:pPr>
            <a:r>
              <a:rPr sz="1050" b="1" i="0">
                <a:solidFill>
                  <a:srgbClr val="6B6B6B"/>
                </a:solidFill>
              </a:rPr>
              <a:t>WHOLE PROGRAMME (PLAUSIBLE)</a:t>
            </a:r>
          </a:p>
        </p:txBody>
      </p:sp>
      <p:sp>
        <p:nvSpPr>
          <p:cNvPr id="16" name="TextBox 15"/>
          <p:cNvSpPr txBox="1"/>
          <p:nvPr/>
        </p:nvSpPr>
        <p:spPr>
          <a:xfrm>
            <a:off x="4037076" y="3593592"/>
            <a:ext cx="2948940" cy="731520"/>
          </a:xfrm>
          <a:prstGeom prst="rect">
            <a:avLst/>
          </a:prstGeom>
          <a:noFill/>
        </p:spPr>
        <p:txBody>
          <a:bodyPr wrap="square" lIns="0" rIns="0" tIns="0" bIns="0" anchor="t">
            <a:spAutoFit/>
          </a:bodyPr>
          <a:lstStyle/>
          <a:p>
            <a:pPr algn="l">
              <a:spcAft>
                <a:spcPts val="0"/>
              </a:spcAft>
            </a:pPr>
            <a:r>
              <a:rPr sz="3400" b="1" i="0">
                <a:solidFill>
                  <a:srgbClr val="E86A10"/>
                </a:solidFill>
              </a:rPr>
              <a:t>$100s of M</a:t>
            </a:r>
          </a:p>
        </p:txBody>
      </p:sp>
      <p:sp>
        <p:nvSpPr>
          <p:cNvPr id="17" name="TextBox 16"/>
          <p:cNvSpPr txBox="1"/>
          <p:nvPr/>
        </p:nvSpPr>
        <p:spPr>
          <a:xfrm>
            <a:off x="7269480" y="3364992"/>
            <a:ext cx="2971800" cy="1005840"/>
          </a:xfrm>
          <a:prstGeom prst="rect">
            <a:avLst/>
          </a:prstGeom>
          <a:noFill/>
        </p:spPr>
        <p:txBody>
          <a:bodyPr wrap="square" lIns="0" rIns="0" tIns="0" bIns="0" anchor="t">
            <a:spAutoFit/>
          </a:bodyPr>
          <a:lstStyle/>
          <a:p>
            <a:pPr algn="l">
              <a:spcAft>
                <a:spcPts val="0"/>
              </a:spcAft>
            </a:pPr>
            <a:r>
              <a:rPr sz="1200" b="0" i="1">
                <a:solidFill>
                  <a:srgbClr val="6B6B6B"/>
                </a:solidFill>
              </a:rPr>
              <a:t>final run only: 2.788 M H800-hours at ~$2/h — no research, failed runs, data or capex</a:t>
            </a:r>
          </a:p>
        </p:txBody>
      </p:sp>
      <p:sp>
        <p:nvSpPr>
          <p:cNvPr id="18" name="TextBox 17"/>
          <p:cNvSpPr txBox="1"/>
          <p:nvPr/>
        </p:nvSpPr>
        <p:spPr>
          <a:xfrm>
            <a:off x="585216" y="4498848"/>
            <a:ext cx="6400800" cy="274320"/>
          </a:xfrm>
          <a:prstGeom prst="rect">
            <a:avLst/>
          </a:prstGeom>
          <a:noFill/>
        </p:spPr>
        <p:txBody>
          <a:bodyPr wrap="square" lIns="0" rIns="0" tIns="0" bIns="0" anchor="t">
            <a:spAutoFit/>
          </a:bodyPr>
          <a:lstStyle/>
          <a:p>
            <a:pPr algn="l">
              <a:spcAft>
                <a:spcPts val="0"/>
              </a:spcAft>
            </a:pPr>
            <a:r>
              <a:rPr sz="1050" b="1" i="0">
                <a:solidFill>
                  <a:srgbClr val="6B6B6B"/>
                </a:solidFill>
              </a:rPr>
              <a:t>NVIDIA, 27 JANUARY 2025</a:t>
            </a:r>
          </a:p>
        </p:txBody>
      </p:sp>
      <p:sp>
        <p:nvSpPr>
          <p:cNvPr id="19" name="TextBox 18"/>
          <p:cNvSpPr txBox="1"/>
          <p:nvPr/>
        </p:nvSpPr>
        <p:spPr>
          <a:xfrm>
            <a:off x="585216" y="4754880"/>
            <a:ext cx="6400800" cy="457200"/>
          </a:xfrm>
          <a:prstGeom prst="rect">
            <a:avLst/>
          </a:prstGeom>
          <a:noFill/>
        </p:spPr>
        <p:txBody>
          <a:bodyPr wrap="square" lIns="0" rIns="0" tIns="0" bIns="0" anchor="t">
            <a:spAutoFit/>
          </a:bodyPr>
          <a:lstStyle/>
          <a:p>
            <a:pPr algn="l">
              <a:spcAft>
                <a:spcPts val="0"/>
              </a:spcAft>
            </a:pPr>
            <a:r>
              <a:rPr sz="2200" b="1" i="0">
                <a:solidFill>
                  <a:srgbClr val="C52B2B"/>
                </a:solidFill>
              </a:rPr>
              <a:t>−17 % in one day (≈ $589 B)</a:t>
            </a:r>
          </a:p>
        </p:txBody>
      </p:sp>
      <p:sp>
        <p:nvSpPr>
          <p:cNvPr id="20" name="TextBox 19"/>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What really changed: the engineering, the RL recipe — and MIT-licensed weights.</a:t>
            </a:r>
          </a:p>
        </p:txBody>
      </p:sp>
      <p:sp>
        <p:nvSpPr>
          <p:cNvPr id="21" name="TextBox 20"/>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DeepSeek-V3 (arXiv 2412.19437) · Model catalog §2 (checked 2026-09-21)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Beyond one token per step: three ways, three maturities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One token per forward pass is the default — three ways to get more.</a:t>
            </a:r>
          </a:p>
        </p:txBody>
      </p:sp>
      <p:sp>
        <p:nvSpPr>
          <p:cNvPr id="5" name="Rounded Rectangle 4"/>
          <p:cNvSpPr/>
          <p:nvPr/>
        </p:nvSpPr>
        <p:spPr>
          <a:xfrm>
            <a:off x="585216" y="2011680"/>
            <a:ext cx="3096767" cy="329184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68096" y="2121408"/>
            <a:ext cx="2731007" cy="320040"/>
          </a:xfrm>
          <a:prstGeom prst="rect">
            <a:avLst/>
          </a:prstGeom>
          <a:noFill/>
        </p:spPr>
        <p:txBody>
          <a:bodyPr wrap="square" lIns="0" rIns="0" tIns="0" bIns="0" anchor="t">
            <a:spAutoFit/>
          </a:bodyPr>
          <a:lstStyle/>
          <a:p>
            <a:pPr algn="l">
              <a:spcAft>
                <a:spcPts val="0"/>
              </a:spcAft>
            </a:pPr>
            <a:r>
              <a:rPr sz="1300" b="1" i="0">
                <a:solidFill>
                  <a:srgbClr val="2A7F5C"/>
                </a:solidFill>
              </a:rPr>
              <a:t>SPECULATIVE DECODING</a:t>
            </a:r>
          </a:p>
        </p:txBody>
      </p:sp>
      <p:sp>
        <p:nvSpPr>
          <p:cNvPr id="7" name="Rounded Rectangle 6"/>
          <p:cNvSpPr/>
          <p:nvPr/>
        </p:nvSpPr>
        <p:spPr>
          <a:xfrm>
            <a:off x="768096" y="2487168"/>
            <a:ext cx="1051560" cy="256032"/>
          </a:xfrm>
          <a:prstGeom prst="roundRect">
            <a:avLst>
              <a:gd name="adj" fmla="val 50000"/>
            </a:avLst>
          </a:prstGeom>
          <a:solidFill>
            <a:srgbClr val="2A7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PRODUCTION</a:t>
            </a:r>
          </a:p>
        </p:txBody>
      </p:sp>
      <p:sp>
        <p:nvSpPr>
          <p:cNvPr id="8" name="Rounded Rectangle 7"/>
          <p:cNvSpPr/>
          <p:nvPr/>
        </p:nvSpPr>
        <p:spPr>
          <a:xfrm>
            <a:off x="3864864" y="2011680"/>
            <a:ext cx="3096767" cy="329184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047744" y="2121408"/>
            <a:ext cx="2731007" cy="320040"/>
          </a:xfrm>
          <a:prstGeom prst="rect">
            <a:avLst/>
          </a:prstGeom>
          <a:noFill/>
        </p:spPr>
        <p:txBody>
          <a:bodyPr wrap="square" lIns="0" rIns="0" tIns="0" bIns="0" anchor="t">
            <a:spAutoFit/>
          </a:bodyPr>
          <a:lstStyle/>
          <a:p>
            <a:pPr algn="l">
              <a:spcAft>
                <a:spcPts val="0"/>
              </a:spcAft>
            </a:pPr>
            <a:r>
              <a:rPr sz="1300" b="1" i="0">
                <a:solidFill>
                  <a:srgbClr val="0078D4"/>
                </a:solidFill>
              </a:rPr>
              <a:t>MULTI-TOKEN PREDICTION</a:t>
            </a:r>
          </a:p>
        </p:txBody>
      </p:sp>
      <p:sp>
        <p:nvSpPr>
          <p:cNvPr id="10" name="Rounded Rectangle 9"/>
          <p:cNvSpPr/>
          <p:nvPr/>
        </p:nvSpPr>
        <p:spPr>
          <a:xfrm>
            <a:off x="4047744" y="2487168"/>
            <a:ext cx="896112" cy="256032"/>
          </a:xfrm>
          <a:prstGeom prst="roundRect">
            <a:avLst>
              <a:gd name="adj" fmla="val 5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SHIPPING</a:t>
            </a:r>
          </a:p>
        </p:txBody>
      </p:sp>
      <p:sp>
        <p:nvSpPr>
          <p:cNvPr id="11" name="Rounded Rectangle 10"/>
          <p:cNvSpPr/>
          <p:nvPr/>
        </p:nvSpPr>
        <p:spPr>
          <a:xfrm>
            <a:off x="7144511" y="2011680"/>
            <a:ext cx="3096767" cy="329184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327391" y="2121408"/>
            <a:ext cx="2731007" cy="320040"/>
          </a:xfrm>
          <a:prstGeom prst="rect">
            <a:avLst/>
          </a:prstGeom>
          <a:noFill/>
        </p:spPr>
        <p:txBody>
          <a:bodyPr wrap="square" lIns="0" rIns="0" tIns="0" bIns="0" anchor="t">
            <a:spAutoFit/>
          </a:bodyPr>
          <a:lstStyle/>
          <a:p>
            <a:pPr algn="l">
              <a:spcAft>
                <a:spcPts val="0"/>
              </a:spcAft>
            </a:pPr>
            <a:r>
              <a:rPr sz="1300" b="1" i="0">
                <a:solidFill>
                  <a:srgbClr val="8661C5"/>
                </a:solidFill>
              </a:rPr>
              <a:t>DIFFUSION LMs</a:t>
            </a:r>
          </a:p>
        </p:txBody>
      </p:sp>
      <p:sp>
        <p:nvSpPr>
          <p:cNvPr id="13" name="Rounded Rectangle 12"/>
          <p:cNvSpPr/>
          <p:nvPr/>
        </p:nvSpPr>
        <p:spPr>
          <a:xfrm>
            <a:off x="7327391" y="2487168"/>
            <a:ext cx="1517904" cy="256032"/>
          </a:xfrm>
          <a:prstGeom prst="roundRect">
            <a:avLst>
              <a:gd name="adj" fmla="val 50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RESEARCH / EARLY</a:t>
            </a:r>
          </a:p>
        </p:txBody>
      </p:sp>
      <p:sp>
        <p:nvSpPr>
          <p:cNvPr id="14" name="TextBox 13"/>
          <p:cNvSpPr txBox="1"/>
          <p:nvPr/>
        </p:nvSpPr>
        <p:spPr>
          <a:xfrm>
            <a:off x="768096" y="2944368"/>
            <a:ext cx="777240" cy="274320"/>
          </a:xfrm>
          <a:prstGeom prst="rect">
            <a:avLst/>
          </a:prstGeom>
          <a:noFill/>
        </p:spPr>
        <p:txBody>
          <a:bodyPr wrap="square" lIns="0" rIns="0" tIns="0" bIns="0" anchor="t">
            <a:spAutoFit/>
          </a:bodyPr>
          <a:lstStyle/>
          <a:p>
            <a:pPr algn="l">
              <a:spcAft>
                <a:spcPts val="0"/>
              </a:spcAft>
            </a:pPr>
            <a:r>
              <a:rPr sz="1000" b="0" i="0">
                <a:solidFill>
                  <a:srgbClr val="6B6B6B"/>
                </a:solidFill>
              </a:rPr>
              <a:t>small draft:</a:t>
            </a:r>
          </a:p>
        </p:txBody>
      </p:sp>
      <p:sp>
        <p:nvSpPr>
          <p:cNvPr id="15" name="Rounded Rectangle 14"/>
          <p:cNvSpPr/>
          <p:nvPr/>
        </p:nvSpPr>
        <p:spPr>
          <a:xfrm>
            <a:off x="1545336" y="2907792"/>
            <a:ext cx="457200" cy="310896"/>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the</a:t>
            </a:r>
          </a:p>
        </p:txBody>
      </p:sp>
      <p:sp>
        <p:nvSpPr>
          <p:cNvPr id="16" name="Rounded Rectangle 15"/>
          <p:cNvSpPr/>
          <p:nvPr/>
        </p:nvSpPr>
        <p:spPr>
          <a:xfrm>
            <a:off x="2048256" y="2907792"/>
            <a:ext cx="457200" cy="310896"/>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cat</a:t>
            </a:r>
          </a:p>
        </p:txBody>
      </p:sp>
      <p:sp>
        <p:nvSpPr>
          <p:cNvPr id="17" name="Rounded Rectangle 16"/>
          <p:cNvSpPr/>
          <p:nvPr/>
        </p:nvSpPr>
        <p:spPr>
          <a:xfrm>
            <a:off x="2551176" y="2907792"/>
            <a:ext cx="457200" cy="310896"/>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sat</a:t>
            </a:r>
          </a:p>
        </p:txBody>
      </p:sp>
      <p:sp>
        <p:nvSpPr>
          <p:cNvPr id="18" name="Rounded Rectangle 17"/>
          <p:cNvSpPr/>
          <p:nvPr/>
        </p:nvSpPr>
        <p:spPr>
          <a:xfrm>
            <a:off x="3054096" y="2907792"/>
            <a:ext cx="457200" cy="310896"/>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on</a:t>
            </a:r>
          </a:p>
        </p:txBody>
      </p:sp>
      <p:sp>
        <p:nvSpPr>
          <p:cNvPr id="19" name="TextBox 18"/>
          <p:cNvSpPr txBox="1"/>
          <p:nvPr/>
        </p:nvSpPr>
        <p:spPr>
          <a:xfrm>
            <a:off x="768096" y="3355848"/>
            <a:ext cx="777240" cy="274320"/>
          </a:xfrm>
          <a:prstGeom prst="rect">
            <a:avLst/>
          </a:prstGeom>
          <a:noFill/>
        </p:spPr>
        <p:txBody>
          <a:bodyPr wrap="square" lIns="0" rIns="0" tIns="0" bIns="0" anchor="t">
            <a:spAutoFit/>
          </a:bodyPr>
          <a:lstStyle/>
          <a:p>
            <a:pPr algn="l">
              <a:spcAft>
                <a:spcPts val="0"/>
              </a:spcAft>
            </a:pPr>
            <a:r>
              <a:rPr sz="1000" b="0" i="0">
                <a:solidFill>
                  <a:srgbClr val="6B6B6B"/>
                </a:solidFill>
              </a:rPr>
              <a:t>big model:</a:t>
            </a:r>
          </a:p>
        </p:txBody>
      </p:sp>
      <p:sp>
        <p:nvSpPr>
          <p:cNvPr id="20" name="TextBox 19"/>
          <p:cNvSpPr txBox="1"/>
          <p:nvPr/>
        </p:nvSpPr>
        <p:spPr>
          <a:xfrm>
            <a:off x="1545336" y="3291840"/>
            <a:ext cx="457200" cy="310896"/>
          </a:xfrm>
          <a:prstGeom prst="rect">
            <a:avLst/>
          </a:prstGeom>
          <a:noFill/>
        </p:spPr>
        <p:txBody>
          <a:bodyPr wrap="square" lIns="0" rIns="0" tIns="0" bIns="0" anchor="t">
            <a:spAutoFit/>
          </a:bodyPr>
          <a:lstStyle/>
          <a:p>
            <a:pPr algn="ctr">
              <a:spcAft>
                <a:spcPts val="0"/>
              </a:spcAft>
            </a:pPr>
            <a:r>
              <a:rPr sz="1500" b="1" i="0">
                <a:solidFill>
                  <a:srgbClr val="2A7F5C"/>
                </a:solidFill>
              </a:rPr>
              <a:t>✓</a:t>
            </a:r>
          </a:p>
        </p:txBody>
      </p:sp>
      <p:sp>
        <p:nvSpPr>
          <p:cNvPr id="21" name="TextBox 20"/>
          <p:cNvSpPr txBox="1"/>
          <p:nvPr/>
        </p:nvSpPr>
        <p:spPr>
          <a:xfrm>
            <a:off x="2048256" y="3291840"/>
            <a:ext cx="457200" cy="310896"/>
          </a:xfrm>
          <a:prstGeom prst="rect">
            <a:avLst/>
          </a:prstGeom>
          <a:noFill/>
        </p:spPr>
        <p:txBody>
          <a:bodyPr wrap="square" lIns="0" rIns="0" tIns="0" bIns="0" anchor="t">
            <a:spAutoFit/>
          </a:bodyPr>
          <a:lstStyle/>
          <a:p>
            <a:pPr algn="ctr">
              <a:spcAft>
                <a:spcPts val="0"/>
              </a:spcAft>
            </a:pPr>
            <a:r>
              <a:rPr sz="1500" b="1" i="0">
                <a:solidFill>
                  <a:srgbClr val="2A7F5C"/>
                </a:solidFill>
              </a:rPr>
              <a:t>✓</a:t>
            </a:r>
          </a:p>
        </p:txBody>
      </p:sp>
      <p:sp>
        <p:nvSpPr>
          <p:cNvPr id="22" name="TextBox 21"/>
          <p:cNvSpPr txBox="1"/>
          <p:nvPr/>
        </p:nvSpPr>
        <p:spPr>
          <a:xfrm>
            <a:off x="2551176" y="3291840"/>
            <a:ext cx="457200" cy="310896"/>
          </a:xfrm>
          <a:prstGeom prst="rect">
            <a:avLst/>
          </a:prstGeom>
          <a:noFill/>
        </p:spPr>
        <p:txBody>
          <a:bodyPr wrap="square" lIns="0" rIns="0" tIns="0" bIns="0" anchor="t">
            <a:spAutoFit/>
          </a:bodyPr>
          <a:lstStyle/>
          <a:p>
            <a:pPr algn="ctr">
              <a:spcAft>
                <a:spcPts val="0"/>
              </a:spcAft>
            </a:pPr>
            <a:r>
              <a:rPr sz="1500" b="1" i="0">
                <a:solidFill>
                  <a:srgbClr val="2A7F5C"/>
                </a:solidFill>
              </a:rPr>
              <a:t>✓</a:t>
            </a:r>
          </a:p>
        </p:txBody>
      </p:sp>
      <p:sp>
        <p:nvSpPr>
          <p:cNvPr id="23" name="TextBox 22"/>
          <p:cNvSpPr txBox="1"/>
          <p:nvPr/>
        </p:nvSpPr>
        <p:spPr>
          <a:xfrm>
            <a:off x="3054096" y="3291840"/>
            <a:ext cx="457200" cy="310896"/>
          </a:xfrm>
          <a:prstGeom prst="rect">
            <a:avLst/>
          </a:prstGeom>
          <a:noFill/>
        </p:spPr>
        <p:txBody>
          <a:bodyPr wrap="square" lIns="0" rIns="0" tIns="0" bIns="0" anchor="t">
            <a:spAutoFit/>
          </a:bodyPr>
          <a:lstStyle/>
          <a:p>
            <a:pPr algn="ctr">
              <a:spcAft>
                <a:spcPts val="0"/>
              </a:spcAft>
            </a:pPr>
            <a:r>
              <a:rPr sz="1500" b="1" i="0">
                <a:solidFill>
                  <a:srgbClr val="C52B2B"/>
                </a:solidFill>
              </a:rPr>
              <a:t>✗</a:t>
            </a:r>
          </a:p>
        </p:txBody>
      </p:sp>
      <p:sp>
        <p:nvSpPr>
          <p:cNvPr id="24" name="TextBox 23"/>
          <p:cNvSpPr txBox="1"/>
          <p:nvPr/>
        </p:nvSpPr>
        <p:spPr>
          <a:xfrm>
            <a:off x="768096" y="3840480"/>
            <a:ext cx="2731007" cy="1371600"/>
          </a:xfrm>
          <a:prstGeom prst="rect">
            <a:avLst/>
          </a:prstGeom>
          <a:noFill/>
        </p:spPr>
        <p:txBody>
          <a:bodyPr wrap="square" lIns="0" rIns="0" tIns="0" bIns="0" anchor="t">
            <a:spAutoFit/>
          </a:bodyPr>
          <a:lstStyle/>
          <a:p>
            <a:pPr algn="l">
              <a:spcAft>
                <a:spcPts val="0"/>
              </a:spcAft>
            </a:pPr>
            <a:r>
              <a:rPr sz="1300" b="0" i="0">
                <a:solidFill>
                  <a:srgbClr val="1F1F1F"/>
                </a:solidFill>
              </a:rPr>
              <a:t>A small model drafts, the big one verifies in parallel: same output, 2–4× faster.</a:t>
            </a:r>
          </a:p>
        </p:txBody>
      </p:sp>
      <p:sp>
        <p:nvSpPr>
          <p:cNvPr id="25" name="Rounded Rectangle 24"/>
          <p:cNvSpPr/>
          <p:nvPr/>
        </p:nvSpPr>
        <p:spPr>
          <a:xfrm>
            <a:off x="4047744" y="2926080"/>
            <a:ext cx="438912" cy="310896"/>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the</a:t>
            </a:r>
          </a:p>
        </p:txBody>
      </p:sp>
      <p:sp>
        <p:nvSpPr>
          <p:cNvPr id="26" name="Rounded Rectangle 25"/>
          <p:cNvSpPr/>
          <p:nvPr/>
        </p:nvSpPr>
        <p:spPr>
          <a:xfrm>
            <a:off x="4532376" y="2926080"/>
            <a:ext cx="438912" cy="310896"/>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cat</a:t>
            </a:r>
          </a:p>
        </p:txBody>
      </p:sp>
      <p:cxnSp>
        <p:nvCxnSpPr>
          <p:cNvPr id="27" name="Connector 26"/>
          <p:cNvCxnSpPr/>
          <p:nvPr/>
        </p:nvCxnSpPr>
        <p:spPr>
          <a:xfrm>
            <a:off x="5035296" y="3081528"/>
            <a:ext cx="256032" cy="0"/>
          </a:xfrm>
          <a:prstGeom prst="line">
            <a:avLst/>
          </a:prstGeom>
          <a:ln w="25400">
            <a:solidFill>
              <a:srgbClr val="0078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5355336" y="2926080"/>
            <a:ext cx="438912" cy="310896"/>
          </a:xfrm>
          <a:prstGeom prst="roundRect">
            <a:avLst>
              <a:gd name="adj" fmla="val 15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sat</a:t>
            </a:r>
          </a:p>
        </p:txBody>
      </p:sp>
      <p:sp>
        <p:nvSpPr>
          <p:cNvPr id="29" name="Rounded Rectangle 28"/>
          <p:cNvSpPr/>
          <p:nvPr/>
        </p:nvSpPr>
        <p:spPr>
          <a:xfrm>
            <a:off x="5839968" y="2926080"/>
            <a:ext cx="438912" cy="310896"/>
          </a:xfrm>
          <a:prstGeom prst="roundRect">
            <a:avLst>
              <a:gd name="adj" fmla="val 15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on</a:t>
            </a:r>
          </a:p>
        </p:txBody>
      </p:sp>
      <p:sp>
        <p:nvSpPr>
          <p:cNvPr id="30" name="Rounded Rectangle 29"/>
          <p:cNvSpPr/>
          <p:nvPr/>
        </p:nvSpPr>
        <p:spPr>
          <a:xfrm>
            <a:off x="6324599" y="2926080"/>
            <a:ext cx="438912" cy="310896"/>
          </a:xfrm>
          <a:prstGeom prst="roundRect">
            <a:avLst>
              <a:gd name="adj" fmla="val 15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the</a:t>
            </a:r>
          </a:p>
        </p:txBody>
      </p:sp>
      <p:sp>
        <p:nvSpPr>
          <p:cNvPr id="31" name="TextBox 30"/>
          <p:cNvSpPr txBox="1"/>
          <p:nvPr/>
        </p:nvSpPr>
        <p:spPr>
          <a:xfrm>
            <a:off x="4047744" y="3337560"/>
            <a:ext cx="2731007" cy="274320"/>
          </a:xfrm>
          <a:prstGeom prst="rect">
            <a:avLst/>
          </a:prstGeom>
          <a:noFill/>
        </p:spPr>
        <p:txBody>
          <a:bodyPr wrap="square" lIns="0" rIns="0" tIns="0" bIns="0" anchor="t">
            <a:spAutoFit/>
          </a:bodyPr>
          <a:lstStyle/>
          <a:p>
            <a:pPr algn="l">
              <a:spcAft>
                <a:spcPts val="0"/>
              </a:spcAft>
            </a:pPr>
            <a:r>
              <a:rPr sz="1000" b="0" i="0">
                <a:solidFill>
                  <a:srgbClr val="6B6B6B"/>
                </a:solidFill>
              </a:rPr>
              <a:t>three new tokens in one forward pass</a:t>
            </a:r>
          </a:p>
        </p:txBody>
      </p:sp>
      <p:sp>
        <p:nvSpPr>
          <p:cNvPr id="32" name="TextBox 31"/>
          <p:cNvSpPr txBox="1"/>
          <p:nvPr/>
        </p:nvSpPr>
        <p:spPr>
          <a:xfrm>
            <a:off x="4047744" y="3840480"/>
            <a:ext cx="2731007" cy="1371600"/>
          </a:xfrm>
          <a:prstGeom prst="rect">
            <a:avLst/>
          </a:prstGeom>
          <a:noFill/>
        </p:spPr>
        <p:txBody>
          <a:bodyPr wrap="square" lIns="0" rIns="0" tIns="0" bIns="0" anchor="t">
            <a:spAutoFit/>
          </a:bodyPr>
          <a:lstStyle/>
          <a:p>
            <a:pPr algn="l">
              <a:spcAft>
                <a:spcPts val="0"/>
              </a:spcAft>
            </a:pPr>
            <a:r>
              <a:rPr sz="1300" b="0" i="0">
                <a:solidFill>
                  <a:srgbClr val="1F1F1F"/>
                </a:solidFill>
              </a:rPr>
              <a:t>2–4 tokens per forward pass — DeepSeek V3 ships it.</a:t>
            </a:r>
          </a:p>
        </p:txBody>
      </p:sp>
      <p:sp>
        <p:nvSpPr>
          <p:cNvPr id="33" name="Rounded Rectangle 32"/>
          <p:cNvSpPr/>
          <p:nvPr/>
        </p:nvSpPr>
        <p:spPr>
          <a:xfrm>
            <a:off x="7327391" y="2926080"/>
            <a:ext cx="868680" cy="310896"/>
          </a:xfrm>
          <a:prstGeom prst="roundRect">
            <a:avLst>
              <a:gd name="adj" fmla="val 1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i="0">
                <a:solidFill>
                  <a:srgbClr val="1F1F1F"/>
                </a:solidFill>
              </a:rPr>
              <a:t>░░░░</a:t>
            </a:r>
          </a:p>
        </p:txBody>
      </p:sp>
      <p:sp>
        <p:nvSpPr>
          <p:cNvPr id="34" name="Rounded Rectangle 33"/>
          <p:cNvSpPr/>
          <p:nvPr/>
        </p:nvSpPr>
        <p:spPr>
          <a:xfrm>
            <a:off x="8260079" y="2926080"/>
            <a:ext cx="868680" cy="310896"/>
          </a:xfrm>
          <a:prstGeom prst="roundRect">
            <a:avLst>
              <a:gd name="adj" fmla="val 15000"/>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i="0">
                <a:solidFill>
                  <a:srgbClr val="1F1F1F"/>
                </a:solidFill>
              </a:rPr>
              <a:t>▓▓▓▓</a:t>
            </a:r>
          </a:p>
        </p:txBody>
      </p:sp>
      <p:sp>
        <p:nvSpPr>
          <p:cNvPr id="35" name="Rounded Rectangle 34"/>
          <p:cNvSpPr/>
          <p:nvPr/>
        </p:nvSpPr>
        <p:spPr>
          <a:xfrm>
            <a:off x="9192767" y="2926080"/>
            <a:ext cx="868680" cy="310896"/>
          </a:xfrm>
          <a:prstGeom prst="roundRect">
            <a:avLst>
              <a:gd name="adj" fmla="val 15000"/>
            </a:avLst>
          </a:prstGeom>
          <a:solidFill>
            <a:srgbClr val="E6D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i="0">
                <a:solidFill>
                  <a:srgbClr val="1F1F1F"/>
                </a:solidFill>
              </a:rPr>
              <a:t>the cat sat</a:t>
            </a:r>
          </a:p>
        </p:txBody>
      </p:sp>
      <p:sp>
        <p:nvSpPr>
          <p:cNvPr id="36" name="TextBox 35"/>
          <p:cNvSpPr txBox="1"/>
          <p:nvPr/>
        </p:nvSpPr>
        <p:spPr>
          <a:xfrm>
            <a:off x="7327391" y="3337560"/>
            <a:ext cx="2731007" cy="274320"/>
          </a:xfrm>
          <a:prstGeom prst="rect">
            <a:avLst/>
          </a:prstGeom>
          <a:noFill/>
        </p:spPr>
        <p:txBody>
          <a:bodyPr wrap="square" lIns="0" rIns="0" tIns="0" bIns="0" anchor="t">
            <a:spAutoFit/>
          </a:bodyPr>
          <a:lstStyle/>
          <a:p>
            <a:pPr algn="l">
              <a:spcAft>
                <a:spcPts val="0"/>
              </a:spcAft>
            </a:pPr>
            <a:r>
              <a:rPr sz="1000" b="0" i="0">
                <a:solidFill>
                  <a:srgbClr val="6B6B6B"/>
                </a:solidFill>
              </a:rPr>
              <a:t>noise → denoise → clean tokens</a:t>
            </a:r>
          </a:p>
        </p:txBody>
      </p:sp>
      <p:sp>
        <p:nvSpPr>
          <p:cNvPr id="37" name="TextBox 36"/>
          <p:cNvSpPr txBox="1"/>
          <p:nvPr/>
        </p:nvSpPr>
        <p:spPr>
          <a:xfrm>
            <a:off x="7327391" y="3840480"/>
            <a:ext cx="2731007" cy="1371600"/>
          </a:xfrm>
          <a:prstGeom prst="rect">
            <a:avLst/>
          </a:prstGeom>
          <a:noFill/>
        </p:spPr>
        <p:txBody>
          <a:bodyPr wrap="square" lIns="0" rIns="0" tIns="0" bIns="0" anchor="t">
            <a:spAutoFit/>
          </a:bodyPr>
          <a:lstStyle/>
          <a:p>
            <a:pPr algn="l">
              <a:spcAft>
                <a:spcPts val="0"/>
              </a:spcAft>
            </a:pPr>
            <a:r>
              <a:rPr sz="1300" b="0" i="0">
                <a:solidFill>
                  <a:srgbClr val="1F1F1F"/>
                </a:solidFill>
              </a:rPr>
              <a:t>All tokens at once, refined over passes: Mercury 2, Gemini Diffusion.</a:t>
            </a:r>
          </a:p>
        </p:txBody>
      </p:sp>
      <p:sp>
        <p:nvSpPr>
          <p:cNvPr id="38" name="TextBox 37"/>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Speculative decoding comes free with a good server; diffusion LMs are one to watch.</a:t>
            </a:r>
          </a:p>
        </p:txBody>
      </p:sp>
      <p:sp>
        <p:nvSpPr>
          <p:cNvPr id="39" name="TextBox 38"/>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Inception Labs (Mercury) · arXiv 2506.17298 · Google DeepMind, Gemini Diffusion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Reasoning models think in tokens you pay for</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6309360" cy="822960"/>
          </a:xfrm>
          <a:prstGeom prst="rect">
            <a:avLst/>
          </a:prstGeom>
          <a:noFill/>
        </p:spPr>
        <p:txBody>
          <a:bodyPr wrap="square" lIns="0" rIns="0" tIns="0" bIns="0" anchor="t">
            <a:spAutoFit/>
          </a:bodyPr>
          <a:lstStyle/>
          <a:p>
            <a:pPr algn="l">
              <a:spcAft>
                <a:spcPts val="0"/>
              </a:spcAft>
            </a:pPr>
            <a:r>
              <a:rPr sz="1800" b="0" i="0">
                <a:solidFill>
                  <a:srgbClr val="2A446F"/>
                </a:solidFill>
              </a:rPr>
              <a:t>Reasoning models write a hidden chain of thought first — you wait for those tokens, and you pay for them.</a:t>
            </a:r>
          </a:p>
        </p:txBody>
      </p:sp>
      <p:sp>
        <p:nvSpPr>
          <p:cNvPr id="5" name="TextBox 4"/>
          <p:cNvSpPr txBox="1"/>
          <p:nvPr/>
        </p:nvSpPr>
        <p:spPr>
          <a:xfrm>
            <a:off x="585216" y="2286000"/>
            <a:ext cx="1280160" cy="274320"/>
          </a:xfrm>
          <a:prstGeom prst="rect">
            <a:avLst/>
          </a:prstGeom>
          <a:noFill/>
        </p:spPr>
        <p:txBody>
          <a:bodyPr wrap="square" lIns="0" rIns="0" tIns="0" bIns="0" anchor="t">
            <a:spAutoFit/>
          </a:bodyPr>
          <a:lstStyle/>
          <a:p>
            <a:pPr algn="l">
              <a:spcAft>
                <a:spcPts val="0"/>
              </a:spcAft>
            </a:pPr>
            <a:r>
              <a:rPr sz="1000" b="1" i="0">
                <a:solidFill>
                  <a:srgbClr val="2A446F"/>
                </a:solidFill>
              </a:rPr>
              <a:t>STANDARD</a:t>
            </a:r>
          </a:p>
        </p:txBody>
      </p:sp>
      <p:sp>
        <p:nvSpPr>
          <p:cNvPr id="6" name="Rounded Rectangle 5"/>
          <p:cNvSpPr/>
          <p:nvPr/>
        </p:nvSpPr>
        <p:spPr>
          <a:xfrm>
            <a:off x="1819656" y="2194560"/>
            <a:ext cx="1097280" cy="45720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prompt</a:t>
            </a:r>
          </a:p>
        </p:txBody>
      </p:sp>
      <p:cxnSp>
        <p:nvCxnSpPr>
          <p:cNvPr id="7" name="Connector 6"/>
          <p:cNvCxnSpPr/>
          <p:nvPr/>
        </p:nvCxnSpPr>
        <p:spPr>
          <a:xfrm>
            <a:off x="2962656" y="2423160"/>
            <a:ext cx="320040"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328416" y="2194560"/>
            <a:ext cx="1097280" cy="45720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answer</a:t>
            </a:r>
          </a:p>
        </p:txBody>
      </p:sp>
      <p:sp>
        <p:nvSpPr>
          <p:cNvPr id="9" name="TextBox 8"/>
          <p:cNvSpPr txBox="1"/>
          <p:nvPr/>
        </p:nvSpPr>
        <p:spPr>
          <a:xfrm>
            <a:off x="585216" y="2907792"/>
            <a:ext cx="1280160" cy="274320"/>
          </a:xfrm>
          <a:prstGeom prst="rect">
            <a:avLst/>
          </a:prstGeom>
          <a:noFill/>
        </p:spPr>
        <p:txBody>
          <a:bodyPr wrap="square" lIns="0" rIns="0" tIns="0" bIns="0" anchor="t">
            <a:spAutoFit/>
          </a:bodyPr>
          <a:lstStyle/>
          <a:p>
            <a:pPr algn="l">
              <a:spcAft>
                <a:spcPts val="0"/>
              </a:spcAft>
            </a:pPr>
            <a:r>
              <a:rPr sz="1000" b="1" i="0">
                <a:solidFill>
                  <a:srgbClr val="2A446F"/>
                </a:solidFill>
              </a:rPr>
              <a:t>REASONING</a:t>
            </a:r>
          </a:p>
        </p:txBody>
      </p:sp>
      <p:sp>
        <p:nvSpPr>
          <p:cNvPr id="10" name="Rounded Rectangle 9"/>
          <p:cNvSpPr/>
          <p:nvPr/>
        </p:nvSpPr>
        <p:spPr>
          <a:xfrm>
            <a:off x="1819656" y="2816352"/>
            <a:ext cx="1097280" cy="45720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prompt</a:t>
            </a:r>
          </a:p>
        </p:txBody>
      </p:sp>
      <p:cxnSp>
        <p:nvCxnSpPr>
          <p:cNvPr id="11" name="Connector 10"/>
          <p:cNvCxnSpPr/>
          <p:nvPr/>
        </p:nvCxnSpPr>
        <p:spPr>
          <a:xfrm>
            <a:off x="2962656" y="3044952"/>
            <a:ext cx="320040"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328416" y="2816352"/>
            <a:ext cx="2103120" cy="457200"/>
          </a:xfrm>
          <a:prstGeom prst="roundRect">
            <a:avLst>
              <a:gd name="adj" fmla="val 12000"/>
            </a:avLst>
          </a:prstGeom>
          <a:solidFill>
            <a:srgbClr val="FFF3D1"/>
          </a:solidFill>
          <a:ln w="12700">
            <a:solidFill>
              <a:srgbClr val="FFB9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2A446F"/>
                </a:solidFill>
              </a:rPr>
              <a:t>thinking tokens · hidden · billed</a:t>
            </a:r>
          </a:p>
        </p:txBody>
      </p:sp>
      <p:cxnSp>
        <p:nvCxnSpPr>
          <p:cNvPr id="13" name="Connector 12"/>
          <p:cNvCxnSpPr/>
          <p:nvPr/>
        </p:nvCxnSpPr>
        <p:spPr>
          <a:xfrm>
            <a:off x="5477255" y="3044952"/>
            <a:ext cx="320041"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843016" y="2816352"/>
            <a:ext cx="1005840" cy="45720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answer</a:t>
            </a:r>
          </a:p>
        </p:txBody>
      </p:sp>
      <p:sp>
        <p:nvSpPr>
          <p:cNvPr id="15" name="TextBox 14"/>
          <p:cNvSpPr txBox="1"/>
          <p:nvPr/>
        </p:nvSpPr>
        <p:spPr>
          <a:xfrm>
            <a:off x="585216" y="3520440"/>
            <a:ext cx="2926080" cy="320040"/>
          </a:xfrm>
          <a:prstGeom prst="rect">
            <a:avLst/>
          </a:prstGeom>
          <a:noFill/>
        </p:spPr>
        <p:txBody>
          <a:bodyPr wrap="square" lIns="0" rIns="0" tIns="0" bIns="0" anchor="t">
            <a:spAutoFit/>
          </a:bodyPr>
          <a:lstStyle/>
          <a:p>
            <a:pPr algn="l">
              <a:spcAft>
                <a:spcPts val="0"/>
              </a:spcAft>
            </a:pPr>
            <a:r>
              <a:rPr sz="1050" b="1" i="0">
                <a:solidFill>
                  <a:srgbClr val="6B6B6B"/>
                </a:solidFill>
              </a:rPr>
              <a:t>THINKING ON · qwen3:1.7b</a:t>
            </a:r>
          </a:p>
        </p:txBody>
      </p:sp>
      <p:sp>
        <p:nvSpPr>
          <p:cNvPr id="16" name="TextBox 15"/>
          <p:cNvSpPr txBox="1"/>
          <p:nvPr/>
        </p:nvSpPr>
        <p:spPr>
          <a:xfrm>
            <a:off x="585216" y="3822191"/>
            <a:ext cx="2926080" cy="731520"/>
          </a:xfrm>
          <a:prstGeom prst="rect">
            <a:avLst/>
          </a:prstGeom>
          <a:noFill/>
        </p:spPr>
        <p:txBody>
          <a:bodyPr wrap="square" lIns="0" rIns="0" tIns="0" bIns="0" anchor="t">
            <a:spAutoFit/>
          </a:bodyPr>
          <a:lstStyle/>
          <a:p>
            <a:pPr algn="l">
              <a:spcAft>
                <a:spcPts val="0"/>
              </a:spcAft>
            </a:pPr>
            <a:r>
              <a:rPr sz="3000" b="1" i="0">
                <a:solidFill>
                  <a:srgbClr val="2A446F"/>
                </a:solidFill>
              </a:rPr>
              <a:t>41 s</a:t>
            </a:r>
          </a:p>
        </p:txBody>
      </p:sp>
      <p:sp>
        <p:nvSpPr>
          <p:cNvPr id="17" name="TextBox 16"/>
          <p:cNvSpPr txBox="1"/>
          <p:nvPr/>
        </p:nvSpPr>
        <p:spPr>
          <a:xfrm>
            <a:off x="3511296" y="3867912"/>
            <a:ext cx="457200" cy="640080"/>
          </a:xfrm>
          <a:prstGeom prst="rect">
            <a:avLst/>
          </a:prstGeom>
          <a:noFill/>
        </p:spPr>
        <p:txBody>
          <a:bodyPr wrap="square" lIns="0" rIns="0" tIns="0" bIns="0" anchor="t">
            <a:spAutoFit/>
          </a:bodyPr>
          <a:lstStyle/>
          <a:p>
            <a:pPr algn="ctr">
              <a:spcAft>
                <a:spcPts val="0"/>
              </a:spcAft>
            </a:pPr>
            <a:r>
              <a:rPr sz="2400" b="1" i="0">
                <a:solidFill>
                  <a:srgbClr val="6B6B6B"/>
                </a:solidFill>
              </a:rPr>
              <a:t>→</a:t>
            </a:r>
          </a:p>
        </p:txBody>
      </p:sp>
      <p:sp>
        <p:nvSpPr>
          <p:cNvPr id="18" name="TextBox 17"/>
          <p:cNvSpPr txBox="1"/>
          <p:nvPr/>
        </p:nvSpPr>
        <p:spPr>
          <a:xfrm>
            <a:off x="3968496" y="3520440"/>
            <a:ext cx="2926080" cy="320040"/>
          </a:xfrm>
          <a:prstGeom prst="rect">
            <a:avLst/>
          </a:prstGeom>
          <a:noFill/>
        </p:spPr>
        <p:txBody>
          <a:bodyPr wrap="square" lIns="0" rIns="0" tIns="0" bIns="0" anchor="t">
            <a:spAutoFit/>
          </a:bodyPr>
          <a:lstStyle/>
          <a:p>
            <a:pPr algn="l">
              <a:spcAft>
                <a:spcPts val="0"/>
              </a:spcAft>
            </a:pPr>
            <a:r>
              <a:rPr sz="1050" b="1" i="0">
                <a:solidFill>
                  <a:srgbClr val="6B6B6B"/>
                </a:solidFill>
              </a:rPr>
              <a:t>reasoning_effort = "none"</a:t>
            </a:r>
          </a:p>
        </p:txBody>
      </p:sp>
      <p:sp>
        <p:nvSpPr>
          <p:cNvPr id="19" name="TextBox 18"/>
          <p:cNvSpPr txBox="1"/>
          <p:nvPr/>
        </p:nvSpPr>
        <p:spPr>
          <a:xfrm>
            <a:off x="3968496" y="3822191"/>
            <a:ext cx="2926080" cy="731520"/>
          </a:xfrm>
          <a:prstGeom prst="rect">
            <a:avLst/>
          </a:prstGeom>
          <a:noFill/>
        </p:spPr>
        <p:txBody>
          <a:bodyPr wrap="square" lIns="0" rIns="0" tIns="0" bIns="0" anchor="t">
            <a:spAutoFit/>
          </a:bodyPr>
          <a:lstStyle/>
          <a:p>
            <a:pPr algn="l">
              <a:spcAft>
                <a:spcPts val="0"/>
              </a:spcAft>
            </a:pPr>
            <a:r>
              <a:rPr sz="3000" b="1" i="0">
                <a:solidFill>
                  <a:srgbClr val="2A7F5C"/>
                </a:solidFill>
              </a:rPr>
              <a:t>5.6 s</a:t>
            </a:r>
          </a:p>
        </p:txBody>
      </p:sp>
      <p:sp>
        <p:nvSpPr>
          <p:cNvPr id="20" name="TextBox 19"/>
          <p:cNvSpPr txBox="1"/>
          <p:nvPr/>
        </p:nvSpPr>
        <p:spPr>
          <a:xfrm>
            <a:off x="585216" y="4526280"/>
            <a:ext cx="6309360" cy="411480"/>
          </a:xfrm>
          <a:prstGeom prst="rect">
            <a:avLst/>
          </a:prstGeom>
          <a:noFill/>
        </p:spPr>
        <p:txBody>
          <a:bodyPr wrap="square" lIns="0" rIns="0" tIns="0" bIns="0" anchor="t">
            <a:spAutoFit/>
          </a:bodyPr>
          <a:lstStyle/>
          <a:p>
            <a:pPr algn="l">
              <a:spcAft>
                <a:spcPts val="0"/>
              </a:spcAft>
            </a:pPr>
            <a:r>
              <a:rPr sz="1100" b="0" i="0">
                <a:solidFill>
                  <a:srgbClr val="1F1F1F"/>
                </a:solidFill>
              </a:rPr>
              <a:t>same one-line answer: 336 → 46 output tokens</a:t>
            </a:r>
          </a:p>
          <a:p>
            <a:pPr algn="l">
              <a:spcAft>
                <a:spcPts val="600"/>
              </a:spcAft>
            </a:pPr>
            <a:r>
              <a:rPr sz="1100" b="0" i="0">
                <a:solidFill>
                  <a:srgbClr val="6B6B6B"/>
                </a:solidFill>
              </a:rPr>
              <a:t>2 vCPU, no GPU · Ollama 0.34.3 · measured 2026-09-22</a:t>
            </a:r>
          </a:p>
        </p:txBody>
      </p:sp>
      <p:sp>
        <p:nvSpPr>
          <p:cNvPr id="21" name="TextBox 20"/>
          <p:cNvSpPr txBox="1"/>
          <p:nvPr/>
        </p:nvSpPr>
        <p:spPr>
          <a:xfrm>
            <a:off x="585216" y="5010912"/>
            <a:ext cx="6309360" cy="365760"/>
          </a:xfrm>
          <a:prstGeom prst="rect">
            <a:avLst/>
          </a:prstGeom>
          <a:noFill/>
        </p:spPr>
        <p:txBody>
          <a:bodyPr wrap="square" lIns="0" rIns="0" tIns="0" bIns="0" anchor="t">
            <a:spAutoFit/>
          </a:bodyPr>
          <a:lstStyle/>
          <a:p>
            <a:pPr algn="l">
              <a:spcAft>
                <a:spcPts val="0"/>
              </a:spcAft>
            </a:pPr>
            <a:r>
              <a:rPr sz="1300" b="1" i="0">
                <a:solidFill>
                  <a:srgbClr val="1F1F1F"/>
                </a:solidFill>
              </a:rPr>
              <a:t>Helps:</a:t>
            </a:r>
            <a:r>
              <a:rPr sz="1300" b="0" i="0">
                <a:solidFill>
                  <a:srgbClr val="1F1F1F"/>
                </a:solidFill>
              </a:rPr>
              <a:t> math, code, multi-step agents  ·  </a:t>
            </a:r>
            <a:r>
              <a:rPr sz="1300" b="1" i="0">
                <a:solidFill>
                  <a:srgbClr val="1F1F1F"/>
                </a:solidFill>
              </a:rPr>
              <a:t>wastes money:</a:t>
            </a:r>
            <a:r>
              <a:rPr sz="1300" b="0" i="0">
                <a:solidFill>
                  <a:srgbClr val="1F1F1F"/>
                </a:solidFill>
              </a:rPr>
              <a:t> lookups, extraction, chit-chat</a:t>
            </a:r>
          </a:p>
        </p:txBody>
      </p:sp>
      <p:pic>
        <p:nvPicPr>
          <p:cNvPr id="22" name="Picture 21" descr="s1_token_arcade.jpg"/>
          <p:cNvPicPr>
            <a:picLocks noChangeAspect="1"/>
          </p:cNvPicPr>
          <p:nvPr/>
        </p:nvPicPr>
        <p:blipFill>
          <a:blip r:embed="rId3"/>
          <a:stretch>
            <a:fillRect/>
          </a:stretch>
        </p:blipFill>
        <p:spPr>
          <a:xfrm>
            <a:off x="7178040" y="1783080"/>
            <a:ext cx="3063240" cy="3063240"/>
          </a:xfrm>
          <a:prstGeom prst="roundRect">
            <a:avLst>
              <a:gd name="adj" fmla="val 4000"/>
            </a:avLst>
          </a:prstGeom>
        </p:spPr>
      </p:pic>
      <p:sp>
        <p:nvSpPr>
          <p:cNvPr id="23" name="TextBox 22"/>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reasoning_effort is a cost knob — set it per task, not per project.</a:t>
            </a:r>
          </a:p>
        </p:txBody>
      </p:sp>
      <p:sp>
        <p:nvSpPr>
          <p:cNvPr id="24" name="TextBox 2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OpenAI 2024, Learning to reason (o1) · Snippet verification 2026-09-22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Demo: what the router and reasoning_effort cost</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DEMO · SEGMENT 1</a:t>
            </a:r>
          </a:p>
        </p:txBody>
      </p:sp>
      <p:sp>
        <p:nvSpPr>
          <p:cNvPr id="4" name="Rounded Rectangle 3"/>
          <p:cNvSpPr/>
          <p:nvPr/>
        </p:nvSpPr>
        <p:spPr>
          <a:xfrm>
            <a:off x="585216" y="1371600"/>
            <a:ext cx="1234440" cy="274320"/>
          </a:xfrm>
          <a:prstGeom prst="roundRect">
            <a:avLst>
              <a:gd name="adj" fmla="val 5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LIVE DEMO</a:t>
            </a:r>
          </a:p>
        </p:txBody>
      </p:sp>
      <p:sp>
        <p:nvSpPr>
          <p:cNvPr id="5" name="TextBox 4"/>
          <p:cNvSpPr txBox="1"/>
          <p:nvPr/>
        </p:nvSpPr>
        <p:spPr>
          <a:xfrm>
            <a:off x="585216" y="1828800"/>
            <a:ext cx="3931920" cy="2331720"/>
          </a:xfrm>
          <a:prstGeom prst="rect">
            <a:avLst/>
          </a:prstGeom>
          <a:noFill/>
        </p:spPr>
        <p:txBody>
          <a:bodyPr wrap="square" lIns="0" rIns="0" tIns="0" bIns="0" anchor="t">
            <a:spAutoFit/>
          </a:bodyPr>
          <a:lstStyle/>
          <a:p>
            <a:pPr algn="l">
              <a:spcAft>
                <a:spcPts val="0"/>
              </a:spcAft>
            </a:pPr>
            <a:r>
              <a:rPr sz="1800" b="1" i="0">
                <a:solidFill>
                  <a:srgbClr val="2A446F"/>
                </a:solidFill>
              </a:rPr>
              <a:t>Thinking is billed: one prompt, three effort levels, three bills.</a:t>
            </a:r>
          </a:p>
        </p:txBody>
      </p:sp>
      <p:sp>
        <p:nvSpPr>
          <p:cNvPr id="6" name="Rectangle 5"/>
          <p:cNvSpPr/>
          <p:nvPr/>
        </p:nvSpPr>
        <p:spPr>
          <a:xfrm>
            <a:off x="585216" y="4343400"/>
            <a:ext cx="3931920" cy="2743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rot="5400000">
            <a:off x="859536" y="4590288"/>
            <a:ext cx="713232" cy="713232"/>
          </a:xfrm>
          <a:prstGeom prst="triangl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093976" y="4553712"/>
            <a:ext cx="2423160" cy="960120"/>
          </a:xfrm>
          <a:prstGeom prst="rect">
            <a:avLst/>
          </a:prstGeom>
          <a:noFill/>
        </p:spPr>
        <p:txBody>
          <a:bodyPr wrap="square" lIns="0" rIns="0" tIns="0" bIns="0" anchor="t">
            <a:spAutoFit/>
          </a:bodyPr>
          <a:lstStyle/>
          <a:p>
            <a:pPr algn="l">
              <a:spcAft>
                <a:spcPts val="600"/>
              </a:spcAft>
            </a:pPr>
            <a:r>
              <a:rPr sz="1300" b="1" i="0">
                <a:solidFill>
                  <a:srgbClr val="2A446F"/>
                </a:solidFill>
              </a:rPr>
              <a:t>live on the instructor laptop</a:t>
            </a:r>
          </a:p>
          <a:p>
            <a:pPr algn="l">
              <a:spcAft>
                <a:spcPts val="600"/>
              </a:spcAft>
            </a:pPr>
            <a:r>
              <a:rPr sz="1200" b="0" i="0">
                <a:solidFill>
                  <a:srgbClr val="6B6B6B"/>
                </a:solidFill>
              </a:rPr>
              <a:t>you watch — the lab comes later</a:t>
            </a:r>
          </a:p>
        </p:txBody>
      </p:sp>
      <p:sp>
        <p:nvSpPr>
          <p:cNvPr id="9" name="Rectangle 8"/>
          <p:cNvSpPr/>
          <p:nvPr/>
        </p:nvSpPr>
        <p:spPr>
          <a:xfrm>
            <a:off x="4800600" y="1417320"/>
            <a:ext cx="27432" cy="4343400"/>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029200" y="1417320"/>
            <a:ext cx="5120640" cy="2682240"/>
          </a:xfrm>
          <a:prstGeom prst="rect">
            <a:avLst/>
          </a:prstGeom>
          <a:noFill/>
        </p:spPr>
        <p:txBody>
          <a:bodyPr wrap="square" lIns="0" rIns="0" tIns="0" bIns="0" anchor="t">
            <a:spAutoFit/>
          </a:bodyPr>
          <a:lstStyle/>
          <a:p>
            <a:pPr algn="l">
              <a:spcAft>
                <a:spcPts val="900"/>
              </a:spcAft>
            </a:pPr>
            <a:r>
              <a:rPr sz="1400" b="0" i="0">
                <a:solidFill>
                  <a:srgbClr val="1F1F1F"/>
                </a:solidFill>
              </a:rPr>
              <a:t>1. labs/01-hello-model/python/02_knobs.py with GENAI_MODEL=gpt-5-mini: temperature is rejected, the script switches to reasoning_effort</a:t>
            </a:r>
          </a:p>
          <a:p>
            <a:pPr algn="l">
              <a:spcAft>
                <a:spcPts val="900"/>
              </a:spcAft>
            </a:pPr>
            <a:r>
              <a:rPr sz="1400" b="0" i="0">
                <a:solidFill>
                  <a:srgbClr val="1F1F1F"/>
                </a:solidFill>
              </a:rPr>
              <a:t>2. read the printout for minimal / low / high: seconds, completion tokens, hidden reasoning tokens</a:t>
            </a:r>
          </a:p>
          <a:p>
            <a:pPr algn="l">
              <a:spcAft>
                <a:spcPts val="900"/>
              </a:spcAft>
            </a:pPr>
            <a:r>
              <a:rPr sz="1400" b="0" i="0">
                <a:solidFill>
                  <a:srgbClr val="1F1F1F"/>
                </a:solidFill>
              </a:rPr>
              <a:t>3. the same call through the workshop gateway with the raw response: token headers from the llm-token-limit policy (consumed / remaining)</a:t>
            </a:r>
          </a:p>
          <a:p>
            <a:pPr algn="l">
              <a:spcAft>
                <a:spcPts val="900"/>
              </a:spcAft>
            </a:pPr>
            <a:r>
              <a:rPr sz="1400" b="0" i="0">
                <a:solidFill>
                  <a:srgbClr val="1F1F1F"/>
                </a:solidFill>
              </a:rPr>
              <a:t>4. optional: model-router — an easy and a hard prompt, print response.model</a:t>
            </a:r>
          </a:p>
        </p:txBody>
      </p:sp>
      <p:sp>
        <p:nvSpPr>
          <p:cNvPr id="11" name="Rounded Rectangle 10"/>
          <p:cNvSpPr/>
          <p:nvPr/>
        </p:nvSpPr>
        <p:spPr>
          <a:xfrm>
            <a:off x="5029200" y="4373880"/>
            <a:ext cx="5120640" cy="91744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230368" y="4538472"/>
            <a:ext cx="4718303" cy="411480"/>
          </a:xfrm>
          <a:prstGeom prst="rect">
            <a:avLst/>
          </a:prstGeom>
          <a:noFill/>
        </p:spPr>
        <p:txBody>
          <a:bodyPr wrap="square" lIns="0" rIns="0" tIns="0" bIns="0" anchor="t">
            <a:spAutoFit/>
          </a:bodyPr>
          <a:lstStyle/>
          <a:p>
            <a:pPr algn="l">
              <a:spcAft>
                <a:spcPts val="0"/>
              </a:spcAft>
            </a:pPr>
            <a:r>
              <a:rPr sz="1200" b="1" i="0">
                <a:solidFill>
                  <a:srgbClr val="C52B2B"/>
                </a:solidFill>
              </a:rPr>
              <a:t>IF IT BREAKS</a:t>
            </a:r>
          </a:p>
        </p:txBody>
      </p:sp>
      <p:sp>
        <p:nvSpPr>
          <p:cNvPr id="13" name="TextBox 12"/>
          <p:cNvSpPr txBox="1"/>
          <p:nvPr/>
        </p:nvSpPr>
        <p:spPr>
          <a:xfrm>
            <a:off x="5230368" y="4995672"/>
            <a:ext cx="4718303" cy="274320"/>
          </a:xfrm>
          <a:prstGeom prst="rect">
            <a:avLst/>
          </a:prstGeom>
          <a:noFill/>
        </p:spPr>
        <p:txBody>
          <a:bodyPr wrap="square" lIns="0" rIns="0" tIns="0" bIns="0" anchor="t">
            <a:spAutoFit/>
          </a:bodyPr>
          <a:lstStyle/>
          <a:p>
            <a:pPr algn="l">
              <a:spcAft>
                <a:spcPts val="0"/>
              </a:spcAft>
            </a:pPr>
            <a:r>
              <a:rPr sz="1100" b="0" i="0">
                <a:solidFill>
                  <a:srgbClr val="1F1F1F"/>
                </a:solidFill>
              </a:rPr>
              <a:t>a screenshot of the 02_knobs run and the gateway headers</a:t>
            </a:r>
          </a:p>
        </p:txBody>
      </p:sp>
      <p:sp>
        <p:nvSpPr>
          <p:cNvPr id="14" name="TextBox 13"/>
          <p:cNvSpPr txBox="1"/>
          <p:nvPr/>
        </p:nvSpPr>
        <p:spPr>
          <a:xfrm>
            <a:off x="585216" y="2834640"/>
            <a:ext cx="3931920" cy="274320"/>
          </a:xfrm>
          <a:prstGeom prst="rect">
            <a:avLst/>
          </a:prstGeom>
          <a:noFill/>
        </p:spPr>
        <p:txBody>
          <a:bodyPr wrap="square" lIns="0" rIns="0" tIns="0" bIns="0" anchor="t">
            <a:spAutoFit/>
          </a:bodyPr>
          <a:lstStyle/>
          <a:p>
            <a:pPr algn="l">
              <a:spcAft>
                <a:spcPts val="0"/>
              </a:spcAft>
            </a:pPr>
            <a:r>
              <a:rPr sz="1000" b="1" i="0">
                <a:solidFill>
                  <a:srgbClr val="6B6B6B"/>
                </a:solidFill>
              </a:rPr>
              <a:t>HIDDEN TOKENS PER EFFORT LEVEL — illustrative</a:t>
            </a:r>
          </a:p>
        </p:txBody>
      </p:sp>
      <p:sp>
        <p:nvSpPr>
          <p:cNvPr id="15" name="TextBox 14"/>
          <p:cNvSpPr txBox="1"/>
          <p:nvPr/>
        </p:nvSpPr>
        <p:spPr>
          <a:xfrm>
            <a:off x="585216" y="3127248"/>
            <a:ext cx="704088" cy="246888"/>
          </a:xfrm>
          <a:prstGeom prst="rect">
            <a:avLst/>
          </a:prstGeom>
          <a:noFill/>
        </p:spPr>
        <p:txBody>
          <a:bodyPr wrap="square" lIns="0" rIns="0" tIns="0" bIns="0" anchor="ctr">
            <a:spAutoFit/>
          </a:bodyPr>
          <a:lstStyle/>
          <a:p>
            <a:pPr algn="r">
              <a:spcAft>
                <a:spcPts val="0"/>
              </a:spcAft>
            </a:pPr>
            <a:r>
              <a:rPr sz="1100" b="0" i="0">
                <a:solidFill>
                  <a:srgbClr val="1F1F1F"/>
                </a:solidFill>
              </a:rPr>
              <a:t>minimal</a:t>
            </a:r>
          </a:p>
        </p:txBody>
      </p:sp>
      <p:sp>
        <p:nvSpPr>
          <p:cNvPr id="16" name="Rectangle 15"/>
          <p:cNvSpPr/>
          <p:nvPr/>
        </p:nvSpPr>
        <p:spPr>
          <a:xfrm>
            <a:off x="1362456" y="3127248"/>
            <a:ext cx="362102" cy="246888"/>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85216" y="3447288"/>
            <a:ext cx="704088" cy="246888"/>
          </a:xfrm>
          <a:prstGeom prst="rect">
            <a:avLst/>
          </a:prstGeom>
          <a:noFill/>
        </p:spPr>
        <p:txBody>
          <a:bodyPr wrap="square" lIns="0" rIns="0" tIns="0" bIns="0" anchor="ctr">
            <a:spAutoFit/>
          </a:bodyPr>
          <a:lstStyle/>
          <a:p>
            <a:pPr algn="r">
              <a:spcAft>
                <a:spcPts val="0"/>
              </a:spcAft>
            </a:pPr>
            <a:r>
              <a:rPr sz="1100" b="0" i="0">
                <a:solidFill>
                  <a:srgbClr val="1F1F1F"/>
                </a:solidFill>
              </a:rPr>
              <a:t>low</a:t>
            </a:r>
          </a:p>
        </p:txBody>
      </p:sp>
      <p:sp>
        <p:nvSpPr>
          <p:cNvPr id="18" name="Rectangle 17"/>
          <p:cNvSpPr/>
          <p:nvPr/>
        </p:nvSpPr>
        <p:spPr>
          <a:xfrm>
            <a:off x="1362456" y="3447288"/>
            <a:ext cx="1056131" cy="246888"/>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85216" y="3767328"/>
            <a:ext cx="704088" cy="246888"/>
          </a:xfrm>
          <a:prstGeom prst="rect">
            <a:avLst/>
          </a:prstGeom>
          <a:noFill/>
        </p:spPr>
        <p:txBody>
          <a:bodyPr wrap="square" lIns="0" rIns="0" tIns="0" bIns="0" anchor="ctr">
            <a:spAutoFit/>
          </a:bodyPr>
          <a:lstStyle/>
          <a:p>
            <a:pPr algn="r">
              <a:spcAft>
                <a:spcPts val="0"/>
              </a:spcAft>
            </a:pPr>
            <a:r>
              <a:rPr sz="1100" b="0" i="0">
                <a:solidFill>
                  <a:srgbClr val="1F1F1F"/>
                </a:solidFill>
              </a:rPr>
              <a:t>high</a:t>
            </a:r>
          </a:p>
        </p:txBody>
      </p:sp>
      <p:sp>
        <p:nvSpPr>
          <p:cNvPr id="20" name="Rectangle 19"/>
          <p:cNvSpPr/>
          <p:nvPr/>
        </p:nvSpPr>
        <p:spPr>
          <a:xfrm>
            <a:off x="1362456" y="3767328"/>
            <a:ext cx="2866644" cy="246888"/>
          </a:xfrm>
          <a:prstGeom prst="rect">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Lab 1 code (tested 2026-09-22) · APIM llm-token-limit policy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September 2026: closed and open are one generation apart</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graphicFrame>
        <p:nvGraphicFramePr>
          <p:cNvPr id="4" name="Table 3"/>
          <p:cNvGraphicFramePr>
            <a:graphicFrameLocks noGrp="1"/>
          </p:cNvGraphicFramePr>
          <p:nvPr/>
        </p:nvGraphicFramePr>
        <p:xfrm>
          <a:off x="585216" y="1371600"/>
          <a:ext cx="9656064" cy="2798064"/>
        </p:xfrm>
        <a:graphic>
          <a:graphicData uri="http://schemas.openxmlformats.org/drawingml/2006/table">
            <a:tbl>
              <a:tblPr firstRow="1" bandRow="1">
                <a:tableStyleId>{5C22544A-7EE6-4342-B048-85BDC9FD1C3A}</a:tableStyleId>
              </a:tblPr>
              <a:tblGrid>
                <a:gridCol w="2377440"/>
                <a:gridCol w="914400"/>
                <a:gridCol w="1828800"/>
                <a:gridCol w="777240"/>
                <a:gridCol w="3758184"/>
              </a:tblGrid>
              <a:tr h="310896">
                <a:tc>
                  <a:txBody>
                    <a:bodyPr/>
                    <a:lstStyle/>
                    <a:p>
                      <a:r>
                        <a:rPr sz="1100" b="1">
                          <a:solidFill>
                            <a:srgbClr val="FFFFFF"/>
                          </a:solidFill>
                        </a:rPr>
                        <a:t>Model (maker)</a:t>
                      </a:r>
                    </a:p>
                  </a:txBody>
                  <a:tcPr marT="27432" marB="27432" marL="73152" marR="73152" anchor="ctr">
                    <a:solidFill>
                      <a:srgbClr val="2A446F"/>
                    </a:solidFill>
                  </a:tcPr>
                </a:tc>
                <a:tc>
                  <a:txBody>
                    <a:bodyPr/>
                    <a:lstStyle/>
                    <a:p>
                      <a:r>
                        <a:rPr sz="1100" b="1">
                          <a:solidFill>
                            <a:srgbClr val="FFFFFF"/>
                          </a:solidFill>
                        </a:rPr>
                        <a:t>Released</a:t>
                      </a:r>
                    </a:p>
                  </a:txBody>
                  <a:tcPr marT="27432" marB="27432" marL="73152" marR="73152" anchor="ctr">
                    <a:solidFill>
                      <a:srgbClr val="2A446F"/>
                    </a:solidFill>
                  </a:tcPr>
                </a:tc>
                <a:tc>
                  <a:txBody>
                    <a:bodyPr/>
                    <a:lstStyle/>
                    <a:p>
                      <a:r>
                        <a:rPr sz="1100" b="1">
                          <a:solidFill>
                            <a:srgbClr val="FFFFFF"/>
                          </a:solidFill>
                        </a:rPr>
                        <a:t>Weights</a:t>
                      </a:r>
                    </a:p>
                  </a:txBody>
                  <a:tcPr marT="27432" marB="27432" marL="73152" marR="73152" anchor="ctr">
                    <a:solidFill>
                      <a:srgbClr val="2A446F"/>
                    </a:solidFill>
                  </a:tcPr>
                </a:tc>
                <a:tc>
                  <a:txBody>
                    <a:bodyPr/>
                    <a:lstStyle/>
                    <a:p>
                      <a:r>
                        <a:rPr sz="1100" b="1">
                          <a:solidFill>
                            <a:srgbClr val="FFFFFF"/>
                          </a:solidFill>
                        </a:rPr>
                        <a:t>AA index</a:t>
                      </a:r>
                    </a:p>
                  </a:txBody>
                  <a:tcPr marT="27432" marB="27432" marL="73152" marR="73152" anchor="ctr">
                    <a:solidFill>
                      <a:srgbClr val="2A446F"/>
                    </a:solidFill>
                  </a:tcPr>
                </a:tc>
                <a:tc>
                  <a:txBody>
                    <a:bodyPr/>
                    <a:lstStyle/>
                    <a:p>
                      <a:r>
                        <a:rPr sz="1100" b="1">
                          <a:solidFill>
                            <a:srgbClr val="FFFFFF"/>
                          </a:solidFill>
                        </a:rPr>
                        <a:t>Where you can call it</a:t>
                      </a:r>
                    </a:p>
                  </a:txBody>
                  <a:tcPr marT="27432" marB="27432" marL="73152" marR="73152" anchor="ctr">
                    <a:solidFill>
                      <a:srgbClr val="2A446F"/>
                    </a:solidFill>
                  </a:tcPr>
                </a:tc>
              </a:tr>
              <a:tr h="310896">
                <a:tc>
                  <a:txBody>
                    <a:bodyPr/>
                    <a:lstStyle/>
                    <a:p>
                      <a:r>
                        <a:rPr sz="1100" b="1">
                          <a:solidFill>
                            <a:srgbClr val="1F1F1F"/>
                          </a:solidFill>
                        </a:rPr>
                        <a:t>GPT-6 Astra (OpenAI)</a:t>
                      </a:r>
                    </a:p>
                  </a:txBody>
                  <a:tcPr marT="27432" marB="27432" marL="73152" marR="73152" anchor="ctr">
                    <a:solidFill>
                      <a:srgbClr val="FFFFFF"/>
                    </a:solidFill>
                  </a:tcPr>
                </a:tc>
                <a:tc>
                  <a:txBody>
                    <a:bodyPr/>
                    <a:lstStyle/>
                    <a:p>
                      <a:r>
                        <a:rPr sz="1100" b="0">
                          <a:solidFill>
                            <a:srgbClr val="1F1F1F"/>
                          </a:solidFill>
                        </a:rPr>
                        <a:t>2026-09-03</a:t>
                      </a:r>
                    </a:p>
                  </a:txBody>
                  <a:tcPr marT="27432" marB="27432" marL="73152" marR="73152" anchor="ctr">
                    <a:solidFill>
                      <a:srgbClr val="FFFFFF"/>
                    </a:solidFill>
                  </a:tcPr>
                </a:tc>
                <a:tc>
                  <a:txBody>
                    <a:bodyPr/>
                    <a:lstStyle/>
                    <a:p>
                      <a:r>
                        <a:rPr sz="1100" b="0">
                          <a:solidFill>
                            <a:srgbClr val="1F1F1F"/>
                          </a:solidFill>
                        </a:rPr>
                        <a:t>closed</a:t>
                      </a:r>
                    </a:p>
                  </a:txBody>
                  <a:tcPr marT="27432" marB="27432" marL="292608" marR="73152" anchor="ctr">
                    <a:solidFill>
                      <a:srgbClr val="FFFFFF"/>
                    </a:solidFill>
                  </a:tcPr>
                </a:tc>
                <a:tc>
                  <a:txBody>
                    <a:bodyPr/>
                    <a:lstStyle/>
                    <a:p>
                      <a:r>
                        <a:rPr sz="1100" b="0">
                          <a:solidFill>
                            <a:srgbClr val="1F1F1F"/>
                          </a:solidFill>
                        </a:rPr>
                        <a:t>53</a:t>
                      </a:r>
                    </a:p>
                  </a:txBody>
                  <a:tcPr marT="27432" marB="27432" marL="73152" marR="73152" anchor="ctr">
                    <a:solidFill>
                      <a:srgbClr val="FFFFFF"/>
                    </a:solidFill>
                  </a:tcPr>
                </a:tc>
                <a:tc>
                  <a:txBody>
                    <a:bodyPr/>
                    <a:lstStyle/>
                    <a:p>
                      <a:r>
                        <a:rPr sz="1100" b="0">
                          <a:solidFill>
                            <a:srgbClr val="1F1F1F"/>
                          </a:solidFill>
                        </a:rPr>
                        <a:t>API, Foundry DfA, Bedrock, OpenRouter</a:t>
                      </a:r>
                    </a:p>
                  </a:txBody>
                  <a:tcPr marT="27432" marB="27432" marL="73152" marR="73152" anchor="ctr">
                    <a:solidFill>
                      <a:srgbClr val="FFFFFF"/>
                    </a:solidFill>
                  </a:tcPr>
                </a:tc>
              </a:tr>
              <a:tr h="310896">
                <a:tc>
                  <a:txBody>
                    <a:bodyPr/>
                    <a:lstStyle/>
                    <a:p>
                      <a:r>
                        <a:rPr sz="1100" b="1">
                          <a:solidFill>
                            <a:srgbClr val="1F1F1F"/>
                          </a:solidFill>
                        </a:rPr>
                        <a:t>Claude Fable 5.1 (Anthropic)</a:t>
                      </a:r>
                    </a:p>
                  </a:txBody>
                  <a:tcPr marT="27432" marB="27432" marL="73152" marR="73152" anchor="ctr">
                    <a:solidFill>
                      <a:srgbClr val="F3F4F8"/>
                    </a:solidFill>
                  </a:tcPr>
                </a:tc>
                <a:tc>
                  <a:txBody>
                    <a:bodyPr/>
                    <a:lstStyle/>
                    <a:p>
                      <a:r>
                        <a:rPr sz="1100" b="0">
                          <a:solidFill>
                            <a:srgbClr val="1F1F1F"/>
                          </a:solidFill>
                        </a:rPr>
                        <a:t>2026-09-01</a:t>
                      </a:r>
                    </a:p>
                  </a:txBody>
                  <a:tcPr marT="27432" marB="27432" marL="73152" marR="73152" anchor="ctr">
                    <a:solidFill>
                      <a:srgbClr val="F3F4F8"/>
                    </a:solidFill>
                  </a:tcPr>
                </a:tc>
                <a:tc>
                  <a:txBody>
                    <a:bodyPr/>
                    <a:lstStyle/>
                    <a:p>
                      <a:r>
                        <a:rPr sz="1100" b="0">
                          <a:solidFill>
                            <a:srgbClr val="1F1F1F"/>
                          </a:solidFill>
                        </a:rPr>
                        <a:t>closed</a:t>
                      </a:r>
                    </a:p>
                  </a:txBody>
                  <a:tcPr marT="27432" marB="27432" marL="292608" marR="73152" anchor="ctr">
                    <a:solidFill>
                      <a:srgbClr val="F3F4F8"/>
                    </a:solidFill>
                  </a:tcPr>
                </a:tc>
                <a:tc>
                  <a:txBody>
                    <a:bodyPr/>
                    <a:lstStyle/>
                    <a:p>
                      <a:r>
                        <a:rPr sz="1100" b="0">
                          <a:solidFill>
                            <a:srgbClr val="1F1F1F"/>
                          </a:solidFill>
                        </a:rPr>
                        <a:t>53</a:t>
                      </a:r>
                    </a:p>
                  </a:txBody>
                  <a:tcPr marT="27432" marB="27432" marL="73152" marR="73152" anchor="ctr">
                    <a:solidFill>
                      <a:srgbClr val="F3F4F8"/>
                    </a:solidFill>
                  </a:tcPr>
                </a:tc>
                <a:tc>
                  <a:txBody>
                    <a:bodyPr/>
                    <a:lstStyle/>
                    <a:p>
                      <a:r>
                        <a:rPr sz="1100" b="0">
                          <a:solidFill>
                            <a:srgbClr val="1F1F1F"/>
                          </a:solidFill>
                        </a:rPr>
                        <a:t>API, Bedrock, Vertex, Foundry MP</a:t>
                      </a:r>
                    </a:p>
                  </a:txBody>
                  <a:tcPr marT="27432" marB="27432" marL="73152" marR="73152" anchor="ctr">
                    <a:solidFill>
                      <a:srgbClr val="F3F4F8"/>
                    </a:solidFill>
                  </a:tcPr>
                </a:tc>
              </a:tr>
              <a:tr h="310896">
                <a:tc>
                  <a:txBody>
                    <a:bodyPr/>
                    <a:lstStyle/>
                    <a:p>
                      <a:r>
                        <a:rPr sz="1100" b="1">
                          <a:solidFill>
                            <a:srgbClr val="1F1F1F"/>
                          </a:solidFill>
                        </a:rPr>
                        <a:t>Gemini 3.8 Flash (Google)</a:t>
                      </a:r>
                    </a:p>
                  </a:txBody>
                  <a:tcPr marT="27432" marB="27432" marL="73152" marR="73152" anchor="ctr">
                    <a:solidFill>
                      <a:srgbClr val="FFFFFF"/>
                    </a:solidFill>
                  </a:tcPr>
                </a:tc>
                <a:tc>
                  <a:txBody>
                    <a:bodyPr/>
                    <a:lstStyle/>
                    <a:p>
                      <a:r>
                        <a:rPr sz="1100" b="0">
                          <a:solidFill>
                            <a:srgbClr val="1F1F1F"/>
                          </a:solidFill>
                        </a:rPr>
                        <a:t>2026-09-02</a:t>
                      </a:r>
                    </a:p>
                  </a:txBody>
                  <a:tcPr marT="27432" marB="27432" marL="73152" marR="73152" anchor="ctr">
                    <a:solidFill>
                      <a:srgbClr val="FFFFFF"/>
                    </a:solidFill>
                  </a:tcPr>
                </a:tc>
                <a:tc>
                  <a:txBody>
                    <a:bodyPr/>
                    <a:lstStyle/>
                    <a:p>
                      <a:r>
                        <a:rPr sz="1100" b="0">
                          <a:solidFill>
                            <a:srgbClr val="1F1F1F"/>
                          </a:solidFill>
                        </a:rPr>
                        <a:t>closed</a:t>
                      </a:r>
                    </a:p>
                  </a:txBody>
                  <a:tcPr marT="27432" marB="27432" marL="292608" marR="73152" anchor="ctr">
                    <a:solidFill>
                      <a:srgbClr val="FFFFFF"/>
                    </a:solidFill>
                  </a:tcPr>
                </a:tc>
                <a:tc>
                  <a:txBody>
                    <a:bodyPr/>
                    <a:lstStyle/>
                    <a:p>
                      <a:r>
                        <a:rPr sz="1100" b="0">
                          <a:solidFill>
                            <a:srgbClr val="1F1F1F"/>
                          </a:solidFill>
                        </a:rPr>
                        <a:t>–</a:t>
                      </a:r>
                    </a:p>
                  </a:txBody>
                  <a:tcPr marT="27432" marB="27432" marL="73152" marR="73152" anchor="ctr">
                    <a:solidFill>
                      <a:srgbClr val="FFFFFF"/>
                    </a:solidFill>
                  </a:tcPr>
                </a:tc>
                <a:tc>
                  <a:txBody>
                    <a:bodyPr/>
                    <a:lstStyle/>
                    <a:p>
                      <a:r>
                        <a:rPr sz="1100" b="0">
                          <a:solidFill>
                            <a:srgbClr val="1F1F1F"/>
                          </a:solidFill>
                        </a:rPr>
                        <a:t>AI Studio, Vertex, OpenRouter</a:t>
                      </a:r>
                    </a:p>
                  </a:txBody>
                  <a:tcPr marT="27432" marB="27432" marL="73152" marR="73152" anchor="ctr">
                    <a:solidFill>
                      <a:srgbClr val="FFFFFF"/>
                    </a:solidFill>
                  </a:tcPr>
                </a:tc>
              </a:tr>
              <a:tr h="310896">
                <a:tc>
                  <a:txBody>
                    <a:bodyPr/>
                    <a:lstStyle/>
                    <a:p>
                      <a:r>
                        <a:rPr sz="1100" b="1">
                          <a:solidFill>
                            <a:srgbClr val="1F1F1F"/>
                          </a:solidFill>
                        </a:rPr>
                        <a:t>Grok 4.7 (xAI)</a:t>
                      </a:r>
                    </a:p>
                  </a:txBody>
                  <a:tcPr marT="27432" marB="27432" marL="73152" marR="73152" anchor="ctr">
                    <a:solidFill>
                      <a:srgbClr val="F3F4F8"/>
                    </a:solidFill>
                  </a:tcPr>
                </a:tc>
                <a:tc>
                  <a:txBody>
                    <a:bodyPr/>
                    <a:lstStyle/>
                    <a:p>
                      <a:r>
                        <a:rPr sz="1100" b="0">
                          <a:solidFill>
                            <a:srgbClr val="1F1F1F"/>
                          </a:solidFill>
                        </a:rPr>
                        <a:t>2026-09-21</a:t>
                      </a:r>
                    </a:p>
                  </a:txBody>
                  <a:tcPr marT="27432" marB="27432" marL="73152" marR="73152" anchor="ctr">
                    <a:solidFill>
                      <a:srgbClr val="F3F4F8"/>
                    </a:solidFill>
                  </a:tcPr>
                </a:tc>
                <a:tc>
                  <a:txBody>
                    <a:bodyPr/>
                    <a:lstStyle/>
                    <a:p>
                      <a:r>
                        <a:rPr sz="1100" b="0">
                          <a:solidFill>
                            <a:srgbClr val="1F1F1F"/>
                          </a:solidFill>
                        </a:rPr>
                        <a:t>closed</a:t>
                      </a:r>
                    </a:p>
                  </a:txBody>
                  <a:tcPr marT="27432" marB="27432" marL="292608" marR="73152" anchor="ctr">
                    <a:solidFill>
                      <a:srgbClr val="F3F4F8"/>
                    </a:solidFill>
                  </a:tcPr>
                </a:tc>
                <a:tc>
                  <a:txBody>
                    <a:bodyPr/>
                    <a:lstStyle/>
                    <a:p>
                      <a:r>
                        <a:rPr sz="1100" b="0">
                          <a:solidFill>
                            <a:srgbClr val="1F1F1F"/>
                          </a:solidFill>
                        </a:rPr>
                        <a:t>–</a:t>
                      </a:r>
                    </a:p>
                  </a:txBody>
                  <a:tcPr marT="27432" marB="27432" marL="73152" marR="73152" anchor="ctr">
                    <a:solidFill>
                      <a:srgbClr val="F3F4F8"/>
                    </a:solidFill>
                  </a:tcPr>
                </a:tc>
                <a:tc>
                  <a:txBody>
                    <a:bodyPr/>
                    <a:lstStyle/>
                    <a:p>
                      <a:r>
                        <a:rPr sz="1100" b="0">
                          <a:solidFill>
                            <a:srgbClr val="1F1F1F"/>
                          </a:solidFill>
                        </a:rPr>
                        <a:t>xAI API; Foundry DfA grok-4.6 preview, grok-4.1-fast</a:t>
                      </a:r>
                    </a:p>
                  </a:txBody>
                  <a:tcPr marT="27432" marB="27432" marL="73152" marR="73152" anchor="ctr">
                    <a:solidFill>
                      <a:srgbClr val="F3F4F8"/>
                    </a:solidFill>
                  </a:tcPr>
                </a:tc>
              </a:tr>
              <a:tr h="310896">
                <a:tc>
                  <a:txBody>
                    <a:bodyPr/>
                    <a:lstStyle/>
                    <a:p>
                      <a:r>
                        <a:rPr sz="1100" b="1">
                          <a:solidFill>
                            <a:srgbClr val="1F1F1F"/>
                          </a:solidFill>
                        </a:rPr>
                        <a:t>GLM-5.3 (Z.ai)</a:t>
                      </a:r>
                    </a:p>
                  </a:txBody>
                  <a:tcPr marT="27432" marB="27432" marL="73152" marR="73152" anchor="ctr">
                    <a:solidFill>
                      <a:srgbClr val="FFFFFF"/>
                    </a:solidFill>
                  </a:tcPr>
                </a:tc>
                <a:tc>
                  <a:txBody>
                    <a:bodyPr/>
                    <a:lstStyle/>
                    <a:p>
                      <a:r>
                        <a:rPr sz="1100" b="0">
                          <a:solidFill>
                            <a:srgbClr val="1F1F1F"/>
                          </a:solidFill>
                        </a:rPr>
                        <a:t>2026-08-28</a:t>
                      </a:r>
                    </a:p>
                  </a:txBody>
                  <a:tcPr marT="27432" marB="27432" marL="73152" marR="73152" anchor="ctr">
                    <a:solidFill>
                      <a:srgbClr val="FFFFFF"/>
                    </a:solidFill>
                  </a:tcPr>
                </a:tc>
                <a:tc>
                  <a:txBody>
                    <a:bodyPr/>
                    <a:lstStyle/>
                    <a:p>
                      <a:r>
                        <a:rPr sz="1100" b="0">
                          <a:solidFill>
                            <a:srgbClr val="1F1F1F"/>
                          </a:solidFill>
                        </a:rPr>
                        <a:t>open · GLM-5.3 licence</a:t>
                      </a:r>
                    </a:p>
                  </a:txBody>
                  <a:tcPr marT="27432" marB="27432" marL="292608" marR="73152" anchor="ctr">
                    <a:solidFill>
                      <a:srgbClr val="FFFFFF"/>
                    </a:solidFill>
                  </a:tcPr>
                </a:tc>
                <a:tc>
                  <a:txBody>
                    <a:bodyPr/>
                    <a:lstStyle/>
                    <a:p>
                      <a:r>
                        <a:rPr sz="1100" b="0">
                          <a:solidFill>
                            <a:srgbClr val="1F1F1F"/>
                          </a:solidFill>
                        </a:rPr>
                        <a:t>45</a:t>
                      </a:r>
                    </a:p>
                  </a:txBody>
                  <a:tcPr marT="27432" marB="27432" marL="73152" marR="73152" anchor="ctr">
                    <a:solidFill>
                      <a:srgbClr val="FFFFFF"/>
                    </a:solidFill>
                  </a:tcPr>
                </a:tc>
                <a:tc>
                  <a:txBody>
                    <a:bodyPr/>
                    <a:lstStyle/>
                    <a:p>
                      <a:r>
                        <a:rPr sz="1100" b="0">
                          <a:solidFill>
                            <a:srgbClr val="1F1F1F"/>
                          </a:solidFill>
                        </a:rPr>
                        <a:t>HF, OpenRouter, Ollama, LM Studio, FW</a:t>
                      </a:r>
                    </a:p>
                  </a:txBody>
                  <a:tcPr marT="27432" marB="27432" marL="73152" marR="73152" anchor="ctr">
                    <a:solidFill>
                      <a:srgbClr val="FFFFFF"/>
                    </a:solidFill>
                  </a:tcPr>
                </a:tc>
              </a:tr>
              <a:tr h="310896">
                <a:tc>
                  <a:txBody>
                    <a:bodyPr/>
                    <a:lstStyle/>
                    <a:p>
                      <a:r>
                        <a:rPr sz="1100" b="1">
                          <a:solidFill>
                            <a:srgbClr val="1F1F1F"/>
                          </a:solidFill>
                        </a:rPr>
                        <a:t>Qwen3.8 Max (Alibaba)</a:t>
                      </a:r>
                    </a:p>
                  </a:txBody>
                  <a:tcPr marT="27432" marB="27432" marL="73152" marR="73152" anchor="ctr">
                    <a:solidFill>
                      <a:srgbClr val="F3F4F8"/>
                    </a:solidFill>
                  </a:tcPr>
                </a:tc>
                <a:tc>
                  <a:txBody>
                    <a:bodyPr/>
                    <a:lstStyle/>
                    <a:p>
                      <a:r>
                        <a:rPr sz="1100" b="0">
                          <a:solidFill>
                            <a:srgbClr val="1F1F1F"/>
                          </a:solidFill>
                        </a:rPr>
                        <a:t>2026-08-12</a:t>
                      </a:r>
                    </a:p>
                  </a:txBody>
                  <a:tcPr marT="27432" marB="27432" marL="73152" marR="73152" anchor="ctr">
                    <a:solidFill>
                      <a:srgbClr val="F3F4F8"/>
                    </a:solidFill>
                  </a:tcPr>
                </a:tc>
                <a:tc>
                  <a:txBody>
                    <a:bodyPr/>
                    <a:lstStyle/>
                    <a:p>
                      <a:r>
                        <a:rPr sz="1100" b="0">
                          <a:solidFill>
                            <a:srgbClr val="1F1F1F"/>
                          </a:solidFill>
                        </a:rPr>
                        <a:t>open · custom licence</a:t>
                      </a:r>
                    </a:p>
                  </a:txBody>
                  <a:tcPr marT="27432" marB="27432" marL="292608" marR="73152" anchor="ctr">
                    <a:solidFill>
                      <a:srgbClr val="F3F4F8"/>
                    </a:solidFill>
                  </a:tcPr>
                </a:tc>
                <a:tc>
                  <a:txBody>
                    <a:bodyPr/>
                    <a:lstStyle/>
                    <a:p>
                      <a:r>
                        <a:rPr sz="1100" b="0">
                          <a:solidFill>
                            <a:srgbClr val="1F1F1F"/>
                          </a:solidFill>
                        </a:rPr>
                        <a:t>45</a:t>
                      </a:r>
                    </a:p>
                  </a:txBody>
                  <a:tcPr marT="27432" marB="27432" marL="73152" marR="73152" anchor="ctr">
                    <a:solidFill>
                      <a:srgbClr val="F3F4F8"/>
                    </a:solidFill>
                  </a:tcPr>
                </a:tc>
                <a:tc>
                  <a:txBody>
                    <a:bodyPr/>
                    <a:lstStyle/>
                    <a:p>
                      <a:r>
                        <a:rPr sz="1100" b="0">
                          <a:solidFill>
                            <a:srgbClr val="1F1F1F"/>
                          </a:solidFill>
                        </a:rPr>
                        <a:t>HF, OpenRouter</a:t>
                      </a:r>
                    </a:p>
                  </a:txBody>
                  <a:tcPr marT="27432" marB="27432" marL="73152" marR="73152" anchor="ctr">
                    <a:solidFill>
                      <a:srgbClr val="F3F4F8"/>
                    </a:solidFill>
                  </a:tcPr>
                </a:tc>
              </a:tr>
              <a:tr h="310896">
                <a:tc>
                  <a:txBody>
                    <a:bodyPr/>
                    <a:lstStyle/>
                    <a:p>
                      <a:r>
                        <a:rPr sz="1100" b="1">
                          <a:solidFill>
                            <a:srgbClr val="1F1F1F"/>
                          </a:solidFill>
                        </a:rPr>
                        <a:t>Kimi K3 (Moonshot)</a:t>
                      </a:r>
                    </a:p>
                  </a:txBody>
                  <a:tcPr marT="27432" marB="27432" marL="73152" marR="73152" anchor="ctr">
                    <a:solidFill>
                      <a:srgbClr val="FFFFFF"/>
                    </a:solidFill>
                  </a:tcPr>
                </a:tc>
                <a:tc>
                  <a:txBody>
                    <a:bodyPr/>
                    <a:lstStyle/>
                    <a:p>
                      <a:r>
                        <a:rPr sz="1100" b="0">
                          <a:solidFill>
                            <a:srgbClr val="1F1F1F"/>
                          </a:solidFill>
                        </a:rPr>
                        <a:t>2026-07-27</a:t>
                      </a:r>
                    </a:p>
                  </a:txBody>
                  <a:tcPr marT="27432" marB="27432" marL="73152" marR="73152" anchor="ctr">
                    <a:solidFill>
                      <a:srgbClr val="FFFFFF"/>
                    </a:solidFill>
                  </a:tcPr>
                </a:tc>
                <a:tc>
                  <a:txBody>
                    <a:bodyPr/>
                    <a:lstStyle/>
                    <a:p>
                      <a:r>
                        <a:rPr sz="1100" b="0">
                          <a:solidFill>
                            <a:srgbClr val="1F1F1F"/>
                          </a:solidFill>
                        </a:rPr>
                        <a:t>open · Kimi K3 licence</a:t>
                      </a:r>
                    </a:p>
                  </a:txBody>
                  <a:tcPr marT="27432" marB="27432" marL="292608" marR="73152" anchor="ctr">
                    <a:solidFill>
                      <a:srgbClr val="FFFFFF"/>
                    </a:solidFill>
                  </a:tcPr>
                </a:tc>
                <a:tc>
                  <a:txBody>
                    <a:bodyPr/>
                    <a:lstStyle/>
                    <a:p>
                      <a:r>
                        <a:rPr sz="1100" b="0">
                          <a:solidFill>
                            <a:srgbClr val="1F1F1F"/>
                          </a:solidFill>
                        </a:rPr>
                        <a:t>44</a:t>
                      </a:r>
                    </a:p>
                  </a:txBody>
                  <a:tcPr marT="27432" marB="27432" marL="73152" marR="73152" anchor="ctr">
                    <a:solidFill>
                      <a:srgbClr val="FFFFFF"/>
                    </a:solidFill>
                  </a:tcPr>
                </a:tc>
                <a:tc>
                  <a:txBody>
                    <a:bodyPr/>
                    <a:lstStyle/>
                    <a:p>
                      <a:r>
                        <a:rPr sz="1100" b="0">
                          <a:solidFill>
                            <a:srgbClr val="1F1F1F"/>
                          </a:solidFill>
                        </a:rPr>
                        <a:t>HF, OpenRouter, FW</a:t>
                      </a:r>
                    </a:p>
                  </a:txBody>
                  <a:tcPr marT="27432" marB="27432" marL="73152" marR="73152" anchor="ctr">
                    <a:solidFill>
                      <a:srgbClr val="FFFFFF"/>
                    </a:solidFill>
                  </a:tcPr>
                </a:tc>
              </a:tr>
              <a:tr h="310896">
                <a:tc>
                  <a:txBody>
                    <a:bodyPr/>
                    <a:lstStyle/>
                    <a:p>
                      <a:r>
                        <a:rPr sz="1100" b="1">
                          <a:solidFill>
                            <a:srgbClr val="1F1F1F"/>
                          </a:solidFill>
                        </a:rPr>
                        <a:t>DeepSeek V4.1 Flash (DeepSeek)</a:t>
                      </a:r>
                    </a:p>
                  </a:txBody>
                  <a:tcPr marT="27432" marB="27432" marL="73152" marR="73152" anchor="ctr">
                    <a:solidFill>
                      <a:srgbClr val="F3F4F8"/>
                    </a:solidFill>
                  </a:tcPr>
                </a:tc>
                <a:tc>
                  <a:txBody>
                    <a:bodyPr/>
                    <a:lstStyle/>
                    <a:p>
                      <a:r>
                        <a:rPr sz="1100" b="0">
                          <a:solidFill>
                            <a:srgbClr val="1F1F1F"/>
                          </a:solidFill>
                        </a:rPr>
                        <a:t>2026-09-10</a:t>
                      </a:r>
                    </a:p>
                  </a:txBody>
                  <a:tcPr marT="27432" marB="27432" marL="73152" marR="73152" anchor="ctr">
                    <a:solidFill>
                      <a:srgbClr val="F3F4F8"/>
                    </a:solidFill>
                  </a:tcPr>
                </a:tc>
                <a:tc>
                  <a:txBody>
                    <a:bodyPr/>
                    <a:lstStyle/>
                    <a:p>
                      <a:r>
                        <a:rPr sz="1100" b="0">
                          <a:solidFill>
                            <a:srgbClr val="1F1F1F"/>
                          </a:solidFill>
                        </a:rPr>
                        <a:t>open · MIT</a:t>
                      </a:r>
                    </a:p>
                  </a:txBody>
                  <a:tcPr marT="27432" marB="27432" marL="292608" marR="73152" anchor="ctr">
                    <a:solidFill>
                      <a:srgbClr val="F3F4F8"/>
                    </a:solidFill>
                  </a:tcPr>
                </a:tc>
                <a:tc>
                  <a:txBody>
                    <a:bodyPr/>
                    <a:lstStyle/>
                    <a:p>
                      <a:r>
                        <a:rPr sz="1100" b="0">
                          <a:solidFill>
                            <a:srgbClr val="1F1F1F"/>
                          </a:solidFill>
                        </a:rPr>
                        <a:t>40</a:t>
                      </a:r>
                    </a:p>
                  </a:txBody>
                  <a:tcPr marT="27432" marB="27432" marL="73152" marR="73152" anchor="ctr">
                    <a:solidFill>
                      <a:srgbClr val="F3F4F8"/>
                    </a:solidFill>
                  </a:tcPr>
                </a:tc>
                <a:tc>
                  <a:txBody>
                    <a:bodyPr/>
                    <a:lstStyle/>
                    <a:p>
                      <a:r>
                        <a:rPr sz="1100" b="0">
                          <a:solidFill>
                            <a:srgbClr val="1F1F1F"/>
                          </a:solidFill>
                        </a:rPr>
                        <a:t>HF, OpenRouter, Ollama, LM Studio, FW</a:t>
                      </a:r>
                    </a:p>
                  </a:txBody>
                  <a:tcPr marT="27432" marB="27432" marL="73152" marR="73152" anchor="ctr">
                    <a:solidFill>
                      <a:srgbClr val="F3F4F8"/>
                    </a:solidFill>
                  </a:tcPr>
                </a:tc>
              </a:tr>
            </a:tbl>
          </a:graphicData>
        </a:graphic>
      </p:graphicFrame>
      <p:sp>
        <p:nvSpPr>
          <p:cNvPr id="5" name="Oval 4"/>
          <p:cNvSpPr/>
          <p:nvPr/>
        </p:nvSpPr>
        <p:spPr>
          <a:xfrm>
            <a:off x="3968496" y="1769364"/>
            <a:ext cx="137160" cy="137160"/>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3968496" y="2080260"/>
            <a:ext cx="137160" cy="137160"/>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3968496" y="2391156"/>
            <a:ext cx="137160" cy="137160"/>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968496" y="2702052"/>
            <a:ext cx="137160" cy="137160"/>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968496" y="3012948"/>
            <a:ext cx="137160" cy="13716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968496" y="3323844"/>
            <a:ext cx="137160" cy="13716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968496" y="3634740"/>
            <a:ext cx="137160" cy="13716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968496" y="3945636"/>
            <a:ext cx="137160" cy="13716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85216" y="4302252"/>
            <a:ext cx="137160" cy="13716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279392"/>
            <a:ext cx="1570228" cy="237744"/>
          </a:xfrm>
          <a:prstGeom prst="rect">
            <a:avLst/>
          </a:prstGeom>
          <a:noFill/>
        </p:spPr>
        <p:txBody>
          <a:bodyPr wrap="square" lIns="0" rIns="0" tIns="0" bIns="0" anchor="t">
            <a:spAutoFit/>
          </a:bodyPr>
          <a:lstStyle/>
          <a:p>
            <a:pPr algn="l">
              <a:spcAft>
                <a:spcPts val="0"/>
              </a:spcAft>
            </a:pPr>
            <a:r>
              <a:rPr sz="1000" b="0" i="0">
                <a:solidFill>
                  <a:srgbClr val="6B6B6B"/>
                </a:solidFill>
              </a:rPr>
              <a:t>permissive open weights</a:t>
            </a:r>
          </a:p>
        </p:txBody>
      </p:sp>
      <p:sp>
        <p:nvSpPr>
          <p:cNvPr id="15" name="Oval 14"/>
          <p:cNvSpPr/>
          <p:nvPr/>
        </p:nvSpPr>
        <p:spPr>
          <a:xfrm>
            <a:off x="2603500" y="4302252"/>
            <a:ext cx="137160" cy="13716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95524" y="4279392"/>
            <a:ext cx="1379728" cy="237744"/>
          </a:xfrm>
          <a:prstGeom prst="rect">
            <a:avLst/>
          </a:prstGeom>
          <a:noFill/>
        </p:spPr>
        <p:txBody>
          <a:bodyPr wrap="square" lIns="0" rIns="0" tIns="0" bIns="0" anchor="t">
            <a:spAutoFit/>
          </a:bodyPr>
          <a:lstStyle/>
          <a:p>
            <a:pPr algn="l">
              <a:spcAft>
                <a:spcPts val="0"/>
              </a:spcAft>
            </a:pPr>
            <a:r>
              <a:rPr sz="1000" b="0" i="0">
                <a:solidFill>
                  <a:srgbClr val="6B6B6B"/>
                </a:solidFill>
              </a:rPr>
              <a:t>open with conditions</a:t>
            </a:r>
          </a:p>
        </p:txBody>
      </p:sp>
      <p:sp>
        <p:nvSpPr>
          <p:cNvPr id="17" name="Oval 16"/>
          <p:cNvSpPr/>
          <p:nvPr/>
        </p:nvSpPr>
        <p:spPr>
          <a:xfrm>
            <a:off x="4431284" y="4302252"/>
            <a:ext cx="137160" cy="137160"/>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23308" y="4279392"/>
            <a:ext cx="2268728" cy="237744"/>
          </a:xfrm>
          <a:prstGeom prst="rect">
            <a:avLst/>
          </a:prstGeom>
          <a:noFill/>
        </p:spPr>
        <p:txBody>
          <a:bodyPr wrap="square" lIns="0" rIns="0" tIns="0" bIns="0" anchor="t">
            <a:spAutoFit/>
          </a:bodyPr>
          <a:lstStyle/>
          <a:p>
            <a:pPr algn="l">
              <a:spcAft>
                <a:spcPts val="0"/>
              </a:spcAft>
            </a:pPr>
            <a:r>
              <a:rPr sz="1000" b="0" i="0">
                <a:solidFill>
                  <a:srgbClr val="6B6B6B"/>
                </a:solidFill>
              </a:rPr>
              <a:t>non-commercial · closed · API-only</a:t>
            </a:r>
          </a:p>
        </p:txBody>
      </p:sp>
      <p:sp>
        <p:nvSpPr>
          <p:cNvPr id="19" name="Rounded Rectangle 18"/>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sp>
        <p:nvSpPr>
          <p:cNvPr id="20" name="TextBox 19"/>
          <p:cNvSpPr txBox="1"/>
          <p:nvPr/>
        </p:nvSpPr>
        <p:spPr>
          <a:xfrm>
            <a:off x="585216" y="4617720"/>
            <a:ext cx="2217420" cy="320040"/>
          </a:xfrm>
          <a:prstGeom prst="rect">
            <a:avLst/>
          </a:prstGeom>
          <a:noFill/>
        </p:spPr>
        <p:txBody>
          <a:bodyPr wrap="square" lIns="0" rIns="0" tIns="0" bIns="0" anchor="t">
            <a:spAutoFit/>
          </a:bodyPr>
          <a:lstStyle/>
          <a:p>
            <a:pPr algn="l">
              <a:spcAft>
                <a:spcPts val="0"/>
              </a:spcAft>
            </a:pPr>
            <a:r>
              <a:rPr sz="1050" b="1" i="0">
                <a:solidFill>
                  <a:srgbClr val="6B6B6B"/>
                </a:solidFill>
              </a:rPr>
              <a:t>BEST CLOSED · AA INDEX</a:t>
            </a:r>
          </a:p>
        </p:txBody>
      </p:sp>
      <p:sp>
        <p:nvSpPr>
          <p:cNvPr id="21" name="TextBox 20"/>
          <p:cNvSpPr txBox="1"/>
          <p:nvPr/>
        </p:nvSpPr>
        <p:spPr>
          <a:xfrm>
            <a:off x="585216" y="4919472"/>
            <a:ext cx="2217420" cy="731520"/>
          </a:xfrm>
          <a:prstGeom prst="rect">
            <a:avLst/>
          </a:prstGeom>
          <a:noFill/>
        </p:spPr>
        <p:txBody>
          <a:bodyPr wrap="square" lIns="0" rIns="0" tIns="0" bIns="0" anchor="t">
            <a:spAutoFit/>
          </a:bodyPr>
          <a:lstStyle/>
          <a:p>
            <a:pPr algn="l">
              <a:spcAft>
                <a:spcPts val="0"/>
              </a:spcAft>
            </a:pPr>
            <a:r>
              <a:rPr sz="3000" b="1" i="0">
                <a:solidFill>
                  <a:srgbClr val="2A446F"/>
                </a:solidFill>
              </a:rPr>
              <a:t>53</a:t>
            </a:r>
          </a:p>
        </p:txBody>
      </p:sp>
      <p:sp>
        <p:nvSpPr>
          <p:cNvPr id="22" name="TextBox 21"/>
          <p:cNvSpPr txBox="1"/>
          <p:nvPr/>
        </p:nvSpPr>
        <p:spPr>
          <a:xfrm>
            <a:off x="2802636" y="5056631"/>
            <a:ext cx="502920" cy="411480"/>
          </a:xfrm>
          <a:prstGeom prst="rect">
            <a:avLst/>
          </a:prstGeom>
          <a:noFill/>
        </p:spPr>
        <p:txBody>
          <a:bodyPr wrap="square" lIns="0" rIns="0" tIns="0" bIns="0" anchor="t">
            <a:spAutoFit/>
          </a:bodyPr>
          <a:lstStyle/>
          <a:p>
            <a:pPr algn="ctr">
              <a:spcAft>
                <a:spcPts val="0"/>
              </a:spcAft>
            </a:pPr>
            <a:r>
              <a:rPr sz="1400" b="1" i="0">
                <a:solidFill>
                  <a:srgbClr val="6B6B6B"/>
                </a:solidFill>
              </a:rPr>
              <a:t>vs</a:t>
            </a:r>
          </a:p>
        </p:txBody>
      </p:sp>
      <p:sp>
        <p:nvSpPr>
          <p:cNvPr id="23" name="TextBox 22"/>
          <p:cNvSpPr txBox="1"/>
          <p:nvPr/>
        </p:nvSpPr>
        <p:spPr>
          <a:xfrm>
            <a:off x="3305556" y="4617720"/>
            <a:ext cx="2217420" cy="320040"/>
          </a:xfrm>
          <a:prstGeom prst="rect">
            <a:avLst/>
          </a:prstGeom>
          <a:noFill/>
        </p:spPr>
        <p:txBody>
          <a:bodyPr wrap="square" lIns="0" rIns="0" tIns="0" bIns="0" anchor="t">
            <a:spAutoFit/>
          </a:bodyPr>
          <a:lstStyle/>
          <a:p>
            <a:pPr algn="l">
              <a:spcAft>
                <a:spcPts val="0"/>
              </a:spcAft>
            </a:pPr>
            <a:r>
              <a:rPr sz="1050" b="1" i="0">
                <a:solidFill>
                  <a:srgbClr val="6B6B6B"/>
                </a:solidFill>
              </a:rPr>
              <a:t>BEST OPEN · AA INDEX</a:t>
            </a:r>
          </a:p>
        </p:txBody>
      </p:sp>
      <p:sp>
        <p:nvSpPr>
          <p:cNvPr id="24" name="TextBox 23"/>
          <p:cNvSpPr txBox="1"/>
          <p:nvPr/>
        </p:nvSpPr>
        <p:spPr>
          <a:xfrm>
            <a:off x="3305556" y="4919472"/>
            <a:ext cx="2217420" cy="731520"/>
          </a:xfrm>
          <a:prstGeom prst="rect">
            <a:avLst/>
          </a:prstGeom>
          <a:noFill/>
        </p:spPr>
        <p:txBody>
          <a:bodyPr wrap="square" lIns="0" rIns="0" tIns="0" bIns="0" anchor="t">
            <a:spAutoFit/>
          </a:bodyPr>
          <a:lstStyle/>
          <a:p>
            <a:pPr algn="l">
              <a:spcAft>
                <a:spcPts val="0"/>
              </a:spcAft>
            </a:pPr>
            <a:r>
              <a:rPr sz="3000" b="1" i="0">
                <a:solidFill>
                  <a:srgbClr val="2A7F5C"/>
                </a:solidFill>
              </a:rPr>
              <a:t>45</a:t>
            </a:r>
          </a:p>
        </p:txBody>
      </p:sp>
      <p:sp>
        <p:nvSpPr>
          <p:cNvPr id="25" name="TextBox 24"/>
          <p:cNvSpPr txBox="1"/>
          <p:nvPr/>
        </p:nvSpPr>
        <p:spPr>
          <a:xfrm>
            <a:off x="5943600" y="4754880"/>
            <a:ext cx="4297680" cy="914400"/>
          </a:xfrm>
          <a:prstGeom prst="rect">
            <a:avLst/>
          </a:prstGeom>
          <a:noFill/>
        </p:spPr>
        <p:txBody>
          <a:bodyPr wrap="square" lIns="0" rIns="0" tIns="0" bIns="0" anchor="t">
            <a:spAutoFit/>
          </a:bodyPr>
          <a:lstStyle/>
          <a:p>
            <a:pPr algn="l">
              <a:spcAft>
                <a:spcPts val="0"/>
              </a:spcAft>
            </a:pPr>
            <a:r>
              <a:rPr sz="1500" b="1" i="0">
                <a:solidFill>
                  <a:srgbClr val="0078D4"/>
                </a:solidFill>
              </a:rPr>
              <a:t>One generation apart — and the open ones run on hardware you control (Segment 4).</a:t>
            </a:r>
          </a:p>
        </p:txBody>
      </p:sp>
      <p:sp>
        <p:nvSpPr>
          <p:cNvPr id="26" name="TextBox 25"/>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§1 (checked 2026-09-21) · Model catalog §2 (checked 2026-09-21) · Artificial Analysis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What’s in the weights vs. what’s PaaS on top</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You never call a bare model — every endpoint wraps it in a platform.</a:t>
            </a:r>
          </a:p>
        </p:txBody>
      </p:sp>
      <p:sp>
        <p:nvSpPr>
          <p:cNvPr id="5" name="Rounded Rectangle 4"/>
          <p:cNvSpPr/>
          <p:nvPr/>
        </p:nvSpPr>
        <p:spPr>
          <a:xfrm>
            <a:off x="585216" y="3246120"/>
            <a:ext cx="1234440" cy="73152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your</a:t>
            </a:r>
          </a:p>
          <a:p>
            <a:pPr algn="ctr"/>
            <a:r>
              <a:rPr sz="1200" b="1" i="0">
                <a:solidFill>
                  <a:srgbClr val="1F1F1F"/>
                </a:solidFill>
              </a:rPr>
              <a:t>request</a:t>
            </a:r>
          </a:p>
        </p:txBody>
      </p:sp>
      <p:cxnSp>
        <p:nvCxnSpPr>
          <p:cNvPr id="6" name="Connector 5"/>
          <p:cNvCxnSpPr/>
          <p:nvPr/>
        </p:nvCxnSpPr>
        <p:spPr>
          <a:xfrm>
            <a:off x="1865376" y="3611880"/>
            <a:ext cx="237744" cy="0"/>
          </a:xfrm>
          <a:prstGeom prst="line">
            <a:avLst/>
          </a:prstGeom>
          <a:ln w="31750">
            <a:solidFill>
              <a:srgbClr val="0078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148840" y="2011680"/>
            <a:ext cx="8092440" cy="3246120"/>
          </a:xfrm>
          <a:prstGeom prst="roundRect">
            <a:avLst>
              <a:gd name="adj" fmla="val 4000"/>
            </a:avLst>
          </a:prstGeom>
          <a:solidFill>
            <a:srgbClr val="F3F4F8"/>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331720" y="2066544"/>
            <a:ext cx="4572000" cy="274320"/>
          </a:xfrm>
          <a:prstGeom prst="rect">
            <a:avLst/>
          </a:prstGeom>
          <a:noFill/>
        </p:spPr>
        <p:txBody>
          <a:bodyPr wrap="square" lIns="0" rIns="0" tIns="0" bIns="0" anchor="t">
            <a:spAutoFit/>
          </a:bodyPr>
          <a:lstStyle/>
          <a:p>
            <a:pPr algn="l">
              <a:spcAft>
                <a:spcPts val="0"/>
              </a:spcAft>
            </a:pPr>
            <a:r>
              <a:rPr sz="1000" b="1" i="0">
                <a:solidFill>
                  <a:srgbClr val="6B6B6B"/>
                </a:solidFill>
              </a:rPr>
              <a:t>THE ENDPOINT YOU CALL — platform (PaaS)</a:t>
            </a:r>
          </a:p>
        </p:txBody>
      </p:sp>
      <p:sp>
        <p:nvSpPr>
          <p:cNvPr id="9" name="Rounded Rectangle 8"/>
          <p:cNvSpPr/>
          <p:nvPr/>
        </p:nvSpPr>
        <p:spPr>
          <a:xfrm>
            <a:off x="5074920" y="3108960"/>
            <a:ext cx="2240280" cy="1005840"/>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the weights</a:t>
            </a:r>
          </a:p>
          <a:p>
            <a:pPr algn="ctr"/>
            <a:r>
              <a:rPr sz="1200" b="0" i="0">
                <a:solidFill>
                  <a:srgbClr val="FFFFFF"/>
                </a:solidFill>
              </a:rPr>
              <a:t>next-token machine</a:t>
            </a:r>
          </a:p>
          <a:p>
            <a:pPr algn="ctr"/>
            <a:r>
              <a:rPr sz="1200" b="0" i="0">
                <a:solidFill>
                  <a:srgbClr val="FFFFFF"/>
                </a:solidFill>
              </a:rPr>
              <a:t>+ what training baked in</a:t>
            </a:r>
          </a:p>
        </p:txBody>
      </p:sp>
      <p:sp>
        <p:nvSpPr>
          <p:cNvPr id="10" name="Rounded Rectangle 9"/>
          <p:cNvSpPr/>
          <p:nvPr/>
        </p:nvSpPr>
        <p:spPr>
          <a:xfrm>
            <a:off x="2331720" y="2395728"/>
            <a:ext cx="1451061" cy="457200"/>
          </a:xfrm>
          <a:prstGeom prst="roundRect">
            <a:avLst>
              <a:gd name="adj" fmla="val 30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system prompt</a:t>
            </a:r>
          </a:p>
        </p:txBody>
      </p:sp>
      <p:sp>
        <p:nvSpPr>
          <p:cNvPr id="11" name="Rounded Rectangle 10"/>
          <p:cNvSpPr/>
          <p:nvPr/>
        </p:nvSpPr>
        <p:spPr>
          <a:xfrm>
            <a:off x="3867028" y="2395728"/>
            <a:ext cx="1868484" cy="457200"/>
          </a:xfrm>
          <a:prstGeom prst="roundRect">
            <a:avLst>
              <a:gd name="adj" fmla="val 30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safety classifiers</a:t>
            </a:r>
          </a:p>
        </p:txBody>
      </p:sp>
      <p:sp>
        <p:nvSpPr>
          <p:cNvPr id="12" name="Rounded Rectangle 11"/>
          <p:cNvSpPr/>
          <p:nvPr/>
        </p:nvSpPr>
        <p:spPr>
          <a:xfrm>
            <a:off x="5819759" y="2395728"/>
            <a:ext cx="2786816" cy="457200"/>
          </a:xfrm>
          <a:prstGeom prst="roundRect">
            <a:avLst>
              <a:gd name="adj" fmla="val 30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content filters (Foundry RAI)</a:t>
            </a:r>
          </a:p>
        </p:txBody>
      </p:sp>
      <p:sp>
        <p:nvSpPr>
          <p:cNvPr id="13" name="Rounded Rectangle 12"/>
          <p:cNvSpPr/>
          <p:nvPr/>
        </p:nvSpPr>
        <p:spPr>
          <a:xfrm>
            <a:off x="8690823" y="2395728"/>
            <a:ext cx="1367576" cy="457200"/>
          </a:xfrm>
          <a:prstGeom prst="roundRect">
            <a:avLst>
              <a:gd name="adj" fmla="val 30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model router</a:t>
            </a:r>
          </a:p>
        </p:txBody>
      </p:sp>
      <p:sp>
        <p:nvSpPr>
          <p:cNvPr id="14" name="Rounded Rectangle 13"/>
          <p:cNvSpPr/>
          <p:nvPr/>
        </p:nvSpPr>
        <p:spPr>
          <a:xfrm>
            <a:off x="2331720" y="4480560"/>
            <a:ext cx="1367576" cy="457200"/>
          </a:xfrm>
          <a:prstGeom prst="roundRect">
            <a:avLst>
              <a:gd name="adj" fmla="val 30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tool routing</a:t>
            </a:r>
          </a:p>
        </p:txBody>
      </p:sp>
      <p:sp>
        <p:nvSpPr>
          <p:cNvPr id="15" name="Rounded Rectangle 14"/>
          <p:cNvSpPr/>
          <p:nvPr/>
        </p:nvSpPr>
        <p:spPr>
          <a:xfrm>
            <a:off x="4033997" y="4480560"/>
            <a:ext cx="2285908" cy="457200"/>
          </a:xfrm>
          <a:prstGeom prst="roundRect">
            <a:avLst>
              <a:gd name="adj" fmla="val 30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retrieval / file search</a:t>
            </a:r>
          </a:p>
        </p:txBody>
      </p:sp>
      <p:sp>
        <p:nvSpPr>
          <p:cNvPr id="16" name="Rounded Rectangle 15"/>
          <p:cNvSpPr/>
          <p:nvPr/>
        </p:nvSpPr>
        <p:spPr>
          <a:xfrm>
            <a:off x="6654606" y="4480560"/>
            <a:ext cx="1534546" cy="457200"/>
          </a:xfrm>
          <a:prstGeom prst="roundRect">
            <a:avLst>
              <a:gd name="adj" fmla="val 30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memory &amp; state</a:t>
            </a:r>
          </a:p>
        </p:txBody>
      </p:sp>
      <p:sp>
        <p:nvSpPr>
          <p:cNvPr id="17" name="Rounded Rectangle 16"/>
          <p:cNvSpPr/>
          <p:nvPr/>
        </p:nvSpPr>
        <p:spPr>
          <a:xfrm>
            <a:off x="8523853" y="4480560"/>
            <a:ext cx="1534546" cy="457200"/>
          </a:xfrm>
          <a:prstGeom prst="roundRect">
            <a:avLst>
              <a:gd name="adj" fmla="val 30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prompt caching</a:t>
            </a:r>
          </a:p>
        </p:txBody>
      </p:sp>
      <p:sp>
        <p:nvSpPr>
          <p:cNvPr id="18" name="Rounded Rectangle 17"/>
          <p:cNvSpPr/>
          <p:nvPr/>
        </p:nvSpPr>
        <p:spPr>
          <a:xfrm>
            <a:off x="2377440" y="3337560"/>
            <a:ext cx="2468880" cy="457200"/>
          </a:xfrm>
          <a:prstGeom prst="roundRect">
            <a:avLst>
              <a:gd name="adj" fmla="val 30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“thinking” budget</a:t>
            </a:r>
          </a:p>
        </p:txBody>
      </p:sp>
      <p:sp>
        <p:nvSpPr>
          <p:cNvPr id="19" name="Rounded Rectangle 18"/>
          <p:cNvSpPr/>
          <p:nvPr/>
        </p:nvSpPr>
        <p:spPr>
          <a:xfrm>
            <a:off x="7543800" y="3337560"/>
            <a:ext cx="2468880" cy="457200"/>
          </a:xfrm>
          <a:prstGeom prst="roundRect">
            <a:avLst>
              <a:gd name="adj" fmla="val 30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rate limits &amp; quotas</a:t>
            </a:r>
          </a:p>
        </p:txBody>
      </p:sp>
      <p:sp>
        <p:nvSpPr>
          <p:cNvPr id="20" name="TextBox 19"/>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Model differences you notice are often platform differences — test the endpoint, not just the model.</a:t>
            </a:r>
          </a:p>
        </p:txBody>
      </p:sp>
      <p:sp>
        <p:nvSpPr>
          <p:cNvPr id="21" name="TextBox 20"/>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OpenAI, Introducing GPT-5 · Foundry access research 2026-09-19</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Benchmarks: a vocabulary, not a verdict</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Know the names to read a model card — then trust the trajectory and your own tests.</a:t>
            </a:r>
          </a:p>
        </p:txBody>
      </p:sp>
      <p:graphicFrame>
        <p:nvGraphicFramePr>
          <p:cNvPr id="5" name="Table 4"/>
          <p:cNvGraphicFramePr>
            <a:graphicFrameLocks noGrp="1"/>
          </p:cNvGraphicFramePr>
          <p:nvPr/>
        </p:nvGraphicFramePr>
        <p:xfrm>
          <a:off x="585216" y="2011680"/>
          <a:ext cx="6035040" cy="2779776"/>
        </p:xfrm>
        <a:graphic>
          <a:graphicData uri="http://schemas.openxmlformats.org/drawingml/2006/table">
            <a:tbl>
              <a:tblPr firstRow="1" bandRow="1">
                <a:tableStyleId>{5C22544A-7EE6-4342-B048-85BDC9FD1C3A}</a:tableStyleId>
              </a:tblPr>
              <a:tblGrid>
                <a:gridCol w="1737360"/>
                <a:gridCol w="4297680"/>
              </a:tblGrid>
              <a:tr h="365760">
                <a:tc>
                  <a:txBody>
                    <a:bodyPr/>
                    <a:lstStyle/>
                    <a:p>
                      <a:r>
                        <a:rPr sz="1100" b="1">
                          <a:solidFill>
                            <a:srgbClr val="FFFFFF"/>
                          </a:solidFill>
                        </a:rPr>
                        <a:t>Area</a:t>
                      </a:r>
                    </a:p>
                  </a:txBody>
                  <a:tcPr marT="27432" marB="27432" marL="73152" marR="73152" anchor="ctr">
                    <a:solidFill>
                      <a:srgbClr val="2A446F"/>
                    </a:solidFill>
                  </a:tcPr>
                </a:tc>
                <a:tc>
                  <a:txBody>
                    <a:bodyPr/>
                    <a:lstStyle/>
                    <a:p>
                      <a:r>
                        <a:rPr sz="1100" b="1">
                          <a:solidFill>
                            <a:srgbClr val="FFFFFF"/>
                          </a:solidFill>
                        </a:rPr>
                        <a:t>Benchmarks you will see</a:t>
                      </a:r>
                    </a:p>
                  </a:txBody>
                  <a:tcPr marT="27432" marB="27432" marL="73152" marR="73152" anchor="ctr">
                    <a:solidFill>
                      <a:srgbClr val="2A446F"/>
                    </a:solidFill>
                  </a:tcPr>
                </a:tc>
              </a:tr>
              <a:tr h="402336">
                <a:tc>
                  <a:txBody>
                    <a:bodyPr/>
                    <a:lstStyle/>
                    <a:p>
                      <a:r>
                        <a:rPr sz="1100" b="1">
                          <a:solidFill>
                            <a:srgbClr val="1F1F1F"/>
                          </a:solidFill>
                        </a:rPr>
                        <a:t>General reasoning</a:t>
                      </a:r>
                    </a:p>
                  </a:txBody>
                  <a:tcPr marT="27432" marB="27432" marL="73152" marR="73152" anchor="ctr">
                    <a:solidFill>
                      <a:srgbClr val="FFFFFF"/>
                    </a:solidFill>
                  </a:tcPr>
                </a:tc>
                <a:tc>
                  <a:txBody>
                    <a:bodyPr/>
                    <a:lstStyle/>
                    <a:p>
                      <a:r>
                        <a:rPr sz="1100" b="0">
                          <a:solidFill>
                            <a:srgbClr val="1F1F1F"/>
                          </a:solidFill>
                        </a:rPr>
                        <a:t>MMLU-Pro · GPQA-Diamond · BIG-bench Hard · ARC-AGI-2</a:t>
                      </a:r>
                    </a:p>
                  </a:txBody>
                  <a:tcPr marT="27432" marB="27432" marL="73152" marR="73152" anchor="ctr">
                    <a:solidFill>
                      <a:srgbClr val="FFFFFF"/>
                    </a:solidFill>
                  </a:tcPr>
                </a:tc>
              </a:tr>
              <a:tr h="402336">
                <a:tc>
                  <a:txBody>
                    <a:bodyPr/>
                    <a:lstStyle/>
                    <a:p>
                      <a:r>
                        <a:rPr sz="1100" b="1">
                          <a:solidFill>
                            <a:srgbClr val="1F1F1F"/>
                          </a:solidFill>
                        </a:rPr>
                        <a:t>Coding</a:t>
                      </a:r>
                    </a:p>
                  </a:txBody>
                  <a:tcPr marT="27432" marB="27432" marL="73152" marR="73152" anchor="ctr">
                    <a:solidFill>
                      <a:srgbClr val="F3F4F8"/>
                    </a:solidFill>
                  </a:tcPr>
                </a:tc>
                <a:tc>
                  <a:txBody>
                    <a:bodyPr/>
                    <a:lstStyle/>
                    <a:p>
                      <a:r>
                        <a:rPr sz="1100" b="0">
                          <a:solidFill>
                            <a:srgbClr val="1F1F1F"/>
                          </a:solidFill>
                        </a:rPr>
                        <a:t>SWE-bench Verified · LiveCodeBench · HumanEval+ · Aider polyglot</a:t>
                      </a:r>
                    </a:p>
                  </a:txBody>
                  <a:tcPr marT="27432" marB="27432" marL="73152" marR="73152" anchor="ctr">
                    <a:solidFill>
                      <a:srgbClr val="F3F4F8"/>
                    </a:solidFill>
                  </a:tcPr>
                </a:tc>
              </a:tr>
              <a:tr h="402336">
                <a:tc>
                  <a:txBody>
                    <a:bodyPr/>
                    <a:lstStyle/>
                    <a:p>
                      <a:r>
                        <a:rPr sz="1100" b="1">
                          <a:solidFill>
                            <a:srgbClr val="1F1F1F"/>
                          </a:solidFill>
                        </a:rPr>
                        <a:t>Agents / web</a:t>
                      </a:r>
                    </a:p>
                  </a:txBody>
                  <a:tcPr marT="27432" marB="27432" marL="73152" marR="73152" anchor="ctr">
                    <a:solidFill>
                      <a:srgbClr val="FFFFFF"/>
                    </a:solidFill>
                  </a:tcPr>
                </a:tc>
                <a:tc>
                  <a:txBody>
                    <a:bodyPr/>
                    <a:lstStyle/>
                    <a:p>
                      <a:r>
                        <a:rPr sz="1100" b="0">
                          <a:solidFill>
                            <a:srgbClr val="1F1F1F"/>
                          </a:solidFill>
                        </a:rPr>
                        <a:t>BrowseComp · WebArena · OSWorld · GAIA · SWE-Lancer</a:t>
                      </a:r>
                    </a:p>
                  </a:txBody>
                  <a:tcPr marT="27432" marB="27432" marL="73152" marR="73152" anchor="ctr">
                    <a:solidFill>
                      <a:srgbClr val="FFFFFF"/>
                    </a:solidFill>
                  </a:tcPr>
                </a:tc>
              </a:tr>
              <a:tr h="402336">
                <a:tc>
                  <a:txBody>
                    <a:bodyPr/>
                    <a:lstStyle/>
                    <a:p>
                      <a:r>
                        <a:rPr sz="1100" b="1">
                          <a:solidFill>
                            <a:srgbClr val="1F1F1F"/>
                          </a:solidFill>
                        </a:rPr>
                        <a:t>Math</a:t>
                      </a:r>
                    </a:p>
                  </a:txBody>
                  <a:tcPr marT="27432" marB="27432" marL="73152" marR="73152" anchor="ctr">
                    <a:solidFill>
                      <a:srgbClr val="F3F4F8"/>
                    </a:solidFill>
                  </a:tcPr>
                </a:tc>
                <a:tc>
                  <a:txBody>
                    <a:bodyPr/>
                    <a:lstStyle/>
                    <a:p>
                      <a:r>
                        <a:rPr sz="1100" b="0">
                          <a:solidFill>
                            <a:srgbClr val="1F1F1F"/>
                          </a:solidFill>
                        </a:rPr>
                        <a:t>AIME · MATH · FrontierMath · OmniMATH</a:t>
                      </a:r>
                    </a:p>
                  </a:txBody>
                  <a:tcPr marT="27432" marB="27432" marL="73152" marR="73152" anchor="ctr">
                    <a:solidFill>
                      <a:srgbClr val="F3F4F8"/>
                    </a:solidFill>
                  </a:tcPr>
                </a:tc>
              </a:tr>
              <a:tr h="402336">
                <a:tc>
                  <a:txBody>
                    <a:bodyPr/>
                    <a:lstStyle/>
                    <a:p>
                      <a:r>
                        <a:rPr sz="1100" b="1">
                          <a:solidFill>
                            <a:srgbClr val="1F1F1F"/>
                          </a:solidFill>
                        </a:rPr>
                        <a:t>Multimodal</a:t>
                      </a:r>
                    </a:p>
                  </a:txBody>
                  <a:tcPr marT="27432" marB="27432" marL="73152" marR="73152" anchor="ctr">
                    <a:solidFill>
                      <a:srgbClr val="FFFFFF"/>
                    </a:solidFill>
                  </a:tcPr>
                </a:tc>
                <a:tc>
                  <a:txBody>
                    <a:bodyPr/>
                    <a:lstStyle/>
                    <a:p>
                      <a:r>
                        <a:rPr sz="1100" b="0">
                          <a:solidFill>
                            <a:srgbClr val="1F1F1F"/>
                          </a:solidFill>
                        </a:rPr>
                        <a:t>MMMU · MMMU-Pro · VideoMME · RealWorldQA</a:t>
                      </a:r>
                    </a:p>
                  </a:txBody>
                  <a:tcPr marT="27432" marB="27432" marL="73152" marR="73152" anchor="ctr">
                    <a:solidFill>
                      <a:srgbClr val="FFFFFF"/>
                    </a:solidFill>
                  </a:tcPr>
                </a:tc>
              </a:tr>
              <a:tr h="402336">
                <a:tc>
                  <a:txBody>
                    <a:bodyPr/>
                    <a:lstStyle/>
                    <a:p>
                      <a:r>
                        <a:rPr sz="1100" b="1">
                          <a:solidFill>
                            <a:srgbClr val="1F1F1F"/>
                          </a:solidFill>
                        </a:rPr>
                        <a:t>Long context</a:t>
                      </a:r>
                    </a:p>
                  </a:txBody>
                  <a:tcPr marT="27432" marB="27432" marL="73152" marR="73152" anchor="ctr">
                    <a:solidFill>
                      <a:srgbClr val="F3F4F8"/>
                    </a:solidFill>
                  </a:tcPr>
                </a:tc>
                <a:tc>
                  <a:txBody>
                    <a:bodyPr/>
                    <a:lstStyle/>
                    <a:p>
                      <a:r>
                        <a:rPr sz="1100" b="0">
                          <a:solidFill>
                            <a:srgbClr val="1F1F1F"/>
                          </a:solidFill>
                        </a:rPr>
                        <a:t>RULER · needle-in-a-haystack · LongBench · BABILong</a:t>
                      </a:r>
                    </a:p>
                  </a:txBody>
                  <a:tcPr marT="27432" marB="27432" marL="73152" marR="73152" anchor="ctr">
                    <a:solidFill>
                      <a:srgbClr val="F3F4F8"/>
                    </a:solidFill>
                  </a:tcPr>
                </a:tc>
              </a:tr>
            </a:tbl>
          </a:graphicData>
        </a:graphic>
      </p:graphicFrame>
      <p:sp>
        <p:nvSpPr>
          <p:cNvPr id="6" name="Rounded Rectangle 5"/>
          <p:cNvSpPr/>
          <p:nvPr/>
        </p:nvSpPr>
        <p:spPr>
          <a:xfrm>
            <a:off x="6858000" y="2011680"/>
            <a:ext cx="3383280" cy="14630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059168" y="2176272"/>
            <a:ext cx="2980944" cy="411480"/>
          </a:xfrm>
          <a:prstGeom prst="rect">
            <a:avLst/>
          </a:prstGeom>
          <a:noFill/>
        </p:spPr>
        <p:txBody>
          <a:bodyPr wrap="square" lIns="0" rIns="0" tIns="0" bIns="0" anchor="t">
            <a:spAutoFit/>
          </a:bodyPr>
          <a:lstStyle/>
          <a:p>
            <a:pPr algn="l">
              <a:spcAft>
                <a:spcPts val="0"/>
              </a:spcAft>
            </a:pPr>
            <a:r>
              <a:rPr sz="1200" b="1" i="0">
                <a:solidFill>
                  <a:srgbClr val="C52B2B"/>
                </a:solidFill>
              </a:rPr>
              <a:t>WHY NOT A VERDICT</a:t>
            </a:r>
          </a:p>
        </p:txBody>
      </p:sp>
      <p:sp>
        <p:nvSpPr>
          <p:cNvPr id="8" name="TextBox 7"/>
          <p:cNvSpPr txBox="1"/>
          <p:nvPr/>
        </p:nvSpPr>
        <p:spPr>
          <a:xfrm>
            <a:off x="7059168" y="2633472"/>
            <a:ext cx="2980944" cy="685800"/>
          </a:xfrm>
          <a:prstGeom prst="rect">
            <a:avLst/>
          </a:prstGeom>
          <a:noFill/>
        </p:spPr>
        <p:txBody>
          <a:bodyPr wrap="square" lIns="0" rIns="0" tIns="0" bIns="0" anchor="t">
            <a:spAutoFit/>
          </a:bodyPr>
          <a:lstStyle/>
          <a:p>
            <a:pPr algn="l">
              <a:spcAft>
                <a:spcPts val="0"/>
              </a:spcAft>
            </a:pPr>
            <a:r>
              <a:rPr sz="1300" b="0" i="0">
                <a:solidFill>
                  <a:srgbClr val="1F1F1F"/>
                </a:solidFill>
              </a:rPr>
              <a:t>Test questions leak into training data; scores swing with prompt tweaks.</a:t>
            </a:r>
          </a:p>
        </p:txBody>
      </p:sp>
      <p:sp>
        <p:nvSpPr>
          <p:cNvPr id="9" name="Rounded Rectangle 8"/>
          <p:cNvSpPr/>
          <p:nvPr/>
        </p:nvSpPr>
        <p:spPr>
          <a:xfrm>
            <a:off x="6858000" y="3611880"/>
            <a:ext cx="3383280" cy="14630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059168" y="3776472"/>
            <a:ext cx="2980944" cy="411480"/>
          </a:xfrm>
          <a:prstGeom prst="rect">
            <a:avLst/>
          </a:prstGeom>
          <a:noFill/>
        </p:spPr>
        <p:txBody>
          <a:bodyPr wrap="square" lIns="0" rIns="0" tIns="0" bIns="0" anchor="t">
            <a:spAutoFit/>
          </a:bodyPr>
          <a:lstStyle/>
          <a:p>
            <a:pPr algn="l">
              <a:spcAft>
                <a:spcPts val="0"/>
              </a:spcAft>
            </a:pPr>
            <a:r>
              <a:rPr sz="1200" b="1" i="0">
                <a:solidFill>
                  <a:srgbClr val="2A7F5C"/>
                </a:solidFill>
              </a:rPr>
              <a:t>TRUST WHAT YOU CAN RE-RUN</a:t>
            </a:r>
          </a:p>
        </p:txBody>
      </p:sp>
      <p:sp>
        <p:nvSpPr>
          <p:cNvPr id="11" name="TextBox 10"/>
          <p:cNvSpPr txBox="1"/>
          <p:nvPr/>
        </p:nvSpPr>
        <p:spPr>
          <a:xfrm>
            <a:off x="7059168" y="4233672"/>
            <a:ext cx="2980944" cy="685800"/>
          </a:xfrm>
          <a:prstGeom prst="rect">
            <a:avLst/>
          </a:prstGeom>
          <a:noFill/>
        </p:spPr>
        <p:txBody>
          <a:bodyPr wrap="square" lIns="0" rIns="0" tIns="0" bIns="0" anchor="t">
            <a:spAutoFit/>
          </a:bodyPr>
          <a:lstStyle/>
          <a:p>
            <a:pPr algn="l">
              <a:spcAft>
                <a:spcPts val="0"/>
              </a:spcAft>
            </a:pPr>
            <a:r>
              <a:rPr sz="1300" b="0" i="0">
                <a:solidFill>
                  <a:srgbClr val="1F1F1F"/>
                </a:solidFill>
              </a:rPr>
              <a:t>A small eval on your own data beats a public rank — Lab 2’s stretch goal is one.</a:t>
            </a:r>
          </a:p>
        </p:txBody>
      </p:sp>
      <p:sp>
        <p:nvSpPr>
          <p:cNvPr id="12" name="TextBox 11"/>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Trust the trajectory across releases — and the leaderboard you can re-run yourself.</a:t>
            </a:r>
          </a:p>
        </p:txBody>
      </p:sp>
      <p:sp>
        <p:nvSpPr>
          <p:cNvPr id="13" name="TextBox 12"/>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LiveBench · Artificial Analysis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Era 1 — old-school completion: one string in, one string out</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A base model doesn’t follow instructions — it continues the document you started.</a:t>
            </a:r>
          </a:p>
        </p:txBody>
      </p:sp>
      <p:sp>
        <p:nvSpPr>
          <p:cNvPr id="5" name="TextBox 4"/>
          <p:cNvSpPr txBox="1"/>
          <p:nvPr/>
        </p:nvSpPr>
        <p:spPr>
          <a:xfrm>
            <a:off x="585216" y="2011680"/>
            <a:ext cx="2743200" cy="274320"/>
          </a:xfrm>
          <a:prstGeom prst="rect">
            <a:avLst/>
          </a:prstGeom>
          <a:noFill/>
        </p:spPr>
        <p:txBody>
          <a:bodyPr wrap="square" lIns="0" rIns="0" tIns="0" bIns="0" anchor="t">
            <a:spAutoFit/>
          </a:bodyPr>
          <a:lstStyle/>
          <a:p>
            <a:pPr algn="l">
              <a:spcAft>
                <a:spcPts val="0"/>
              </a:spcAft>
            </a:pPr>
            <a:r>
              <a:rPr sz="1000" b="1" i="0">
                <a:solidFill>
                  <a:srgbClr val="6B6B6B"/>
                </a:solidFill>
              </a:rPr>
              <a:t>ONE STRING IN</a:t>
            </a:r>
          </a:p>
        </p:txBody>
      </p:sp>
      <p:sp>
        <p:nvSpPr>
          <p:cNvPr id="6" name="Rounded Rectangle 5"/>
          <p:cNvSpPr/>
          <p:nvPr/>
        </p:nvSpPr>
        <p:spPr>
          <a:xfrm>
            <a:off x="585216" y="2286000"/>
            <a:ext cx="2834640" cy="105156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400" b="0" i="0">
                <a:solidFill>
                  <a:srgbClr val="E8EEF7"/>
                </a:solidFill>
                <a:latin typeface="Consolas"/>
              </a:rPr>
              <a:t>Q: Capital of France?</a:t>
            </a:r>
          </a:p>
          <a:p>
            <a:pPr algn="l"/>
            <a:r>
              <a:rPr sz="1400" b="0" i="0">
                <a:solidFill>
                  <a:srgbClr val="E8EEF7"/>
                </a:solidFill>
                <a:latin typeface="Consolas"/>
              </a:rPr>
              <a:t>A:</a:t>
            </a:r>
          </a:p>
        </p:txBody>
      </p:sp>
      <p:cxnSp>
        <p:nvCxnSpPr>
          <p:cNvPr id="7" name="Connector 6"/>
          <p:cNvCxnSpPr/>
          <p:nvPr/>
        </p:nvCxnSpPr>
        <p:spPr>
          <a:xfrm>
            <a:off x="3465576" y="2807208"/>
            <a:ext cx="420624"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931920" y="2423160"/>
            <a:ext cx="1371600" cy="77724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rPr>
              <a:t>base</a:t>
            </a:r>
          </a:p>
          <a:p>
            <a:pPr algn="ctr"/>
            <a:r>
              <a:rPr sz="1300" b="1" i="0">
                <a:solidFill>
                  <a:srgbClr val="FFFFFF"/>
                </a:solidFill>
              </a:rPr>
              <a:t>model</a:t>
            </a:r>
          </a:p>
        </p:txBody>
      </p:sp>
      <p:cxnSp>
        <p:nvCxnSpPr>
          <p:cNvPr id="9" name="Connector 8"/>
          <p:cNvCxnSpPr/>
          <p:nvPr/>
        </p:nvCxnSpPr>
        <p:spPr>
          <a:xfrm>
            <a:off x="5349240" y="2807208"/>
            <a:ext cx="457200"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852160" y="2011680"/>
            <a:ext cx="3657600" cy="274320"/>
          </a:xfrm>
          <a:prstGeom prst="rect">
            <a:avLst/>
          </a:prstGeom>
          <a:noFill/>
        </p:spPr>
        <p:txBody>
          <a:bodyPr wrap="square" lIns="0" rIns="0" tIns="0" bIns="0" anchor="t">
            <a:spAutoFit/>
          </a:bodyPr>
          <a:lstStyle/>
          <a:p>
            <a:pPr algn="l">
              <a:spcAft>
                <a:spcPts val="0"/>
              </a:spcAft>
            </a:pPr>
            <a:r>
              <a:rPr sz="1000" b="1" i="0">
                <a:solidFill>
                  <a:srgbClr val="6B6B6B"/>
                </a:solidFill>
              </a:rPr>
              <a:t>ONE STRING OUT (illustrative)</a:t>
            </a:r>
          </a:p>
        </p:txBody>
      </p:sp>
      <p:sp>
        <p:nvSpPr>
          <p:cNvPr id="11" name="Rounded Rectangle 10"/>
          <p:cNvSpPr/>
          <p:nvPr/>
        </p:nvSpPr>
        <p:spPr>
          <a:xfrm>
            <a:off x="5852160" y="2286000"/>
            <a:ext cx="4389120" cy="105156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400" b="0" i="0">
                <a:solidFill>
                  <a:srgbClr val="E8EEF7"/>
                </a:solidFill>
                <a:latin typeface="Consolas"/>
              </a:rPr>
              <a:t> Paris</a:t>
            </a:r>
          </a:p>
          <a:p>
            <a:pPr algn="l"/>
            <a:r>
              <a:rPr sz="1400" b="0" i="0">
                <a:solidFill>
                  <a:srgbClr val="E8EEF7"/>
                </a:solidFill>
                <a:latin typeface="Consolas"/>
              </a:rPr>
              <a:t>Q: Capital of Spain?</a:t>
            </a:r>
          </a:p>
          <a:p>
            <a:pPr algn="l"/>
            <a:r>
              <a:rPr sz="1400" b="0" i="0">
                <a:solidFill>
                  <a:srgbClr val="E8EEF7"/>
                </a:solidFill>
                <a:latin typeface="Consolas"/>
              </a:rPr>
              <a:t>A: Madrid …</a:t>
            </a:r>
          </a:p>
        </p:txBody>
      </p:sp>
      <p:sp>
        <p:nvSpPr>
          <p:cNvPr id="12" name="TextBox 11"/>
          <p:cNvSpPr txBox="1"/>
          <p:nvPr/>
        </p:nvSpPr>
        <p:spPr>
          <a:xfrm>
            <a:off x="585216" y="3474720"/>
            <a:ext cx="9656063" cy="365760"/>
          </a:xfrm>
          <a:prstGeom prst="rect">
            <a:avLst/>
          </a:prstGeom>
          <a:noFill/>
        </p:spPr>
        <p:txBody>
          <a:bodyPr wrap="square" lIns="0" rIns="0" tIns="0" bIns="0" anchor="t">
            <a:spAutoFit/>
          </a:bodyPr>
          <a:lstStyle/>
          <a:p>
            <a:pPr algn="l">
              <a:spcAft>
                <a:spcPts val="0"/>
              </a:spcAft>
            </a:pPr>
            <a:r>
              <a:rPr sz="1300" b="0" i="1">
                <a:solidFill>
                  <a:srgbClr val="6B6B6B"/>
                </a:solidFill>
              </a:rPr>
              <a:t>You write the start of the answer · few-shot examples set the pattern · a stop sequence ends it.</a:t>
            </a:r>
          </a:p>
        </p:txBody>
      </p:sp>
      <p:sp>
        <p:nvSpPr>
          <p:cNvPr id="13" name="Rounded Rectangle 12"/>
          <p:cNvSpPr/>
          <p:nvPr/>
        </p:nvSpPr>
        <p:spPr>
          <a:xfrm>
            <a:off x="585216" y="3977639"/>
            <a:ext cx="3096767" cy="13258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86384" y="4142231"/>
            <a:ext cx="2694431" cy="411480"/>
          </a:xfrm>
          <a:prstGeom prst="rect">
            <a:avLst/>
          </a:prstGeom>
          <a:noFill/>
        </p:spPr>
        <p:txBody>
          <a:bodyPr wrap="square" lIns="0" rIns="0" tIns="0" bIns="0" anchor="t">
            <a:spAutoFit/>
          </a:bodyPr>
          <a:lstStyle/>
          <a:p>
            <a:pPr algn="l">
              <a:spcAft>
                <a:spcPts val="0"/>
              </a:spcAft>
            </a:pPr>
            <a:r>
              <a:rPr sz="1200" b="1" i="0">
                <a:solidFill>
                  <a:srgbClr val="0078D4"/>
                </a:solidFill>
              </a:rPr>
              <a:t>BASE MODELS STILL SHIP</a:t>
            </a:r>
          </a:p>
        </p:txBody>
      </p:sp>
      <p:sp>
        <p:nvSpPr>
          <p:cNvPr id="15" name="TextBox 14"/>
          <p:cNvSpPr txBox="1"/>
          <p:nvPr/>
        </p:nvSpPr>
        <p:spPr>
          <a:xfrm>
            <a:off x="786384" y="4599431"/>
            <a:ext cx="2694431" cy="548640"/>
          </a:xfrm>
          <a:prstGeom prst="rect">
            <a:avLst/>
          </a:prstGeom>
          <a:noFill/>
        </p:spPr>
        <p:txBody>
          <a:bodyPr wrap="square" lIns="0" rIns="0" tIns="0" bIns="0" anchor="t">
            <a:spAutoFit/>
          </a:bodyPr>
          <a:lstStyle/>
          <a:p>
            <a:pPr algn="l">
              <a:spcAft>
                <a:spcPts val="0"/>
              </a:spcAft>
            </a:pPr>
            <a:r>
              <a:rPr sz="1300" b="0" i="0">
                <a:solidFill>
                  <a:srgbClr val="1F1F1F"/>
                </a:solidFill>
              </a:rPr>
              <a:t>e.g. Xiaomi MiMo-V2.5 (incl. base), AliceAI-80B-A3B base</a:t>
            </a:r>
          </a:p>
        </p:txBody>
      </p:sp>
      <p:sp>
        <p:nvSpPr>
          <p:cNvPr id="16" name="Rounded Rectangle 15"/>
          <p:cNvSpPr/>
          <p:nvPr/>
        </p:nvSpPr>
        <p:spPr>
          <a:xfrm>
            <a:off x="3864864" y="3977639"/>
            <a:ext cx="3096767" cy="13258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066031" y="4142231"/>
            <a:ext cx="2694431" cy="411480"/>
          </a:xfrm>
          <a:prstGeom prst="rect">
            <a:avLst/>
          </a:prstGeom>
          <a:noFill/>
        </p:spPr>
        <p:txBody>
          <a:bodyPr wrap="square" lIns="0" rIns="0" tIns="0" bIns="0" anchor="t">
            <a:spAutoFit/>
          </a:bodyPr>
          <a:lstStyle/>
          <a:p>
            <a:pPr algn="l">
              <a:spcAft>
                <a:spcPts val="0"/>
              </a:spcAft>
            </a:pPr>
            <a:r>
              <a:rPr sz="1200" b="1" i="0">
                <a:solidFill>
                  <a:srgbClr val="008B8B"/>
                </a:solidFill>
              </a:rPr>
              <a:t>CODE COMPLETION</a:t>
            </a:r>
          </a:p>
        </p:txBody>
      </p:sp>
      <p:sp>
        <p:nvSpPr>
          <p:cNvPr id="18" name="TextBox 17"/>
          <p:cNvSpPr txBox="1"/>
          <p:nvPr/>
        </p:nvSpPr>
        <p:spPr>
          <a:xfrm>
            <a:off x="4066031" y="4599431"/>
            <a:ext cx="2694431" cy="548640"/>
          </a:xfrm>
          <a:prstGeom prst="rect">
            <a:avLst/>
          </a:prstGeom>
          <a:noFill/>
        </p:spPr>
        <p:txBody>
          <a:bodyPr wrap="square" lIns="0" rIns="0" tIns="0" bIns="0" anchor="t">
            <a:spAutoFit/>
          </a:bodyPr>
          <a:lstStyle/>
          <a:p>
            <a:pPr algn="l">
              <a:spcAft>
                <a:spcPts val="0"/>
              </a:spcAft>
            </a:pPr>
            <a:r>
              <a:rPr sz="1300" b="0" i="0">
                <a:solidFill>
                  <a:srgbClr val="1F1F1F"/>
                </a:solidFill>
              </a:rPr>
              <a:t>fill-in-the-middle: prefix + suffix in, the middle out</a:t>
            </a:r>
          </a:p>
        </p:txBody>
      </p:sp>
      <p:sp>
        <p:nvSpPr>
          <p:cNvPr id="19" name="Rounded Rectangle 18"/>
          <p:cNvSpPr/>
          <p:nvPr/>
        </p:nvSpPr>
        <p:spPr>
          <a:xfrm>
            <a:off x="7144511" y="3977639"/>
            <a:ext cx="3096767" cy="13258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345680" y="4142231"/>
            <a:ext cx="2694431" cy="411480"/>
          </a:xfrm>
          <a:prstGeom prst="rect">
            <a:avLst/>
          </a:prstGeom>
          <a:noFill/>
        </p:spPr>
        <p:txBody>
          <a:bodyPr wrap="square" lIns="0" rIns="0" tIns="0" bIns="0" anchor="t">
            <a:spAutoFit/>
          </a:bodyPr>
          <a:lstStyle/>
          <a:p>
            <a:pPr algn="l">
              <a:spcAft>
                <a:spcPts val="0"/>
              </a:spcAft>
            </a:pPr>
            <a:r>
              <a:rPr sz="1200" b="1" i="0">
                <a:solidFill>
                  <a:srgbClr val="8661C5"/>
                </a:solidFill>
              </a:rPr>
              <a:t>FEW-SHOT</a:t>
            </a:r>
          </a:p>
        </p:txBody>
      </p:sp>
      <p:sp>
        <p:nvSpPr>
          <p:cNvPr id="21" name="TextBox 20"/>
          <p:cNvSpPr txBox="1"/>
          <p:nvPr/>
        </p:nvSpPr>
        <p:spPr>
          <a:xfrm>
            <a:off x="7345680" y="4599431"/>
            <a:ext cx="2694431" cy="548640"/>
          </a:xfrm>
          <a:prstGeom prst="rect">
            <a:avLst/>
          </a:prstGeom>
          <a:noFill/>
        </p:spPr>
        <p:txBody>
          <a:bodyPr wrap="square" lIns="0" rIns="0" tIns="0" bIns="0" anchor="t">
            <a:spAutoFit/>
          </a:bodyPr>
          <a:lstStyle/>
          <a:p>
            <a:pPr algn="l">
              <a:spcAft>
                <a:spcPts val="0"/>
              </a:spcAft>
            </a:pPr>
            <a:r>
              <a:rPr sz="1300" b="0" i="0">
                <a:solidFill>
                  <a:srgbClr val="1F1F1F"/>
                </a:solidFill>
              </a:rPr>
              <a:t>show three examples — the model continues the pattern</a:t>
            </a:r>
          </a:p>
        </p:txBody>
      </p:sp>
      <p:sp>
        <p:nvSpPr>
          <p:cNvPr id="22" name="TextBox 21"/>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GPT-3 paper (arXiv 2005.14165) · Model catalog §2 (checked 2026-09-21)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Era 2 — chat: roles are the API</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Chat models are trained on who speaks — and you resend the whole list every call.</a:t>
            </a:r>
          </a:p>
        </p:txBody>
      </p:sp>
      <p:sp>
        <p:nvSpPr>
          <p:cNvPr id="5" name="Rounded Rectangle 4"/>
          <p:cNvSpPr/>
          <p:nvPr/>
        </p:nvSpPr>
        <p:spPr>
          <a:xfrm>
            <a:off x="585216" y="1965960"/>
            <a:ext cx="9656063" cy="1600200"/>
          </a:xfrm>
          <a:prstGeom prst="roundRect">
            <a:avLst>
              <a:gd name="adj" fmla="val 5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68096" y="2011680"/>
            <a:ext cx="6400800" cy="274320"/>
          </a:xfrm>
          <a:prstGeom prst="rect">
            <a:avLst/>
          </a:prstGeom>
          <a:noFill/>
        </p:spPr>
        <p:txBody>
          <a:bodyPr wrap="square" lIns="0" rIns="0" tIns="0" bIns="0" anchor="t">
            <a:spAutoFit/>
          </a:bodyPr>
          <a:lstStyle/>
          <a:p>
            <a:pPr algn="l">
              <a:spcAft>
                <a:spcPts val="0"/>
              </a:spcAft>
            </a:pPr>
            <a:r>
              <a:rPr sz="1000" b="1" i="0">
                <a:solidFill>
                  <a:srgbClr val="6B6B6B"/>
                </a:solidFill>
              </a:rPr>
              <a:t>messages = [ … ]  — the context window is this list (Lab 1 step 4)</a:t>
            </a:r>
          </a:p>
        </p:txBody>
      </p:sp>
      <p:sp>
        <p:nvSpPr>
          <p:cNvPr id="7" name="Rounded Rectangle 6"/>
          <p:cNvSpPr/>
          <p:nvPr/>
        </p:nvSpPr>
        <p:spPr>
          <a:xfrm>
            <a:off x="768096" y="2331720"/>
            <a:ext cx="1770278" cy="329184"/>
          </a:xfrm>
          <a:prstGeom prst="roundRect">
            <a:avLst>
              <a:gd name="adj" fmla="val 20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SYSTEM</a:t>
            </a:r>
          </a:p>
        </p:txBody>
      </p:sp>
      <p:sp>
        <p:nvSpPr>
          <p:cNvPr id="8" name="Rounded Rectangle 7"/>
          <p:cNvSpPr/>
          <p:nvPr/>
        </p:nvSpPr>
        <p:spPr>
          <a:xfrm>
            <a:off x="768096" y="2715768"/>
            <a:ext cx="1770278" cy="731520"/>
          </a:xfrm>
          <a:prstGeom prst="roundRect">
            <a:avLst>
              <a:gd name="adj" fmla="val 8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Use the tools for facts. Be brief.</a:t>
            </a:r>
          </a:p>
        </p:txBody>
      </p:sp>
      <p:sp>
        <p:nvSpPr>
          <p:cNvPr id="9" name="Rounded Rectangle 8"/>
          <p:cNvSpPr/>
          <p:nvPr/>
        </p:nvSpPr>
        <p:spPr>
          <a:xfrm>
            <a:off x="2648102" y="2331720"/>
            <a:ext cx="1770278" cy="329184"/>
          </a:xfrm>
          <a:prstGeom prst="roundRect">
            <a:avLst>
              <a:gd name="adj" fmla="val 2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USER</a:t>
            </a:r>
          </a:p>
        </p:txBody>
      </p:sp>
      <p:sp>
        <p:nvSpPr>
          <p:cNvPr id="10" name="Rounded Rectangle 9"/>
          <p:cNvSpPr/>
          <p:nvPr/>
        </p:nvSpPr>
        <p:spPr>
          <a:xfrm>
            <a:off x="2648102" y="2715768"/>
            <a:ext cx="1770278" cy="731520"/>
          </a:xfrm>
          <a:prstGeom prst="roundRect">
            <a:avLst>
              <a:gd name="adj" fmla="val 8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What’s the weather in Paris …?</a:t>
            </a:r>
          </a:p>
        </p:txBody>
      </p:sp>
      <p:sp>
        <p:nvSpPr>
          <p:cNvPr id="11" name="Rounded Rectangle 10"/>
          <p:cNvSpPr/>
          <p:nvPr/>
        </p:nvSpPr>
        <p:spPr>
          <a:xfrm>
            <a:off x="4528108" y="2331720"/>
            <a:ext cx="1770278" cy="329184"/>
          </a:xfrm>
          <a:prstGeom prst="roundRect">
            <a:avLst>
              <a:gd name="adj" fmla="val 2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ASSISTANT</a:t>
            </a:r>
          </a:p>
        </p:txBody>
      </p:sp>
      <p:sp>
        <p:nvSpPr>
          <p:cNvPr id="12" name="Rounded Rectangle 11"/>
          <p:cNvSpPr/>
          <p:nvPr/>
        </p:nvSpPr>
        <p:spPr>
          <a:xfrm>
            <a:off x="4528108" y="2715768"/>
            <a:ext cx="1770278" cy="731520"/>
          </a:xfrm>
          <a:prstGeom prst="roundRect">
            <a:avLst>
              <a:gd name="adj" fmla="val 8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tool_calls: get_weather(Paris)</a:t>
            </a:r>
          </a:p>
        </p:txBody>
      </p:sp>
      <p:sp>
        <p:nvSpPr>
          <p:cNvPr id="13" name="Rounded Rectangle 12"/>
          <p:cNvSpPr/>
          <p:nvPr/>
        </p:nvSpPr>
        <p:spPr>
          <a:xfrm>
            <a:off x="6408115" y="2331720"/>
            <a:ext cx="1770278" cy="329184"/>
          </a:xfrm>
          <a:prstGeom prst="roundRect">
            <a:avLst>
              <a:gd name="adj" fmla="val 20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TOOL</a:t>
            </a:r>
          </a:p>
        </p:txBody>
      </p:sp>
      <p:sp>
        <p:nvSpPr>
          <p:cNvPr id="14" name="Rounded Rectangle 13"/>
          <p:cNvSpPr/>
          <p:nvPr/>
        </p:nvSpPr>
        <p:spPr>
          <a:xfrm>
            <a:off x="6408115" y="2715768"/>
            <a:ext cx="1770278" cy="731520"/>
          </a:xfrm>
          <a:prstGeom prst="roundRect">
            <a:avLst>
              <a:gd name="adj" fmla="val 8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{"temp_c": 19, "sky": "light rain"}</a:t>
            </a:r>
          </a:p>
        </p:txBody>
      </p:sp>
      <p:sp>
        <p:nvSpPr>
          <p:cNvPr id="15" name="Rounded Rectangle 14"/>
          <p:cNvSpPr/>
          <p:nvPr/>
        </p:nvSpPr>
        <p:spPr>
          <a:xfrm>
            <a:off x="8288121" y="2331720"/>
            <a:ext cx="1770278" cy="329184"/>
          </a:xfrm>
          <a:prstGeom prst="roundRect">
            <a:avLst>
              <a:gd name="adj" fmla="val 2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ASSISTANT</a:t>
            </a:r>
          </a:p>
        </p:txBody>
      </p:sp>
      <p:sp>
        <p:nvSpPr>
          <p:cNvPr id="16" name="Rounded Rectangle 15"/>
          <p:cNvSpPr/>
          <p:nvPr/>
        </p:nvSpPr>
        <p:spPr>
          <a:xfrm>
            <a:off x="8288121" y="2715768"/>
            <a:ext cx="1770278" cy="731520"/>
          </a:xfrm>
          <a:prstGeom prst="roundRect">
            <a:avLst>
              <a:gd name="adj" fmla="val 8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19 °C, light rain (66.2 °F)</a:t>
            </a:r>
          </a:p>
        </p:txBody>
      </p:sp>
      <p:sp>
        <p:nvSpPr>
          <p:cNvPr id="17" name="Rounded Rectangle 16"/>
          <p:cNvSpPr/>
          <p:nvPr/>
        </p:nvSpPr>
        <p:spPr>
          <a:xfrm>
            <a:off x="585216" y="3749039"/>
            <a:ext cx="4736592" cy="1237488"/>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133087" y="3858768"/>
            <a:ext cx="1005840" cy="228600"/>
          </a:xfrm>
          <a:prstGeom prst="rect">
            <a:avLst/>
          </a:prstGeom>
          <a:noFill/>
        </p:spPr>
        <p:txBody>
          <a:bodyPr wrap="square" lIns="0" rIns="0" tIns="0" bIns="0" anchor="t">
            <a:spAutoFit/>
          </a:bodyPr>
          <a:lstStyle/>
          <a:p>
            <a:pPr algn="r">
              <a:spcAft>
                <a:spcPts val="0"/>
              </a:spcAft>
            </a:pPr>
            <a:r>
              <a:rPr sz="900" b="1" i="0">
                <a:solidFill>
                  <a:srgbClr val="FFB900"/>
                </a:solidFill>
                <a:latin typeface="Consolas"/>
              </a:rPr>
              <a:t>PYTHON</a:t>
            </a:r>
          </a:p>
        </p:txBody>
      </p:sp>
      <p:sp>
        <p:nvSpPr>
          <p:cNvPr id="19" name="TextBox 18"/>
          <p:cNvSpPr txBox="1"/>
          <p:nvPr/>
        </p:nvSpPr>
        <p:spPr>
          <a:xfrm>
            <a:off x="768096" y="4133087"/>
            <a:ext cx="4370831" cy="734568"/>
          </a:xfrm>
          <a:prstGeom prst="rect">
            <a:avLst/>
          </a:prstGeom>
          <a:noFill/>
        </p:spPr>
        <p:txBody>
          <a:bodyPr wrap="square" lIns="0" rIns="0" tIns="0" bIns="0">
            <a:spAutoFit/>
          </a:bodyPr>
          <a:lstStyle/>
          <a:p>
            <a:pPr>
              <a:spcAft>
                <a:spcPts val="0"/>
              </a:spcAft>
            </a:pPr>
            <a:r>
              <a:rPr sz="1100">
                <a:solidFill>
                  <a:srgbClr val="E8EEF7"/>
                </a:solidFill>
                <a:latin typeface="Consolas"/>
              </a:rPr>
              <a:t>r = client.chat.completions.create(</a:t>
            </a:r>
          </a:p>
          <a:p>
            <a:pPr>
              <a:spcAft>
                <a:spcPts val="0"/>
              </a:spcAft>
            </a:pPr>
            <a:r>
              <a:rPr sz="1100">
                <a:solidFill>
                  <a:srgbClr val="E8EEF7"/>
                </a:solidFill>
                <a:latin typeface="Consolas"/>
              </a:rPr>
              <a:t>    model=MODEL, **EXTRA, messages=[</a:t>
            </a:r>
          </a:p>
          <a:p>
            <a:pPr>
              <a:spcAft>
                <a:spcPts val="0"/>
              </a:spcAft>
            </a:pPr>
            <a:r>
              <a:rPr sz="1100">
                <a:solidFill>
                  <a:srgbClr val="E8EEF7"/>
                </a:solidFill>
                <a:latin typeface="Consolas"/>
              </a:rPr>
              <a:t>        {"role": "system", "content": system},</a:t>
            </a:r>
          </a:p>
          <a:p>
            <a:pPr>
              <a:spcAft>
                <a:spcPts val="0"/>
              </a:spcAft>
            </a:pPr>
            <a:r>
              <a:rPr sz="1100">
                <a:solidFill>
                  <a:srgbClr val="E8EEF7"/>
                </a:solidFill>
                <a:latin typeface="Consolas"/>
              </a:rPr>
              <a:t>        {"role": "user", "content": question}])</a:t>
            </a:r>
          </a:p>
        </p:txBody>
      </p:sp>
      <p:sp>
        <p:nvSpPr>
          <p:cNvPr id="20" name="Rounded Rectangle 19"/>
          <p:cNvSpPr/>
          <p:nvPr/>
        </p:nvSpPr>
        <p:spPr>
          <a:xfrm>
            <a:off x="5504688" y="3749039"/>
            <a:ext cx="4736592" cy="1237488"/>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052559" y="3858768"/>
            <a:ext cx="1005840" cy="228600"/>
          </a:xfrm>
          <a:prstGeom prst="rect">
            <a:avLst/>
          </a:prstGeom>
          <a:noFill/>
        </p:spPr>
        <p:txBody>
          <a:bodyPr wrap="square" lIns="0" rIns="0" tIns="0" bIns="0" anchor="t">
            <a:spAutoFit/>
          </a:bodyPr>
          <a:lstStyle/>
          <a:p>
            <a:pPr algn="r">
              <a:spcAft>
                <a:spcPts val="0"/>
              </a:spcAft>
            </a:pPr>
            <a:r>
              <a:rPr sz="900" b="1" i="0">
                <a:solidFill>
                  <a:srgbClr val="FFB900"/>
                </a:solidFill>
                <a:latin typeface="Consolas"/>
              </a:rPr>
              <a:t>C#</a:t>
            </a:r>
          </a:p>
        </p:txBody>
      </p:sp>
      <p:sp>
        <p:nvSpPr>
          <p:cNvPr id="22" name="TextBox 21"/>
          <p:cNvSpPr txBox="1"/>
          <p:nvPr/>
        </p:nvSpPr>
        <p:spPr>
          <a:xfrm>
            <a:off x="5687568" y="4133087"/>
            <a:ext cx="4370831" cy="734568"/>
          </a:xfrm>
          <a:prstGeom prst="rect">
            <a:avLst/>
          </a:prstGeom>
          <a:noFill/>
        </p:spPr>
        <p:txBody>
          <a:bodyPr wrap="square" lIns="0" rIns="0" tIns="0" bIns="0">
            <a:spAutoFit/>
          </a:bodyPr>
          <a:lstStyle/>
          <a:p>
            <a:pPr>
              <a:spcAft>
                <a:spcPts val="0"/>
              </a:spcAft>
            </a:pPr>
            <a:r>
              <a:rPr sz="1100">
                <a:solidFill>
                  <a:srgbClr val="E8EEF7"/>
                </a:solidFill>
                <a:latin typeface="Consolas"/>
              </a:rPr>
              <a:t>ChatCompletion r = await client.CompleteChatAsync(</a:t>
            </a:r>
          </a:p>
          <a:p>
            <a:pPr>
              <a:spcAft>
                <a:spcPts val="0"/>
              </a:spcAft>
            </a:pPr>
            <a:r>
              <a:rPr sz="1100">
                <a:solidFill>
                  <a:srgbClr val="E8EEF7"/>
                </a:solidFill>
                <a:latin typeface="Consolas"/>
              </a:rPr>
              <a:t>    [new SystemChatMessage(system),</a:t>
            </a:r>
          </a:p>
          <a:p>
            <a:pPr>
              <a:spcAft>
                <a:spcPts val="0"/>
              </a:spcAft>
            </a:pPr>
            <a:r>
              <a:rPr sz="1100">
                <a:solidFill>
                  <a:srgbClr val="E8EEF7"/>
                </a:solidFill>
                <a:latin typeface="Consolas"/>
              </a:rPr>
              <a:t>     new UserChatMessage(question)], options);</a:t>
            </a:r>
          </a:p>
        </p:txBody>
      </p:sp>
      <p:sp>
        <p:nvSpPr>
          <p:cNvPr id="23" name="TextBox 22"/>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The model remembers nothing between calls — the list is the memory.</a:t>
            </a:r>
          </a:p>
        </p:txBody>
      </p:sp>
      <p:sp>
        <p:nvSpPr>
          <p:cNvPr id="24" name="TextBox 2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Lab 1 code (tested 2026-09-22) · Lab 2 code (tested 2026-09-22)</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Sampling knobs — and what they don’t fix</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The knobs choose from the probabilities — none of them makes an answer true.</a:t>
            </a:r>
          </a:p>
        </p:txBody>
      </p:sp>
      <p:sp>
        <p:nvSpPr>
          <p:cNvPr id="5" name="Rectangle 4"/>
          <p:cNvSpPr/>
          <p:nvPr/>
        </p:nvSpPr>
        <p:spPr>
          <a:xfrm>
            <a:off x="722376" y="2240279"/>
            <a:ext cx="256032" cy="173736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060704" y="3959352"/>
            <a:ext cx="256032" cy="18288"/>
          </a:xfrm>
          <a:prstGeom prst="rect">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399032" y="3959352"/>
            <a:ext cx="256032" cy="18288"/>
          </a:xfrm>
          <a:prstGeom prst="rect">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1737360" y="3959352"/>
            <a:ext cx="256032" cy="18288"/>
          </a:xfrm>
          <a:prstGeom prst="rect">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2075688" y="3959352"/>
            <a:ext cx="256032" cy="18288"/>
          </a:xfrm>
          <a:prstGeom prst="rect">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30936" y="4069080"/>
            <a:ext cx="1828800" cy="274320"/>
          </a:xfrm>
          <a:prstGeom prst="rect">
            <a:avLst/>
          </a:prstGeom>
          <a:noFill/>
        </p:spPr>
        <p:txBody>
          <a:bodyPr wrap="square" lIns="0" rIns="0" tIns="0" bIns="0" anchor="t">
            <a:spAutoFit/>
          </a:bodyPr>
          <a:lstStyle/>
          <a:p>
            <a:pPr algn="ctr">
              <a:spcAft>
                <a:spcPts val="0"/>
              </a:spcAft>
            </a:pPr>
            <a:r>
              <a:rPr sz="1200" b="1" i="0">
                <a:solidFill>
                  <a:srgbClr val="2A446F"/>
                </a:solidFill>
              </a:rPr>
              <a:t>temperature 0</a:t>
            </a:r>
          </a:p>
        </p:txBody>
      </p:sp>
      <p:sp>
        <p:nvSpPr>
          <p:cNvPr id="11" name="Rectangle 10"/>
          <p:cNvSpPr/>
          <p:nvPr/>
        </p:nvSpPr>
        <p:spPr>
          <a:xfrm>
            <a:off x="2688336" y="3022091"/>
            <a:ext cx="256032" cy="955547"/>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026664" y="3630168"/>
            <a:ext cx="256032" cy="347472"/>
          </a:xfrm>
          <a:prstGeom prst="rect">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364991" y="3769156"/>
            <a:ext cx="256032" cy="208483"/>
          </a:xfrm>
          <a:prstGeom prst="rect">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3703320" y="3838651"/>
            <a:ext cx="256032" cy="138988"/>
          </a:xfrm>
          <a:prstGeom prst="rect">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041648" y="3890772"/>
            <a:ext cx="256032" cy="86868"/>
          </a:xfrm>
          <a:prstGeom prst="rect">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596896" y="4069080"/>
            <a:ext cx="1828800" cy="274320"/>
          </a:xfrm>
          <a:prstGeom prst="rect">
            <a:avLst/>
          </a:prstGeom>
          <a:noFill/>
        </p:spPr>
        <p:txBody>
          <a:bodyPr wrap="square" lIns="0" rIns="0" tIns="0" bIns="0" anchor="t">
            <a:spAutoFit/>
          </a:bodyPr>
          <a:lstStyle/>
          <a:p>
            <a:pPr algn="ctr">
              <a:spcAft>
                <a:spcPts val="0"/>
              </a:spcAft>
            </a:pPr>
            <a:r>
              <a:rPr sz="1200" b="1" i="0">
                <a:solidFill>
                  <a:srgbClr val="2A446F"/>
                </a:solidFill>
              </a:rPr>
              <a:t>temperature 1</a:t>
            </a:r>
          </a:p>
        </p:txBody>
      </p:sp>
      <p:sp>
        <p:nvSpPr>
          <p:cNvPr id="17" name="Rectangle 16"/>
          <p:cNvSpPr/>
          <p:nvPr/>
        </p:nvSpPr>
        <p:spPr>
          <a:xfrm>
            <a:off x="4654296" y="3265807"/>
            <a:ext cx="256032" cy="711832"/>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992624" y="3599375"/>
            <a:ext cx="256032" cy="378264"/>
          </a:xfrm>
          <a:prstGeom prst="rect">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330952" y="3702762"/>
            <a:ext cx="256032" cy="274877"/>
          </a:xfrm>
          <a:prstGeom prst="rect">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5669279" y="3764294"/>
            <a:ext cx="256032" cy="213345"/>
          </a:xfrm>
          <a:prstGeom prst="rect">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007608" y="3818599"/>
            <a:ext cx="256032" cy="159040"/>
          </a:xfrm>
          <a:prstGeom prst="rect">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562856" y="4069080"/>
            <a:ext cx="1828800" cy="274320"/>
          </a:xfrm>
          <a:prstGeom prst="rect">
            <a:avLst/>
          </a:prstGeom>
          <a:noFill/>
        </p:spPr>
        <p:txBody>
          <a:bodyPr wrap="square" lIns="0" rIns="0" tIns="0" bIns="0" anchor="t">
            <a:spAutoFit/>
          </a:bodyPr>
          <a:lstStyle/>
          <a:p>
            <a:pPr algn="ctr">
              <a:spcAft>
                <a:spcPts val="0"/>
              </a:spcAft>
            </a:pPr>
            <a:r>
              <a:rPr sz="1200" b="1" i="0">
                <a:solidFill>
                  <a:srgbClr val="2A446F"/>
                </a:solidFill>
              </a:rPr>
              <a:t>temperature 1.6</a:t>
            </a:r>
          </a:p>
        </p:txBody>
      </p:sp>
      <p:sp>
        <p:nvSpPr>
          <p:cNvPr id="23" name="TextBox 22"/>
          <p:cNvSpPr txBox="1"/>
          <p:nvPr/>
        </p:nvSpPr>
        <p:spPr>
          <a:xfrm>
            <a:off x="585216" y="4389120"/>
            <a:ext cx="5760720" cy="274320"/>
          </a:xfrm>
          <a:prstGeom prst="rect">
            <a:avLst/>
          </a:prstGeom>
          <a:noFill/>
        </p:spPr>
        <p:txBody>
          <a:bodyPr wrap="square" lIns="0" rIns="0" tIns="0" bIns="0" anchor="t">
            <a:spAutoFit/>
          </a:bodyPr>
          <a:lstStyle/>
          <a:p>
            <a:pPr algn="l">
              <a:spcAft>
                <a:spcPts val="0"/>
              </a:spcAft>
            </a:pPr>
            <a:r>
              <a:rPr sz="1000" b="0" i="1">
                <a:solidFill>
                  <a:srgbClr val="6B6B6B"/>
                </a:solidFill>
              </a:rPr>
              <a:t>illustrative next-token bars — the same five candidates each time</a:t>
            </a:r>
          </a:p>
        </p:txBody>
      </p:sp>
      <p:graphicFrame>
        <p:nvGraphicFramePr>
          <p:cNvPr id="24" name="Table 23"/>
          <p:cNvGraphicFramePr>
            <a:graphicFrameLocks noGrp="1"/>
          </p:cNvGraphicFramePr>
          <p:nvPr/>
        </p:nvGraphicFramePr>
        <p:xfrm>
          <a:off x="6355080" y="2011680"/>
          <a:ext cx="3886200" cy="1901952"/>
        </p:xfrm>
        <a:graphic>
          <a:graphicData uri="http://schemas.openxmlformats.org/drawingml/2006/table">
            <a:tbl>
              <a:tblPr firstRow="1" bandRow="1">
                <a:tableStyleId>{5C22544A-7EE6-4342-B048-85BDC9FD1C3A}</a:tableStyleId>
              </a:tblPr>
              <a:tblGrid>
                <a:gridCol w="1417320"/>
                <a:gridCol w="2468880"/>
              </a:tblGrid>
              <a:tr h="365760">
                <a:tc>
                  <a:txBody>
                    <a:bodyPr/>
                    <a:lstStyle/>
                    <a:p>
                      <a:r>
                        <a:rPr sz="1100" b="1">
                          <a:solidFill>
                            <a:srgbClr val="FFFFFF"/>
                          </a:solidFill>
                        </a:rPr>
                        <a:t>Knob</a:t>
                      </a:r>
                    </a:p>
                  </a:txBody>
                  <a:tcPr marT="27432" marB="27432" marL="73152" marR="73152" anchor="ctr">
                    <a:solidFill>
                      <a:srgbClr val="2A446F"/>
                    </a:solidFill>
                  </a:tcPr>
                </a:tc>
                <a:tc>
                  <a:txBody>
                    <a:bodyPr/>
                    <a:lstStyle/>
                    <a:p>
                      <a:r>
                        <a:rPr sz="1100" b="1">
                          <a:solidFill>
                            <a:srgbClr val="FFFFFF"/>
                          </a:solidFill>
                        </a:rPr>
                        <a:t>What it does</a:t>
                      </a:r>
                    </a:p>
                  </a:txBody>
                  <a:tcPr marT="27432" marB="27432" marL="73152" marR="73152" anchor="ctr">
                    <a:solidFill>
                      <a:srgbClr val="2A446F"/>
                    </a:solidFill>
                  </a:tcPr>
                </a:tc>
              </a:tr>
              <a:tr h="384048">
                <a:tc>
                  <a:txBody>
                    <a:bodyPr/>
                    <a:lstStyle/>
                    <a:p>
                      <a:r>
                        <a:rPr sz="1100" b="1">
                          <a:solidFill>
                            <a:srgbClr val="1F1F1F"/>
                          </a:solidFill>
                        </a:rPr>
                        <a:t>temperature</a:t>
                      </a:r>
                    </a:p>
                  </a:txBody>
                  <a:tcPr marT="27432" marB="27432" marL="73152" marR="73152" anchor="ctr">
                    <a:solidFill>
                      <a:srgbClr val="FFFFFF"/>
                    </a:solidFill>
                  </a:tcPr>
                </a:tc>
                <a:tc>
                  <a:txBody>
                    <a:bodyPr/>
                    <a:lstStyle/>
                    <a:p>
                      <a:r>
                        <a:rPr sz="1100" b="0">
                          <a:solidFill>
                            <a:srgbClr val="1F1F1F"/>
                          </a:solidFill>
                        </a:rPr>
                        <a:t>0 ≈ repeatable · 1 = as trained · &gt; 1 = chaos</a:t>
                      </a:r>
                    </a:p>
                  </a:txBody>
                  <a:tcPr marT="27432" marB="27432" marL="73152" marR="73152" anchor="ctr">
                    <a:solidFill>
                      <a:srgbClr val="FFFFFF"/>
                    </a:solidFill>
                  </a:tcPr>
                </a:tc>
              </a:tr>
              <a:tr h="384048">
                <a:tc>
                  <a:txBody>
                    <a:bodyPr/>
                    <a:lstStyle/>
                    <a:p>
                      <a:r>
                        <a:rPr sz="1100" b="1">
                          <a:solidFill>
                            <a:srgbClr val="1F1F1F"/>
                          </a:solidFill>
                        </a:rPr>
                        <a:t>top_p</a:t>
                      </a:r>
                    </a:p>
                  </a:txBody>
                  <a:tcPr marT="27432" marB="27432" marL="73152" marR="73152" anchor="ctr">
                    <a:solidFill>
                      <a:srgbClr val="F3F4F8"/>
                    </a:solidFill>
                  </a:tcPr>
                </a:tc>
                <a:tc>
                  <a:txBody>
                    <a:bodyPr/>
                    <a:lstStyle/>
                    <a:p>
                      <a:r>
                        <a:rPr sz="1100" b="0">
                          <a:solidFill>
                            <a:srgbClr val="1F1F1F"/>
                          </a:solidFill>
                        </a:rPr>
                        <a:t>keep only the most likely tokens</a:t>
                      </a:r>
                    </a:p>
                  </a:txBody>
                  <a:tcPr marT="27432" marB="27432" marL="73152" marR="73152" anchor="ctr">
                    <a:solidFill>
                      <a:srgbClr val="F3F4F8"/>
                    </a:solidFill>
                  </a:tcPr>
                </a:tc>
              </a:tr>
              <a:tr h="384048">
                <a:tc>
                  <a:txBody>
                    <a:bodyPr/>
                    <a:lstStyle/>
                    <a:p>
                      <a:r>
                        <a:rPr sz="1100" b="1">
                          <a:solidFill>
                            <a:srgbClr val="1F1F1F"/>
                          </a:solidFill>
                        </a:rPr>
                        <a:t>seed</a:t>
                      </a:r>
                    </a:p>
                  </a:txBody>
                  <a:tcPr marT="27432" marB="27432" marL="73152" marR="73152" anchor="ctr">
                    <a:solidFill>
                      <a:srgbClr val="FFFFFF"/>
                    </a:solidFill>
                  </a:tcPr>
                </a:tc>
                <a:tc>
                  <a:txBody>
                    <a:bodyPr/>
                    <a:lstStyle/>
                    <a:p>
                      <a:r>
                        <a:rPr sz="1100" b="0">
                          <a:solidFill>
                            <a:srgbClr val="1F1F1F"/>
                          </a:solidFill>
                        </a:rPr>
                        <a:t>best-effort reproducibility, not a guarantee</a:t>
                      </a:r>
                    </a:p>
                  </a:txBody>
                  <a:tcPr marT="27432" marB="27432" marL="73152" marR="73152" anchor="ctr">
                    <a:solidFill>
                      <a:srgbClr val="FFFFFF"/>
                    </a:solidFill>
                  </a:tcPr>
                </a:tc>
              </a:tr>
              <a:tr h="384048">
                <a:tc>
                  <a:txBody>
                    <a:bodyPr/>
                    <a:lstStyle/>
                    <a:p>
                      <a:r>
                        <a:rPr sz="1100" b="1">
                          <a:solidFill>
                            <a:srgbClr val="1F1F1F"/>
                          </a:solidFill>
                        </a:rPr>
                        <a:t>reasoning_effort</a:t>
                      </a:r>
                    </a:p>
                  </a:txBody>
                  <a:tcPr marT="27432" marB="27432" marL="73152" marR="73152" anchor="ctr">
                    <a:solidFill>
                      <a:srgbClr val="F3F4F8"/>
                    </a:solidFill>
                  </a:tcPr>
                </a:tc>
                <a:tc>
                  <a:txBody>
                    <a:bodyPr/>
                    <a:lstStyle/>
                    <a:p>
                      <a:r>
                        <a:rPr sz="1100" b="0">
                          <a:solidFill>
                            <a:srgbClr val="1F1F1F"/>
                          </a:solidFill>
                        </a:rPr>
                        <a:t>what reasoning models offer instead</a:t>
                      </a:r>
                    </a:p>
                  </a:txBody>
                  <a:tcPr marT="27432" marB="27432" marL="73152" marR="73152" anchor="ctr">
                    <a:solidFill>
                      <a:srgbClr val="F3F4F8"/>
                    </a:solidFill>
                  </a:tcPr>
                </a:tc>
              </a:tr>
            </a:tbl>
          </a:graphicData>
        </a:graphic>
      </p:graphicFrame>
      <p:sp>
        <p:nvSpPr>
          <p:cNvPr id="25" name="Rounded Rectangle 24"/>
          <p:cNvSpPr/>
          <p:nvPr/>
        </p:nvSpPr>
        <p:spPr>
          <a:xfrm>
            <a:off x="585216" y="4709160"/>
            <a:ext cx="9656063" cy="65836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86384" y="4873752"/>
            <a:ext cx="9253728" cy="411480"/>
          </a:xfrm>
          <a:prstGeom prst="rect">
            <a:avLst/>
          </a:prstGeom>
          <a:noFill/>
        </p:spPr>
        <p:txBody>
          <a:bodyPr wrap="square" lIns="0" rIns="0" tIns="0" bIns="0" anchor="t">
            <a:spAutoFit/>
          </a:bodyPr>
          <a:lstStyle/>
          <a:p>
            <a:pPr algn="l">
              <a:spcAft>
                <a:spcPts val="0"/>
              </a:spcAft>
            </a:pPr>
            <a:r>
              <a:rPr sz="1100" b="1" i="0">
                <a:solidFill>
                  <a:srgbClr val="C52B2B"/>
                </a:solidFill>
              </a:rPr>
              <a:t>WATCH FOR</a:t>
            </a:r>
          </a:p>
        </p:txBody>
      </p:sp>
      <p:sp>
        <p:nvSpPr>
          <p:cNvPr id="27" name="TextBox 26"/>
          <p:cNvSpPr txBox="1"/>
          <p:nvPr/>
        </p:nvSpPr>
        <p:spPr>
          <a:xfrm>
            <a:off x="1956816" y="4846320"/>
            <a:ext cx="8101583" cy="457200"/>
          </a:xfrm>
          <a:prstGeom prst="rect">
            <a:avLst/>
          </a:prstGeom>
          <a:noFill/>
        </p:spPr>
        <p:txBody>
          <a:bodyPr wrap="square" lIns="0" rIns="0" tIns="0" bIns="0" anchor="t">
            <a:spAutoFit/>
          </a:bodyPr>
          <a:lstStyle/>
          <a:p>
            <a:pPr algn="l">
              <a:spcAft>
                <a:spcPts val="0"/>
              </a:spcAft>
            </a:pPr>
            <a:r>
              <a:rPr sz="1200" b="0" i="0">
                <a:solidFill>
                  <a:srgbClr val="1F1F1F"/>
                </a:solidFill>
              </a:rPr>
              <a:t>gpt-5-mini rejects temperature (HTTP 400) — Lab 1 step 2 falls back to reasoning_effort.</a:t>
            </a:r>
          </a:p>
        </p:txBody>
      </p:sp>
      <p:sp>
        <p:nvSpPr>
          <p:cNvPr id="28" name="TextBox 27"/>
          <p:cNvSpPr txBox="1"/>
          <p:nvPr/>
        </p:nvSpPr>
        <p:spPr>
          <a:xfrm>
            <a:off x="585216" y="5468112"/>
            <a:ext cx="9656063" cy="457200"/>
          </a:xfrm>
          <a:prstGeom prst="rect">
            <a:avLst/>
          </a:prstGeom>
          <a:noFill/>
        </p:spPr>
        <p:txBody>
          <a:bodyPr wrap="square" lIns="0" rIns="0" tIns="0" bIns="0" anchor="t">
            <a:spAutoFit/>
          </a:bodyPr>
          <a:lstStyle/>
          <a:p>
            <a:pPr algn="l">
              <a:spcAft>
                <a:spcPts val="0"/>
              </a:spcAft>
            </a:pPr>
            <a:r>
              <a:rPr sz="1500" b="1" i="0">
                <a:solidFill>
                  <a:srgbClr val="0078D4"/>
                </a:solidFill>
              </a:rPr>
              <a:t>Temperature 0 means “mostly the same” — not “correct”, and not guaranteed identical.</a:t>
            </a:r>
          </a:p>
        </p:txBody>
      </p:sp>
      <p:sp>
        <p:nvSpPr>
          <p:cNvPr id="29" name="TextBox 28"/>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Lab 1 code (tested 2026-09-22)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Era 3 — structured output: a contract, not a hope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Describe the shape as a type; the SDK sends a JSON Schema, and decoding obeys it.</a:t>
            </a:r>
          </a:p>
        </p:txBody>
      </p:sp>
      <p:sp>
        <p:nvSpPr>
          <p:cNvPr id="5" name="Rounded Rectangle 4"/>
          <p:cNvSpPr/>
          <p:nvPr/>
        </p:nvSpPr>
        <p:spPr>
          <a:xfrm>
            <a:off x="585216" y="1965960"/>
            <a:ext cx="4736592" cy="2548128"/>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133087" y="2075688"/>
            <a:ext cx="1005840" cy="228600"/>
          </a:xfrm>
          <a:prstGeom prst="rect">
            <a:avLst/>
          </a:prstGeom>
          <a:noFill/>
        </p:spPr>
        <p:txBody>
          <a:bodyPr wrap="square" lIns="0" rIns="0" tIns="0" bIns="0" anchor="t">
            <a:spAutoFit/>
          </a:bodyPr>
          <a:lstStyle/>
          <a:p>
            <a:pPr algn="r">
              <a:spcAft>
                <a:spcPts val="0"/>
              </a:spcAft>
            </a:pPr>
            <a:r>
              <a:rPr sz="900" b="1" i="0">
                <a:solidFill>
                  <a:srgbClr val="FFB900"/>
                </a:solidFill>
                <a:latin typeface="Consolas"/>
              </a:rPr>
              <a:t>PYTHON</a:t>
            </a:r>
          </a:p>
        </p:txBody>
      </p:sp>
      <p:sp>
        <p:nvSpPr>
          <p:cNvPr id="7" name="TextBox 6"/>
          <p:cNvSpPr txBox="1"/>
          <p:nvPr/>
        </p:nvSpPr>
        <p:spPr>
          <a:xfrm>
            <a:off x="768096" y="2350008"/>
            <a:ext cx="4370831" cy="2045207"/>
          </a:xfrm>
          <a:prstGeom prst="rect">
            <a:avLst/>
          </a:prstGeom>
          <a:noFill/>
        </p:spPr>
        <p:txBody>
          <a:bodyPr wrap="square" lIns="0" rIns="0" tIns="0" bIns="0">
            <a:spAutoFit/>
          </a:bodyPr>
          <a:lstStyle/>
          <a:p>
            <a:pPr>
              <a:spcAft>
                <a:spcPts val="0"/>
              </a:spcAft>
            </a:pPr>
            <a:r>
              <a:rPr sz="1000">
                <a:solidFill>
                  <a:srgbClr val="E8EEF7"/>
                </a:solidFill>
                <a:latin typeface="Consolas"/>
              </a:rPr>
              <a:t>class Weather(BaseModel):</a:t>
            </a:r>
          </a:p>
          <a:p>
            <a:pPr>
              <a:spcAft>
                <a:spcPts val="0"/>
              </a:spcAft>
            </a:pPr>
            <a:r>
              <a:rPr sz="1000">
                <a:solidFill>
                  <a:srgbClr val="E8EEF7"/>
                </a:solidFill>
                <a:latin typeface="Consolas"/>
              </a:rPr>
              <a:t>  city: str</a:t>
            </a:r>
          </a:p>
          <a:p>
            <a:pPr>
              <a:spcAft>
                <a:spcPts val="0"/>
              </a:spcAft>
            </a:pPr>
            <a:r>
              <a:rPr sz="1000">
                <a:solidFill>
                  <a:srgbClr val="E8EEF7"/>
                </a:solidFill>
                <a:latin typeface="Consolas"/>
              </a:rPr>
              <a:t>  temp_c: float</a:t>
            </a:r>
          </a:p>
          <a:p>
            <a:pPr>
              <a:spcAft>
                <a:spcPts val="0"/>
              </a:spcAft>
            </a:pPr>
            <a:r>
              <a:rPr sz="1000">
                <a:solidFill>
                  <a:srgbClr val="E8EEF7"/>
                </a:solidFill>
                <a:latin typeface="Consolas"/>
              </a:rPr>
              <a:t>  sky: str</a:t>
            </a:r>
          </a:p>
          <a:p>
            <a:pPr>
              <a:spcAft>
                <a:spcPts val="0"/>
              </a:spcAft>
            </a:pPr>
            <a:r>
              <a:rPr sz="1000">
                <a:solidFill>
                  <a:srgbClr val="E8EEF7"/>
                </a:solidFill>
                <a:latin typeface="Consolas"/>
              </a:rPr>
              <a:t> </a:t>
            </a:r>
          </a:p>
          <a:p>
            <a:pPr>
              <a:spcAft>
                <a:spcPts val="0"/>
              </a:spcAft>
            </a:pPr>
            <a:r>
              <a:rPr sz="1000">
                <a:solidFill>
                  <a:srgbClr val="E8EEF7"/>
                </a:solidFill>
                <a:latin typeface="Consolas"/>
              </a:rPr>
              <a:t>client = OpenAI(base_url=BASE, api_key=KEY,</a:t>
            </a:r>
          </a:p>
          <a:p>
            <a:pPr>
              <a:spcAft>
                <a:spcPts val="0"/>
              </a:spcAft>
            </a:pPr>
            <a:r>
              <a:rPr sz="1000">
                <a:solidFill>
                  <a:srgbClr val="E8EEF7"/>
                </a:solidFill>
                <a:latin typeface="Consolas"/>
              </a:rPr>
              <a:t>                default_headers=headers)</a:t>
            </a:r>
          </a:p>
          <a:p>
            <a:pPr>
              <a:spcAft>
                <a:spcPts val="0"/>
              </a:spcAft>
            </a:pPr>
            <a:r>
              <a:rPr sz="1000">
                <a:solidFill>
                  <a:srgbClr val="E8EEF7"/>
                </a:solidFill>
                <a:latin typeface="Consolas"/>
              </a:rPr>
              <a:t>r = client.chat.completions.parse(</a:t>
            </a:r>
          </a:p>
          <a:p>
            <a:pPr>
              <a:spcAft>
                <a:spcPts val="0"/>
              </a:spcAft>
            </a:pPr>
            <a:r>
              <a:rPr sz="1000">
                <a:solidFill>
                  <a:srgbClr val="E8EEF7"/>
                </a:solidFill>
                <a:latin typeface="Consolas"/>
              </a:rPr>
              <a:t>    model=MODEL,</a:t>
            </a:r>
          </a:p>
          <a:p>
            <a:pPr>
              <a:spcAft>
                <a:spcPts val="0"/>
              </a:spcAft>
            </a:pPr>
            <a:r>
              <a:rPr sz="1000">
                <a:solidFill>
                  <a:srgbClr val="E8EEF7"/>
                </a:solidFill>
                <a:latin typeface="Consolas"/>
              </a:rPr>
              <a:t>    messages=[{"role": "user",</a:t>
            </a:r>
          </a:p>
          <a:p>
            <a:pPr>
              <a:spcAft>
                <a:spcPts val="0"/>
              </a:spcAft>
            </a:pPr>
            <a:r>
              <a:rPr sz="1000">
                <a:solidFill>
                  <a:srgbClr val="E8EEF7"/>
                </a:solidFill>
                <a:latin typeface="Consolas"/>
              </a:rPr>
              <a:t>               "content": "Weather in Paris as JSON"}],</a:t>
            </a:r>
          </a:p>
          <a:p>
            <a:pPr>
              <a:spcAft>
                <a:spcPts val="0"/>
              </a:spcAft>
            </a:pPr>
            <a:r>
              <a:rPr sz="1000">
                <a:solidFill>
                  <a:srgbClr val="E8EEF7"/>
                </a:solidFill>
                <a:latin typeface="Consolas"/>
              </a:rPr>
              <a:t>    response_format=Weather)</a:t>
            </a:r>
          </a:p>
          <a:p>
            <a:pPr>
              <a:spcAft>
                <a:spcPts val="0"/>
              </a:spcAft>
            </a:pPr>
            <a:r>
              <a:rPr sz="1000">
                <a:solidFill>
                  <a:srgbClr val="E8EEF7"/>
                </a:solidFill>
                <a:latin typeface="Consolas"/>
              </a:rPr>
              <a:t>print("CC parse -&gt;", r.choices[0].message.parsed)</a:t>
            </a:r>
          </a:p>
        </p:txBody>
      </p:sp>
      <p:sp>
        <p:nvSpPr>
          <p:cNvPr id="8" name="Rounded Rectangle 7"/>
          <p:cNvSpPr/>
          <p:nvPr/>
        </p:nvSpPr>
        <p:spPr>
          <a:xfrm>
            <a:off x="5504688" y="1965960"/>
            <a:ext cx="4736592" cy="2548128"/>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052559" y="2075688"/>
            <a:ext cx="1005840" cy="228600"/>
          </a:xfrm>
          <a:prstGeom prst="rect">
            <a:avLst/>
          </a:prstGeom>
          <a:noFill/>
        </p:spPr>
        <p:txBody>
          <a:bodyPr wrap="square" lIns="0" rIns="0" tIns="0" bIns="0" anchor="t">
            <a:spAutoFit/>
          </a:bodyPr>
          <a:lstStyle/>
          <a:p>
            <a:pPr algn="r">
              <a:spcAft>
                <a:spcPts val="0"/>
              </a:spcAft>
            </a:pPr>
            <a:r>
              <a:rPr sz="900" b="1" i="0">
                <a:solidFill>
                  <a:srgbClr val="FFB900"/>
                </a:solidFill>
                <a:latin typeface="Consolas"/>
              </a:rPr>
              <a:t>C#</a:t>
            </a:r>
          </a:p>
        </p:txBody>
      </p:sp>
      <p:sp>
        <p:nvSpPr>
          <p:cNvPr id="10" name="TextBox 9"/>
          <p:cNvSpPr txBox="1"/>
          <p:nvPr/>
        </p:nvSpPr>
        <p:spPr>
          <a:xfrm>
            <a:off x="5687568" y="2350008"/>
            <a:ext cx="4370831" cy="2045207"/>
          </a:xfrm>
          <a:prstGeom prst="rect">
            <a:avLst/>
          </a:prstGeom>
          <a:noFill/>
        </p:spPr>
        <p:txBody>
          <a:bodyPr wrap="square" lIns="0" rIns="0" tIns="0" bIns="0">
            <a:spAutoFit/>
          </a:bodyPr>
          <a:lstStyle/>
          <a:p>
            <a:pPr>
              <a:spcAft>
                <a:spcPts val="0"/>
              </a:spcAft>
            </a:pPr>
            <a:r>
              <a:rPr sz="1000">
                <a:solidFill>
                  <a:srgbClr val="E8EEF7"/>
                </a:solidFill>
                <a:latin typeface="Consolas"/>
              </a:rPr>
              <a:t>IChatClient chatClient =</a:t>
            </a:r>
          </a:p>
          <a:p>
            <a:pPr>
              <a:spcAft>
                <a:spcPts val="0"/>
              </a:spcAft>
            </a:pPr>
            <a:r>
              <a:rPr sz="1000">
                <a:solidFill>
                  <a:srgbClr val="E8EEF7"/>
                </a:solidFill>
                <a:latin typeface="Consolas"/>
              </a:rPr>
              <a:t>    openai.GetChatClient(model).AsIChatClient();</a:t>
            </a:r>
          </a:p>
          <a:p>
            <a:pPr>
              <a:spcAft>
                <a:spcPts val="0"/>
              </a:spcAft>
            </a:pPr>
            <a:r>
              <a:rPr sz="1000">
                <a:solidFill>
                  <a:srgbClr val="E8EEF7"/>
                </a:solidFill>
                <a:latin typeface="Consolas"/>
              </a:rPr>
              <a:t>ChatResponse&lt;CityInfo&gt; typed =</a:t>
            </a:r>
          </a:p>
          <a:p>
            <a:pPr>
              <a:spcAft>
                <a:spcPts val="0"/>
              </a:spcAft>
            </a:pPr>
            <a:r>
              <a:rPr sz="1000">
                <a:solidFill>
                  <a:srgbClr val="E8EEF7"/>
                </a:solidFill>
                <a:latin typeface="Consolas"/>
              </a:rPr>
              <a:t>    await chatClient.GetResponseAsync&lt;CityInfo&gt;(</a:t>
            </a:r>
          </a:p>
          <a:p>
            <a:pPr>
              <a:spcAft>
                <a:spcPts val="0"/>
              </a:spcAft>
            </a:pPr>
            <a:r>
              <a:rPr sz="1000">
                <a:solidFill>
                  <a:srgbClr val="E8EEF7"/>
                </a:solidFill>
                <a:latin typeface="Consolas"/>
              </a:rPr>
              <a:t>        "Give me basic facts about Paris.");</a:t>
            </a:r>
          </a:p>
          <a:p>
            <a:pPr>
              <a:spcAft>
                <a:spcPts val="0"/>
              </a:spcAft>
            </a:pPr>
            <a:r>
              <a:rPr sz="1000">
                <a:solidFill>
                  <a:srgbClr val="E8EEF7"/>
                </a:solidFill>
                <a:latin typeface="Consolas"/>
              </a:rPr>
              <a:t> </a:t>
            </a:r>
          </a:p>
          <a:p>
            <a:pPr>
              <a:spcAft>
                <a:spcPts val="0"/>
              </a:spcAft>
            </a:pPr>
            <a:r>
              <a:rPr sz="1000">
                <a:solidFill>
                  <a:srgbClr val="E8EEF7"/>
                </a:solidFill>
                <a:latin typeface="Consolas"/>
              </a:rPr>
              <a:t>[Description("Basic facts about a city")]</a:t>
            </a:r>
          </a:p>
          <a:p>
            <a:pPr>
              <a:spcAft>
                <a:spcPts val="0"/>
              </a:spcAft>
            </a:pPr>
            <a:r>
              <a:rPr sz="1000">
                <a:solidFill>
                  <a:srgbClr val="E8EEF7"/>
                </a:solidFill>
                <a:latin typeface="Consolas"/>
              </a:rPr>
              <a:t>record CityInfo([property: Description("City name")]</a:t>
            </a:r>
          </a:p>
          <a:p>
            <a:pPr>
              <a:spcAft>
                <a:spcPts val="0"/>
              </a:spcAft>
            </a:pPr>
            <a:r>
              <a:rPr sz="1000">
                <a:solidFill>
                  <a:srgbClr val="E8EEF7"/>
                </a:solidFill>
                <a:latin typeface="Consolas"/>
              </a:rPr>
              <a:t>                string Name, string Country,</a:t>
            </a:r>
          </a:p>
          <a:p>
            <a:pPr>
              <a:spcAft>
                <a:spcPts val="0"/>
              </a:spcAft>
            </a:pPr>
            <a:r>
              <a:rPr sz="1000">
                <a:solidFill>
                  <a:srgbClr val="E8EEF7"/>
                </a:solidFill>
                <a:latin typeface="Consolas"/>
              </a:rPr>
              <a:t>                int Population);</a:t>
            </a:r>
          </a:p>
        </p:txBody>
      </p:sp>
      <p:sp>
        <p:nvSpPr>
          <p:cNvPr id="11" name="TextBox 10"/>
          <p:cNvSpPr txBox="1"/>
          <p:nvPr/>
        </p:nvSpPr>
        <p:spPr>
          <a:xfrm>
            <a:off x="585216" y="5394960"/>
            <a:ext cx="9656063" cy="457200"/>
          </a:xfrm>
          <a:prstGeom prst="rect">
            <a:avLst/>
          </a:prstGeom>
          <a:noFill/>
        </p:spPr>
        <p:txBody>
          <a:bodyPr wrap="square" lIns="0" rIns="0" tIns="0" bIns="0" anchor="t">
            <a:spAutoFit/>
          </a:bodyPr>
          <a:lstStyle/>
          <a:p>
            <a:pPr algn="l">
              <a:spcAft>
                <a:spcPts val="0"/>
              </a:spcAft>
            </a:pPr>
            <a:r>
              <a:rPr sz="1500" b="1" i="0">
                <a:solidFill>
                  <a:srgbClr val="0078D4"/>
                </a:solidFill>
              </a:rPr>
              <a:t>Constrained decoding masks every token that would break the schema — no regex, no retries.</a:t>
            </a:r>
          </a:p>
        </p:txBody>
      </p:sp>
      <p:sp>
        <p:nvSpPr>
          <p:cNvPr id="12" name="TextBox 11"/>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Verified snippets 2026-09-22 · Snippet verification 2026-09-22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Era 4 — the tool-call loop is the foundation of every agent</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The model never runs your tool — it asks, and your code runs it.</a:t>
            </a:r>
          </a:p>
        </p:txBody>
      </p:sp>
      <p:sp>
        <p:nvSpPr>
          <p:cNvPr id="5" name="Rounded Rectangle 4"/>
          <p:cNvSpPr/>
          <p:nvPr/>
        </p:nvSpPr>
        <p:spPr>
          <a:xfrm>
            <a:off x="2560320" y="2048256"/>
            <a:ext cx="1828800" cy="658368"/>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rPr>
              <a:t>model</a:t>
            </a:r>
          </a:p>
        </p:txBody>
      </p:sp>
      <p:sp>
        <p:nvSpPr>
          <p:cNvPr id="6" name="Rounded Rectangle 5"/>
          <p:cNvSpPr/>
          <p:nvPr/>
        </p:nvSpPr>
        <p:spPr>
          <a:xfrm>
            <a:off x="4526279" y="3282696"/>
            <a:ext cx="1828800" cy="658368"/>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1F1F1F"/>
                </a:solidFill>
              </a:rPr>
              <a:t>tool_calls</a:t>
            </a:r>
          </a:p>
        </p:txBody>
      </p:sp>
      <p:sp>
        <p:nvSpPr>
          <p:cNvPr id="7" name="Rounded Rectangle 6"/>
          <p:cNvSpPr/>
          <p:nvPr/>
        </p:nvSpPr>
        <p:spPr>
          <a:xfrm>
            <a:off x="2560320" y="4517136"/>
            <a:ext cx="1828800" cy="658368"/>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1F1F1F"/>
                </a:solidFill>
              </a:rPr>
              <a:t>your code runs it</a:t>
            </a:r>
          </a:p>
        </p:txBody>
      </p:sp>
      <p:sp>
        <p:nvSpPr>
          <p:cNvPr id="8" name="Rounded Rectangle 7"/>
          <p:cNvSpPr/>
          <p:nvPr/>
        </p:nvSpPr>
        <p:spPr>
          <a:xfrm>
            <a:off x="594359" y="3282696"/>
            <a:ext cx="1828800" cy="658368"/>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1F1F1F"/>
                </a:solidFill>
              </a:rPr>
              <a:t>tool message</a:t>
            </a:r>
          </a:p>
        </p:txBody>
      </p:sp>
      <p:cxnSp>
        <p:nvCxnSpPr>
          <p:cNvPr id="9" name="Connector 8"/>
          <p:cNvCxnSpPr/>
          <p:nvPr/>
        </p:nvCxnSpPr>
        <p:spPr>
          <a:xfrm>
            <a:off x="4086351" y="2761488"/>
            <a:ext cx="742697" cy="466344"/>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4086351" y="3995928"/>
            <a:ext cx="742697" cy="466344"/>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2120391" y="3995928"/>
            <a:ext cx="742697" cy="466344"/>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120391" y="2761488"/>
            <a:ext cx="742697" cy="466344"/>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583680" y="2148840"/>
            <a:ext cx="3657600" cy="3017520"/>
          </a:xfrm>
          <a:prstGeom prst="rect">
            <a:avLst/>
          </a:prstGeom>
          <a:noFill/>
        </p:spPr>
        <p:txBody>
          <a:bodyPr wrap="square" lIns="0" rIns="0" tIns="0" bIns="0" anchor="t">
            <a:spAutoFit/>
          </a:bodyPr>
          <a:lstStyle/>
          <a:p>
            <a:pPr algn="l" marL="256032" indent="-256032">
              <a:spcAft>
                <a:spcPts val="1200"/>
              </a:spcAft>
              <a:buClr>
                <a:srgbClr val="0078D4"/>
              </a:buClr>
              <a:buChar char="•"/>
            </a:pPr>
            <a:r>
              <a:rPr sz="1400" b="1" i="0">
                <a:solidFill>
                  <a:srgbClr val="1F1F1F"/>
                </a:solidFill>
              </a:rPr>
              <a:t>Declare</a:t>
            </a:r>
            <a:r>
              <a:rPr sz="1400" b="0" i="0">
                <a:solidFill>
                  <a:srgbClr val="1F1F1F"/>
                </a:solidFill>
              </a:rPr>
              <a:t> tools: name, description, JSON Schema</a:t>
            </a:r>
          </a:p>
          <a:p>
            <a:pPr algn="l" marL="256032" indent="-256032">
              <a:spcAft>
                <a:spcPts val="1200"/>
              </a:spcAft>
              <a:buClr>
                <a:srgbClr val="0078D4"/>
              </a:buClr>
              <a:buChar char="•"/>
            </a:pPr>
            <a:r>
              <a:rPr sz="1400" b="1" i="0">
                <a:solidFill>
                  <a:srgbClr val="1F1F1F"/>
                </a:solidFill>
              </a:rPr>
              <a:t>The model asks</a:t>
            </a:r>
            <a:r>
              <a:rPr sz="1400" b="0" i="0">
                <a:solidFill>
                  <a:srgbClr val="1F1F1F"/>
                </a:solidFill>
              </a:rPr>
              <a:t>: get_weather(city="Paris")</a:t>
            </a:r>
          </a:p>
          <a:p>
            <a:pPr algn="l" marL="256032" indent="-256032">
              <a:spcAft>
                <a:spcPts val="1200"/>
              </a:spcAft>
              <a:buClr>
                <a:srgbClr val="0078D4"/>
              </a:buClr>
              <a:buChar char="•"/>
            </a:pPr>
            <a:r>
              <a:rPr sz="1400" b="1" i="0">
                <a:solidFill>
                  <a:srgbClr val="1F1F1F"/>
                </a:solidFill>
              </a:rPr>
              <a:t>Your code runs it</a:t>
            </a:r>
            <a:r>
              <a:rPr sz="1400" b="0" i="0">
                <a:solidFill>
                  <a:srgbClr val="1F1F1F"/>
                </a:solidFill>
              </a:rPr>
              <a:t> and appends a tool message</a:t>
            </a:r>
          </a:p>
          <a:p>
            <a:pPr algn="l" marL="256032" indent="-256032">
              <a:spcAft>
                <a:spcPts val="1200"/>
              </a:spcAft>
              <a:buClr>
                <a:srgbClr val="0078D4"/>
              </a:buClr>
              <a:buChar char="•"/>
            </a:pPr>
            <a:r>
              <a:rPr sz="1400" b="1" i="0">
                <a:solidFill>
                  <a:srgbClr val="1F1F1F"/>
                </a:solidFill>
              </a:rPr>
              <a:t>Stop</a:t>
            </a:r>
            <a:r>
              <a:rPr sz="1400" b="0" i="0">
                <a:solidFill>
                  <a:srgbClr val="1F1F1F"/>
                </a:solidFill>
              </a:rPr>
              <a:t> when it answers without a tool — or the budget ends</a:t>
            </a:r>
          </a:p>
        </p:txBody>
      </p:sp>
      <p:sp>
        <p:nvSpPr>
          <p:cNvPr id="14" name="TextBox 13"/>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Memory, budgets, permissions, teams: Segment 3 is the runtime around this loop.</a:t>
            </a:r>
          </a:p>
        </p:txBody>
      </p:sp>
      <p:sp>
        <p:nvSpPr>
          <p:cNvPr id="15" name="TextBox 14"/>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Lab 1 code (tested 2026-09-22)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The loop in 20 lines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Rounded Rectangle 3"/>
          <p:cNvSpPr/>
          <p:nvPr/>
        </p:nvSpPr>
        <p:spPr>
          <a:xfrm>
            <a:off x="585216" y="1371600"/>
            <a:ext cx="4736592" cy="2852928"/>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133087" y="1481328"/>
            <a:ext cx="1005840" cy="228600"/>
          </a:xfrm>
          <a:prstGeom prst="rect">
            <a:avLst/>
          </a:prstGeom>
          <a:noFill/>
        </p:spPr>
        <p:txBody>
          <a:bodyPr wrap="square" lIns="0" rIns="0" tIns="0" bIns="0" anchor="t">
            <a:spAutoFit/>
          </a:bodyPr>
          <a:lstStyle/>
          <a:p>
            <a:pPr algn="r">
              <a:spcAft>
                <a:spcPts val="0"/>
              </a:spcAft>
            </a:pPr>
            <a:r>
              <a:rPr sz="900" b="1" i="0">
                <a:solidFill>
                  <a:srgbClr val="FFB900"/>
                </a:solidFill>
                <a:latin typeface="Consolas"/>
              </a:rPr>
              <a:t>PYTHON</a:t>
            </a:r>
          </a:p>
        </p:txBody>
      </p:sp>
      <p:sp>
        <p:nvSpPr>
          <p:cNvPr id="6" name="TextBox 5"/>
          <p:cNvSpPr txBox="1"/>
          <p:nvPr/>
        </p:nvSpPr>
        <p:spPr>
          <a:xfrm>
            <a:off x="768096" y="1755648"/>
            <a:ext cx="4370831" cy="2350008"/>
          </a:xfrm>
          <a:prstGeom prst="rect">
            <a:avLst/>
          </a:prstGeom>
          <a:noFill/>
        </p:spPr>
        <p:txBody>
          <a:bodyPr wrap="square" lIns="0" rIns="0" tIns="0" bIns="0">
            <a:spAutoFit/>
          </a:bodyPr>
          <a:lstStyle/>
          <a:p>
            <a:pPr>
              <a:spcAft>
                <a:spcPts val="0"/>
              </a:spcAft>
            </a:pPr>
            <a:r>
              <a:rPr sz="1000">
                <a:solidFill>
                  <a:srgbClr val="E8EEF7"/>
                </a:solidFill>
                <a:latin typeface="Consolas"/>
              </a:rPr>
              <a:t>for step in range(6):</a:t>
            </a:r>
          </a:p>
          <a:p>
            <a:pPr>
              <a:spcAft>
                <a:spcPts val="0"/>
              </a:spcAft>
            </a:pPr>
            <a:r>
              <a:rPr sz="1000">
                <a:solidFill>
                  <a:srgbClr val="E8EEF7"/>
                </a:solidFill>
                <a:latin typeface="Consolas"/>
              </a:rPr>
              <a:t>  response = client.chat.completions.create(</a:t>
            </a:r>
          </a:p>
          <a:p>
            <a:pPr>
              <a:spcAft>
                <a:spcPts val="0"/>
              </a:spcAft>
            </a:pPr>
            <a:r>
              <a:rPr sz="1000">
                <a:solidFill>
                  <a:srgbClr val="E8EEF7"/>
                </a:solidFill>
                <a:latin typeface="Consolas"/>
              </a:rPr>
              <a:t>      model=MODEL, messages=messages, tools=TOOLS,</a:t>
            </a:r>
          </a:p>
          <a:p>
            <a:pPr>
              <a:spcAft>
                <a:spcPts val="0"/>
              </a:spcAft>
            </a:pPr>
            <a:r>
              <a:rPr sz="1000">
                <a:solidFill>
                  <a:srgbClr val="E8EEF7"/>
                </a:solidFill>
                <a:latin typeface="Consolas"/>
              </a:rPr>
              <a:t>      **EXTRA)</a:t>
            </a:r>
          </a:p>
          <a:p>
            <a:pPr>
              <a:spcAft>
                <a:spcPts val="0"/>
              </a:spcAft>
            </a:pPr>
            <a:r>
              <a:rPr sz="1000">
                <a:solidFill>
                  <a:srgbClr val="E8EEF7"/>
                </a:solidFill>
                <a:latin typeface="Consolas"/>
              </a:rPr>
              <a:t>  msg = response.choices[0].message</a:t>
            </a:r>
          </a:p>
          <a:p>
            <a:pPr>
              <a:spcAft>
                <a:spcPts val="0"/>
              </a:spcAft>
            </a:pPr>
            <a:r>
              <a:rPr sz="1000">
                <a:solidFill>
                  <a:srgbClr val="E8EEF7"/>
                </a:solidFill>
                <a:latin typeface="Consolas"/>
              </a:rPr>
              <a:t>  messages.append(msg.model_dump(exclude_none=True))</a:t>
            </a:r>
          </a:p>
          <a:p>
            <a:pPr>
              <a:spcAft>
                <a:spcPts val="0"/>
              </a:spcAft>
            </a:pPr>
            <a:r>
              <a:rPr sz="1000">
                <a:solidFill>
                  <a:srgbClr val="E8EEF7"/>
                </a:solidFill>
                <a:latin typeface="Consolas"/>
              </a:rPr>
              <a:t>  if not msg.tool_calls:</a:t>
            </a:r>
          </a:p>
          <a:p>
            <a:pPr>
              <a:spcAft>
                <a:spcPts val="0"/>
              </a:spcAft>
            </a:pPr>
            <a:r>
              <a:rPr sz="1000">
                <a:solidFill>
                  <a:srgbClr val="E8EEF7"/>
                </a:solidFill>
                <a:latin typeface="Consolas"/>
              </a:rPr>
              <a:t>    break</a:t>
            </a:r>
          </a:p>
          <a:p>
            <a:pPr>
              <a:spcAft>
                <a:spcPts val="0"/>
              </a:spcAft>
            </a:pPr>
            <a:r>
              <a:rPr sz="1000">
                <a:solidFill>
                  <a:srgbClr val="E8EEF7"/>
                </a:solidFill>
                <a:latin typeface="Consolas"/>
              </a:rPr>
              <a:t>  for call in msg.tool_calls:</a:t>
            </a:r>
          </a:p>
          <a:p>
            <a:pPr>
              <a:spcAft>
                <a:spcPts val="0"/>
              </a:spcAft>
            </a:pPr>
            <a:r>
              <a:rPr sz="1000">
                <a:solidFill>
                  <a:srgbClr val="E8EEF7"/>
                </a:solidFill>
                <a:latin typeface="Consolas"/>
              </a:rPr>
              <a:t>    args = json.loads(call.function.arguments or "{}")</a:t>
            </a:r>
          </a:p>
          <a:p>
            <a:pPr>
              <a:spcAft>
                <a:spcPts val="0"/>
              </a:spcAft>
            </a:pPr>
            <a:r>
              <a:rPr sz="1000">
                <a:solidFill>
                  <a:srgbClr val="E8EEF7"/>
                </a:solidFill>
                <a:latin typeface="Consolas"/>
              </a:rPr>
              <a:t>    result = IMPLEMENTATIONS[call.function.name](**args)</a:t>
            </a:r>
          </a:p>
          <a:p>
            <a:pPr>
              <a:spcAft>
                <a:spcPts val="0"/>
              </a:spcAft>
            </a:pPr>
            <a:r>
              <a:rPr sz="1000">
                <a:solidFill>
                  <a:srgbClr val="E8EEF7"/>
                </a:solidFill>
                <a:latin typeface="Consolas"/>
              </a:rPr>
              <a:t>    messages.append(</a:t>
            </a:r>
          </a:p>
          <a:p>
            <a:pPr>
              <a:spcAft>
                <a:spcPts val="0"/>
              </a:spcAft>
            </a:pPr>
            <a:r>
              <a:rPr sz="1000">
                <a:solidFill>
                  <a:srgbClr val="E8EEF7"/>
                </a:solidFill>
                <a:latin typeface="Consolas"/>
              </a:rPr>
              <a:t>        {"role": "tool", "tool_call_id": call.id,</a:t>
            </a:r>
          </a:p>
          <a:p>
            <a:pPr>
              <a:spcAft>
                <a:spcPts val="0"/>
              </a:spcAft>
            </a:pPr>
            <a:r>
              <a:rPr sz="1000">
                <a:solidFill>
                  <a:srgbClr val="E8EEF7"/>
                </a:solidFill>
                <a:latin typeface="Consolas"/>
              </a:rPr>
              <a:t>         "content": result})</a:t>
            </a:r>
          </a:p>
        </p:txBody>
      </p:sp>
      <p:sp>
        <p:nvSpPr>
          <p:cNvPr id="7" name="Rounded Rectangle 6"/>
          <p:cNvSpPr/>
          <p:nvPr/>
        </p:nvSpPr>
        <p:spPr>
          <a:xfrm>
            <a:off x="5504688" y="1371600"/>
            <a:ext cx="4736592" cy="2852928"/>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052559" y="1481328"/>
            <a:ext cx="1005840" cy="228600"/>
          </a:xfrm>
          <a:prstGeom prst="rect">
            <a:avLst/>
          </a:prstGeom>
          <a:noFill/>
        </p:spPr>
        <p:txBody>
          <a:bodyPr wrap="square" lIns="0" rIns="0" tIns="0" bIns="0" anchor="t">
            <a:spAutoFit/>
          </a:bodyPr>
          <a:lstStyle/>
          <a:p>
            <a:pPr algn="r">
              <a:spcAft>
                <a:spcPts val="0"/>
              </a:spcAft>
            </a:pPr>
            <a:r>
              <a:rPr sz="900" b="1" i="0">
                <a:solidFill>
                  <a:srgbClr val="FFB900"/>
                </a:solidFill>
                <a:latin typeface="Consolas"/>
              </a:rPr>
              <a:t>C#</a:t>
            </a:r>
          </a:p>
        </p:txBody>
      </p:sp>
      <p:sp>
        <p:nvSpPr>
          <p:cNvPr id="9" name="TextBox 8"/>
          <p:cNvSpPr txBox="1"/>
          <p:nvPr/>
        </p:nvSpPr>
        <p:spPr>
          <a:xfrm>
            <a:off x="5687568" y="1755648"/>
            <a:ext cx="4370831" cy="2350008"/>
          </a:xfrm>
          <a:prstGeom prst="rect">
            <a:avLst/>
          </a:prstGeom>
          <a:noFill/>
        </p:spPr>
        <p:txBody>
          <a:bodyPr wrap="square" lIns="0" rIns="0" tIns="0" bIns="0">
            <a:spAutoFit/>
          </a:bodyPr>
          <a:lstStyle/>
          <a:p>
            <a:pPr>
              <a:spcAft>
                <a:spcPts val="0"/>
              </a:spcAft>
            </a:pPr>
            <a:r>
              <a:rPr sz="1000">
                <a:solidFill>
                  <a:srgbClr val="E8EEF7"/>
                </a:solidFill>
                <a:latin typeface="Consolas"/>
              </a:rPr>
              <a:t>for (; step &lt; Budget; step++)</a:t>
            </a:r>
          </a:p>
          <a:p>
            <a:pPr>
              <a:spcAft>
                <a:spcPts val="0"/>
              </a:spcAft>
            </a:pPr>
            <a:r>
              <a:rPr sz="1000">
                <a:solidFill>
                  <a:srgbClr val="E8EEF7"/>
                </a:solidFill>
                <a:latin typeface="Consolas"/>
              </a:rPr>
              <a:t>{</a:t>
            </a:r>
          </a:p>
          <a:p>
            <a:pPr>
              <a:spcAft>
                <a:spcPts val="0"/>
              </a:spcAft>
            </a:pPr>
            <a:r>
              <a:rPr sz="1000">
                <a:solidFill>
                  <a:srgbClr val="E8EEF7"/>
                </a:solidFill>
                <a:latin typeface="Consolas"/>
              </a:rPr>
              <a:t>  ChatCompletion response =</a:t>
            </a:r>
          </a:p>
          <a:p>
            <a:pPr>
              <a:spcAft>
                <a:spcPts val="0"/>
              </a:spcAft>
            </a:pPr>
            <a:r>
              <a:rPr sz="1000">
                <a:solidFill>
                  <a:srgbClr val="E8EEF7"/>
                </a:solidFill>
                <a:latin typeface="Consolas"/>
              </a:rPr>
              <a:t>      await client.CompleteChatAsync(messages, options);</a:t>
            </a:r>
          </a:p>
          <a:p>
            <a:pPr>
              <a:spcAft>
                <a:spcPts val="0"/>
              </a:spcAft>
            </a:pPr>
            <a:r>
              <a:rPr sz="1000">
                <a:solidFill>
                  <a:srgbClr val="E8EEF7"/>
                </a:solidFill>
                <a:latin typeface="Consolas"/>
              </a:rPr>
              <a:t>  messages.Add(new AssistantChatMessage(response));</a:t>
            </a:r>
          </a:p>
          <a:p>
            <a:pPr>
              <a:spcAft>
                <a:spcPts val="0"/>
              </a:spcAft>
            </a:pPr>
            <a:r>
              <a:rPr sz="1000">
                <a:solidFill>
                  <a:srgbClr val="E8EEF7"/>
                </a:solidFill>
                <a:latin typeface="Consolas"/>
              </a:rPr>
              <a:t>  if (response.ToolCalls.Count == 0)</a:t>
            </a:r>
          </a:p>
          <a:p>
            <a:pPr>
              <a:spcAft>
                <a:spcPts val="0"/>
              </a:spcAft>
            </a:pPr>
            <a:r>
              <a:rPr sz="1000">
                <a:solidFill>
                  <a:srgbClr val="E8EEF7"/>
                </a:solidFill>
                <a:latin typeface="Consolas"/>
              </a:rPr>
              <a:t>  {</a:t>
            </a:r>
          </a:p>
          <a:p>
            <a:pPr>
              <a:spcAft>
                <a:spcPts val="0"/>
              </a:spcAft>
            </a:pPr>
            <a:r>
              <a:rPr sz="1000">
                <a:solidFill>
                  <a:srgbClr val="E8EEF7"/>
                </a:solidFill>
                <a:latin typeface="Consolas"/>
              </a:rPr>
              <a:t>    break;</a:t>
            </a:r>
          </a:p>
          <a:p>
            <a:pPr>
              <a:spcAft>
                <a:spcPts val="0"/>
              </a:spcAft>
            </a:pPr>
            <a:r>
              <a:rPr sz="1000">
                <a:solidFill>
                  <a:srgbClr val="E8EEF7"/>
                </a:solidFill>
                <a:latin typeface="Consolas"/>
              </a:rPr>
              <a:t>  }</a:t>
            </a:r>
          </a:p>
          <a:p>
            <a:pPr>
              <a:spcAft>
                <a:spcPts val="0"/>
              </a:spcAft>
            </a:pPr>
            <a:r>
              <a:rPr sz="1000">
                <a:solidFill>
                  <a:srgbClr val="E8EEF7"/>
                </a:solidFill>
                <a:latin typeface="Consolas"/>
              </a:rPr>
              <a:t>  foreach (ChatToolCall call in response.ToolCalls)</a:t>
            </a:r>
          </a:p>
          <a:p>
            <a:pPr>
              <a:spcAft>
                <a:spcPts val="0"/>
              </a:spcAft>
            </a:pPr>
            <a:r>
              <a:rPr sz="1000">
                <a:solidFill>
                  <a:srgbClr val="E8EEF7"/>
                </a:solidFill>
                <a:latin typeface="Consolas"/>
              </a:rPr>
              <a:t>  {</a:t>
            </a:r>
          </a:p>
          <a:p>
            <a:pPr>
              <a:spcAft>
                <a:spcPts val="0"/>
              </a:spcAft>
            </a:pPr>
            <a:r>
              <a:rPr sz="1000">
                <a:solidFill>
                  <a:srgbClr val="E8EEF7"/>
                </a:solidFill>
                <a:latin typeface="Consolas"/>
              </a:rPr>
              <a:t>    string result = Run(call);</a:t>
            </a:r>
          </a:p>
          <a:p>
            <a:pPr>
              <a:spcAft>
                <a:spcPts val="0"/>
              </a:spcAft>
            </a:pPr>
            <a:r>
              <a:rPr sz="1000">
                <a:solidFill>
                  <a:srgbClr val="E8EEF7"/>
                </a:solidFill>
                <a:latin typeface="Consolas"/>
              </a:rPr>
              <a:t>    messages.Add(new ToolChatMessage(call.Id, result));</a:t>
            </a:r>
          </a:p>
          <a:p>
            <a:pPr>
              <a:spcAft>
                <a:spcPts val="0"/>
              </a:spcAft>
            </a:pPr>
            <a:r>
              <a:rPr sz="1000">
                <a:solidFill>
                  <a:srgbClr val="E8EEF7"/>
                </a:solidFill>
                <a:latin typeface="Consolas"/>
              </a:rPr>
              <a:t>  }</a:t>
            </a:r>
          </a:p>
          <a:p>
            <a:pPr>
              <a:spcAft>
                <a:spcPts val="0"/>
              </a:spcAft>
            </a:pPr>
            <a:r>
              <a:rPr sz="1000">
                <a:solidFill>
                  <a:srgbClr val="E8EEF7"/>
                </a:solidFill>
                <a:latin typeface="Consolas"/>
              </a:rPr>
              <a:t>}</a:t>
            </a:r>
          </a:p>
        </p:txBody>
      </p:sp>
      <p:sp>
        <p:nvSpPr>
          <p:cNvPr id="10" name="Rounded Rectangle 9"/>
          <p:cNvSpPr/>
          <p:nvPr/>
        </p:nvSpPr>
        <p:spPr>
          <a:xfrm>
            <a:off x="585216" y="4361688"/>
            <a:ext cx="329184" cy="292608"/>
          </a:xfrm>
          <a:prstGeom prst="roundRect">
            <a:avLst>
              <a:gd name="adj" fmla="val 5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1</a:t>
            </a:r>
          </a:p>
        </p:txBody>
      </p:sp>
      <p:sp>
        <p:nvSpPr>
          <p:cNvPr id="11" name="TextBox 10"/>
          <p:cNvSpPr txBox="1"/>
          <p:nvPr/>
        </p:nvSpPr>
        <p:spPr>
          <a:xfrm>
            <a:off x="996696" y="4379976"/>
            <a:ext cx="1899665" cy="457200"/>
          </a:xfrm>
          <a:prstGeom prst="rect">
            <a:avLst/>
          </a:prstGeom>
          <a:noFill/>
        </p:spPr>
        <p:txBody>
          <a:bodyPr wrap="square" lIns="0" rIns="0" tIns="0" bIns="0" anchor="t">
            <a:spAutoFit/>
          </a:bodyPr>
          <a:lstStyle/>
          <a:p>
            <a:pPr algn="l">
              <a:spcAft>
                <a:spcPts val="0"/>
              </a:spcAft>
            </a:pPr>
            <a:r>
              <a:rPr sz="1200" b="0" i="0">
                <a:solidFill>
                  <a:srgbClr val="1F1F1F"/>
                </a:solidFill>
              </a:rPr>
              <a:t>call with the whole history</a:t>
            </a:r>
          </a:p>
        </p:txBody>
      </p:sp>
      <p:sp>
        <p:nvSpPr>
          <p:cNvPr id="12" name="Rounded Rectangle 11"/>
          <p:cNvSpPr/>
          <p:nvPr/>
        </p:nvSpPr>
        <p:spPr>
          <a:xfrm>
            <a:off x="3033522" y="4361688"/>
            <a:ext cx="329184" cy="292608"/>
          </a:xfrm>
          <a:prstGeom prst="roundRect">
            <a:avLst>
              <a:gd name="adj" fmla="val 5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2</a:t>
            </a:r>
          </a:p>
        </p:txBody>
      </p:sp>
      <p:sp>
        <p:nvSpPr>
          <p:cNvPr id="13" name="TextBox 12"/>
          <p:cNvSpPr txBox="1"/>
          <p:nvPr/>
        </p:nvSpPr>
        <p:spPr>
          <a:xfrm>
            <a:off x="3445002" y="4379976"/>
            <a:ext cx="1899665" cy="457200"/>
          </a:xfrm>
          <a:prstGeom prst="rect">
            <a:avLst/>
          </a:prstGeom>
          <a:noFill/>
        </p:spPr>
        <p:txBody>
          <a:bodyPr wrap="square" lIns="0" rIns="0" tIns="0" bIns="0" anchor="t">
            <a:spAutoFit/>
          </a:bodyPr>
          <a:lstStyle/>
          <a:p>
            <a:pPr algn="l">
              <a:spcAft>
                <a:spcPts val="0"/>
              </a:spcAft>
            </a:pPr>
            <a:r>
              <a:rPr sz="1200" b="0" i="0">
                <a:solidFill>
                  <a:srgbClr val="1F1F1F"/>
                </a:solidFill>
              </a:rPr>
              <a:t>append the assistant turn</a:t>
            </a:r>
          </a:p>
        </p:txBody>
      </p:sp>
      <p:sp>
        <p:nvSpPr>
          <p:cNvPr id="14" name="Rounded Rectangle 13"/>
          <p:cNvSpPr/>
          <p:nvPr/>
        </p:nvSpPr>
        <p:spPr>
          <a:xfrm>
            <a:off x="5481827" y="4361688"/>
            <a:ext cx="329184" cy="292608"/>
          </a:xfrm>
          <a:prstGeom prst="roundRect">
            <a:avLst>
              <a:gd name="adj" fmla="val 5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3</a:t>
            </a:r>
          </a:p>
        </p:txBody>
      </p:sp>
      <p:sp>
        <p:nvSpPr>
          <p:cNvPr id="15" name="TextBox 14"/>
          <p:cNvSpPr txBox="1"/>
          <p:nvPr/>
        </p:nvSpPr>
        <p:spPr>
          <a:xfrm>
            <a:off x="5893307" y="4379976"/>
            <a:ext cx="1899665" cy="457200"/>
          </a:xfrm>
          <a:prstGeom prst="rect">
            <a:avLst/>
          </a:prstGeom>
          <a:noFill/>
        </p:spPr>
        <p:txBody>
          <a:bodyPr wrap="square" lIns="0" rIns="0" tIns="0" bIns="0" anchor="t">
            <a:spAutoFit/>
          </a:bodyPr>
          <a:lstStyle/>
          <a:p>
            <a:pPr algn="l">
              <a:spcAft>
                <a:spcPts val="0"/>
              </a:spcAft>
            </a:pPr>
            <a:r>
              <a:rPr sz="1200" b="0" i="0">
                <a:solidFill>
                  <a:srgbClr val="1F1F1F"/>
                </a:solidFill>
              </a:rPr>
              <a:t>no tool call? done</a:t>
            </a:r>
          </a:p>
        </p:txBody>
      </p:sp>
      <p:sp>
        <p:nvSpPr>
          <p:cNvPr id="16" name="Rounded Rectangle 15"/>
          <p:cNvSpPr/>
          <p:nvPr/>
        </p:nvSpPr>
        <p:spPr>
          <a:xfrm>
            <a:off x="7930133" y="4361688"/>
            <a:ext cx="329184" cy="292608"/>
          </a:xfrm>
          <a:prstGeom prst="roundRect">
            <a:avLst>
              <a:gd name="adj" fmla="val 5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4</a:t>
            </a:r>
          </a:p>
        </p:txBody>
      </p:sp>
      <p:sp>
        <p:nvSpPr>
          <p:cNvPr id="17" name="TextBox 16"/>
          <p:cNvSpPr txBox="1"/>
          <p:nvPr/>
        </p:nvSpPr>
        <p:spPr>
          <a:xfrm>
            <a:off x="8341613" y="4379976"/>
            <a:ext cx="1899665" cy="457200"/>
          </a:xfrm>
          <a:prstGeom prst="rect">
            <a:avLst/>
          </a:prstGeom>
          <a:noFill/>
        </p:spPr>
        <p:txBody>
          <a:bodyPr wrap="square" lIns="0" rIns="0" tIns="0" bIns="0" anchor="t">
            <a:spAutoFit/>
          </a:bodyPr>
          <a:lstStyle/>
          <a:p>
            <a:pPr algn="l">
              <a:spcAft>
                <a:spcPts val="0"/>
              </a:spcAft>
            </a:pPr>
            <a:r>
              <a:rPr sz="1200" b="0" i="0">
                <a:solidFill>
                  <a:srgbClr val="1F1F1F"/>
                </a:solidFill>
              </a:rPr>
              <a:t>run each tool, append a tool message</a:t>
            </a:r>
          </a:p>
        </p:txBody>
      </p:sp>
      <p:sp>
        <p:nvSpPr>
          <p:cNvPr id="18" name="TextBox 17"/>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500" b="1" i="0">
                <a:solidFill>
                  <a:srgbClr val="0078D4"/>
                </a:solidFill>
              </a:rPr>
              <a:t>Lab 1 step 4 (TODO 2) is exactly this loop.</a:t>
            </a:r>
          </a:p>
        </p:txBody>
      </p:sp>
      <p:sp>
        <p:nvSpPr>
          <p:cNvPr id="19" name="TextBox 18"/>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Lab 1 code (tested 2026-09-22) · Verified snippets 2026-09-22</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The toolbox: streaming, vision, embeddings, batch, cache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Five more blocks — each changes the experience or the bill.</a:t>
            </a:r>
          </a:p>
        </p:txBody>
      </p:sp>
      <p:graphicFrame>
        <p:nvGraphicFramePr>
          <p:cNvPr id="5" name="Table 4"/>
          <p:cNvGraphicFramePr>
            <a:graphicFrameLocks noGrp="1"/>
          </p:cNvGraphicFramePr>
          <p:nvPr/>
        </p:nvGraphicFramePr>
        <p:xfrm>
          <a:off x="585216" y="2011680"/>
          <a:ext cx="9656064" cy="2743200"/>
        </p:xfrm>
        <a:graphic>
          <a:graphicData uri="http://schemas.openxmlformats.org/drawingml/2006/table">
            <a:tbl>
              <a:tblPr firstRow="1" bandRow="1">
                <a:tableStyleId>{5C22544A-7EE6-4342-B048-85BDC9FD1C3A}</a:tableStyleId>
              </a:tblPr>
              <a:tblGrid>
                <a:gridCol w="1417320"/>
                <a:gridCol w="3429000"/>
                <a:gridCol w="4809744"/>
              </a:tblGrid>
              <a:tr h="365760">
                <a:tc>
                  <a:txBody>
                    <a:bodyPr/>
                    <a:lstStyle/>
                    <a:p>
                      <a:r>
                        <a:rPr sz="1200" b="1">
                          <a:solidFill>
                            <a:srgbClr val="FFFFFF"/>
                          </a:solidFill>
                        </a:rPr>
                        <a:t>Block</a:t>
                      </a:r>
                    </a:p>
                  </a:txBody>
                  <a:tcPr marT="27432" marB="27432" marL="73152" marR="73152" anchor="ctr">
                    <a:solidFill>
                      <a:srgbClr val="2A446F"/>
                    </a:solidFill>
                  </a:tcPr>
                </a:tc>
                <a:tc>
                  <a:txBody>
                    <a:bodyPr/>
                    <a:lstStyle/>
                    <a:p>
                      <a:r>
                        <a:rPr sz="1200" b="1">
                          <a:solidFill>
                            <a:srgbClr val="FFFFFF"/>
                          </a:solidFill>
                        </a:rPr>
                        <a:t>What it is</a:t>
                      </a:r>
                    </a:p>
                  </a:txBody>
                  <a:tcPr marT="27432" marB="27432" marL="73152" marR="73152" anchor="ctr">
                    <a:solidFill>
                      <a:srgbClr val="2A446F"/>
                    </a:solidFill>
                  </a:tcPr>
                </a:tc>
                <a:tc>
                  <a:txBody>
                    <a:bodyPr/>
                    <a:lstStyle/>
                    <a:p>
                      <a:r>
                        <a:rPr sz="1200" b="1">
                          <a:solidFill>
                            <a:srgbClr val="FFFFFF"/>
                          </a:solidFill>
                        </a:rPr>
                        <a:t>When it pays</a:t>
                      </a:r>
                    </a:p>
                  </a:txBody>
                  <a:tcPr marT="27432" marB="27432" marL="73152" marR="73152" anchor="ctr">
                    <a:solidFill>
                      <a:srgbClr val="2A446F"/>
                    </a:solidFill>
                  </a:tcPr>
                </a:tc>
              </a:tr>
              <a:tr h="475488">
                <a:tc>
                  <a:txBody>
                    <a:bodyPr/>
                    <a:lstStyle/>
                    <a:p>
                      <a:r>
                        <a:rPr sz="1200" b="1">
                          <a:solidFill>
                            <a:srgbClr val="1F1F1F"/>
                          </a:solidFill>
                        </a:rPr>
                        <a:t>Streaming</a:t>
                      </a:r>
                    </a:p>
                  </a:txBody>
                  <a:tcPr marT="27432" marB="27432" marL="73152" marR="73152" anchor="ctr">
                    <a:solidFill>
                      <a:srgbClr val="FFFFFF"/>
                    </a:solidFill>
                  </a:tcPr>
                </a:tc>
                <a:tc>
                  <a:txBody>
                    <a:bodyPr/>
                    <a:lstStyle/>
                    <a:p>
                      <a:r>
                        <a:rPr sz="1200" b="0">
                          <a:solidFill>
                            <a:srgbClr val="1F1F1F"/>
                          </a:solidFill>
                        </a:rPr>
                        <a:t>server-sent events: tokens arrive as generated</a:t>
                      </a:r>
                    </a:p>
                  </a:txBody>
                  <a:tcPr marT="27432" marB="27432" marL="73152" marR="73152" anchor="ctr">
                    <a:solidFill>
                      <a:srgbClr val="FFFFFF"/>
                    </a:solidFill>
                  </a:tcPr>
                </a:tc>
                <a:tc>
                  <a:txBody>
                    <a:bodyPr/>
                    <a:lstStyle/>
                    <a:p>
                      <a:r>
                        <a:rPr sz="1200" b="0">
                          <a:solidFill>
                            <a:srgbClr val="1F1F1F"/>
                          </a:solidFill>
                        </a:rPr>
                        <a:t>chat UIs: users read while it writes</a:t>
                      </a:r>
                    </a:p>
                  </a:txBody>
                  <a:tcPr marT="27432" marB="27432" marL="73152" marR="73152" anchor="ctr">
                    <a:solidFill>
                      <a:srgbClr val="FFFFFF"/>
                    </a:solidFill>
                  </a:tcPr>
                </a:tc>
              </a:tr>
              <a:tr h="475488">
                <a:tc>
                  <a:txBody>
                    <a:bodyPr/>
                    <a:lstStyle/>
                    <a:p>
                      <a:r>
                        <a:rPr sz="1200" b="1">
                          <a:solidFill>
                            <a:srgbClr val="1F1F1F"/>
                          </a:solidFill>
                        </a:rPr>
                        <a:t>Vision input</a:t>
                      </a:r>
                    </a:p>
                  </a:txBody>
                  <a:tcPr marT="27432" marB="27432" marL="73152" marR="73152" anchor="ctr">
                    <a:solidFill>
                      <a:srgbClr val="F3F4F8"/>
                    </a:solidFill>
                  </a:tcPr>
                </a:tc>
                <a:tc>
                  <a:txBody>
                    <a:bodyPr/>
                    <a:lstStyle/>
                    <a:p>
                      <a:r>
                        <a:rPr sz="1200" b="0">
                          <a:solidFill>
                            <a:srgbClr val="1F1F1F"/>
                          </a:solidFill>
                        </a:rPr>
                        <a:t>images are cut into patches that become tokens</a:t>
                      </a:r>
                    </a:p>
                  </a:txBody>
                  <a:tcPr marT="27432" marB="27432" marL="73152" marR="73152" anchor="ctr">
                    <a:solidFill>
                      <a:srgbClr val="F3F4F8"/>
                    </a:solidFill>
                  </a:tcPr>
                </a:tc>
                <a:tc>
                  <a:txBody>
                    <a:bodyPr/>
                    <a:lstStyle/>
                    <a:p>
                      <a:r>
                        <a:rPr sz="1200" b="0">
                          <a:solidFill>
                            <a:srgbClr val="1F1F1F"/>
                          </a:solidFill>
                        </a:rPr>
                        <a:t>screenshots, scanned documents, UI tests</a:t>
                      </a:r>
                    </a:p>
                  </a:txBody>
                  <a:tcPr marT="27432" marB="27432" marL="73152" marR="73152" anchor="ctr">
                    <a:solidFill>
                      <a:srgbClr val="F3F4F8"/>
                    </a:solidFill>
                  </a:tcPr>
                </a:tc>
              </a:tr>
              <a:tr h="475488">
                <a:tc>
                  <a:txBody>
                    <a:bodyPr/>
                    <a:lstStyle/>
                    <a:p>
                      <a:r>
                        <a:rPr sz="1200" b="1">
                          <a:solidFill>
                            <a:srgbClr val="1F1F1F"/>
                          </a:solidFill>
                        </a:rPr>
                        <a:t>Embeddings</a:t>
                      </a:r>
                    </a:p>
                  </a:txBody>
                  <a:tcPr marT="27432" marB="27432" marL="73152" marR="73152" anchor="ctr">
                    <a:solidFill>
                      <a:srgbClr val="FFFFFF"/>
                    </a:solidFill>
                  </a:tcPr>
                </a:tc>
                <a:tc>
                  <a:txBody>
                    <a:bodyPr/>
                    <a:lstStyle/>
                    <a:p>
                      <a:r>
                        <a:rPr sz="1200" b="0">
                          <a:solidFill>
                            <a:srgbClr val="1F1F1F"/>
                          </a:solidFill>
                        </a:rPr>
                        <a:t>text → a vector; similar texts land close together</a:t>
                      </a:r>
                    </a:p>
                  </a:txBody>
                  <a:tcPr marT="27432" marB="27432" marL="73152" marR="73152" anchor="ctr">
                    <a:solidFill>
                      <a:srgbClr val="FFFFFF"/>
                    </a:solidFill>
                  </a:tcPr>
                </a:tc>
                <a:tc>
                  <a:txBody>
                    <a:bodyPr/>
                    <a:lstStyle/>
                    <a:p>
                      <a:r>
                        <a:rPr sz="1200" b="0">
                          <a:solidFill>
                            <a:srgbClr val="1F1F1F"/>
                          </a:solidFill>
                        </a:rPr>
                        <a:t>search, RAG, clustering — Segment 2</a:t>
                      </a:r>
                    </a:p>
                  </a:txBody>
                  <a:tcPr marT="27432" marB="27432" marL="73152" marR="73152" anchor="ctr">
                    <a:solidFill>
                      <a:srgbClr val="FFFFFF"/>
                    </a:solidFill>
                  </a:tcPr>
                </a:tc>
              </a:tr>
              <a:tr h="475488">
                <a:tc>
                  <a:txBody>
                    <a:bodyPr/>
                    <a:lstStyle/>
                    <a:p>
                      <a:r>
                        <a:rPr sz="1200" b="1">
                          <a:solidFill>
                            <a:srgbClr val="1F1F1F"/>
                          </a:solidFill>
                        </a:rPr>
                        <a:t>Batch</a:t>
                      </a:r>
                    </a:p>
                  </a:txBody>
                  <a:tcPr marT="27432" marB="27432" marL="73152" marR="73152" anchor="ctr">
                    <a:solidFill>
                      <a:srgbClr val="F3F4F8"/>
                    </a:solidFill>
                  </a:tcPr>
                </a:tc>
                <a:tc>
                  <a:txBody>
                    <a:bodyPr/>
                    <a:lstStyle/>
                    <a:p>
                      <a:r>
                        <a:rPr sz="1200" b="0">
                          <a:solidFill>
                            <a:srgbClr val="1F1F1F"/>
                          </a:solidFill>
                        </a:rPr>
                        <a:t>send jobs now, results within 24 h</a:t>
                      </a:r>
                    </a:p>
                  </a:txBody>
                  <a:tcPr marT="27432" marB="27432" marL="73152" marR="73152" anchor="ctr">
                    <a:solidFill>
                      <a:srgbClr val="F3F4F8"/>
                    </a:solidFill>
                  </a:tcPr>
                </a:tc>
                <a:tc>
                  <a:txBody>
                    <a:bodyPr/>
                    <a:lstStyle/>
                    <a:p>
                      <a:r>
                        <a:rPr sz="1200" b="0">
                          <a:solidFill>
                            <a:srgbClr val="1F1F1F"/>
                          </a:solidFill>
                        </a:rPr>
                        <a:t>Foundry Global/DataZone Batch: 50 % off</a:t>
                      </a:r>
                    </a:p>
                  </a:txBody>
                  <a:tcPr marT="27432" marB="27432" marL="73152" marR="73152" anchor="ctr">
                    <a:solidFill>
                      <a:srgbClr val="F3F4F8"/>
                    </a:solidFill>
                  </a:tcPr>
                </a:tc>
              </a:tr>
              <a:tr h="475488">
                <a:tc>
                  <a:txBody>
                    <a:bodyPr/>
                    <a:lstStyle/>
                    <a:p>
                      <a:r>
                        <a:rPr sz="1200" b="1">
                          <a:solidFill>
                            <a:srgbClr val="1F1F1F"/>
                          </a:solidFill>
                        </a:rPr>
                        <a:t>Prompt caching</a:t>
                      </a:r>
                    </a:p>
                  </a:txBody>
                  <a:tcPr marT="27432" marB="27432" marL="73152" marR="73152" anchor="ctr">
                    <a:solidFill>
                      <a:srgbClr val="FFFFFF"/>
                    </a:solidFill>
                  </a:tcPr>
                </a:tc>
                <a:tc>
                  <a:txBody>
                    <a:bodyPr/>
                    <a:lstStyle/>
                    <a:p>
                      <a:r>
                        <a:rPr sz="1200" b="0">
                          <a:solidFill>
                            <a:srgbClr val="1F1F1F"/>
                          </a:solidFill>
                        </a:rPr>
                        <a:t>a repeated prompt prefix is reused</a:t>
                      </a:r>
                    </a:p>
                  </a:txBody>
                  <a:tcPr marT="27432" marB="27432" marL="73152" marR="73152" anchor="ctr">
                    <a:solidFill>
                      <a:srgbClr val="FFFFFF"/>
                    </a:solidFill>
                  </a:tcPr>
                </a:tc>
                <a:tc>
                  <a:txBody>
                    <a:bodyPr/>
                    <a:lstStyle/>
                    <a:p>
                      <a:r>
                        <a:rPr sz="1200" b="0">
                          <a:solidFill>
                            <a:srgbClr val="1F1F1F"/>
                          </a:solidFill>
                        </a:rPr>
                        <a:t>OpenAI: automatic; cached input up to 90 % off (model-dependent)</a:t>
                      </a:r>
                    </a:p>
                  </a:txBody>
                  <a:tcPr marT="27432" marB="27432" marL="73152" marR="73152" anchor="ctr">
                    <a:solidFill>
                      <a:srgbClr val="FFFFFF"/>
                    </a:solidFill>
                  </a:tcPr>
                </a:tc>
              </a:tr>
            </a:tbl>
          </a:graphicData>
        </a:graphic>
      </p:graphicFrame>
      <p:sp>
        <p:nvSpPr>
          <p:cNvPr id="6" name="TextBox 5"/>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Streaming changes the experience; batch and caching change the bill.</a:t>
            </a:r>
          </a:p>
        </p:txBody>
      </p:sp>
      <p:sp>
        <p:nvSpPr>
          <p:cNvPr id="7" name="TextBox 6"/>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Foundry deployment types · OpenAI prompt caching guide · Verified snippets 2026-09-22</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Chat Completions vs Responses: two dialects, one model</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Same models, two wire formats: the lingua franca and its stateful successor.</a:t>
            </a:r>
          </a:p>
        </p:txBody>
      </p:sp>
      <p:graphicFrame>
        <p:nvGraphicFramePr>
          <p:cNvPr id="5" name="Table 4"/>
          <p:cNvGraphicFramePr>
            <a:graphicFrameLocks noGrp="1"/>
          </p:cNvGraphicFramePr>
          <p:nvPr/>
        </p:nvGraphicFramePr>
        <p:xfrm>
          <a:off x="585216" y="2011680"/>
          <a:ext cx="9656064" cy="2926080"/>
        </p:xfrm>
        <a:graphic>
          <a:graphicData uri="http://schemas.openxmlformats.org/drawingml/2006/table">
            <a:tbl>
              <a:tblPr firstRow="1" bandRow="1">
                <a:tableStyleId>{5C22544A-7EE6-4342-B048-85BDC9FD1C3A}</a:tableStyleId>
              </a:tblPr>
              <a:tblGrid>
                <a:gridCol w="2194560"/>
                <a:gridCol w="3566160"/>
                <a:gridCol w="3895344"/>
              </a:tblGrid>
              <a:tr h="365760">
                <a:tc>
                  <a:txBody>
                    <a:bodyPr/>
                    <a:lstStyle/>
                    <a:p/>
                  </a:txBody>
                  <a:tcPr marT="27432" marB="27432" marL="73152" marR="73152" anchor="ctr">
                    <a:solidFill>
                      <a:srgbClr val="2A446F"/>
                    </a:solidFill>
                  </a:tcPr>
                </a:tc>
                <a:tc>
                  <a:txBody>
                    <a:bodyPr/>
                    <a:lstStyle/>
                    <a:p>
                      <a:r>
                        <a:rPr sz="1100" b="1">
                          <a:solidFill>
                            <a:srgbClr val="FFFFFF"/>
                          </a:solidFill>
                        </a:rPr>
                        <a:t>Chat Completions</a:t>
                      </a:r>
                    </a:p>
                  </a:txBody>
                  <a:tcPr marT="27432" marB="27432" marL="73152" marR="73152" anchor="ctr">
                    <a:solidFill>
                      <a:srgbClr val="2A446F"/>
                    </a:solidFill>
                  </a:tcPr>
                </a:tc>
                <a:tc>
                  <a:txBody>
                    <a:bodyPr/>
                    <a:lstStyle/>
                    <a:p>
                      <a:r>
                        <a:rPr sz="1100" b="1">
                          <a:solidFill>
                            <a:srgbClr val="FFFFFF"/>
                          </a:solidFill>
                        </a:rPr>
                        <a:t>Responses API</a:t>
                      </a:r>
                    </a:p>
                  </a:txBody>
                  <a:tcPr marT="27432" marB="27432" marL="73152" marR="73152" anchor="ctr">
                    <a:solidFill>
                      <a:srgbClr val="2A446F"/>
                    </a:solidFill>
                  </a:tcPr>
                </a:tc>
              </a:tr>
              <a:tr h="365760">
                <a:tc>
                  <a:txBody>
                    <a:bodyPr/>
                    <a:lstStyle/>
                    <a:p>
                      <a:r>
                        <a:rPr sz="1100" b="1">
                          <a:solidFill>
                            <a:srgbClr val="1F1F1F"/>
                          </a:solidFill>
                        </a:rPr>
                        <a:t>Request</a:t>
                      </a:r>
                    </a:p>
                  </a:txBody>
                  <a:tcPr marT="27432" marB="27432" marL="73152" marR="73152" anchor="ctr">
                    <a:solidFill>
                      <a:srgbClr val="FFFFFF"/>
                    </a:solidFill>
                  </a:tcPr>
                </a:tc>
                <a:tc>
                  <a:txBody>
                    <a:bodyPr/>
                    <a:lstStyle/>
                    <a:p>
                      <a:r>
                        <a:rPr sz="1100" b="0">
                          <a:solidFill>
                            <a:srgbClr val="1F1F1F"/>
                          </a:solidFill>
                        </a:rPr>
                        <a:t>messages: role + content</a:t>
                      </a:r>
                    </a:p>
                  </a:txBody>
                  <a:tcPr marT="27432" marB="27432" marL="73152" marR="73152" anchor="ctr">
                    <a:solidFill>
                      <a:srgbClr val="FFFFFF"/>
                    </a:solidFill>
                  </a:tcPr>
                </a:tc>
                <a:tc>
                  <a:txBody>
                    <a:bodyPr/>
                    <a:lstStyle/>
                    <a:p>
                      <a:r>
                        <a:rPr sz="1100" b="0">
                          <a:solidFill>
                            <a:srgbClr val="1F1F1F"/>
                          </a:solidFill>
                        </a:rPr>
                        <a:t>input items + instructions</a:t>
                      </a:r>
                    </a:p>
                  </a:txBody>
                  <a:tcPr marT="27432" marB="27432" marL="73152" marR="73152" anchor="ctr">
                    <a:solidFill>
                      <a:srgbClr val="FFFFFF"/>
                    </a:solidFill>
                  </a:tcPr>
                </a:tc>
              </a:tr>
              <a:tr h="365760">
                <a:tc>
                  <a:txBody>
                    <a:bodyPr/>
                    <a:lstStyle/>
                    <a:p>
                      <a:r>
                        <a:rPr sz="1100" b="1">
                          <a:solidFill>
                            <a:srgbClr val="1F1F1F"/>
                          </a:solidFill>
                        </a:rPr>
                        <a:t>Conversation state</a:t>
                      </a:r>
                    </a:p>
                  </a:txBody>
                  <a:tcPr marT="27432" marB="27432" marL="73152" marR="73152" anchor="ctr">
                    <a:solidFill>
                      <a:srgbClr val="F3F4F8"/>
                    </a:solidFill>
                  </a:tcPr>
                </a:tc>
                <a:tc>
                  <a:txBody>
                    <a:bodyPr/>
                    <a:lstStyle/>
                    <a:p>
                      <a:r>
                        <a:rPr sz="1100" b="0">
                          <a:solidFill>
                            <a:srgbClr val="1F1F1F"/>
                          </a:solidFill>
                        </a:rPr>
                        <a:t>you resend the history</a:t>
                      </a:r>
                    </a:p>
                  </a:txBody>
                  <a:tcPr marT="27432" marB="27432" marL="73152" marR="73152" anchor="ctr">
                    <a:solidFill>
                      <a:srgbClr val="F3F4F8"/>
                    </a:solidFill>
                  </a:tcPr>
                </a:tc>
                <a:tc>
                  <a:txBody>
                    <a:bodyPr/>
                    <a:lstStyle/>
                    <a:p>
                      <a:r>
                        <a:rPr sz="1100" b="0">
                          <a:solidFill>
                            <a:srgbClr val="1F1F1F"/>
                          </a:solidFill>
                        </a:rPr>
                        <a:t>previous_response_id (server keeps it)</a:t>
                      </a:r>
                    </a:p>
                  </a:txBody>
                  <a:tcPr marT="27432" marB="27432" marL="73152" marR="73152" anchor="ctr">
                    <a:solidFill>
                      <a:srgbClr val="F3F4F8"/>
                    </a:solidFill>
                  </a:tcPr>
                </a:tc>
              </a:tr>
              <a:tr h="365760">
                <a:tc>
                  <a:txBody>
                    <a:bodyPr/>
                    <a:lstStyle/>
                    <a:p>
                      <a:r>
                        <a:rPr sz="1100" b="1">
                          <a:solidFill>
                            <a:srgbClr val="1F1F1F"/>
                          </a:solidFill>
                        </a:rPr>
                        <a:t>Tools</a:t>
                      </a:r>
                    </a:p>
                  </a:txBody>
                  <a:tcPr marT="27432" marB="27432" marL="73152" marR="73152" anchor="ctr">
                    <a:solidFill>
                      <a:srgbClr val="FFFFFF"/>
                    </a:solidFill>
                  </a:tcPr>
                </a:tc>
                <a:tc>
                  <a:txBody>
                    <a:bodyPr/>
                    <a:lstStyle/>
                    <a:p>
                      <a:r>
                        <a:rPr sz="1100" b="0">
                          <a:solidFill>
                            <a:srgbClr val="1F1F1F"/>
                          </a:solidFill>
                        </a:rPr>
                        <a:t>your functions (function calling)</a:t>
                      </a:r>
                    </a:p>
                  </a:txBody>
                  <a:tcPr marT="27432" marB="27432" marL="73152" marR="73152" anchor="ctr">
                    <a:solidFill>
                      <a:srgbClr val="FFFFFF"/>
                    </a:solidFill>
                  </a:tcPr>
                </a:tc>
                <a:tc>
                  <a:txBody>
                    <a:bodyPr/>
                    <a:lstStyle/>
                    <a:p>
                      <a:r>
                        <a:rPr sz="1100" b="0">
                          <a:solidFill>
                            <a:srgbClr val="1F1F1F"/>
                          </a:solidFill>
                        </a:rPr>
                        <a:t>+ hosted: web search, file search, code interpreter, MCP</a:t>
                      </a:r>
                    </a:p>
                  </a:txBody>
                  <a:tcPr marT="27432" marB="27432" marL="73152" marR="73152" anchor="ctr">
                    <a:solidFill>
                      <a:srgbClr val="FFFFFF"/>
                    </a:solidFill>
                  </a:tcPr>
                </a:tc>
              </a:tr>
              <a:tr h="365760">
                <a:tc>
                  <a:txBody>
                    <a:bodyPr/>
                    <a:lstStyle/>
                    <a:p>
                      <a:r>
                        <a:rPr sz="1100" b="1">
                          <a:solidFill>
                            <a:srgbClr val="1F1F1F"/>
                          </a:solidFill>
                        </a:rPr>
                        <a:t>Streaming</a:t>
                      </a:r>
                    </a:p>
                  </a:txBody>
                  <a:tcPr marT="27432" marB="27432" marL="73152" marR="73152" anchor="ctr">
                    <a:solidFill>
                      <a:srgbClr val="F3F4F8"/>
                    </a:solidFill>
                  </a:tcPr>
                </a:tc>
                <a:tc>
                  <a:txBody>
                    <a:bodyPr/>
                    <a:lstStyle/>
                    <a:p>
                      <a:r>
                        <a:rPr sz="1100" b="0">
                          <a:solidFill>
                            <a:srgbClr val="1F1F1F"/>
                          </a:solidFill>
                        </a:rPr>
                        <a:t>token deltas</a:t>
                      </a:r>
                    </a:p>
                  </a:txBody>
                  <a:tcPr marT="27432" marB="27432" marL="73152" marR="73152" anchor="ctr">
                    <a:solidFill>
                      <a:srgbClr val="F3F4F8"/>
                    </a:solidFill>
                  </a:tcPr>
                </a:tc>
                <a:tc>
                  <a:txBody>
                    <a:bodyPr/>
                    <a:lstStyle/>
                    <a:p>
                      <a:r>
                        <a:rPr sz="1100" b="0">
                          <a:solidFill>
                            <a:srgbClr val="1F1F1F"/>
                          </a:solidFill>
                        </a:rPr>
                        <a:t>semantic events (response.output_text.delta)</a:t>
                      </a:r>
                    </a:p>
                  </a:txBody>
                  <a:tcPr marT="27432" marB="27432" marL="73152" marR="73152" anchor="ctr">
                    <a:solidFill>
                      <a:srgbClr val="F3F4F8"/>
                    </a:solidFill>
                  </a:tcPr>
                </a:tc>
              </a:tr>
              <a:tr h="365760">
                <a:tc>
                  <a:txBody>
                    <a:bodyPr/>
                    <a:lstStyle/>
                    <a:p>
                      <a:r>
                        <a:rPr sz="1100" b="1">
                          <a:solidFill>
                            <a:srgbClr val="1F1F1F"/>
                          </a:solidFill>
                        </a:rPr>
                        <a:t>Who speaks it</a:t>
                      </a:r>
                    </a:p>
                  </a:txBody>
                  <a:tcPr marT="27432" marB="27432" marL="73152" marR="73152" anchor="ctr">
                    <a:solidFill>
                      <a:srgbClr val="FFFFFF"/>
                    </a:solidFill>
                  </a:tcPr>
                </a:tc>
                <a:tc>
                  <a:txBody>
                    <a:bodyPr/>
                    <a:lstStyle/>
                    <a:p>
                      <a:r>
                        <a:rPr sz="1100" b="0">
                          <a:solidFill>
                            <a:srgbClr val="1F1F1F"/>
                          </a:solidFill>
                        </a:rPr>
                        <a:t>every OpenAI-compatible server, gateway, the mock</a:t>
                      </a:r>
                    </a:p>
                  </a:txBody>
                  <a:tcPr marT="27432" marB="27432" marL="73152" marR="73152" anchor="ctr">
                    <a:solidFill>
                      <a:srgbClr val="FFFFFF"/>
                    </a:solidFill>
                  </a:tcPr>
                </a:tc>
                <a:tc>
                  <a:txBody>
                    <a:bodyPr/>
                    <a:lstStyle/>
                    <a:p>
                      <a:r>
                        <a:rPr sz="1100" b="0">
                          <a:solidFill>
                            <a:srgbClr val="1F1F1F"/>
                          </a:solidFill>
                        </a:rPr>
                        <a:t>OpenAI, Foundry /openai/v1, Ollama 0.34</a:t>
                      </a:r>
                    </a:p>
                  </a:txBody>
                  <a:tcPr marT="27432" marB="27432" marL="73152" marR="73152" anchor="ctr">
                    <a:solidFill>
                      <a:srgbClr val="FFFFFF"/>
                    </a:solidFill>
                  </a:tcPr>
                </a:tc>
              </a:tr>
              <a:tr h="365760">
                <a:tc>
                  <a:txBody>
                    <a:bodyPr/>
                    <a:lstStyle/>
                    <a:p>
                      <a:r>
                        <a:rPr sz="1100" b="1">
                          <a:solidFill>
                            <a:srgbClr val="1F1F1F"/>
                          </a:solidFill>
                        </a:rPr>
                        <a:t>Agent Framework (Py)</a:t>
                      </a:r>
                    </a:p>
                  </a:txBody>
                  <a:tcPr marT="27432" marB="27432" marL="73152" marR="73152" anchor="ctr">
                    <a:solidFill>
                      <a:srgbClr val="F3F4F8"/>
                    </a:solidFill>
                  </a:tcPr>
                </a:tc>
                <a:tc>
                  <a:txBody>
                    <a:bodyPr/>
                    <a:lstStyle/>
                    <a:p>
                      <a:r>
                        <a:rPr sz="1100" b="0">
                          <a:solidFill>
                            <a:srgbClr val="1F1F1F"/>
                          </a:solidFill>
                        </a:rPr>
                        <a:t>OpenAIChatCompletionClient</a:t>
                      </a:r>
                    </a:p>
                  </a:txBody>
                  <a:tcPr marT="27432" marB="27432" marL="73152" marR="73152" anchor="ctr">
                    <a:solidFill>
                      <a:srgbClr val="F3F4F8"/>
                    </a:solidFill>
                  </a:tcPr>
                </a:tc>
                <a:tc>
                  <a:txBody>
                    <a:bodyPr/>
                    <a:lstStyle/>
                    <a:p>
                      <a:r>
                        <a:rPr sz="1100" b="0">
                          <a:solidFill>
                            <a:srgbClr val="1F1F1F"/>
                          </a:solidFill>
                        </a:rPr>
                        <a:t>OpenAIChatClient (the default)</a:t>
                      </a:r>
                    </a:p>
                  </a:txBody>
                  <a:tcPr marT="27432" marB="27432" marL="73152" marR="73152" anchor="ctr">
                    <a:solidFill>
                      <a:srgbClr val="F3F4F8"/>
                    </a:solidFill>
                  </a:tcPr>
                </a:tc>
              </a:tr>
              <a:tr h="365760">
                <a:tc>
                  <a:txBody>
                    <a:bodyPr/>
                    <a:lstStyle/>
                    <a:p>
                      <a:r>
                        <a:rPr sz="1100" b="1">
                          <a:solidFill>
                            <a:srgbClr val="1F1F1F"/>
                          </a:solidFill>
                        </a:rPr>
                        <a:t>.NET (OpenAI 2.13)</a:t>
                      </a:r>
                    </a:p>
                  </a:txBody>
                  <a:tcPr marT="27432" marB="27432" marL="73152" marR="73152" anchor="ctr">
                    <a:solidFill>
                      <a:srgbClr val="FFFFFF"/>
                    </a:solidFill>
                  </a:tcPr>
                </a:tc>
                <a:tc>
                  <a:txBody>
                    <a:bodyPr/>
                    <a:lstStyle/>
                    <a:p>
                      <a:r>
                        <a:rPr sz="1100" b="0">
                          <a:solidFill>
                            <a:srgbClr val="1F1F1F"/>
                          </a:solidFill>
                        </a:rPr>
                        <a:t>GetChatClient(model)</a:t>
                      </a:r>
                    </a:p>
                  </a:txBody>
                  <a:tcPr marT="27432" marB="27432" marL="73152" marR="73152" anchor="ctr">
                    <a:solidFill>
                      <a:srgbClr val="FFFFFF"/>
                    </a:solidFill>
                  </a:tcPr>
                </a:tc>
                <a:tc>
                  <a:txBody>
                    <a:bodyPr/>
                    <a:lstStyle/>
                    <a:p>
                      <a:r>
                        <a:rPr sz="1100" b="0">
                          <a:solidFill>
                            <a:srgbClr val="1F1F1F"/>
                          </a:solidFill>
                        </a:rPr>
                        <a:t>GetResponsesClient() — still experimental</a:t>
                      </a:r>
                    </a:p>
                  </a:txBody>
                  <a:tcPr marT="27432" marB="27432" marL="73152" marR="73152" anchor="ctr">
                    <a:solidFill>
                      <a:srgbClr val="FFFFFF"/>
                    </a:solidFill>
                  </a:tcPr>
                </a:tc>
              </a:tr>
            </a:tbl>
          </a:graphicData>
        </a:graphic>
      </p:graphicFrame>
      <p:sp>
        <p:nvSpPr>
          <p:cNvPr id="6" name="Rounded Rectangle 5"/>
          <p:cNvSpPr/>
          <p:nvPr/>
        </p:nvSpPr>
        <p:spPr>
          <a:xfrm>
            <a:off x="585216" y="5138928"/>
            <a:ext cx="4206240" cy="292608"/>
          </a:xfrm>
          <a:prstGeom prst="roundRect">
            <a:avLst>
              <a:gd name="adj" fmla="val 50000"/>
            </a:avLst>
          </a:prstGeom>
          <a:solidFill>
            <a:srgbClr val="C52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Assistants API: shut down 2026-08-26 — don’t start there</a:t>
            </a:r>
          </a:p>
        </p:txBody>
      </p:sp>
      <p:sp>
        <p:nvSpPr>
          <p:cNvPr id="7" name="TextBox 6"/>
          <p:cNvSpPr txBox="1"/>
          <p:nvPr/>
        </p:nvSpPr>
        <p:spPr>
          <a:xfrm>
            <a:off x="4983480" y="5120640"/>
            <a:ext cx="5257800" cy="365760"/>
          </a:xfrm>
          <a:prstGeom prst="rect">
            <a:avLst/>
          </a:prstGeom>
          <a:noFill/>
        </p:spPr>
        <p:txBody>
          <a:bodyPr wrap="square" lIns="0" rIns="0" tIns="0" bIns="0" anchor="t">
            <a:spAutoFit/>
          </a:bodyPr>
          <a:lstStyle/>
          <a:p>
            <a:pPr algn="l">
              <a:spcAft>
                <a:spcPts val="0"/>
              </a:spcAft>
            </a:pPr>
            <a:r>
              <a:rPr sz="1400" b="1" i="0">
                <a:solidFill>
                  <a:srgbClr val="0078D4"/>
                </a:solidFill>
              </a:rPr>
              <a:t>Labs default to Chat Completions: every endpoint speaks it.</a:t>
            </a:r>
          </a:p>
        </p:txBody>
      </p:sp>
      <p:sp>
        <p:nvSpPr>
          <p:cNvPr id="8" name="TextBox 7"/>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Snippet verification 2026-09-22 · Framework landscape 2026-09-19 · OpenAI API deprecations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One lingua franca (OpenAI’s), three dialects that aren’t</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Most endpoints speak OpenAI’s format — switching is base_url, key and model name.</a:t>
            </a:r>
          </a:p>
        </p:txBody>
      </p:sp>
      <p:sp>
        <p:nvSpPr>
          <p:cNvPr id="5" name="TextBox 4"/>
          <p:cNvSpPr txBox="1"/>
          <p:nvPr/>
        </p:nvSpPr>
        <p:spPr>
          <a:xfrm>
            <a:off x="585216" y="1874519"/>
            <a:ext cx="5486400" cy="274320"/>
          </a:xfrm>
          <a:prstGeom prst="rect">
            <a:avLst/>
          </a:prstGeom>
          <a:noFill/>
        </p:spPr>
        <p:txBody>
          <a:bodyPr wrap="square" lIns="0" rIns="0" tIns="0" bIns="0" anchor="t">
            <a:spAutoFit/>
          </a:bodyPr>
          <a:lstStyle/>
          <a:p>
            <a:pPr algn="l">
              <a:spcAft>
                <a:spcPts val="0"/>
              </a:spcAft>
            </a:pPr>
            <a:r>
              <a:rPr sz="1000" b="1" i="0">
                <a:solidFill>
                  <a:srgbClr val="2A7F5C"/>
                </a:solidFill>
              </a:rPr>
              <a:t>SPEAKS OPENAI — CHANGE base_url + key</a:t>
            </a:r>
          </a:p>
        </p:txBody>
      </p:sp>
      <p:graphicFrame>
        <p:nvGraphicFramePr>
          <p:cNvPr id="6" name="Table 5"/>
          <p:cNvGraphicFramePr>
            <a:graphicFrameLocks noGrp="1"/>
          </p:cNvGraphicFramePr>
          <p:nvPr/>
        </p:nvGraphicFramePr>
        <p:xfrm>
          <a:off x="585216" y="2148840"/>
          <a:ext cx="6675120" cy="2560320"/>
        </p:xfrm>
        <a:graphic>
          <a:graphicData uri="http://schemas.openxmlformats.org/drawingml/2006/table">
            <a:tbl>
              <a:tblPr firstRow="1" bandRow="1">
                <a:tableStyleId>{5C22544A-7EE6-4342-B048-85BDC9FD1C3A}</a:tableStyleId>
              </a:tblPr>
              <a:tblGrid>
                <a:gridCol w="2011680"/>
                <a:gridCol w="3108960"/>
                <a:gridCol w="1554480"/>
              </a:tblGrid>
              <a:tr h="365760">
                <a:tc>
                  <a:txBody>
                    <a:bodyPr/>
                    <a:lstStyle/>
                    <a:p>
                      <a:r>
                        <a:rPr sz="1050" b="1">
                          <a:solidFill>
                            <a:srgbClr val="FFFFFF"/>
                          </a:solidFill>
                        </a:rPr>
                        <a:t>Endpoint</a:t>
                      </a:r>
                    </a:p>
                  </a:txBody>
                  <a:tcPr marT="27432" marB="27432" marL="73152" marR="73152" anchor="ctr">
                    <a:solidFill>
                      <a:srgbClr val="2A446F"/>
                    </a:solidFill>
                  </a:tcPr>
                </a:tc>
                <a:tc>
                  <a:txBody>
                    <a:bodyPr/>
                    <a:lstStyle/>
                    <a:p>
                      <a:r>
                        <a:rPr sz="1050" b="1">
                          <a:solidFill>
                            <a:srgbClr val="FFFFFF"/>
                          </a:solidFill>
                        </a:rPr>
                        <a:t>base_url</a:t>
                      </a:r>
                    </a:p>
                  </a:txBody>
                  <a:tcPr marT="27432" marB="27432" marL="73152" marR="73152" anchor="ctr">
                    <a:solidFill>
                      <a:srgbClr val="2A446F"/>
                    </a:solidFill>
                  </a:tcPr>
                </a:tc>
                <a:tc>
                  <a:txBody>
                    <a:bodyPr/>
                    <a:lstStyle/>
                    <a:p>
                      <a:r>
                        <a:rPr sz="1050" b="1">
                          <a:solidFill>
                            <a:srgbClr val="FFFFFF"/>
                          </a:solidFill>
                        </a:rPr>
                        <a:t>Key</a:t>
                      </a:r>
                    </a:p>
                  </a:txBody>
                  <a:tcPr marT="27432" marB="27432" marL="73152" marR="73152" anchor="ctr">
                    <a:solidFill>
                      <a:srgbClr val="2A446F"/>
                    </a:solidFill>
                  </a:tcPr>
                </a:tc>
              </a:tr>
              <a:tr h="365760">
                <a:tc>
                  <a:txBody>
                    <a:bodyPr/>
                    <a:lstStyle/>
                    <a:p>
                      <a:r>
                        <a:rPr sz="1050" b="1">
                          <a:solidFill>
                            <a:srgbClr val="1F1F1F"/>
                          </a:solidFill>
                        </a:rPr>
                        <a:t>Foundry (Direct from Azure)</a:t>
                      </a:r>
                    </a:p>
                  </a:txBody>
                  <a:tcPr marT="27432" marB="27432" marL="73152" marR="73152" anchor="ctr">
                    <a:solidFill>
                      <a:srgbClr val="FFFFFF"/>
                    </a:solidFill>
                  </a:tcPr>
                </a:tc>
                <a:tc>
                  <a:txBody>
                    <a:bodyPr/>
                    <a:lstStyle/>
                    <a:p>
                      <a:r>
                        <a:rPr sz="1050" b="0">
                          <a:solidFill>
                            <a:srgbClr val="1F1F1F"/>
                          </a:solidFill>
                        </a:rPr>
                        <a:t>https://&lt;resource&gt;.openai.azure.com/openai/v1</a:t>
                      </a:r>
                    </a:p>
                  </a:txBody>
                  <a:tcPr marT="27432" marB="27432" marL="73152" marR="73152" anchor="ctr">
                    <a:solidFill>
                      <a:srgbClr val="FFFFFF"/>
                    </a:solidFill>
                  </a:tcPr>
                </a:tc>
                <a:tc>
                  <a:txBody>
                    <a:bodyPr/>
                    <a:lstStyle/>
                    <a:p>
                      <a:r>
                        <a:rPr sz="1050" b="0">
                          <a:solidFill>
                            <a:srgbClr val="1F1F1F"/>
                          </a:solidFill>
                        </a:rPr>
                        <a:t>api-key header</a:t>
                      </a:r>
                    </a:p>
                  </a:txBody>
                  <a:tcPr marT="27432" marB="27432" marL="73152" marR="73152" anchor="ctr">
                    <a:solidFill>
                      <a:srgbClr val="FFFFFF"/>
                    </a:solidFill>
                  </a:tcPr>
                </a:tc>
              </a:tr>
              <a:tr h="365760">
                <a:tc>
                  <a:txBody>
                    <a:bodyPr/>
                    <a:lstStyle/>
                    <a:p>
                      <a:r>
                        <a:rPr sz="1050" b="1">
                          <a:solidFill>
                            <a:srgbClr val="1F1F1F"/>
                          </a:solidFill>
                        </a:rPr>
                        <a:t>Workshop gateway (APIM)</a:t>
                      </a:r>
                    </a:p>
                  </a:txBody>
                  <a:tcPr marT="27432" marB="27432" marL="73152" marR="73152" anchor="ctr">
                    <a:solidFill>
                      <a:srgbClr val="F3F4F8"/>
                    </a:solidFill>
                  </a:tcPr>
                </a:tc>
                <a:tc>
                  <a:txBody>
                    <a:bodyPr/>
                    <a:lstStyle/>
                    <a:p>
                      <a:r>
                        <a:rPr sz="1050" b="0">
                          <a:solidFill>
                            <a:srgbClr val="1F1F1F"/>
                          </a:solidFill>
                        </a:rPr>
                        <a:t>https://&lt;gateway&gt;/openai/v1</a:t>
                      </a:r>
                    </a:p>
                  </a:txBody>
                  <a:tcPr marT="27432" marB="27432" marL="73152" marR="73152" anchor="ctr">
                    <a:solidFill>
                      <a:srgbClr val="F3F4F8"/>
                    </a:solidFill>
                  </a:tcPr>
                </a:tc>
                <a:tc>
                  <a:txBody>
                    <a:bodyPr/>
                    <a:lstStyle/>
                    <a:p>
                      <a:r>
                        <a:rPr sz="1050" b="0">
                          <a:solidFill>
                            <a:srgbClr val="1F1F1F"/>
                          </a:solidFill>
                        </a:rPr>
                        <a:t>api-key (yours)</a:t>
                      </a:r>
                    </a:p>
                  </a:txBody>
                  <a:tcPr marT="27432" marB="27432" marL="73152" marR="73152" anchor="ctr">
                    <a:solidFill>
                      <a:srgbClr val="F3F4F8"/>
                    </a:solidFill>
                  </a:tcPr>
                </a:tc>
              </a:tr>
              <a:tr h="365760">
                <a:tc>
                  <a:txBody>
                    <a:bodyPr/>
                    <a:lstStyle/>
                    <a:p>
                      <a:r>
                        <a:rPr sz="1050" b="1">
                          <a:solidFill>
                            <a:srgbClr val="1F1F1F"/>
                          </a:solidFill>
                        </a:rPr>
                        <a:t>Fireworks on Foundry</a:t>
                      </a:r>
                    </a:p>
                  </a:txBody>
                  <a:tcPr marT="27432" marB="27432" marL="73152" marR="73152" anchor="ctr">
                    <a:solidFill>
                      <a:srgbClr val="FFFFFF"/>
                    </a:solidFill>
                  </a:tcPr>
                </a:tc>
                <a:tc>
                  <a:txBody>
                    <a:bodyPr/>
                    <a:lstStyle/>
                    <a:p>
                      <a:r>
                        <a:rPr sz="1050" b="0">
                          <a:solidFill>
                            <a:srgbClr val="1F1F1F"/>
                          </a:solidFill>
                        </a:rPr>
                        <a:t>your Foundry project endpoint</a:t>
                      </a:r>
                    </a:p>
                  </a:txBody>
                  <a:tcPr marT="27432" marB="27432" marL="73152" marR="73152" anchor="ctr">
                    <a:solidFill>
                      <a:srgbClr val="FFFFFF"/>
                    </a:solidFill>
                  </a:tcPr>
                </a:tc>
                <a:tc>
                  <a:txBody>
                    <a:bodyPr/>
                    <a:lstStyle/>
                    <a:p>
                      <a:r>
                        <a:rPr sz="1050" b="0">
                          <a:solidFill>
                            <a:srgbClr val="1F1F1F"/>
                          </a:solidFill>
                        </a:rPr>
                        <a:t>Azure key</a:t>
                      </a:r>
                    </a:p>
                  </a:txBody>
                  <a:tcPr marT="27432" marB="27432" marL="73152" marR="73152" anchor="ctr">
                    <a:solidFill>
                      <a:srgbClr val="FFFFFF"/>
                    </a:solidFill>
                  </a:tcPr>
                </a:tc>
              </a:tr>
              <a:tr h="365760">
                <a:tc>
                  <a:txBody>
                    <a:bodyPr/>
                    <a:lstStyle/>
                    <a:p>
                      <a:r>
                        <a:rPr sz="1050" b="1">
                          <a:solidFill>
                            <a:srgbClr val="1F1F1F"/>
                          </a:solidFill>
                        </a:rPr>
                        <a:t>OpenRouter · HF router</a:t>
                      </a:r>
                    </a:p>
                  </a:txBody>
                  <a:tcPr marT="27432" marB="27432" marL="73152" marR="73152" anchor="ctr">
                    <a:solidFill>
                      <a:srgbClr val="F3F4F8"/>
                    </a:solidFill>
                  </a:tcPr>
                </a:tc>
                <a:tc>
                  <a:txBody>
                    <a:bodyPr/>
                    <a:lstStyle/>
                    <a:p>
                      <a:r>
                        <a:rPr sz="1050" b="0">
                          <a:solidFill>
                            <a:srgbClr val="1F1F1F"/>
                          </a:solidFill>
                        </a:rPr>
                        <a:t>openrouter.ai/api/v1 · router.huggingface.co/v1</a:t>
                      </a:r>
                    </a:p>
                  </a:txBody>
                  <a:tcPr marT="27432" marB="27432" marL="73152" marR="73152" anchor="ctr">
                    <a:solidFill>
                      <a:srgbClr val="F3F4F8"/>
                    </a:solidFill>
                  </a:tcPr>
                </a:tc>
                <a:tc>
                  <a:txBody>
                    <a:bodyPr/>
                    <a:lstStyle/>
                    <a:p>
                      <a:r>
                        <a:rPr sz="1050" b="0">
                          <a:solidFill>
                            <a:srgbClr val="1F1F1F"/>
                          </a:solidFill>
                        </a:rPr>
                        <a:t>Bearer token</a:t>
                      </a:r>
                    </a:p>
                  </a:txBody>
                  <a:tcPr marT="27432" marB="27432" marL="73152" marR="73152" anchor="ctr">
                    <a:solidFill>
                      <a:srgbClr val="F3F4F8"/>
                    </a:solidFill>
                  </a:tcPr>
                </a:tc>
              </a:tr>
              <a:tr h="365760">
                <a:tc>
                  <a:txBody>
                    <a:bodyPr/>
                    <a:lstStyle/>
                    <a:p>
                      <a:r>
                        <a:rPr sz="1050" b="1">
                          <a:solidFill>
                            <a:srgbClr val="1F1F1F"/>
                          </a:solidFill>
                        </a:rPr>
                        <a:t>Ollama · LM Studio</a:t>
                      </a:r>
                    </a:p>
                  </a:txBody>
                  <a:tcPr marT="27432" marB="27432" marL="73152" marR="73152" anchor="ctr">
                    <a:solidFill>
                      <a:srgbClr val="FFFFFF"/>
                    </a:solidFill>
                  </a:tcPr>
                </a:tc>
                <a:tc>
                  <a:txBody>
                    <a:bodyPr/>
                    <a:lstStyle/>
                    <a:p>
                      <a:r>
                        <a:rPr sz="1050" b="0">
                          <a:solidFill>
                            <a:srgbClr val="1F1F1F"/>
                          </a:solidFill>
                        </a:rPr>
                        <a:t>localhost:11434/v1 · localhost:1234/v1</a:t>
                      </a:r>
                    </a:p>
                  </a:txBody>
                  <a:tcPr marT="27432" marB="27432" marL="73152" marR="73152" anchor="ctr">
                    <a:solidFill>
                      <a:srgbClr val="FFFFFF"/>
                    </a:solidFill>
                  </a:tcPr>
                </a:tc>
                <a:tc>
                  <a:txBody>
                    <a:bodyPr/>
                    <a:lstStyle/>
                    <a:p>
                      <a:r>
                        <a:rPr sz="1050" b="0">
                          <a:solidFill>
                            <a:srgbClr val="1F1F1F"/>
                          </a:solidFill>
                        </a:rPr>
                        <a:t>any string (e.g. ollama)</a:t>
                      </a:r>
                    </a:p>
                  </a:txBody>
                  <a:tcPr marT="27432" marB="27432" marL="73152" marR="73152" anchor="ctr">
                    <a:solidFill>
                      <a:srgbClr val="FFFFFF"/>
                    </a:solidFill>
                  </a:tcPr>
                </a:tc>
              </a:tr>
              <a:tr h="365760">
                <a:tc>
                  <a:txBody>
                    <a:bodyPr/>
                    <a:lstStyle/>
                    <a:p>
                      <a:r>
                        <a:rPr sz="1050" b="1">
                          <a:solidFill>
                            <a:srgbClr val="1F1F1F"/>
                          </a:solidFill>
                        </a:rPr>
                        <a:t>Foundry Local · vLLM</a:t>
                      </a:r>
                    </a:p>
                  </a:txBody>
                  <a:tcPr marT="27432" marB="27432" marL="73152" marR="73152" anchor="ctr">
                    <a:solidFill>
                      <a:srgbClr val="F3F4F8"/>
                    </a:solidFill>
                  </a:tcPr>
                </a:tc>
                <a:tc>
                  <a:txBody>
                    <a:bodyPr/>
                    <a:lstStyle/>
                    <a:p>
                      <a:r>
                        <a:rPr sz="1050" b="0">
                          <a:solidFill>
                            <a:srgbClr val="1F1F1F"/>
                          </a:solidFill>
                        </a:rPr>
                        <a:t>localhost:&lt;port&gt;/v1 · your server</a:t>
                      </a:r>
                    </a:p>
                  </a:txBody>
                  <a:tcPr marT="27432" marB="27432" marL="73152" marR="73152" anchor="ctr">
                    <a:solidFill>
                      <a:srgbClr val="F3F4F8"/>
                    </a:solidFill>
                  </a:tcPr>
                </a:tc>
                <a:tc>
                  <a:txBody>
                    <a:bodyPr/>
                    <a:lstStyle/>
                    <a:p>
                      <a:r>
                        <a:rPr sz="1050" b="0">
                          <a:solidFill>
                            <a:srgbClr val="1F1F1F"/>
                          </a:solidFill>
                        </a:rPr>
                        <a:t>any string, or yours</a:t>
                      </a:r>
                    </a:p>
                  </a:txBody>
                  <a:tcPr marT="27432" marB="27432" marL="73152" marR="73152" anchor="ctr">
                    <a:solidFill>
                      <a:srgbClr val="F3F4F8"/>
                    </a:solidFill>
                  </a:tcPr>
                </a:tc>
              </a:tr>
            </a:tbl>
          </a:graphicData>
        </a:graphic>
      </p:graphicFrame>
      <p:sp>
        <p:nvSpPr>
          <p:cNvPr id="7" name="TextBox 6"/>
          <p:cNvSpPr txBox="1"/>
          <p:nvPr/>
        </p:nvSpPr>
        <p:spPr>
          <a:xfrm>
            <a:off x="7498079" y="1874519"/>
            <a:ext cx="2743200" cy="274320"/>
          </a:xfrm>
          <a:prstGeom prst="rect">
            <a:avLst/>
          </a:prstGeom>
          <a:noFill/>
        </p:spPr>
        <p:txBody>
          <a:bodyPr wrap="square" lIns="0" rIns="0" tIns="0" bIns="0" anchor="t">
            <a:spAutoFit/>
          </a:bodyPr>
          <a:lstStyle/>
          <a:p>
            <a:pPr algn="l">
              <a:spcAft>
                <a:spcPts val="0"/>
              </a:spcAft>
            </a:pPr>
            <a:r>
              <a:rPr sz="1000" b="1" i="0">
                <a:solidFill>
                  <a:srgbClr val="E86A10"/>
                </a:solidFill>
              </a:rPr>
              <a:t>OWN DIALECTS</a:t>
            </a:r>
          </a:p>
        </p:txBody>
      </p:sp>
      <p:sp>
        <p:nvSpPr>
          <p:cNvPr id="8" name="Rounded Rectangle 7"/>
          <p:cNvSpPr/>
          <p:nvPr/>
        </p:nvSpPr>
        <p:spPr>
          <a:xfrm>
            <a:off x="7498079" y="2148840"/>
            <a:ext cx="2743200" cy="868680"/>
          </a:xfrm>
          <a:prstGeom prst="roundRect">
            <a:avLst>
              <a:gd name="adj" fmla="val 8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662671" y="2240280"/>
            <a:ext cx="2414016" cy="274320"/>
          </a:xfrm>
          <a:prstGeom prst="rect">
            <a:avLst/>
          </a:prstGeom>
          <a:noFill/>
        </p:spPr>
        <p:txBody>
          <a:bodyPr wrap="square" lIns="0" rIns="0" tIns="0" bIns="0" anchor="t">
            <a:spAutoFit/>
          </a:bodyPr>
          <a:lstStyle/>
          <a:p>
            <a:pPr algn="l">
              <a:spcAft>
                <a:spcPts val="0"/>
              </a:spcAft>
            </a:pPr>
            <a:r>
              <a:rPr sz="1100" b="1" i="0">
                <a:solidFill>
                  <a:srgbClr val="E86A10"/>
                </a:solidFill>
              </a:rPr>
              <a:t>ANTHROPIC MESSAGES</a:t>
            </a:r>
          </a:p>
        </p:txBody>
      </p:sp>
      <p:sp>
        <p:nvSpPr>
          <p:cNvPr id="10" name="TextBox 9"/>
          <p:cNvSpPr txBox="1"/>
          <p:nvPr/>
        </p:nvSpPr>
        <p:spPr>
          <a:xfrm>
            <a:off x="7662671" y="2461133"/>
            <a:ext cx="2414016" cy="483235"/>
          </a:xfrm>
          <a:prstGeom prst="rect">
            <a:avLst/>
          </a:prstGeom>
          <a:noFill/>
        </p:spPr>
        <p:txBody>
          <a:bodyPr wrap="square" lIns="0" rIns="0" tIns="0" bIns="0" anchor="t">
            <a:spAutoFit/>
          </a:bodyPr>
          <a:lstStyle/>
          <a:p>
            <a:pPr algn="l">
              <a:spcAft>
                <a:spcPts val="0"/>
              </a:spcAft>
            </a:pPr>
            <a:r>
              <a:rPr sz="1100" b="0" i="0">
                <a:solidFill>
                  <a:srgbClr val="1F1F1F"/>
                </a:solidFill>
              </a:rPr>
              <a:t>Claude’s own shape; Foundry serves it under /anthropic</a:t>
            </a:r>
          </a:p>
        </p:txBody>
      </p:sp>
      <p:sp>
        <p:nvSpPr>
          <p:cNvPr id="11" name="Rounded Rectangle 10"/>
          <p:cNvSpPr/>
          <p:nvPr/>
        </p:nvSpPr>
        <p:spPr>
          <a:xfrm>
            <a:off x="7498079" y="3108960"/>
            <a:ext cx="2743200" cy="868680"/>
          </a:xfrm>
          <a:prstGeom prst="roundRect">
            <a:avLst>
              <a:gd name="adj" fmla="val 8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662671" y="3200400"/>
            <a:ext cx="2414016" cy="274320"/>
          </a:xfrm>
          <a:prstGeom prst="rect">
            <a:avLst/>
          </a:prstGeom>
          <a:noFill/>
        </p:spPr>
        <p:txBody>
          <a:bodyPr wrap="square" lIns="0" rIns="0" tIns="0" bIns="0" anchor="t">
            <a:spAutoFit/>
          </a:bodyPr>
          <a:lstStyle/>
          <a:p>
            <a:pPr algn="l">
              <a:spcAft>
                <a:spcPts val="0"/>
              </a:spcAft>
            </a:pPr>
            <a:r>
              <a:rPr sz="1100" b="1" i="0">
                <a:solidFill>
                  <a:srgbClr val="E86A10"/>
                </a:solidFill>
              </a:rPr>
              <a:t>GEMINI API</a:t>
            </a:r>
          </a:p>
        </p:txBody>
      </p:sp>
      <p:sp>
        <p:nvSpPr>
          <p:cNvPr id="13" name="TextBox 12"/>
          <p:cNvSpPr txBox="1"/>
          <p:nvPr/>
        </p:nvSpPr>
        <p:spPr>
          <a:xfrm>
            <a:off x="7662671" y="3421253"/>
            <a:ext cx="2414016" cy="483235"/>
          </a:xfrm>
          <a:prstGeom prst="rect">
            <a:avLst/>
          </a:prstGeom>
          <a:noFill/>
        </p:spPr>
        <p:txBody>
          <a:bodyPr wrap="square" lIns="0" rIns="0" tIns="0" bIns="0" anchor="t">
            <a:spAutoFit/>
          </a:bodyPr>
          <a:lstStyle/>
          <a:p>
            <a:pPr algn="l">
              <a:spcAft>
                <a:spcPts val="0"/>
              </a:spcAft>
            </a:pPr>
            <a:r>
              <a:rPr sz="1100" b="0" i="0">
                <a:solidFill>
                  <a:srgbClr val="1F1F1F"/>
                </a:solidFill>
              </a:rPr>
              <a:t>Google’s own shape (AI Studio, Vertex)</a:t>
            </a:r>
          </a:p>
        </p:txBody>
      </p:sp>
      <p:sp>
        <p:nvSpPr>
          <p:cNvPr id="14" name="Rounded Rectangle 13"/>
          <p:cNvSpPr/>
          <p:nvPr/>
        </p:nvSpPr>
        <p:spPr>
          <a:xfrm>
            <a:off x="7498079" y="4069080"/>
            <a:ext cx="2743200" cy="868680"/>
          </a:xfrm>
          <a:prstGeom prst="roundRect">
            <a:avLst>
              <a:gd name="adj" fmla="val 8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662671" y="4160520"/>
            <a:ext cx="2414016" cy="274320"/>
          </a:xfrm>
          <a:prstGeom prst="rect">
            <a:avLst/>
          </a:prstGeom>
          <a:noFill/>
        </p:spPr>
        <p:txBody>
          <a:bodyPr wrap="square" lIns="0" rIns="0" tIns="0" bIns="0" anchor="t">
            <a:spAutoFit/>
          </a:bodyPr>
          <a:lstStyle/>
          <a:p>
            <a:pPr algn="l">
              <a:spcAft>
                <a:spcPts val="0"/>
              </a:spcAft>
            </a:pPr>
            <a:r>
              <a:rPr sz="1100" b="1" i="0">
                <a:solidFill>
                  <a:srgbClr val="E86A10"/>
                </a:solidFill>
              </a:rPr>
              <a:t>FOUNDRY MODEL INFERENCE</a:t>
            </a:r>
          </a:p>
        </p:txBody>
      </p:sp>
      <p:sp>
        <p:nvSpPr>
          <p:cNvPr id="16" name="TextBox 15"/>
          <p:cNvSpPr txBox="1"/>
          <p:nvPr/>
        </p:nvSpPr>
        <p:spPr>
          <a:xfrm>
            <a:off x="7662671" y="4381373"/>
            <a:ext cx="2414016" cy="483235"/>
          </a:xfrm>
          <a:prstGeom prst="rect">
            <a:avLst/>
          </a:prstGeom>
          <a:noFill/>
        </p:spPr>
        <p:txBody>
          <a:bodyPr wrap="square" lIns="0" rIns="0" tIns="0" bIns="0" anchor="t">
            <a:spAutoFit/>
          </a:bodyPr>
          <a:lstStyle/>
          <a:p>
            <a:pPr algn="l">
              <a:spcAft>
                <a:spcPts val="0"/>
              </a:spcAft>
            </a:pPr>
            <a:r>
              <a:rPr sz="1100" b="0" i="0">
                <a:solidFill>
                  <a:srgbClr val="1F1F1F"/>
                </a:solidFill>
              </a:rPr>
              <a:t>/models/chat/completions — APIM’s “Azure AI” option</a:t>
            </a:r>
          </a:p>
        </p:txBody>
      </p:sp>
      <p:sp>
        <p:nvSpPr>
          <p:cNvPr id="17" name="TextBox 16"/>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The api-key header is the one line that differs — every lab file carries it.</a:t>
            </a:r>
          </a:p>
        </p:txBody>
      </p:sp>
      <p:sp>
        <p:nvSpPr>
          <p:cNvPr id="18" name="TextBox 17"/>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Foundry access research 2026-09-19 · Snippet verification 2026-09-22 · Foundry SDK overview (endpoints) · OpenRouter docs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One abstraction per language: M.E.AI, LangChain, Vercel AI SDK</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Each ecosystem has one interface that hides the vendor — construct it once.</a:t>
            </a:r>
          </a:p>
        </p:txBody>
      </p:sp>
      <p:sp>
        <p:nvSpPr>
          <p:cNvPr id="5" name="TextBox 4"/>
          <p:cNvSpPr txBox="1"/>
          <p:nvPr/>
        </p:nvSpPr>
        <p:spPr>
          <a:xfrm>
            <a:off x="585216" y="1984248"/>
            <a:ext cx="2331720" cy="719328"/>
          </a:xfrm>
          <a:prstGeom prst="rect">
            <a:avLst/>
          </a:prstGeom>
          <a:noFill/>
        </p:spPr>
        <p:txBody>
          <a:bodyPr wrap="square" lIns="0" rIns="0" tIns="0" bIns="0" anchor="t">
            <a:spAutoFit/>
          </a:bodyPr>
          <a:lstStyle/>
          <a:p>
            <a:pPr algn="l">
              <a:spcAft>
                <a:spcPts val="600"/>
              </a:spcAft>
            </a:pPr>
            <a:r>
              <a:rPr sz="1400" b="1" i="0">
                <a:solidFill>
                  <a:srgbClr val="0078D4"/>
                </a:solidFill>
              </a:rPr>
              <a:t>C#</a:t>
            </a:r>
          </a:p>
          <a:p>
            <a:pPr algn="l">
              <a:spcAft>
                <a:spcPts val="600"/>
              </a:spcAft>
            </a:pPr>
            <a:r>
              <a:rPr sz="1100" b="0" i="0">
                <a:solidFill>
                  <a:srgbClr val="1F1F1F"/>
                </a:solidFill>
              </a:rPr>
              <a:t>Microsoft.Extensions.AI 10.10 · IChatClient</a:t>
            </a:r>
          </a:p>
        </p:txBody>
      </p:sp>
      <p:sp>
        <p:nvSpPr>
          <p:cNvPr id="6" name="Rounded Rectangle 5"/>
          <p:cNvSpPr/>
          <p:nvPr/>
        </p:nvSpPr>
        <p:spPr>
          <a:xfrm>
            <a:off x="3054096" y="1965960"/>
            <a:ext cx="7187183" cy="719328"/>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052559" y="2075688"/>
            <a:ext cx="1005840" cy="228600"/>
          </a:xfrm>
          <a:prstGeom prst="rect">
            <a:avLst/>
          </a:prstGeom>
          <a:noFill/>
        </p:spPr>
        <p:txBody>
          <a:bodyPr wrap="square" lIns="0" rIns="0" tIns="0" bIns="0" anchor="t">
            <a:spAutoFit/>
          </a:bodyPr>
          <a:lstStyle/>
          <a:p>
            <a:pPr algn="r">
              <a:spcAft>
                <a:spcPts val="0"/>
              </a:spcAft>
            </a:pPr>
            <a:r>
              <a:rPr sz="900" b="1" i="0">
                <a:solidFill>
                  <a:srgbClr val="FFB900"/>
                </a:solidFill>
                <a:latin typeface="Consolas"/>
              </a:rPr>
              <a:t>C#</a:t>
            </a:r>
          </a:p>
        </p:txBody>
      </p:sp>
      <p:sp>
        <p:nvSpPr>
          <p:cNvPr id="8" name="TextBox 7"/>
          <p:cNvSpPr txBox="1"/>
          <p:nvPr/>
        </p:nvSpPr>
        <p:spPr>
          <a:xfrm>
            <a:off x="3236976" y="2350008"/>
            <a:ext cx="6821423" cy="216407"/>
          </a:xfrm>
          <a:prstGeom prst="rect">
            <a:avLst/>
          </a:prstGeom>
          <a:noFill/>
        </p:spPr>
        <p:txBody>
          <a:bodyPr wrap="square" lIns="0" rIns="0" tIns="0" bIns="0">
            <a:spAutoFit/>
          </a:bodyPr>
          <a:lstStyle/>
          <a:p>
            <a:pPr>
              <a:spcAft>
                <a:spcPts val="0"/>
              </a:spcAft>
            </a:pPr>
            <a:r>
              <a:rPr sz="1000">
                <a:solidFill>
                  <a:srgbClr val="E8EEF7"/>
                </a:solidFill>
                <a:latin typeface="Consolas"/>
              </a:rPr>
              <a:t>IChatClient chatClient = openai.GetChatClient(model).AsIChatClient();</a:t>
            </a:r>
          </a:p>
        </p:txBody>
      </p:sp>
      <p:sp>
        <p:nvSpPr>
          <p:cNvPr id="9" name="TextBox 8"/>
          <p:cNvSpPr txBox="1"/>
          <p:nvPr/>
        </p:nvSpPr>
        <p:spPr>
          <a:xfrm>
            <a:off x="585216" y="2840736"/>
            <a:ext cx="2331720" cy="871728"/>
          </a:xfrm>
          <a:prstGeom prst="rect">
            <a:avLst/>
          </a:prstGeom>
          <a:noFill/>
        </p:spPr>
        <p:txBody>
          <a:bodyPr wrap="square" lIns="0" rIns="0" tIns="0" bIns="0" anchor="t">
            <a:spAutoFit/>
          </a:bodyPr>
          <a:lstStyle/>
          <a:p>
            <a:pPr algn="l">
              <a:spcAft>
                <a:spcPts val="600"/>
              </a:spcAft>
            </a:pPr>
            <a:r>
              <a:rPr sz="1400" b="1" i="0">
                <a:solidFill>
                  <a:srgbClr val="0078D4"/>
                </a:solidFill>
              </a:rPr>
              <a:t>Python</a:t>
            </a:r>
          </a:p>
          <a:p>
            <a:pPr algn="l">
              <a:spcAft>
                <a:spcPts val="600"/>
              </a:spcAft>
            </a:pPr>
            <a:r>
              <a:rPr sz="1100" b="0" i="0">
                <a:solidFill>
                  <a:srgbClr val="1F1F1F"/>
                </a:solidFill>
              </a:rPr>
              <a:t>LangChain 1.4 · init_chat_model</a:t>
            </a:r>
          </a:p>
        </p:txBody>
      </p:sp>
      <p:sp>
        <p:nvSpPr>
          <p:cNvPr id="10" name="Rounded Rectangle 9"/>
          <p:cNvSpPr/>
          <p:nvPr/>
        </p:nvSpPr>
        <p:spPr>
          <a:xfrm>
            <a:off x="3054096" y="2822448"/>
            <a:ext cx="7187183" cy="871728"/>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052559" y="2932176"/>
            <a:ext cx="1005840" cy="228600"/>
          </a:xfrm>
          <a:prstGeom prst="rect">
            <a:avLst/>
          </a:prstGeom>
          <a:noFill/>
        </p:spPr>
        <p:txBody>
          <a:bodyPr wrap="square" lIns="0" rIns="0" tIns="0" bIns="0" anchor="t">
            <a:spAutoFit/>
          </a:bodyPr>
          <a:lstStyle/>
          <a:p>
            <a:pPr algn="r">
              <a:spcAft>
                <a:spcPts val="0"/>
              </a:spcAft>
            </a:pPr>
            <a:r>
              <a:rPr sz="900" b="1" i="0">
                <a:solidFill>
                  <a:srgbClr val="FFB900"/>
                </a:solidFill>
                <a:latin typeface="Consolas"/>
              </a:rPr>
              <a:t>PYTHON</a:t>
            </a:r>
          </a:p>
        </p:txBody>
      </p:sp>
      <p:sp>
        <p:nvSpPr>
          <p:cNvPr id="12" name="TextBox 11"/>
          <p:cNvSpPr txBox="1"/>
          <p:nvPr/>
        </p:nvSpPr>
        <p:spPr>
          <a:xfrm>
            <a:off x="3236976" y="3206495"/>
            <a:ext cx="6821423" cy="368808"/>
          </a:xfrm>
          <a:prstGeom prst="rect">
            <a:avLst/>
          </a:prstGeom>
          <a:noFill/>
        </p:spPr>
        <p:txBody>
          <a:bodyPr wrap="square" lIns="0" rIns="0" tIns="0" bIns="0">
            <a:spAutoFit/>
          </a:bodyPr>
          <a:lstStyle/>
          <a:p>
            <a:pPr>
              <a:spcAft>
                <a:spcPts val="0"/>
              </a:spcAft>
            </a:pPr>
            <a:r>
              <a:rPr sz="1000">
                <a:solidFill>
                  <a:srgbClr val="E8EEF7"/>
                </a:solidFill>
                <a:latin typeface="Consolas"/>
              </a:rPr>
              <a:t>llm = init_chat_model(f"openai:{MODEL}", base_url=BASE, api_key=KEY,</a:t>
            </a:r>
          </a:p>
          <a:p>
            <a:pPr>
              <a:spcAft>
                <a:spcPts val="0"/>
              </a:spcAft>
            </a:pPr>
            <a:r>
              <a:rPr sz="1000">
                <a:solidFill>
                  <a:srgbClr val="E8EEF7"/>
                </a:solidFill>
                <a:latin typeface="Consolas"/>
              </a:rPr>
              <a:t>                      default_headers=headers, temperature=0.2)</a:t>
            </a:r>
          </a:p>
        </p:txBody>
      </p:sp>
      <p:sp>
        <p:nvSpPr>
          <p:cNvPr id="13" name="TextBox 12"/>
          <p:cNvSpPr txBox="1"/>
          <p:nvPr/>
        </p:nvSpPr>
        <p:spPr>
          <a:xfrm>
            <a:off x="585216" y="3849623"/>
            <a:ext cx="2331720" cy="871728"/>
          </a:xfrm>
          <a:prstGeom prst="rect">
            <a:avLst/>
          </a:prstGeom>
          <a:noFill/>
        </p:spPr>
        <p:txBody>
          <a:bodyPr wrap="square" lIns="0" rIns="0" tIns="0" bIns="0" anchor="t">
            <a:spAutoFit/>
          </a:bodyPr>
          <a:lstStyle/>
          <a:p>
            <a:pPr algn="l">
              <a:spcAft>
                <a:spcPts val="600"/>
              </a:spcAft>
            </a:pPr>
            <a:r>
              <a:rPr sz="1400" b="1" i="0">
                <a:solidFill>
                  <a:srgbClr val="0078D4"/>
                </a:solidFill>
              </a:rPr>
              <a:t>TypeScript</a:t>
            </a:r>
          </a:p>
          <a:p>
            <a:pPr algn="l">
              <a:spcAft>
                <a:spcPts val="600"/>
              </a:spcAft>
            </a:pPr>
            <a:r>
              <a:rPr sz="1100" b="0" i="0">
                <a:solidFill>
                  <a:srgbClr val="1F1F1F"/>
                </a:solidFill>
              </a:rPr>
              <a:t>Vercel AI SDK 7 · openai-compatible provider</a:t>
            </a:r>
          </a:p>
        </p:txBody>
      </p:sp>
      <p:sp>
        <p:nvSpPr>
          <p:cNvPr id="14" name="Rounded Rectangle 13"/>
          <p:cNvSpPr/>
          <p:nvPr/>
        </p:nvSpPr>
        <p:spPr>
          <a:xfrm>
            <a:off x="3054096" y="3831335"/>
            <a:ext cx="7187183" cy="871728"/>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052559" y="3941063"/>
            <a:ext cx="1005840" cy="228600"/>
          </a:xfrm>
          <a:prstGeom prst="rect">
            <a:avLst/>
          </a:prstGeom>
          <a:noFill/>
        </p:spPr>
        <p:txBody>
          <a:bodyPr wrap="square" lIns="0" rIns="0" tIns="0" bIns="0" anchor="t">
            <a:spAutoFit/>
          </a:bodyPr>
          <a:lstStyle/>
          <a:p>
            <a:pPr algn="r">
              <a:spcAft>
                <a:spcPts val="0"/>
              </a:spcAft>
            </a:pPr>
            <a:r>
              <a:rPr sz="900" b="1" i="0">
                <a:solidFill>
                  <a:srgbClr val="FFB900"/>
                </a:solidFill>
                <a:latin typeface="Consolas"/>
              </a:rPr>
              <a:t>TYPESCRIPT</a:t>
            </a:r>
          </a:p>
        </p:txBody>
      </p:sp>
      <p:sp>
        <p:nvSpPr>
          <p:cNvPr id="16" name="TextBox 15"/>
          <p:cNvSpPr txBox="1"/>
          <p:nvPr/>
        </p:nvSpPr>
        <p:spPr>
          <a:xfrm>
            <a:off x="3236976" y="4215383"/>
            <a:ext cx="6821423" cy="368808"/>
          </a:xfrm>
          <a:prstGeom prst="rect">
            <a:avLst/>
          </a:prstGeom>
          <a:noFill/>
        </p:spPr>
        <p:txBody>
          <a:bodyPr wrap="square" lIns="0" rIns="0" tIns="0" bIns="0">
            <a:spAutoFit/>
          </a:bodyPr>
          <a:lstStyle/>
          <a:p>
            <a:pPr>
              <a:spcAft>
                <a:spcPts val="0"/>
              </a:spcAft>
            </a:pPr>
            <a:r>
              <a:rPr sz="1000">
                <a:solidFill>
                  <a:srgbClr val="E8EEF7"/>
                </a:solidFill>
                <a:latin typeface="Consolas"/>
              </a:rPr>
              <a:t>const provider = createOpenAICompatible(</a:t>
            </a:r>
          </a:p>
          <a:p>
            <a:pPr>
              <a:spcAft>
                <a:spcPts val="0"/>
              </a:spcAft>
            </a:pPr>
            <a:r>
              <a:rPr sz="1000">
                <a:solidFill>
                  <a:srgbClr val="E8EEF7"/>
                </a:solidFill>
                <a:latin typeface="Consolas"/>
              </a:rPr>
              <a:t>    { name: "foundry", baseURL: BASE, apiKey: KEY, headers });</a:t>
            </a:r>
          </a:p>
        </p:txBody>
      </p:sp>
      <p:sp>
        <p:nvSpPr>
          <p:cNvPr id="17" name="Rounded Rectangle 16"/>
          <p:cNvSpPr/>
          <p:nvPr/>
        </p:nvSpPr>
        <p:spPr>
          <a:xfrm>
            <a:off x="585216" y="4885944"/>
            <a:ext cx="4690871" cy="966216"/>
          </a:xfrm>
          <a:prstGeom prst="roundRect">
            <a:avLst>
              <a:gd name="adj" fmla="val 8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49808" y="4977383"/>
            <a:ext cx="4361687" cy="274320"/>
          </a:xfrm>
          <a:prstGeom prst="rect">
            <a:avLst/>
          </a:prstGeom>
          <a:noFill/>
        </p:spPr>
        <p:txBody>
          <a:bodyPr wrap="square" lIns="0" rIns="0" tIns="0" bIns="0" anchor="t">
            <a:spAutoFit/>
          </a:bodyPr>
          <a:lstStyle/>
          <a:p>
            <a:pPr algn="l">
              <a:spcAft>
                <a:spcPts val="0"/>
              </a:spcAft>
            </a:pPr>
            <a:r>
              <a:rPr sz="1200" b="1" i="0">
                <a:solidFill>
                  <a:srgbClr val="2A7F5C"/>
                </a:solidFill>
              </a:rPr>
              <a:t>WHAT THEY BUY</a:t>
            </a:r>
          </a:p>
        </p:txBody>
      </p:sp>
      <p:sp>
        <p:nvSpPr>
          <p:cNvPr id="19" name="TextBox 18"/>
          <p:cNvSpPr txBox="1"/>
          <p:nvPr/>
        </p:nvSpPr>
        <p:spPr>
          <a:xfrm>
            <a:off x="749808" y="5216651"/>
            <a:ext cx="4361687" cy="562356"/>
          </a:xfrm>
          <a:prstGeom prst="rect">
            <a:avLst/>
          </a:prstGeom>
          <a:noFill/>
        </p:spPr>
        <p:txBody>
          <a:bodyPr wrap="square" lIns="0" rIns="0" tIns="0" bIns="0" anchor="t">
            <a:spAutoFit/>
          </a:bodyPr>
          <a:lstStyle/>
          <a:p>
            <a:pPr algn="l">
              <a:spcAft>
                <a:spcPts val="0"/>
              </a:spcAft>
            </a:pPr>
            <a:r>
              <a:rPr sz="1200" b="0" i="0">
                <a:solidFill>
                  <a:srgbClr val="1F1F1F"/>
                </a:solidFill>
              </a:rPr>
              <a:t>provider swap · middleware · OpenTelemetry tracing</a:t>
            </a:r>
          </a:p>
        </p:txBody>
      </p:sp>
      <p:sp>
        <p:nvSpPr>
          <p:cNvPr id="20" name="Rounded Rectangle 19"/>
          <p:cNvSpPr/>
          <p:nvPr/>
        </p:nvSpPr>
        <p:spPr>
          <a:xfrm>
            <a:off x="5550407" y="4885944"/>
            <a:ext cx="4690871" cy="966216"/>
          </a:xfrm>
          <a:prstGeom prst="roundRect">
            <a:avLst>
              <a:gd name="adj" fmla="val 8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14999" y="4977383"/>
            <a:ext cx="4361687" cy="274320"/>
          </a:xfrm>
          <a:prstGeom prst="rect">
            <a:avLst/>
          </a:prstGeom>
          <a:noFill/>
        </p:spPr>
        <p:txBody>
          <a:bodyPr wrap="square" lIns="0" rIns="0" tIns="0" bIns="0" anchor="t">
            <a:spAutoFit/>
          </a:bodyPr>
          <a:lstStyle/>
          <a:p>
            <a:pPr algn="l">
              <a:spcAft>
                <a:spcPts val="0"/>
              </a:spcAft>
            </a:pPr>
            <a:r>
              <a:rPr sz="1200" b="1" i="0">
                <a:solidFill>
                  <a:srgbClr val="C52B2B"/>
                </a:solidFill>
              </a:rPr>
              <a:t>WHAT THEY HIDE</a:t>
            </a:r>
          </a:p>
        </p:txBody>
      </p:sp>
      <p:sp>
        <p:nvSpPr>
          <p:cNvPr id="22" name="TextBox 21"/>
          <p:cNvSpPr txBox="1"/>
          <p:nvPr/>
        </p:nvSpPr>
        <p:spPr>
          <a:xfrm>
            <a:off x="5714999" y="5216651"/>
            <a:ext cx="4361687" cy="562356"/>
          </a:xfrm>
          <a:prstGeom prst="rect">
            <a:avLst/>
          </a:prstGeom>
          <a:noFill/>
        </p:spPr>
        <p:txBody>
          <a:bodyPr wrap="square" lIns="0" rIns="0" tIns="0" bIns="0" anchor="t">
            <a:spAutoFit/>
          </a:bodyPr>
          <a:lstStyle/>
          <a:p>
            <a:pPr algn="l">
              <a:spcAft>
                <a:spcPts val="0"/>
              </a:spcAft>
            </a:pPr>
            <a:r>
              <a:rPr sz="1200" b="0" i="0">
                <a:solidFill>
                  <a:srgbClr val="1F1F1F"/>
                </a:solidFill>
              </a:rPr>
              <a:t>vendor knobs: reasoning effort “minimal” needs M.E.AI’s raw-options escape hatch</a:t>
            </a:r>
          </a:p>
        </p:txBody>
      </p:sp>
      <p:sp>
        <p:nvSpPr>
          <p:cNvPr id="23" name="TextBox 22"/>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Framework landscape 2026-09-19 · Verified snippets 2026-09-22 · LangChain v1 release notes · Vercel, AI SDK 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Demo: one script, five providers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DEMO · SEGMENT 1</a:t>
            </a:r>
          </a:p>
        </p:txBody>
      </p:sp>
      <p:sp>
        <p:nvSpPr>
          <p:cNvPr id="4" name="Rounded Rectangle 3"/>
          <p:cNvSpPr/>
          <p:nvPr/>
        </p:nvSpPr>
        <p:spPr>
          <a:xfrm>
            <a:off x="585216" y="1371600"/>
            <a:ext cx="1234440" cy="274320"/>
          </a:xfrm>
          <a:prstGeom prst="roundRect">
            <a:avLst>
              <a:gd name="adj" fmla="val 5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LIVE DEMO</a:t>
            </a:r>
          </a:p>
        </p:txBody>
      </p:sp>
      <p:sp>
        <p:nvSpPr>
          <p:cNvPr id="5" name="TextBox 4"/>
          <p:cNvSpPr txBox="1"/>
          <p:nvPr/>
        </p:nvSpPr>
        <p:spPr>
          <a:xfrm>
            <a:off x="585216" y="1828800"/>
            <a:ext cx="3931920" cy="2331720"/>
          </a:xfrm>
          <a:prstGeom prst="rect">
            <a:avLst/>
          </a:prstGeom>
          <a:noFill/>
        </p:spPr>
        <p:txBody>
          <a:bodyPr wrap="square" lIns="0" rIns="0" tIns="0" bIns="0" anchor="t">
            <a:spAutoFit/>
          </a:bodyPr>
          <a:lstStyle/>
          <a:p>
            <a:pPr algn="l">
              <a:spcAft>
                <a:spcPts val="0"/>
              </a:spcAft>
            </a:pPr>
            <a:r>
              <a:rPr sz="1800" b="1" i="0">
                <a:solidFill>
                  <a:srgbClr val="2A446F"/>
                </a:solidFill>
              </a:rPr>
              <a:t>Same prompt, same code — only the model and the URL change.</a:t>
            </a:r>
          </a:p>
        </p:txBody>
      </p:sp>
      <p:sp>
        <p:nvSpPr>
          <p:cNvPr id="6" name="Rectangle 5"/>
          <p:cNvSpPr/>
          <p:nvPr/>
        </p:nvSpPr>
        <p:spPr>
          <a:xfrm>
            <a:off x="585216" y="4343400"/>
            <a:ext cx="3931920" cy="2743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rot="5400000">
            <a:off x="859536" y="4590288"/>
            <a:ext cx="713232" cy="713232"/>
          </a:xfrm>
          <a:prstGeom prst="triangl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093976" y="4553712"/>
            <a:ext cx="2423160" cy="960120"/>
          </a:xfrm>
          <a:prstGeom prst="rect">
            <a:avLst/>
          </a:prstGeom>
          <a:noFill/>
        </p:spPr>
        <p:txBody>
          <a:bodyPr wrap="square" lIns="0" rIns="0" tIns="0" bIns="0" anchor="t">
            <a:spAutoFit/>
          </a:bodyPr>
          <a:lstStyle/>
          <a:p>
            <a:pPr algn="l">
              <a:spcAft>
                <a:spcPts val="600"/>
              </a:spcAft>
            </a:pPr>
            <a:r>
              <a:rPr sz="1300" b="1" i="0">
                <a:solidFill>
                  <a:srgbClr val="2A446F"/>
                </a:solidFill>
              </a:rPr>
              <a:t>live on the instructor laptop</a:t>
            </a:r>
          </a:p>
          <a:p>
            <a:pPr algn="l">
              <a:spcAft>
                <a:spcPts val="600"/>
              </a:spcAft>
            </a:pPr>
            <a:r>
              <a:rPr sz="1200" b="0" i="0">
                <a:solidFill>
                  <a:srgbClr val="6B6B6B"/>
                </a:solidFill>
              </a:rPr>
              <a:t>you watch — the lab comes later</a:t>
            </a:r>
          </a:p>
        </p:txBody>
      </p:sp>
      <p:sp>
        <p:nvSpPr>
          <p:cNvPr id="9" name="Rectangle 8"/>
          <p:cNvSpPr/>
          <p:nvPr/>
        </p:nvSpPr>
        <p:spPr>
          <a:xfrm>
            <a:off x="4800600" y="1417320"/>
            <a:ext cx="27432" cy="4343400"/>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029200" y="1417320"/>
            <a:ext cx="5120640" cy="2042160"/>
          </a:xfrm>
          <a:prstGeom prst="rect">
            <a:avLst/>
          </a:prstGeom>
          <a:noFill/>
        </p:spPr>
        <p:txBody>
          <a:bodyPr wrap="square" lIns="0" rIns="0" tIns="0" bIns="0" anchor="t">
            <a:spAutoFit/>
          </a:bodyPr>
          <a:lstStyle/>
          <a:p>
            <a:pPr algn="l">
              <a:spcAft>
                <a:spcPts val="900"/>
              </a:spcAft>
            </a:pPr>
            <a:r>
              <a:rPr sz="1400" b="0" i="0">
                <a:solidFill>
                  <a:srgbClr val="1F1F1F"/>
                </a:solidFill>
              </a:rPr>
              <a:t>1. labs/01-hello-model/python/05_same_code_other_model.py against gpt-5-mini (workshop gateway)</a:t>
            </a:r>
          </a:p>
          <a:p>
            <a:pPr algn="l">
              <a:spcAft>
                <a:spcPts val="900"/>
              </a:spcAft>
            </a:pPr>
            <a:r>
              <a:rPr sz="1400" b="0" i="0">
                <a:solidFill>
                  <a:srgbClr val="1F1F1F"/>
                </a:solidFill>
              </a:rPr>
              <a:t>2. GENAI_MODEL_2 = DeepSeek-V3.2, then grok-4.1-fast, then Kimi-K2.6 — same key, same URL</a:t>
            </a:r>
          </a:p>
          <a:p>
            <a:pPr algn="l">
              <a:spcAft>
                <a:spcPts val="900"/>
              </a:spcAft>
            </a:pPr>
            <a:r>
              <a:rPr sz="1400" b="0" i="0">
                <a:solidFill>
                  <a:srgbClr val="1F1F1F"/>
                </a:solidFill>
              </a:rPr>
              <a:t>3. local: gemma4:e4b on Ollama — no key, no network</a:t>
            </a:r>
          </a:p>
          <a:p>
            <a:pPr algn="l">
              <a:spcAft>
                <a:spcPts val="900"/>
              </a:spcAft>
            </a:pPr>
            <a:r>
              <a:rPr sz="1400" b="0" i="0">
                <a:solidFill>
                  <a:srgbClr val="1F1F1F"/>
                </a:solidFill>
              </a:rPr>
              <a:t>4. compare style, latency, token counts and tool-calling habits</a:t>
            </a:r>
          </a:p>
        </p:txBody>
      </p:sp>
      <p:sp>
        <p:nvSpPr>
          <p:cNvPr id="11" name="Rounded Rectangle 10"/>
          <p:cNvSpPr/>
          <p:nvPr/>
        </p:nvSpPr>
        <p:spPr>
          <a:xfrm>
            <a:off x="5029200" y="3733799"/>
            <a:ext cx="5120640" cy="91744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230368" y="3898391"/>
            <a:ext cx="4718303" cy="411480"/>
          </a:xfrm>
          <a:prstGeom prst="rect">
            <a:avLst/>
          </a:prstGeom>
          <a:noFill/>
        </p:spPr>
        <p:txBody>
          <a:bodyPr wrap="square" lIns="0" rIns="0" tIns="0" bIns="0" anchor="t">
            <a:spAutoFit/>
          </a:bodyPr>
          <a:lstStyle/>
          <a:p>
            <a:pPr algn="l">
              <a:spcAft>
                <a:spcPts val="0"/>
              </a:spcAft>
            </a:pPr>
            <a:r>
              <a:rPr sz="1200" b="1" i="0">
                <a:solidFill>
                  <a:srgbClr val="C52B2B"/>
                </a:solidFill>
              </a:rPr>
              <a:t>IF IT BREAKS</a:t>
            </a:r>
          </a:p>
        </p:txBody>
      </p:sp>
      <p:sp>
        <p:nvSpPr>
          <p:cNvPr id="13" name="TextBox 12"/>
          <p:cNvSpPr txBox="1"/>
          <p:nvPr/>
        </p:nvSpPr>
        <p:spPr>
          <a:xfrm>
            <a:off x="5230368" y="4355591"/>
            <a:ext cx="4718303" cy="274320"/>
          </a:xfrm>
          <a:prstGeom prst="rect">
            <a:avLst/>
          </a:prstGeom>
          <a:noFill/>
        </p:spPr>
        <p:txBody>
          <a:bodyPr wrap="square" lIns="0" rIns="0" tIns="0" bIns="0" anchor="t">
            <a:spAutoFit/>
          </a:bodyPr>
          <a:lstStyle/>
          <a:p>
            <a:pPr algn="l">
              <a:spcAft>
                <a:spcPts val="0"/>
              </a:spcAft>
            </a:pPr>
            <a:r>
              <a:rPr sz="1100" b="0" i="0">
                <a:solidFill>
                  <a:srgbClr val="1F1F1F"/>
                </a:solidFill>
              </a:rPr>
              <a:t>a recorded terminal run of the same script</a:t>
            </a:r>
          </a:p>
        </p:txBody>
      </p:sp>
      <p:pic>
        <p:nvPicPr>
          <p:cNvPr id="14" name="Picture 13" descr="s1_universal_adapter.jpg"/>
          <p:cNvPicPr>
            <a:picLocks noChangeAspect="1"/>
          </p:cNvPicPr>
          <p:nvPr/>
        </p:nvPicPr>
        <p:blipFill>
          <a:blip r:embed="rId3"/>
          <a:stretch>
            <a:fillRect/>
          </a:stretch>
        </p:blipFill>
        <p:spPr>
          <a:xfrm>
            <a:off x="585216" y="2514600"/>
            <a:ext cx="2468880" cy="1645920"/>
          </a:xfrm>
          <a:prstGeom prst="roundRect">
            <a:avLst>
              <a:gd name="adj" fmla="val 4000"/>
            </a:avLst>
          </a:prstGeom>
        </p:spPr>
      </p:pic>
      <p:sp>
        <p:nvSpPr>
          <p:cNvPr id="15" name="TextBox 14"/>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Lab 1 code (tested 2026-09-22) · Foundry provisioning plan 2026-09-19 · Model catalog §10 (checked 2026-09-21)</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Generate, compare or decide? Not every question needs an LLM</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Three model classes, three kinds of question — use the cheapest that does the job.</a:t>
            </a:r>
          </a:p>
        </p:txBody>
      </p:sp>
      <p:sp>
        <p:nvSpPr>
          <p:cNvPr id="5" name="Rounded Rectangle 4"/>
          <p:cNvSpPr/>
          <p:nvPr/>
        </p:nvSpPr>
        <p:spPr>
          <a:xfrm>
            <a:off x="585216" y="1965960"/>
            <a:ext cx="3096767" cy="333756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585216" y="1965960"/>
            <a:ext cx="3096767" cy="420624"/>
          </a:xfrm>
          <a:prstGeom prst="roundRect">
            <a:avLst>
              <a:gd name="adj" fmla="val 2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GENERATE</a:t>
            </a:r>
          </a:p>
        </p:txBody>
      </p:sp>
      <p:sp>
        <p:nvSpPr>
          <p:cNvPr id="7" name="Rounded Rectangle 6"/>
          <p:cNvSpPr/>
          <p:nvPr/>
        </p:nvSpPr>
        <p:spPr>
          <a:xfrm>
            <a:off x="813816" y="2560320"/>
            <a:ext cx="2639567" cy="502920"/>
          </a:xfrm>
          <a:prstGeom prst="roundRect">
            <a:avLst>
              <a:gd name="adj" fmla="val 12000"/>
            </a:avLst>
          </a:prstGeom>
          <a:solidFill>
            <a:srgbClr val="FFFFFF"/>
          </a:solidFill>
          <a:ln w="127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0078D4"/>
                </a:solidFill>
              </a:rPr>
              <a:t>LLM</a:t>
            </a:r>
          </a:p>
        </p:txBody>
      </p:sp>
      <p:sp>
        <p:nvSpPr>
          <p:cNvPr id="8" name="TextBox 7"/>
          <p:cNvSpPr txBox="1"/>
          <p:nvPr/>
        </p:nvSpPr>
        <p:spPr>
          <a:xfrm>
            <a:off x="813816" y="3154680"/>
            <a:ext cx="2639567" cy="548640"/>
          </a:xfrm>
          <a:prstGeom prst="rect">
            <a:avLst/>
          </a:prstGeom>
          <a:noFill/>
        </p:spPr>
        <p:txBody>
          <a:bodyPr wrap="square" lIns="0" rIns="0" tIns="0" bIns="0" anchor="t">
            <a:spAutoFit/>
          </a:bodyPr>
          <a:lstStyle/>
          <a:p>
            <a:pPr algn="l">
              <a:spcAft>
                <a:spcPts val="0"/>
              </a:spcAft>
            </a:pPr>
            <a:r>
              <a:rPr sz="1300" b="1" i="0">
                <a:solidFill>
                  <a:srgbClr val="2A446F"/>
                </a:solidFill>
              </a:rPr>
              <a:t>text in → new text out</a:t>
            </a:r>
          </a:p>
        </p:txBody>
      </p:sp>
      <p:sp>
        <p:nvSpPr>
          <p:cNvPr id="9" name="TextBox 8"/>
          <p:cNvSpPr txBox="1"/>
          <p:nvPr/>
        </p:nvSpPr>
        <p:spPr>
          <a:xfrm>
            <a:off x="813816" y="3749039"/>
            <a:ext cx="2639567" cy="1463040"/>
          </a:xfrm>
          <a:prstGeom prst="rect">
            <a:avLst/>
          </a:prstGeom>
          <a:noFill/>
        </p:spPr>
        <p:txBody>
          <a:bodyPr wrap="square" lIns="0" rIns="0" tIns="0" bIns="0" anchor="t">
            <a:spAutoFit/>
          </a:bodyPr>
          <a:lstStyle/>
          <a:p>
            <a:pPr algn="l">
              <a:spcAft>
                <a:spcPts val="600"/>
              </a:spcAft>
            </a:pPr>
            <a:r>
              <a:rPr sz="1200" b="1" i="0">
                <a:solidFill>
                  <a:srgbClr val="1F1F1F"/>
                </a:solidFill>
              </a:rPr>
              <a:t>For:</a:t>
            </a:r>
            <a:r>
              <a:rPr sz="1200" b="0" i="0">
                <a:solidFill>
                  <a:srgbClr val="1F1F1F"/>
                </a:solidFill>
              </a:rPr>
              <a:t> writing, summaries, tool calls, agents</a:t>
            </a:r>
          </a:p>
          <a:p>
            <a:pPr algn="l">
              <a:spcAft>
                <a:spcPts val="600"/>
              </a:spcAft>
            </a:pPr>
            <a:r>
              <a:rPr sz="1200" b="1" i="0">
                <a:solidFill>
                  <a:srgbClr val="1F1F1F"/>
                </a:solidFill>
              </a:rPr>
              <a:t>E.g.:</a:t>
            </a:r>
            <a:r>
              <a:rPr sz="1200" b="0" i="0">
                <a:solidFill>
                  <a:srgbClr val="1F1F1F"/>
                </a:solidFill>
              </a:rPr>
              <a:t> gpt-5-mini, DeepSeek, Gemma</a:t>
            </a:r>
          </a:p>
        </p:txBody>
      </p:sp>
      <p:sp>
        <p:nvSpPr>
          <p:cNvPr id="10" name="Rounded Rectangle 9"/>
          <p:cNvSpPr/>
          <p:nvPr/>
        </p:nvSpPr>
        <p:spPr>
          <a:xfrm>
            <a:off x="3864864" y="1965960"/>
            <a:ext cx="3096767" cy="333756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3864864" y="1965960"/>
            <a:ext cx="3096767" cy="420624"/>
          </a:xfrm>
          <a:prstGeom prst="roundRect">
            <a:avLst>
              <a:gd name="adj" fmla="val 2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COMPARE</a:t>
            </a:r>
          </a:p>
        </p:txBody>
      </p:sp>
      <p:sp>
        <p:nvSpPr>
          <p:cNvPr id="12" name="Rounded Rectangle 11"/>
          <p:cNvSpPr/>
          <p:nvPr/>
        </p:nvSpPr>
        <p:spPr>
          <a:xfrm>
            <a:off x="4093464" y="2560320"/>
            <a:ext cx="2639567" cy="502920"/>
          </a:xfrm>
          <a:prstGeom prst="roundRect">
            <a:avLst>
              <a:gd name="adj" fmla="val 12000"/>
            </a:avLst>
          </a:prstGeom>
          <a:solidFill>
            <a:srgbClr val="FFFFFF"/>
          </a:solidFill>
          <a:ln w="12700">
            <a:solidFill>
              <a:srgbClr val="008B8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008B8B"/>
                </a:solidFill>
              </a:rPr>
              <a:t>embedding model</a:t>
            </a:r>
          </a:p>
        </p:txBody>
      </p:sp>
      <p:sp>
        <p:nvSpPr>
          <p:cNvPr id="13" name="TextBox 12"/>
          <p:cNvSpPr txBox="1"/>
          <p:nvPr/>
        </p:nvSpPr>
        <p:spPr>
          <a:xfrm>
            <a:off x="4093464" y="3154680"/>
            <a:ext cx="2639567" cy="548640"/>
          </a:xfrm>
          <a:prstGeom prst="rect">
            <a:avLst/>
          </a:prstGeom>
          <a:noFill/>
        </p:spPr>
        <p:txBody>
          <a:bodyPr wrap="square" lIns="0" rIns="0" tIns="0" bIns="0" anchor="t">
            <a:spAutoFit/>
          </a:bodyPr>
          <a:lstStyle/>
          <a:p>
            <a:pPr algn="l">
              <a:spcAft>
                <a:spcPts val="0"/>
              </a:spcAft>
            </a:pPr>
            <a:r>
              <a:rPr sz="1300" b="1" i="0">
                <a:solidFill>
                  <a:srgbClr val="2A446F"/>
                </a:solidFill>
              </a:rPr>
              <a:t>two texts → one similarity</a:t>
            </a:r>
          </a:p>
        </p:txBody>
      </p:sp>
      <p:sp>
        <p:nvSpPr>
          <p:cNvPr id="14" name="TextBox 13"/>
          <p:cNvSpPr txBox="1"/>
          <p:nvPr/>
        </p:nvSpPr>
        <p:spPr>
          <a:xfrm>
            <a:off x="4093464" y="3749039"/>
            <a:ext cx="2639567" cy="1463040"/>
          </a:xfrm>
          <a:prstGeom prst="rect">
            <a:avLst/>
          </a:prstGeom>
          <a:noFill/>
        </p:spPr>
        <p:txBody>
          <a:bodyPr wrap="square" lIns="0" rIns="0" tIns="0" bIns="0" anchor="t">
            <a:spAutoFit/>
          </a:bodyPr>
          <a:lstStyle/>
          <a:p>
            <a:pPr algn="l">
              <a:spcAft>
                <a:spcPts val="600"/>
              </a:spcAft>
            </a:pPr>
            <a:r>
              <a:rPr sz="1200" b="1" i="0">
                <a:solidFill>
                  <a:srgbClr val="1F1F1F"/>
                </a:solidFill>
              </a:rPr>
              <a:t>For:</a:t>
            </a:r>
            <a:r>
              <a:rPr sz="1200" b="0" i="0">
                <a:solidFill>
                  <a:srgbClr val="1F1F1F"/>
                </a:solidFill>
              </a:rPr>
              <a:t> search, dedup, relevance filters</a:t>
            </a:r>
          </a:p>
          <a:p>
            <a:pPr algn="l">
              <a:spcAft>
                <a:spcPts val="600"/>
              </a:spcAft>
            </a:pPr>
            <a:r>
              <a:rPr sz="1200" b="1" i="0">
                <a:solidFill>
                  <a:srgbClr val="1F1F1F"/>
                </a:solidFill>
              </a:rPr>
              <a:t>E.g.:</a:t>
            </a:r>
            <a:r>
              <a:rPr sz="1200" b="0" i="0">
                <a:solidFill>
                  <a:srgbClr val="1F1F1F"/>
                </a:solidFill>
              </a:rPr>
              <a:t> BGE-M3, text-embedding-3-large</a:t>
            </a:r>
          </a:p>
        </p:txBody>
      </p:sp>
      <p:sp>
        <p:nvSpPr>
          <p:cNvPr id="15" name="Rounded Rectangle 14"/>
          <p:cNvSpPr/>
          <p:nvPr/>
        </p:nvSpPr>
        <p:spPr>
          <a:xfrm>
            <a:off x="7144511" y="1965960"/>
            <a:ext cx="3096767" cy="333756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7144511" y="1965960"/>
            <a:ext cx="3096767" cy="420624"/>
          </a:xfrm>
          <a:prstGeom prst="roundRect">
            <a:avLst>
              <a:gd name="adj" fmla="val 20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DECIDE</a:t>
            </a:r>
          </a:p>
        </p:txBody>
      </p:sp>
      <p:sp>
        <p:nvSpPr>
          <p:cNvPr id="17" name="Rounded Rectangle 16"/>
          <p:cNvSpPr/>
          <p:nvPr/>
        </p:nvSpPr>
        <p:spPr>
          <a:xfrm>
            <a:off x="7373111" y="2560320"/>
            <a:ext cx="2639567" cy="502920"/>
          </a:xfrm>
          <a:prstGeom prst="roundRect">
            <a:avLst>
              <a:gd name="adj" fmla="val 12000"/>
            </a:avLst>
          </a:prstGeom>
          <a:solidFill>
            <a:srgbClr val="FFFFFF"/>
          </a:solidFill>
          <a:ln w="12700">
            <a:solidFill>
              <a:srgbClr val="8661C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8661C5"/>
                </a:solidFill>
              </a:rPr>
              <a:t>decision model</a:t>
            </a:r>
          </a:p>
        </p:txBody>
      </p:sp>
      <p:sp>
        <p:nvSpPr>
          <p:cNvPr id="18" name="TextBox 17"/>
          <p:cNvSpPr txBox="1"/>
          <p:nvPr/>
        </p:nvSpPr>
        <p:spPr>
          <a:xfrm>
            <a:off x="7373111" y="3154680"/>
            <a:ext cx="2639567" cy="548640"/>
          </a:xfrm>
          <a:prstGeom prst="rect">
            <a:avLst/>
          </a:prstGeom>
          <a:noFill/>
        </p:spPr>
        <p:txBody>
          <a:bodyPr wrap="square" lIns="0" rIns="0" tIns="0" bIns="0" anchor="t">
            <a:spAutoFit/>
          </a:bodyPr>
          <a:lstStyle/>
          <a:p>
            <a:pPr algn="l">
              <a:spcAft>
                <a:spcPts val="0"/>
              </a:spcAft>
            </a:pPr>
            <a:r>
              <a:rPr sz="1300" b="1" i="0">
                <a:solidFill>
                  <a:srgbClr val="2A446F"/>
                </a:solidFill>
              </a:rPr>
              <a:t>state + questions → typed, calibrated choices</a:t>
            </a:r>
          </a:p>
        </p:txBody>
      </p:sp>
      <p:sp>
        <p:nvSpPr>
          <p:cNvPr id="19" name="TextBox 18"/>
          <p:cNvSpPr txBox="1"/>
          <p:nvPr/>
        </p:nvSpPr>
        <p:spPr>
          <a:xfrm>
            <a:off x="7373111" y="3749039"/>
            <a:ext cx="2639567" cy="1463040"/>
          </a:xfrm>
          <a:prstGeom prst="rect">
            <a:avLst/>
          </a:prstGeom>
          <a:noFill/>
        </p:spPr>
        <p:txBody>
          <a:bodyPr wrap="square" lIns="0" rIns="0" tIns="0" bIns="0" anchor="t">
            <a:spAutoFit/>
          </a:bodyPr>
          <a:lstStyle/>
          <a:p>
            <a:pPr algn="l">
              <a:spcAft>
                <a:spcPts val="600"/>
              </a:spcAft>
            </a:pPr>
            <a:r>
              <a:rPr sz="1200" b="1" i="0">
                <a:solidFill>
                  <a:srgbClr val="1F1F1F"/>
                </a:solidFill>
              </a:rPr>
              <a:t>For:</a:t>
            </a:r>
            <a:r>
              <a:rPr sz="1200" b="0" i="0">
                <a:solidFill>
                  <a:srgbClr val="1F1F1F"/>
                </a:solidFill>
              </a:rPr>
              <a:t> routers, guardrails, triage</a:t>
            </a:r>
          </a:p>
          <a:p>
            <a:pPr algn="l">
              <a:spcAft>
                <a:spcPts val="600"/>
              </a:spcAft>
            </a:pPr>
            <a:r>
              <a:rPr sz="1200" b="1" i="0">
                <a:solidFill>
                  <a:srgbClr val="1F1F1F"/>
                </a:solidFill>
              </a:rPr>
              <a:t>E.g.:</a:t>
            </a:r>
            <a:r>
              <a:rPr sz="1200" b="0" i="0">
                <a:solidFill>
                  <a:srgbClr val="1F1F1F"/>
                </a:solidFill>
              </a:rPr>
              <a:t> Jev (API only, waitlist) · open clones · logprobs of a local LLM</a:t>
            </a:r>
          </a:p>
        </p:txBody>
      </p:sp>
      <p:sp>
        <p:nvSpPr>
          <p:cNvPr id="20" name="TextBox 19"/>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Teaser for Segment 2: a router or a relevance filter needs a decision, not a paragraph.</a:t>
            </a:r>
          </a:p>
        </p:txBody>
      </p:sp>
      <p:sp>
        <p:nvSpPr>
          <p:cNvPr id="21" name="TextBox 20"/>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§4 (checked 2026-09-21) · Jev / System One note 2026-09-21 · TypeSafe AI, Introducing Jev</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Hallucination is miscalibration, not lying</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6766560" cy="822960"/>
          </a:xfrm>
          <a:prstGeom prst="rect">
            <a:avLst/>
          </a:prstGeom>
          <a:noFill/>
        </p:spPr>
        <p:txBody>
          <a:bodyPr wrap="square" lIns="0" rIns="0" tIns="0" bIns="0" anchor="t">
            <a:spAutoFit/>
          </a:bodyPr>
          <a:lstStyle/>
          <a:p>
            <a:pPr algn="l">
              <a:spcAft>
                <a:spcPts val="0"/>
              </a:spcAft>
            </a:pPr>
            <a:r>
              <a:rPr sz="1800" b="0" i="0">
                <a:solidFill>
                  <a:srgbClr val="2A446F"/>
                </a:solidFill>
              </a:rPr>
              <a:t>Every token is sampled from a distribution. The honest question: how well does the model’s confidence match reality?</a:t>
            </a:r>
          </a:p>
        </p:txBody>
      </p:sp>
      <p:sp>
        <p:nvSpPr>
          <p:cNvPr id="5" name="Rectangle 4"/>
          <p:cNvSpPr/>
          <p:nvPr/>
        </p:nvSpPr>
        <p:spPr>
          <a:xfrm>
            <a:off x="1280160" y="2331720"/>
            <a:ext cx="13716" cy="2468880"/>
          </a:xfrm>
          <a:prstGeom prst="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280160" y="4800600"/>
            <a:ext cx="2468880" cy="13716"/>
          </a:xfrm>
          <a:prstGeom prst="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 name="Connector 6"/>
          <p:cNvCxnSpPr/>
          <p:nvPr/>
        </p:nvCxnSpPr>
        <p:spPr>
          <a:xfrm flipV="1">
            <a:off x="1280160" y="2331720"/>
            <a:ext cx="2468879" cy="2468880"/>
          </a:xfrm>
          <a:prstGeom prst="line">
            <a:avLst/>
          </a:prstGeom>
          <a:ln w="15875">
            <a:solidFill>
              <a:srgbClr val="B8C2D6"/>
            </a:solidFill>
            <a:prstDash val="dash"/>
          </a:ln>
        </p:spPr>
        <p:style>
          <a:lnRef idx="2">
            <a:schemeClr val="accent1"/>
          </a:lnRef>
          <a:fillRef idx="0">
            <a:schemeClr val="accent1"/>
          </a:fillRef>
          <a:effectRef idx="1">
            <a:schemeClr val="accent1"/>
          </a:effectRef>
          <a:fontRef idx="minor">
            <a:schemeClr val="tx1"/>
          </a:fontRef>
        </p:style>
      </p:cxnSp>
      <p:sp>
        <p:nvSpPr>
          <p:cNvPr id="8" name="Freeform 7"/>
          <p:cNvSpPr/>
          <p:nvPr/>
        </p:nvSpPr>
        <p:spPr>
          <a:xfrm>
            <a:off x="1280160" y="2454250"/>
            <a:ext cx="2468880" cy="2296973"/>
          </a:xfrm>
          <a:custGeom>
            <a:avLst/>
            <a:gdLst/>
            <a:ahLst/>
            <a:cxnLst/>
            <a:rect l="l" t="t" r="r" b="b"/>
            <a:pathLst>
              <a:path w="2700" h="2512">
                <a:moveTo>
                  <a:pt x="0" y="2512"/>
                </a:moveTo>
                <a:lnTo>
                  <a:pt x="112" y="2382"/>
                </a:lnTo>
                <a:lnTo>
                  <a:pt x="225" y="2255"/>
                </a:lnTo>
                <a:lnTo>
                  <a:pt x="337" y="2131"/>
                </a:lnTo>
                <a:lnTo>
                  <a:pt x="449" y="2011"/>
                </a:lnTo>
                <a:lnTo>
                  <a:pt x="562" y="1897"/>
                </a:lnTo>
                <a:lnTo>
                  <a:pt x="675" y="1789"/>
                </a:lnTo>
                <a:lnTo>
                  <a:pt x="787" y="1688"/>
                </a:lnTo>
                <a:lnTo>
                  <a:pt x="900" y="1593"/>
                </a:lnTo>
                <a:lnTo>
                  <a:pt x="1012" y="1503"/>
                </a:lnTo>
                <a:lnTo>
                  <a:pt x="1125" y="1418"/>
                </a:lnTo>
                <a:lnTo>
                  <a:pt x="1237" y="1336"/>
                </a:lnTo>
                <a:lnTo>
                  <a:pt x="1350" y="1256"/>
                </a:lnTo>
                <a:lnTo>
                  <a:pt x="1462" y="1176"/>
                </a:lnTo>
                <a:lnTo>
                  <a:pt x="1575" y="1094"/>
                </a:lnTo>
                <a:lnTo>
                  <a:pt x="1687" y="1009"/>
                </a:lnTo>
                <a:lnTo>
                  <a:pt x="1800" y="919"/>
                </a:lnTo>
                <a:lnTo>
                  <a:pt x="1912" y="824"/>
                </a:lnTo>
                <a:lnTo>
                  <a:pt x="2025" y="723"/>
                </a:lnTo>
                <a:lnTo>
                  <a:pt x="2137" y="615"/>
                </a:lnTo>
                <a:lnTo>
                  <a:pt x="2250" y="501"/>
                </a:lnTo>
                <a:lnTo>
                  <a:pt x="2362" y="381"/>
                </a:lnTo>
                <a:lnTo>
                  <a:pt x="2475" y="257"/>
                </a:lnTo>
                <a:lnTo>
                  <a:pt x="2587" y="130"/>
                </a:lnTo>
                <a:lnTo>
                  <a:pt x="2700" y="0"/>
                </a:lnTo>
              </a:path>
            </a:pathLst>
          </a:custGeom>
          <a:noFill/>
          <a:ln w="381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1794053" y="3195828"/>
            <a:ext cx="1954987" cy="617220"/>
          </a:xfrm>
          <a:custGeom>
            <a:avLst/>
            <a:gdLst/>
            <a:ahLst/>
            <a:cxnLst/>
            <a:rect l="l" t="t" r="r" b="b"/>
            <a:pathLst>
              <a:path w="2138" h="675">
                <a:moveTo>
                  <a:pt x="0" y="675"/>
                </a:moveTo>
                <a:lnTo>
                  <a:pt x="113" y="633"/>
                </a:lnTo>
                <a:lnTo>
                  <a:pt x="225" y="592"/>
                </a:lnTo>
                <a:lnTo>
                  <a:pt x="338" y="552"/>
                </a:lnTo>
                <a:lnTo>
                  <a:pt x="450" y="513"/>
                </a:lnTo>
                <a:lnTo>
                  <a:pt x="563" y="475"/>
                </a:lnTo>
                <a:lnTo>
                  <a:pt x="675" y="438"/>
                </a:lnTo>
                <a:lnTo>
                  <a:pt x="788" y="402"/>
                </a:lnTo>
                <a:lnTo>
                  <a:pt x="900" y="366"/>
                </a:lnTo>
                <a:lnTo>
                  <a:pt x="1013" y="331"/>
                </a:lnTo>
                <a:lnTo>
                  <a:pt x="1125" y="296"/>
                </a:lnTo>
                <a:lnTo>
                  <a:pt x="1238" y="261"/>
                </a:lnTo>
                <a:lnTo>
                  <a:pt x="1350" y="227"/>
                </a:lnTo>
                <a:lnTo>
                  <a:pt x="1463" y="194"/>
                </a:lnTo>
                <a:lnTo>
                  <a:pt x="1575" y="161"/>
                </a:lnTo>
                <a:lnTo>
                  <a:pt x="1688" y="128"/>
                </a:lnTo>
                <a:lnTo>
                  <a:pt x="1800" y="95"/>
                </a:lnTo>
                <a:lnTo>
                  <a:pt x="1913" y="63"/>
                </a:lnTo>
                <a:lnTo>
                  <a:pt x="2025" y="31"/>
                </a:lnTo>
                <a:lnTo>
                  <a:pt x="2138" y="0"/>
                </a:lnTo>
              </a:path>
            </a:pathLst>
          </a:custGeom>
          <a:noFill/>
          <a:ln w="38100">
            <a:solidFill>
              <a:srgbClr val="C5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4846320"/>
            <a:ext cx="2468880" cy="274320"/>
          </a:xfrm>
          <a:prstGeom prst="rect">
            <a:avLst/>
          </a:prstGeom>
          <a:noFill/>
        </p:spPr>
        <p:txBody>
          <a:bodyPr wrap="square" lIns="0" rIns="0" tIns="0" bIns="0" anchor="t">
            <a:spAutoFit/>
          </a:bodyPr>
          <a:lstStyle/>
          <a:p>
            <a:pPr algn="ctr">
              <a:spcAft>
                <a:spcPts val="0"/>
              </a:spcAft>
            </a:pPr>
            <a:r>
              <a:rPr sz="1100" b="0" i="0">
                <a:solidFill>
                  <a:srgbClr val="6B6B6B"/>
                </a:solidFill>
              </a:rPr>
              <a:t>confidence →</a:t>
            </a:r>
          </a:p>
        </p:txBody>
      </p:sp>
      <p:sp>
        <p:nvSpPr>
          <p:cNvPr id="11" name="TextBox 10"/>
          <p:cNvSpPr txBox="1"/>
          <p:nvPr/>
        </p:nvSpPr>
        <p:spPr>
          <a:xfrm rot="16200000">
            <a:off x="274319" y="3429000"/>
            <a:ext cx="1463040" cy="274320"/>
          </a:xfrm>
          <a:prstGeom prst="rect">
            <a:avLst/>
          </a:prstGeom>
          <a:noFill/>
        </p:spPr>
        <p:txBody>
          <a:bodyPr wrap="square" lIns="0" rIns="0" tIns="0" bIns="0" anchor="ctr">
            <a:spAutoFit/>
          </a:bodyPr>
          <a:lstStyle/>
          <a:p>
            <a:pPr algn="ctr">
              <a:spcAft>
                <a:spcPts val="0"/>
              </a:spcAft>
            </a:pPr>
            <a:r>
              <a:rPr sz="1100" b="0" i="0">
                <a:solidFill>
                  <a:srgbClr val="6B6B6B"/>
                </a:solidFill>
              </a:rPr>
              <a:t>accuracy →</a:t>
            </a:r>
          </a:p>
        </p:txBody>
      </p:sp>
      <p:sp>
        <p:nvSpPr>
          <p:cNvPr id="12" name="TextBox 11"/>
          <p:cNvSpPr txBox="1"/>
          <p:nvPr/>
        </p:nvSpPr>
        <p:spPr>
          <a:xfrm>
            <a:off x="1508760" y="2737713"/>
            <a:ext cx="1371600" cy="274320"/>
          </a:xfrm>
          <a:prstGeom prst="rect">
            <a:avLst/>
          </a:prstGeom>
          <a:noFill/>
        </p:spPr>
        <p:txBody>
          <a:bodyPr wrap="square" lIns="0" rIns="0" tIns="0" bIns="0" anchor="t">
            <a:spAutoFit/>
          </a:bodyPr>
          <a:lstStyle/>
          <a:p>
            <a:pPr algn="r">
              <a:spcAft>
                <a:spcPts val="0"/>
              </a:spcAft>
            </a:pPr>
            <a:r>
              <a:rPr sz="1100" b="1" i="0">
                <a:solidFill>
                  <a:srgbClr val="0078D4"/>
                </a:solidFill>
              </a:rPr>
              <a:t>pre-trained</a:t>
            </a:r>
          </a:p>
        </p:txBody>
      </p:sp>
      <p:sp>
        <p:nvSpPr>
          <p:cNvPr id="13" name="TextBox 12"/>
          <p:cNvSpPr txBox="1"/>
          <p:nvPr/>
        </p:nvSpPr>
        <p:spPr>
          <a:xfrm>
            <a:off x="2810865" y="3611879"/>
            <a:ext cx="1188720" cy="274320"/>
          </a:xfrm>
          <a:prstGeom prst="rect">
            <a:avLst/>
          </a:prstGeom>
          <a:noFill/>
        </p:spPr>
        <p:txBody>
          <a:bodyPr wrap="square" lIns="0" rIns="0" tIns="0" bIns="0" anchor="t">
            <a:spAutoFit/>
          </a:bodyPr>
          <a:lstStyle/>
          <a:p>
            <a:pPr algn="l">
              <a:spcAft>
                <a:spcPts val="0"/>
              </a:spcAft>
            </a:pPr>
            <a:r>
              <a:rPr sz="1100" b="1" i="0">
                <a:solidFill>
                  <a:srgbClr val="C52B2B"/>
                </a:solidFill>
              </a:rPr>
              <a:t>after RLHF</a:t>
            </a:r>
          </a:p>
        </p:txBody>
      </p:sp>
      <p:sp>
        <p:nvSpPr>
          <p:cNvPr id="14" name="TextBox 13"/>
          <p:cNvSpPr txBox="1"/>
          <p:nvPr/>
        </p:nvSpPr>
        <p:spPr>
          <a:xfrm>
            <a:off x="1188719" y="5120640"/>
            <a:ext cx="3017520" cy="274320"/>
          </a:xfrm>
          <a:prstGeom prst="rect">
            <a:avLst/>
          </a:prstGeom>
          <a:noFill/>
        </p:spPr>
        <p:txBody>
          <a:bodyPr wrap="square" lIns="0" rIns="0" tIns="0" bIns="0" anchor="t">
            <a:spAutoFit/>
          </a:bodyPr>
          <a:lstStyle/>
          <a:p>
            <a:pPr algn="l">
              <a:spcAft>
                <a:spcPts val="0"/>
              </a:spcAft>
            </a:pPr>
            <a:r>
              <a:rPr sz="1000" b="0" i="1">
                <a:solidFill>
                  <a:srgbClr val="6B6B6B"/>
                </a:solidFill>
              </a:rPr>
              <a:t>schematic after the GPT-4 technical report</a:t>
            </a:r>
          </a:p>
        </p:txBody>
      </p:sp>
      <p:sp>
        <p:nvSpPr>
          <p:cNvPr id="15" name="TextBox 14"/>
          <p:cNvSpPr txBox="1"/>
          <p:nvPr/>
        </p:nvSpPr>
        <p:spPr>
          <a:xfrm>
            <a:off x="4160520" y="2148840"/>
            <a:ext cx="3154680" cy="3108960"/>
          </a:xfrm>
          <a:prstGeom prst="rect">
            <a:avLst/>
          </a:prstGeom>
          <a:noFill/>
        </p:spPr>
        <p:txBody>
          <a:bodyPr wrap="square" lIns="0" rIns="0" tIns="0" bIns="0" anchor="t">
            <a:spAutoFit/>
          </a:bodyPr>
          <a:lstStyle/>
          <a:p>
            <a:pPr algn="l" marL="256032" indent="-256032">
              <a:spcAft>
                <a:spcPts val="800"/>
              </a:spcAft>
              <a:buClr>
                <a:srgbClr val="0078D4"/>
              </a:buClr>
              <a:buChar char="•"/>
            </a:pPr>
            <a:r>
              <a:rPr sz="1200" b="1" i="0">
                <a:solidFill>
                  <a:srgbClr val="1F1F1F"/>
                </a:solidFill>
              </a:rPr>
              <a:t>Benchmarks reward guessing</a:t>
            </a:r>
            <a:r>
              <a:rPr sz="1200" b="0" i="0">
                <a:solidFill>
                  <a:srgbClr val="1F1F1F"/>
                </a:solidFill>
              </a:rPr>
              <a:t> over “I don’t know” (OpenAI, 2025)</a:t>
            </a:r>
          </a:p>
          <a:p>
            <a:pPr algn="l" marL="256032" indent="-256032">
              <a:spcAft>
                <a:spcPts val="800"/>
              </a:spcAft>
              <a:buClr>
                <a:srgbClr val="0078D4"/>
              </a:buClr>
              <a:buChar char="•"/>
            </a:pPr>
            <a:r>
              <a:rPr sz="1200" b="1" i="0">
                <a:solidFill>
                  <a:srgbClr val="1F1F1F"/>
                </a:solidFill>
              </a:rPr>
              <a:t>Errors compound</a:t>
            </a:r>
            <a:r>
              <a:rPr sz="1200" b="0" i="0">
                <a:solidFill>
                  <a:srgbClr val="1F1F1F"/>
                </a:solidFill>
              </a:rPr>
              <a:t> — each token can drift off the right path</a:t>
            </a:r>
          </a:p>
          <a:p>
            <a:pPr algn="l" marL="256032" indent="-256032">
              <a:spcAft>
                <a:spcPts val="800"/>
              </a:spcAft>
              <a:buClr>
                <a:srgbClr val="0078D4"/>
              </a:buClr>
              <a:buChar char="•"/>
            </a:pPr>
            <a:r>
              <a:rPr sz="1200" b="1" i="0">
                <a:solidFill>
                  <a:srgbClr val="1F1F1F"/>
                </a:solidFill>
              </a:rPr>
              <a:t>Models often do know</a:t>
            </a:r>
            <a:r>
              <a:rPr sz="1200" b="0" i="0">
                <a:solidFill>
                  <a:srgbClr val="1F1F1F"/>
                </a:solidFill>
              </a:rPr>
              <a:t> — a “known entity” feature can wrongly switch off the default “can’t answer” (Anthropic)</a:t>
            </a:r>
          </a:p>
        </p:txBody>
      </p:sp>
      <p:pic>
        <p:nvPicPr>
          <p:cNvPr id="16" name="Picture 15" descr="s1_confident_parrot.jpg"/>
          <p:cNvPicPr>
            <a:picLocks noChangeAspect="1"/>
          </p:cNvPicPr>
          <p:nvPr/>
        </p:nvPicPr>
        <p:blipFill>
          <a:blip r:embed="rId3"/>
          <a:stretch>
            <a:fillRect/>
          </a:stretch>
        </p:blipFill>
        <p:spPr>
          <a:xfrm>
            <a:off x="7498079" y="2057400"/>
            <a:ext cx="2743200" cy="2743200"/>
          </a:xfrm>
          <a:prstGeom prst="roundRect">
            <a:avLst>
              <a:gd name="adj" fmla="val 4000"/>
            </a:avLst>
          </a:prstGeom>
        </p:spPr>
      </p:pic>
      <p:sp>
        <p:nvSpPr>
          <p:cNvPr id="17" name="TextBox 16"/>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Fix the incentives, not the vocabulary: reward “I don’t know”, ground the answer, check it.</a:t>
            </a:r>
          </a:p>
        </p:txBody>
      </p:sp>
      <p:sp>
        <p:nvSpPr>
          <p:cNvPr id="18" name="TextBox 17"/>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OpenAI 2025, Why LMs hallucinate · Anthropic, circuit tracing · GPT-4 report (2303.08774)</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Mitigations that actually move the number</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No single fix works — stack two or three and a confident lie turns into “I don’t know”.</a:t>
            </a:r>
          </a:p>
        </p:txBody>
      </p:sp>
      <p:sp>
        <p:nvSpPr>
          <p:cNvPr id="5" name="Rectangle 4"/>
          <p:cNvSpPr/>
          <p:nvPr/>
        </p:nvSpPr>
        <p:spPr>
          <a:xfrm>
            <a:off x="585216" y="2011680"/>
            <a:ext cx="73152" cy="54864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86384" y="2011680"/>
            <a:ext cx="2240280" cy="548640"/>
          </a:xfrm>
          <a:prstGeom prst="rect">
            <a:avLst/>
          </a:prstGeom>
          <a:noFill/>
        </p:spPr>
        <p:txBody>
          <a:bodyPr wrap="square" lIns="0" rIns="0" tIns="0" bIns="0" anchor="ctr">
            <a:spAutoFit/>
          </a:bodyPr>
          <a:lstStyle/>
          <a:p>
            <a:pPr algn="l">
              <a:spcAft>
                <a:spcPts val="0"/>
              </a:spcAft>
            </a:pPr>
            <a:r>
              <a:rPr sz="1300" b="1" i="0">
                <a:solidFill>
                  <a:srgbClr val="2A446F"/>
                </a:solidFill>
              </a:rPr>
              <a:t>Grounding (Segment 2)</a:t>
            </a:r>
          </a:p>
        </p:txBody>
      </p:sp>
      <p:sp>
        <p:nvSpPr>
          <p:cNvPr id="7" name="TextBox 6"/>
          <p:cNvSpPr txBox="1"/>
          <p:nvPr/>
        </p:nvSpPr>
        <p:spPr>
          <a:xfrm>
            <a:off x="3054096" y="2011680"/>
            <a:ext cx="3429000" cy="548640"/>
          </a:xfrm>
          <a:prstGeom prst="rect">
            <a:avLst/>
          </a:prstGeom>
          <a:noFill/>
        </p:spPr>
        <p:txBody>
          <a:bodyPr wrap="square" lIns="0" rIns="0" tIns="0" bIns="0" anchor="ctr">
            <a:spAutoFit/>
          </a:bodyPr>
          <a:lstStyle/>
          <a:p>
            <a:pPr algn="l">
              <a:spcAft>
                <a:spcPts val="0"/>
              </a:spcAft>
            </a:pPr>
            <a:r>
              <a:rPr sz="1300" b="0" i="0">
                <a:solidFill>
                  <a:srgbClr val="1F1F1F"/>
                </a:solidFill>
              </a:rPr>
              <a:t>necessary, not sufficient</a:t>
            </a:r>
          </a:p>
        </p:txBody>
      </p:sp>
      <p:sp>
        <p:nvSpPr>
          <p:cNvPr id="8" name="Rectangle 7"/>
          <p:cNvSpPr/>
          <p:nvPr/>
        </p:nvSpPr>
        <p:spPr>
          <a:xfrm>
            <a:off x="585216" y="2679192"/>
            <a:ext cx="73152" cy="54864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86384" y="2679192"/>
            <a:ext cx="2240280" cy="548640"/>
          </a:xfrm>
          <a:prstGeom prst="rect">
            <a:avLst/>
          </a:prstGeom>
          <a:noFill/>
        </p:spPr>
        <p:txBody>
          <a:bodyPr wrap="square" lIns="0" rIns="0" tIns="0" bIns="0" anchor="ctr">
            <a:spAutoFit/>
          </a:bodyPr>
          <a:lstStyle/>
          <a:p>
            <a:pPr algn="l">
              <a:spcAft>
                <a:spcPts val="0"/>
              </a:spcAft>
            </a:pPr>
            <a:r>
              <a:rPr sz="1300" b="1" i="0">
                <a:solidFill>
                  <a:srgbClr val="2A446F"/>
                </a:solidFill>
              </a:rPr>
              <a:t>Structured output</a:t>
            </a:r>
          </a:p>
        </p:txBody>
      </p:sp>
      <p:sp>
        <p:nvSpPr>
          <p:cNvPr id="10" name="TextBox 9"/>
          <p:cNvSpPr txBox="1"/>
          <p:nvPr/>
        </p:nvSpPr>
        <p:spPr>
          <a:xfrm>
            <a:off x="3054096" y="2679192"/>
            <a:ext cx="3429000" cy="548640"/>
          </a:xfrm>
          <a:prstGeom prst="rect">
            <a:avLst/>
          </a:prstGeom>
          <a:noFill/>
        </p:spPr>
        <p:txBody>
          <a:bodyPr wrap="square" lIns="0" rIns="0" tIns="0" bIns="0" anchor="ctr">
            <a:spAutoFit/>
          </a:bodyPr>
          <a:lstStyle/>
          <a:p>
            <a:pPr algn="l">
              <a:spcAft>
                <a:spcPts val="0"/>
              </a:spcAft>
            </a:pPr>
            <a:r>
              <a:rPr sz="1300" b="0" i="0">
                <a:solidFill>
                  <a:srgbClr val="1F1F1F"/>
                </a:solidFill>
              </a:rPr>
              <a:t>no room for invented prose</a:t>
            </a:r>
          </a:p>
        </p:txBody>
      </p:sp>
      <p:sp>
        <p:nvSpPr>
          <p:cNvPr id="11" name="Rectangle 10"/>
          <p:cNvSpPr/>
          <p:nvPr/>
        </p:nvSpPr>
        <p:spPr>
          <a:xfrm>
            <a:off x="585216" y="3346704"/>
            <a:ext cx="73152" cy="54864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86384" y="3346704"/>
            <a:ext cx="2240280" cy="548640"/>
          </a:xfrm>
          <a:prstGeom prst="rect">
            <a:avLst/>
          </a:prstGeom>
          <a:noFill/>
        </p:spPr>
        <p:txBody>
          <a:bodyPr wrap="square" lIns="0" rIns="0" tIns="0" bIns="0" anchor="ctr">
            <a:spAutoFit/>
          </a:bodyPr>
          <a:lstStyle/>
          <a:p>
            <a:pPr algn="l">
              <a:spcAft>
                <a:spcPts val="0"/>
              </a:spcAft>
            </a:pPr>
            <a:r>
              <a:rPr sz="1300" b="1" i="0">
                <a:solidFill>
                  <a:srgbClr val="2A446F"/>
                </a:solidFill>
              </a:rPr>
              <a:t>Tools as ground truth</a:t>
            </a:r>
          </a:p>
        </p:txBody>
      </p:sp>
      <p:sp>
        <p:nvSpPr>
          <p:cNvPr id="13" name="TextBox 12"/>
          <p:cNvSpPr txBox="1"/>
          <p:nvPr/>
        </p:nvSpPr>
        <p:spPr>
          <a:xfrm>
            <a:off x="3054096" y="3346704"/>
            <a:ext cx="3429000" cy="548640"/>
          </a:xfrm>
          <a:prstGeom prst="rect">
            <a:avLst/>
          </a:prstGeom>
          <a:noFill/>
        </p:spPr>
        <p:txBody>
          <a:bodyPr wrap="square" lIns="0" rIns="0" tIns="0" bIns="0" anchor="ctr">
            <a:spAutoFit/>
          </a:bodyPr>
          <a:lstStyle/>
          <a:p>
            <a:pPr algn="l">
              <a:spcAft>
                <a:spcPts val="0"/>
              </a:spcAft>
            </a:pPr>
            <a:r>
              <a:rPr sz="1300" b="0" i="0">
                <a:solidFill>
                  <a:srgbClr val="1F1F1F"/>
                </a:solidFill>
              </a:rPr>
              <a:t>calculators, code, search instead of guesses</a:t>
            </a:r>
          </a:p>
        </p:txBody>
      </p:sp>
      <p:sp>
        <p:nvSpPr>
          <p:cNvPr id="14" name="Rectangle 13"/>
          <p:cNvSpPr/>
          <p:nvPr/>
        </p:nvSpPr>
        <p:spPr>
          <a:xfrm>
            <a:off x="585216" y="4014216"/>
            <a:ext cx="73152" cy="54864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86384" y="4014216"/>
            <a:ext cx="2240280" cy="548640"/>
          </a:xfrm>
          <a:prstGeom prst="rect">
            <a:avLst/>
          </a:prstGeom>
          <a:noFill/>
        </p:spPr>
        <p:txBody>
          <a:bodyPr wrap="square" lIns="0" rIns="0" tIns="0" bIns="0" anchor="ctr">
            <a:spAutoFit/>
          </a:bodyPr>
          <a:lstStyle/>
          <a:p>
            <a:pPr algn="l">
              <a:spcAft>
                <a:spcPts val="0"/>
              </a:spcAft>
            </a:pPr>
            <a:r>
              <a:rPr sz="1300" b="1" i="0">
                <a:solidFill>
                  <a:srgbClr val="2A446F"/>
                </a:solidFill>
              </a:rPr>
              <a:t>Verify, then revise</a:t>
            </a:r>
          </a:p>
        </p:txBody>
      </p:sp>
      <p:sp>
        <p:nvSpPr>
          <p:cNvPr id="16" name="TextBox 15"/>
          <p:cNvSpPr txBox="1"/>
          <p:nvPr/>
        </p:nvSpPr>
        <p:spPr>
          <a:xfrm>
            <a:off x="3054096" y="4014216"/>
            <a:ext cx="3429000" cy="548640"/>
          </a:xfrm>
          <a:prstGeom prst="rect">
            <a:avLst/>
          </a:prstGeom>
          <a:noFill/>
        </p:spPr>
        <p:txBody>
          <a:bodyPr wrap="square" lIns="0" rIns="0" tIns="0" bIns="0" anchor="ctr">
            <a:spAutoFit/>
          </a:bodyPr>
          <a:lstStyle/>
          <a:p>
            <a:pPr algn="l">
              <a:spcAft>
                <a:spcPts val="0"/>
              </a:spcAft>
            </a:pPr>
            <a:r>
              <a:rPr sz="1300" b="0" i="0">
                <a:solidFill>
                  <a:srgbClr val="1F1F1F"/>
                </a:solidFill>
              </a:rPr>
              <a:t>quote-back, Chain-of-Verification</a:t>
            </a:r>
          </a:p>
        </p:txBody>
      </p:sp>
      <p:sp>
        <p:nvSpPr>
          <p:cNvPr id="17" name="Rectangle 16"/>
          <p:cNvSpPr/>
          <p:nvPr/>
        </p:nvSpPr>
        <p:spPr>
          <a:xfrm>
            <a:off x="585216" y="4681728"/>
            <a:ext cx="73152" cy="548640"/>
          </a:xfrm>
          <a:prstGeom prst="rect">
            <a:avLst/>
          </a:prstGeom>
          <a:solidFill>
            <a:srgbClr val="2A7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86384" y="4681728"/>
            <a:ext cx="2240280" cy="548640"/>
          </a:xfrm>
          <a:prstGeom prst="rect">
            <a:avLst/>
          </a:prstGeom>
          <a:noFill/>
        </p:spPr>
        <p:txBody>
          <a:bodyPr wrap="square" lIns="0" rIns="0" tIns="0" bIns="0" anchor="ctr">
            <a:spAutoFit/>
          </a:bodyPr>
          <a:lstStyle/>
          <a:p>
            <a:pPr algn="l">
              <a:spcAft>
                <a:spcPts val="0"/>
              </a:spcAft>
            </a:pPr>
            <a:r>
              <a:rPr sz="1300" b="1" i="0">
                <a:solidFill>
                  <a:srgbClr val="2A446F"/>
                </a:solidFill>
              </a:rPr>
              <a:t>Allow abstention</a:t>
            </a:r>
          </a:p>
        </p:txBody>
      </p:sp>
      <p:sp>
        <p:nvSpPr>
          <p:cNvPr id="19" name="TextBox 18"/>
          <p:cNvSpPr txBox="1"/>
          <p:nvPr/>
        </p:nvSpPr>
        <p:spPr>
          <a:xfrm>
            <a:off x="3054096" y="4681728"/>
            <a:ext cx="3429000" cy="548640"/>
          </a:xfrm>
          <a:prstGeom prst="rect">
            <a:avLst/>
          </a:prstGeom>
          <a:noFill/>
        </p:spPr>
        <p:txBody>
          <a:bodyPr wrap="square" lIns="0" rIns="0" tIns="0" bIns="0" anchor="ctr">
            <a:spAutoFit/>
          </a:bodyPr>
          <a:lstStyle/>
          <a:p>
            <a:pPr algn="l">
              <a:spcAft>
                <a:spcPts val="0"/>
              </a:spcAft>
            </a:pPr>
            <a:r>
              <a:rPr sz="1300" b="0" i="0">
                <a:solidFill>
                  <a:srgbClr val="1F1F1F"/>
                </a:solidFill>
              </a:rPr>
              <a:t>“Not in the documents.” (Lab 2’s prompt)</a:t>
            </a:r>
          </a:p>
        </p:txBody>
      </p:sp>
      <p:sp>
        <p:nvSpPr>
          <p:cNvPr id="20" name="Rounded Rectangle 19"/>
          <p:cNvSpPr/>
          <p:nvPr/>
        </p:nvSpPr>
        <p:spPr>
          <a:xfrm>
            <a:off x="6629400" y="2011680"/>
            <a:ext cx="3611880" cy="16916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830568" y="2176272"/>
            <a:ext cx="3209544" cy="411480"/>
          </a:xfrm>
          <a:prstGeom prst="rect">
            <a:avLst/>
          </a:prstGeom>
          <a:noFill/>
        </p:spPr>
        <p:txBody>
          <a:bodyPr wrap="square" lIns="0" rIns="0" tIns="0" bIns="0" anchor="t">
            <a:spAutoFit/>
          </a:bodyPr>
          <a:lstStyle/>
          <a:p>
            <a:pPr algn="l">
              <a:spcAft>
                <a:spcPts val="0"/>
              </a:spcAft>
            </a:pPr>
            <a:r>
              <a:rPr sz="1200" b="1" i="0">
                <a:solidFill>
                  <a:srgbClr val="C52B2B"/>
                </a:solidFill>
              </a:rPr>
              <a:t>MYTHS TO RETIRE</a:t>
            </a:r>
          </a:p>
        </p:txBody>
      </p:sp>
      <p:sp>
        <p:nvSpPr>
          <p:cNvPr id="22" name="TextBox 21"/>
          <p:cNvSpPr txBox="1"/>
          <p:nvPr/>
        </p:nvSpPr>
        <p:spPr>
          <a:xfrm>
            <a:off x="6830568" y="2633472"/>
            <a:ext cx="3209544" cy="914400"/>
          </a:xfrm>
          <a:prstGeom prst="rect">
            <a:avLst/>
          </a:prstGeom>
          <a:noFill/>
        </p:spPr>
        <p:txBody>
          <a:bodyPr wrap="square" lIns="0" rIns="0" tIns="0" bIns="0" anchor="t">
            <a:spAutoFit/>
          </a:bodyPr>
          <a:lstStyle/>
          <a:p>
            <a:pPr algn="l">
              <a:spcAft>
                <a:spcPts val="0"/>
              </a:spcAft>
            </a:pPr>
            <a:r>
              <a:rPr sz="1300" b="0" i="0">
                <a:solidFill>
                  <a:srgbClr val="1F1F1F"/>
                </a:solidFill>
              </a:rPr>
              <a:t>temperature 0 fixes it · RAG eliminates it · bigger is immune · reasoning models don’t hallucinate — all false</a:t>
            </a:r>
          </a:p>
        </p:txBody>
      </p:sp>
      <p:sp>
        <p:nvSpPr>
          <p:cNvPr id="23" name="TextBox 22"/>
          <p:cNvSpPr txBox="1"/>
          <p:nvPr/>
        </p:nvSpPr>
        <p:spPr>
          <a:xfrm>
            <a:off x="6629400" y="3931920"/>
            <a:ext cx="1554480" cy="320040"/>
          </a:xfrm>
          <a:prstGeom prst="rect">
            <a:avLst/>
          </a:prstGeom>
          <a:noFill/>
        </p:spPr>
        <p:txBody>
          <a:bodyPr wrap="square" lIns="0" rIns="0" tIns="0" bIns="0" anchor="t">
            <a:spAutoFit/>
          </a:bodyPr>
          <a:lstStyle/>
          <a:p>
            <a:pPr algn="l">
              <a:spcAft>
                <a:spcPts val="0"/>
              </a:spcAft>
            </a:pPr>
            <a:r>
              <a:rPr sz="1050" b="1" i="0">
                <a:solidFill>
                  <a:srgbClr val="6B6B6B"/>
                </a:solidFill>
              </a:rPr>
              <a:t>CLAUDE OPUS 4.8</a:t>
            </a:r>
          </a:p>
        </p:txBody>
      </p:sp>
      <p:sp>
        <p:nvSpPr>
          <p:cNvPr id="24" name="TextBox 23"/>
          <p:cNvSpPr txBox="1"/>
          <p:nvPr/>
        </p:nvSpPr>
        <p:spPr>
          <a:xfrm>
            <a:off x="6629400" y="4233672"/>
            <a:ext cx="1554480" cy="731520"/>
          </a:xfrm>
          <a:prstGeom prst="rect">
            <a:avLst/>
          </a:prstGeom>
          <a:noFill/>
        </p:spPr>
        <p:txBody>
          <a:bodyPr wrap="square" lIns="0" rIns="0" tIns="0" bIns="0" anchor="t">
            <a:spAutoFit/>
          </a:bodyPr>
          <a:lstStyle/>
          <a:p>
            <a:pPr algn="l">
              <a:spcAft>
                <a:spcPts val="0"/>
              </a:spcAft>
            </a:pPr>
            <a:r>
              <a:rPr sz="2600" b="1" i="0">
                <a:solidFill>
                  <a:srgbClr val="2A7F5C"/>
                </a:solidFill>
              </a:rPr>
              <a:t>~36 %</a:t>
            </a:r>
          </a:p>
        </p:txBody>
      </p:sp>
      <p:sp>
        <p:nvSpPr>
          <p:cNvPr id="25" name="TextBox 24"/>
          <p:cNvSpPr txBox="1"/>
          <p:nvPr/>
        </p:nvSpPr>
        <p:spPr>
          <a:xfrm>
            <a:off x="8183879" y="4370831"/>
            <a:ext cx="502920" cy="411480"/>
          </a:xfrm>
          <a:prstGeom prst="rect">
            <a:avLst/>
          </a:prstGeom>
          <a:noFill/>
        </p:spPr>
        <p:txBody>
          <a:bodyPr wrap="square" lIns="0" rIns="0" tIns="0" bIns="0" anchor="t">
            <a:spAutoFit/>
          </a:bodyPr>
          <a:lstStyle/>
          <a:p>
            <a:pPr algn="ctr">
              <a:spcAft>
                <a:spcPts val="0"/>
              </a:spcAft>
            </a:pPr>
            <a:r>
              <a:rPr sz="1400" b="1" i="0">
                <a:solidFill>
                  <a:srgbClr val="6B6B6B"/>
                </a:solidFill>
              </a:rPr>
              <a:t>vs</a:t>
            </a:r>
          </a:p>
        </p:txBody>
      </p:sp>
      <p:sp>
        <p:nvSpPr>
          <p:cNvPr id="26" name="TextBox 25"/>
          <p:cNvSpPr txBox="1"/>
          <p:nvPr/>
        </p:nvSpPr>
        <p:spPr>
          <a:xfrm>
            <a:off x="8686800" y="3931920"/>
            <a:ext cx="1554480" cy="320040"/>
          </a:xfrm>
          <a:prstGeom prst="rect">
            <a:avLst/>
          </a:prstGeom>
          <a:noFill/>
        </p:spPr>
        <p:txBody>
          <a:bodyPr wrap="square" lIns="0" rIns="0" tIns="0" bIns="0" anchor="t">
            <a:spAutoFit/>
          </a:bodyPr>
          <a:lstStyle/>
          <a:p>
            <a:pPr algn="l">
              <a:spcAft>
                <a:spcPts val="0"/>
              </a:spcAft>
            </a:pPr>
            <a:r>
              <a:rPr sz="1050" b="1" i="0">
                <a:solidFill>
                  <a:srgbClr val="6B6B6B"/>
                </a:solidFill>
              </a:rPr>
              <a:t>GPT-5.5</a:t>
            </a:r>
          </a:p>
        </p:txBody>
      </p:sp>
      <p:sp>
        <p:nvSpPr>
          <p:cNvPr id="27" name="TextBox 26"/>
          <p:cNvSpPr txBox="1"/>
          <p:nvPr/>
        </p:nvSpPr>
        <p:spPr>
          <a:xfrm>
            <a:off x="8686800" y="4233672"/>
            <a:ext cx="1554480" cy="731520"/>
          </a:xfrm>
          <a:prstGeom prst="rect">
            <a:avLst/>
          </a:prstGeom>
          <a:noFill/>
        </p:spPr>
        <p:txBody>
          <a:bodyPr wrap="square" lIns="0" rIns="0" tIns="0" bIns="0" anchor="t">
            <a:spAutoFit/>
          </a:bodyPr>
          <a:lstStyle/>
          <a:p>
            <a:pPr algn="l">
              <a:spcAft>
                <a:spcPts val="0"/>
              </a:spcAft>
            </a:pPr>
            <a:r>
              <a:rPr sz="2600" b="1" i="0">
                <a:solidFill>
                  <a:srgbClr val="C52B2B"/>
                </a:solidFill>
              </a:rPr>
              <a:t>~86 %</a:t>
            </a:r>
          </a:p>
        </p:txBody>
      </p:sp>
      <p:sp>
        <p:nvSpPr>
          <p:cNvPr id="28" name="TextBox 27"/>
          <p:cNvSpPr txBox="1"/>
          <p:nvPr/>
        </p:nvSpPr>
        <p:spPr>
          <a:xfrm>
            <a:off x="6629400" y="4937760"/>
            <a:ext cx="3611880" cy="411480"/>
          </a:xfrm>
          <a:prstGeom prst="rect">
            <a:avLst/>
          </a:prstGeom>
          <a:noFill/>
        </p:spPr>
        <p:txBody>
          <a:bodyPr wrap="square" lIns="0" rIns="0" tIns="0" bIns="0" anchor="t">
            <a:spAutoFit/>
          </a:bodyPr>
          <a:lstStyle/>
          <a:p>
            <a:pPr algn="l">
              <a:spcAft>
                <a:spcPts val="0"/>
              </a:spcAft>
            </a:pPr>
            <a:r>
              <a:rPr sz="1100" b="0" i="0">
                <a:solidFill>
                  <a:srgbClr val="1F1F1F"/>
                </a:solidFill>
              </a:rPr>
              <a:t>hallucination rate, AA-Omniscience</a:t>
            </a:r>
          </a:p>
          <a:p>
            <a:pPr algn="l">
              <a:spcAft>
                <a:spcPts val="600"/>
              </a:spcAft>
            </a:pPr>
            <a:r>
              <a:rPr sz="1100" b="0" i="0">
                <a:solidFill>
                  <a:srgbClr val="6B6B6B"/>
                </a:solidFill>
              </a:rPr>
              <a:t>May 2026 · previous generation</a:t>
            </a:r>
          </a:p>
        </p:txBody>
      </p:sp>
      <p:sp>
        <p:nvSpPr>
          <p:cNvPr id="29" name="TextBox 28"/>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Model choice is a mitigation too — pick it with your own eval, not the brochure.</a:t>
            </a:r>
          </a:p>
        </p:txBody>
      </p:sp>
      <p:sp>
        <p:nvSpPr>
          <p:cNvPr id="30" name="TextBox 29"/>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Chain-of-Verification (arXiv 2309.11495) · Artificial Analysis, AA-Omniscience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Lab 1 — Hello, model</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HANDS-ON LAB · SEGMENT 1</a:t>
            </a:r>
          </a:p>
        </p:txBody>
      </p:sp>
      <p:sp>
        <p:nvSpPr>
          <p:cNvPr id="4" name="Rounded Rectangle 3"/>
          <p:cNvSpPr/>
          <p:nvPr/>
        </p:nvSpPr>
        <p:spPr>
          <a:xfrm>
            <a:off x="585216" y="1371600"/>
            <a:ext cx="1234440" cy="274320"/>
          </a:xfrm>
          <a:prstGeom prst="roundRect">
            <a:avLst>
              <a:gd name="adj" fmla="val 5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YOUR TURN</a:t>
            </a:r>
          </a:p>
        </p:txBody>
      </p:sp>
      <p:sp>
        <p:nvSpPr>
          <p:cNvPr id="5" name="TextBox 4"/>
          <p:cNvSpPr txBox="1"/>
          <p:nvPr/>
        </p:nvSpPr>
        <p:spPr>
          <a:xfrm>
            <a:off x="585216" y="1783080"/>
            <a:ext cx="4206240" cy="1188720"/>
          </a:xfrm>
          <a:prstGeom prst="rect">
            <a:avLst/>
          </a:prstGeom>
          <a:noFill/>
        </p:spPr>
        <p:txBody>
          <a:bodyPr wrap="square" lIns="0" rIns="0" tIns="0" bIns="0" anchor="t">
            <a:spAutoFit/>
          </a:bodyPr>
          <a:lstStyle/>
          <a:p>
            <a:pPr algn="l">
              <a:spcAft>
                <a:spcPts val="0"/>
              </a:spcAft>
            </a:pPr>
            <a:r>
              <a:rPr sz="1600" b="1" i="0">
                <a:solidFill>
                  <a:srgbClr val="2A446F"/>
                </a:solidFill>
              </a:rPr>
              <a:t>Call a model from code, feel the knobs, get typed output, write the tool loop by hand — then run the same code on another vendor and on your laptop.</a:t>
            </a:r>
          </a:p>
        </p:txBody>
      </p:sp>
      <p:sp>
        <p:nvSpPr>
          <p:cNvPr id="6" name="Rounded Rectangle 5"/>
          <p:cNvSpPr/>
          <p:nvPr/>
        </p:nvSpPr>
        <p:spPr>
          <a:xfrm>
            <a:off x="585216" y="3063240"/>
            <a:ext cx="4206240" cy="12344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86384" y="3227832"/>
            <a:ext cx="3803903" cy="411480"/>
          </a:xfrm>
          <a:prstGeom prst="rect">
            <a:avLst/>
          </a:prstGeom>
          <a:noFill/>
        </p:spPr>
        <p:txBody>
          <a:bodyPr wrap="square" lIns="0" rIns="0" tIns="0" bIns="0" anchor="t">
            <a:spAutoFit/>
          </a:bodyPr>
          <a:lstStyle/>
          <a:p>
            <a:pPr algn="l">
              <a:spcAft>
                <a:spcPts val="0"/>
              </a:spcAft>
            </a:pPr>
            <a:r>
              <a:rPr sz="1200" b="1" i="0">
                <a:solidFill>
                  <a:srgbClr val="2A7F5C"/>
                </a:solidFill>
              </a:rPr>
              <a:t>CHECKPOINT</a:t>
            </a:r>
          </a:p>
        </p:txBody>
      </p:sp>
      <p:sp>
        <p:nvSpPr>
          <p:cNvPr id="8" name="TextBox 7"/>
          <p:cNvSpPr txBox="1"/>
          <p:nvPr/>
        </p:nvSpPr>
        <p:spPr>
          <a:xfrm>
            <a:off x="786384" y="3685032"/>
            <a:ext cx="3803903" cy="457200"/>
          </a:xfrm>
          <a:prstGeom prst="rect">
            <a:avLst/>
          </a:prstGeom>
          <a:noFill/>
        </p:spPr>
        <p:txBody>
          <a:bodyPr wrap="square" lIns="0" rIns="0" tIns="0" bIns="0" anchor="t">
            <a:spAutoFit/>
          </a:bodyPr>
          <a:lstStyle/>
          <a:p>
            <a:pPr algn="l">
              <a:spcAft>
                <a:spcPts val="0"/>
              </a:spcAft>
            </a:pPr>
            <a:r>
              <a:rPr sz="1100" b="0" i="0">
                <a:solidFill>
                  <a:srgbClr val="1F1F1F"/>
                </a:solidFill>
              </a:rPr>
              <a:t>step 4 answers with 19 °C and °F — and in step 5 the same code answers from a second target</a:t>
            </a:r>
          </a:p>
        </p:txBody>
      </p:sp>
      <p:sp>
        <p:nvSpPr>
          <p:cNvPr id="9" name="Rounded Rectangle 8"/>
          <p:cNvSpPr/>
          <p:nvPr/>
        </p:nvSpPr>
        <p:spPr>
          <a:xfrm>
            <a:off x="585216" y="4434840"/>
            <a:ext cx="4206240" cy="13258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86384" y="4599431"/>
            <a:ext cx="3803903" cy="411480"/>
          </a:xfrm>
          <a:prstGeom prst="rect">
            <a:avLst/>
          </a:prstGeom>
          <a:noFill/>
        </p:spPr>
        <p:txBody>
          <a:bodyPr wrap="square" lIns="0" rIns="0" tIns="0" bIns="0" anchor="t">
            <a:spAutoFit/>
          </a:bodyPr>
          <a:lstStyle/>
          <a:p>
            <a:pPr algn="l">
              <a:spcAft>
                <a:spcPts val="0"/>
              </a:spcAft>
            </a:pPr>
            <a:r>
              <a:rPr sz="1200" b="1" i="0">
                <a:solidFill>
                  <a:srgbClr val="8661C5"/>
                </a:solidFill>
              </a:rPr>
              <a:t>STRETCH</a:t>
            </a:r>
          </a:p>
        </p:txBody>
      </p:sp>
      <p:sp>
        <p:nvSpPr>
          <p:cNvPr id="11" name="TextBox 10"/>
          <p:cNvSpPr txBox="1"/>
          <p:nvPr/>
        </p:nvSpPr>
        <p:spPr>
          <a:xfrm>
            <a:off x="786384" y="5056631"/>
            <a:ext cx="3803903" cy="548640"/>
          </a:xfrm>
          <a:prstGeom prst="rect">
            <a:avLst/>
          </a:prstGeom>
          <a:noFill/>
        </p:spPr>
        <p:txBody>
          <a:bodyPr wrap="square" lIns="0" rIns="0" tIns="0" bIns="0" anchor="t">
            <a:spAutoFit/>
          </a:bodyPr>
          <a:lstStyle/>
          <a:p>
            <a:pPr algn="l">
              <a:spcAft>
                <a:spcPts val="0"/>
              </a:spcAft>
            </a:pPr>
            <a:r>
              <a:rPr sz="1100" b="0" i="0">
                <a:solidFill>
                  <a:srgbClr val="1F1F1F"/>
                </a:solidFill>
              </a:rPr>
              <a:t>06_responses_api · TS: 07_ai_sdk_agent (ToolLoopAgent) · steps 1–4 offline on Ollama</a:t>
            </a:r>
          </a:p>
        </p:txBody>
      </p:sp>
      <p:sp>
        <p:nvSpPr>
          <p:cNvPr id="12" name="TextBox 11"/>
          <p:cNvSpPr txBox="1"/>
          <p:nvPr/>
        </p:nvSpPr>
        <p:spPr>
          <a:xfrm>
            <a:off x="5074920" y="1417320"/>
            <a:ext cx="5074920" cy="2456180"/>
          </a:xfrm>
          <a:prstGeom prst="rect">
            <a:avLst/>
          </a:prstGeom>
          <a:noFill/>
        </p:spPr>
        <p:txBody>
          <a:bodyPr wrap="square" lIns="0" rIns="0" tIns="0" bIns="0" anchor="t">
            <a:spAutoFit/>
          </a:bodyPr>
          <a:lstStyle/>
          <a:p>
            <a:pPr algn="l">
              <a:spcAft>
                <a:spcPts val="700"/>
              </a:spcAft>
            </a:pPr>
            <a:r>
              <a:rPr sz="1400" b="0" i="0">
                <a:solidFill>
                  <a:srgbClr val="1F1F1F"/>
                </a:solidFill>
              </a:rPr>
              <a:t>1. 01_hello — first call → an answer plus a usage line</a:t>
            </a:r>
          </a:p>
          <a:p>
            <a:pPr algn="l">
              <a:spcAft>
                <a:spcPts val="700"/>
              </a:spcAft>
            </a:pPr>
            <a:r>
              <a:rPr sz="1400" b="0" i="0">
                <a:solidFill>
                  <a:srgbClr val="1F1F1F"/>
                </a:solidFill>
              </a:rPr>
              <a:t>2. 02_knobs — temperature vs reasoning_effort → gpt-5-mini rejects temperature</a:t>
            </a:r>
          </a:p>
          <a:p>
            <a:pPr algn="l">
              <a:spcAft>
                <a:spcPts val="700"/>
              </a:spcAft>
            </a:pPr>
            <a:r>
              <a:rPr sz="1400" b="0" i="0">
                <a:solidFill>
                  <a:srgbClr val="1F1F1F"/>
                </a:solidFill>
              </a:rPr>
              <a:t>3. 03_structured — TODO 1: the Session type → a typed object</a:t>
            </a:r>
          </a:p>
          <a:p>
            <a:pPr algn="l">
              <a:spcAft>
                <a:spcPts val="700"/>
              </a:spcAft>
            </a:pPr>
            <a:r>
              <a:rPr sz="1400" b="0" i="0">
                <a:solidFill>
                  <a:srgbClr val="1F1F1F"/>
                </a:solidFill>
              </a:rPr>
              <a:t>4. 04_tool_loop — TODO 2: the loop by hand → 19 °C and °F</a:t>
            </a:r>
          </a:p>
          <a:p>
            <a:pPr algn="l">
              <a:spcAft>
                <a:spcPts val="700"/>
              </a:spcAft>
            </a:pPr>
            <a:r>
              <a:rPr sz="1400" b="0" i="0">
                <a:solidFill>
                  <a:srgbClr val="1F1F1F"/>
                </a:solidFill>
              </a:rPr>
              <a:t>5. 05_same_code_other_model → at least two targets answer</a:t>
            </a:r>
          </a:p>
        </p:txBody>
      </p:sp>
      <p:sp>
        <p:nvSpPr>
          <p:cNvPr id="13" name="Rounded Rectangle 12"/>
          <p:cNvSpPr/>
          <p:nvPr/>
        </p:nvSpPr>
        <p:spPr>
          <a:xfrm>
            <a:off x="5074920" y="3520440"/>
            <a:ext cx="5074920" cy="92456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276088" y="3685032"/>
            <a:ext cx="4663440" cy="650239"/>
          </a:xfrm>
          <a:prstGeom prst="rect">
            <a:avLst/>
          </a:prstGeom>
          <a:noFill/>
        </p:spPr>
        <p:txBody>
          <a:bodyPr wrap="square" lIns="0" rIns="0" tIns="0" bIns="0" anchor="t">
            <a:spAutoFit/>
          </a:bodyPr>
          <a:lstStyle/>
          <a:p>
            <a:pPr algn="l">
              <a:spcAft>
                <a:spcPts val="600"/>
              </a:spcAft>
            </a:pPr>
            <a:r>
              <a:rPr sz="1200" b="1" i="0">
                <a:solidFill>
                  <a:srgbClr val="2A446F"/>
                </a:solidFill>
              </a:rPr>
              <a:t>Code: labs/01-hello-model</a:t>
            </a:r>
          </a:p>
          <a:p>
            <a:pPr algn="l">
              <a:spcAft>
                <a:spcPts val="600"/>
              </a:spcAft>
            </a:pPr>
            <a:r>
              <a:rPr sz="1100" b="0" i="0">
                <a:solidFill>
                  <a:srgbClr val="1F1F1F"/>
                </a:solidFill>
              </a:rPr>
              <a:t>Fallback: Ollama or the instructor mock</a:t>
            </a:r>
          </a:p>
        </p:txBody>
      </p:sp>
      <p:sp>
        <p:nvSpPr>
          <p:cNvPr id="15" name="Rounded Rectangle 14"/>
          <p:cNvSpPr/>
          <p:nvPr/>
        </p:nvSpPr>
        <p:spPr>
          <a:xfrm>
            <a:off x="5074920" y="4582160"/>
            <a:ext cx="5074920" cy="1178559"/>
          </a:xfrm>
          <a:prstGeom prst="roundRect">
            <a:avLst>
              <a:gd name="adj" fmla="val 8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239512" y="4673600"/>
            <a:ext cx="4745736" cy="274320"/>
          </a:xfrm>
          <a:prstGeom prst="rect">
            <a:avLst/>
          </a:prstGeom>
          <a:noFill/>
        </p:spPr>
        <p:txBody>
          <a:bodyPr wrap="square" lIns="0" rIns="0" tIns="0" bIns="0" anchor="t">
            <a:spAutoFit/>
          </a:bodyPr>
          <a:lstStyle/>
          <a:p>
            <a:pPr algn="l">
              <a:spcAft>
                <a:spcPts val="0"/>
              </a:spcAft>
            </a:pPr>
            <a:r>
              <a:rPr sz="1100" b="1" i="0">
                <a:solidFill>
                  <a:srgbClr val="E86A10"/>
                </a:solidFill>
              </a:rPr>
              <a:t>WATCH FOR</a:t>
            </a:r>
          </a:p>
        </p:txBody>
      </p:sp>
      <p:sp>
        <p:nvSpPr>
          <p:cNvPr id="17" name="TextBox 16"/>
          <p:cNvSpPr txBox="1"/>
          <p:nvPr/>
        </p:nvSpPr>
        <p:spPr>
          <a:xfrm>
            <a:off x="5239512" y="4894453"/>
            <a:ext cx="4745736" cy="793114"/>
          </a:xfrm>
          <a:prstGeom prst="rect">
            <a:avLst/>
          </a:prstGeom>
          <a:noFill/>
        </p:spPr>
        <p:txBody>
          <a:bodyPr wrap="square" lIns="0" rIns="0" tIns="0" bIns="0" anchor="t">
            <a:spAutoFit/>
          </a:bodyPr>
          <a:lstStyle/>
          <a:p>
            <a:pPr algn="l">
              <a:spcAft>
                <a:spcPts val="400"/>
              </a:spcAft>
            </a:pPr>
            <a:r>
              <a:rPr sz="1100" b="0" i="0">
                <a:solidFill>
                  <a:srgbClr val="1F1F1F"/>
                </a:solidFill>
              </a:rPr>
              <a:t>a small local model explains “crypto tokens” → name the domain in the system prompt</a:t>
            </a:r>
          </a:p>
          <a:p>
            <a:pPr algn="l">
              <a:spcAft>
                <a:spcPts val="600"/>
              </a:spcAft>
            </a:pPr>
            <a:r>
              <a:rPr sz="1100" b="0" i="0">
                <a:solidFill>
                  <a:srgbClr val="1F1F1F"/>
                </a:solidFill>
              </a:rPr>
              <a:t>some models call get_weather and to_fahrenheit in one turn → try parallel_tool_calls=False</a:t>
            </a:r>
          </a:p>
        </p:txBody>
      </p:sp>
      <p:sp>
        <p:nvSpPr>
          <p:cNvPr id="18" name="TextBox 17"/>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Lab 1 code (tested 2026-09-22)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Three things to keep from Segment 1</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Rounded Rectangle 3"/>
          <p:cNvSpPr/>
          <p:nvPr/>
        </p:nvSpPr>
        <p:spPr>
          <a:xfrm>
            <a:off x="585216" y="1463040"/>
            <a:ext cx="3066287" cy="251460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86384" y="1664208"/>
            <a:ext cx="457200" cy="45720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FFFFFF"/>
                </a:solidFill>
              </a:rPr>
              <a:t>1</a:t>
            </a:r>
          </a:p>
        </p:txBody>
      </p:sp>
      <p:sp>
        <p:nvSpPr>
          <p:cNvPr id="6" name="TextBox 5"/>
          <p:cNvSpPr txBox="1"/>
          <p:nvPr/>
        </p:nvSpPr>
        <p:spPr>
          <a:xfrm>
            <a:off x="786384" y="2286000"/>
            <a:ext cx="2663952" cy="457200"/>
          </a:xfrm>
          <a:prstGeom prst="rect">
            <a:avLst/>
          </a:prstGeom>
          <a:noFill/>
        </p:spPr>
        <p:txBody>
          <a:bodyPr wrap="square" lIns="0" rIns="0" tIns="0" bIns="0" anchor="t">
            <a:spAutoFit/>
          </a:bodyPr>
          <a:lstStyle/>
          <a:p>
            <a:pPr algn="l">
              <a:spcAft>
                <a:spcPts val="0"/>
              </a:spcAft>
            </a:pPr>
            <a:r>
              <a:rPr sz="1300" b="1" i="0">
                <a:solidFill>
                  <a:srgbClr val="0078D4"/>
                </a:solidFill>
              </a:rPr>
              <a:t>A NEXT-TOKEN MACHINE</a:t>
            </a:r>
          </a:p>
        </p:txBody>
      </p:sp>
      <p:sp>
        <p:nvSpPr>
          <p:cNvPr id="7" name="TextBox 6"/>
          <p:cNvSpPr txBox="1"/>
          <p:nvPr/>
        </p:nvSpPr>
        <p:spPr>
          <a:xfrm>
            <a:off x="786384" y="2697480"/>
            <a:ext cx="2663952" cy="1234440"/>
          </a:xfrm>
          <a:prstGeom prst="rect">
            <a:avLst/>
          </a:prstGeom>
          <a:noFill/>
        </p:spPr>
        <p:txBody>
          <a:bodyPr wrap="square" lIns="0" rIns="0" tIns="0" bIns="0" anchor="t">
            <a:spAutoFit/>
          </a:bodyPr>
          <a:lstStyle/>
          <a:p>
            <a:pPr algn="l">
              <a:spcAft>
                <a:spcPts val="0"/>
              </a:spcAft>
            </a:pPr>
            <a:r>
              <a:rPr sz="1400" b="0" i="0">
                <a:solidFill>
                  <a:srgbClr val="1F1F1F"/>
                </a:solidFill>
              </a:rPr>
              <a:t>An LLM predicts one token at a time; system prompt, tools, retrieval and memory are scaffolding around it.</a:t>
            </a:r>
          </a:p>
        </p:txBody>
      </p:sp>
      <p:sp>
        <p:nvSpPr>
          <p:cNvPr id="8" name="Rounded Rectangle 7"/>
          <p:cNvSpPr/>
          <p:nvPr/>
        </p:nvSpPr>
        <p:spPr>
          <a:xfrm>
            <a:off x="3880104" y="1463040"/>
            <a:ext cx="3066287" cy="251460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081271" y="1664208"/>
            <a:ext cx="457200" cy="45720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FFFFFF"/>
                </a:solidFill>
              </a:rPr>
              <a:t>2</a:t>
            </a:r>
          </a:p>
        </p:txBody>
      </p:sp>
      <p:sp>
        <p:nvSpPr>
          <p:cNvPr id="10" name="TextBox 9"/>
          <p:cNvSpPr txBox="1"/>
          <p:nvPr/>
        </p:nvSpPr>
        <p:spPr>
          <a:xfrm>
            <a:off x="4081271" y="2286000"/>
            <a:ext cx="2663952" cy="457200"/>
          </a:xfrm>
          <a:prstGeom prst="rect">
            <a:avLst/>
          </a:prstGeom>
          <a:noFill/>
        </p:spPr>
        <p:txBody>
          <a:bodyPr wrap="square" lIns="0" rIns="0" tIns="0" bIns="0" anchor="t">
            <a:spAutoFit/>
          </a:bodyPr>
          <a:lstStyle/>
          <a:p>
            <a:pPr algn="l">
              <a:spcAft>
                <a:spcPts val="0"/>
              </a:spcAft>
            </a:pPr>
            <a:r>
              <a:rPr sz="1300" b="1" i="0">
                <a:solidFill>
                  <a:srgbClr val="0078D4"/>
                </a:solidFill>
              </a:rPr>
              <a:t>FOUR BUILDING BLOCKS</a:t>
            </a:r>
          </a:p>
        </p:txBody>
      </p:sp>
      <p:sp>
        <p:nvSpPr>
          <p:cNvPr id="11" name="TextBox 10"/>
          <p:cNvSpPr txBox="1"/>
          <p:nvPr/>
        </p:nvSpPr>
        <p:spPr>
          <a:xfrm>
            <a:off x="4081271" y="2697480"/>
            <a:ext cx="2663952" cy="1234440"/>
          </a:xfrm>
          <a:prstGeom prst="rect">
            <a:avLst/>
          </a:prstGeom>
          <a:noFill/>
        </p:spPr>
        <p:txBody>
          <a:bodyPr wrap="square" lIns="0" rIns="0" tIns="0" bIns="0" anchor="t">
            <a:spAutoFit/>
          </a:bodyPr>
          <a:lstStyle/>
          <a:p>
            <a:pPr algn="l">
              <a:spcAft>
                <a:spcPts val="0"/>
              </a:spcAft>
            </a:pPr>
            <a:r>
              <a:rPr sz="1400" b="0" i="0">
                <a:solidFill>
                  <a:srgbClr val="1F1F1F"/>
                </a:solidFill>
              </a:rPr>
              <a:t>Messages, sampling knobs, structured output and the tool-call loop are the API you need.</a:t>
            </a:r>
          </a:p>
        </p:txBody>
      </p:sp>
      <p:sp>
        <p:nvSpPr>
          <p:cNvPr id="12" name="Rounded Rectangle 11"/>
          <p:cNvSpPr/>
          <p:nvPr/>
        </p:nvSpPr>
        <p:spPr>
          <a:xfrm>
            <a:off x="7174991" y="1463040"/>
            <a:ext cx="3066287" cy="251460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7376160" y="1664208"/>
            <a:ext cx="457200" cy="45720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FFFFFF"/>
                </a:solidFill>
              </a:rPr>
              <a:t>3</a:t>
            </a:r>
          </a:p>
        </p:txBody>
      </p:sp>
      <p:sp>
        <p:nvSpPr>
          <p:cNvPr id="14" name="TextBox 13"/>
          <p:cNvSpPr txBox="1"/>
          <p:nvPr/>
        </p:nvSpPr>
        <p:spPr>
          <a:xfrm>
            <a:off x="7376160" y="2286000"/>
            <a:ext cx="2663952" cy="457200"/>
          </a:xfrm>
          <a:prstGeom prst="rect">
            <a:avLst/>
          </a:prstGeom>
          <a:noFill/>
        </p:spPr>
        <p:txBody>
          <a:bodyPr wrap="square" lIns="0" rIns="0" tIns="0" bIns="0" anchor="t">
            <a:spAutoFit/>
          </a:bodyPr>
          <a:lstStyle/>
          <a:p>
            <a:pPr algn="l">
              <a:spcAft>
                <a:spcPts val="0"/>
              </a:spcAft>
            </a:pPr>
            <a:r>
              <a:rPr sz="1300" b="1" i="0">
                <a:solidFill>
                  <a:srgbClr val="0078D4"/>
                </a:solidFill>
              </a:rPr>
              <a:t>A base_url AWAY</a:t>
            </a:r>
          </a:p>
        </p:txBody>
      </p:sp>
      <p:sp>
        <p:nvSpPr>
          <p:cNvPr id="15" name="TextBox 14"/>
          <p:cNvSpPr txBox="1"/>
          <p:nvPr/>
        </p:nvSpPr>
        <p:spPr>
          <a:xfrm>
            <a:off x="7376160" y="2697480"/>
            <a:ext cx="2663952" cy="1234440"/>
          </a:xfrm>
          <a:prstGeom prst="rect">
            <a:avLst/>
          </a:prstGeom>
          <a:noFill/>
        </p:spPr>
        <p:txBody>
          <a:bodyPr wrap="square" lIns="0" rIns="0" tIns="0" bIns="0" anchor="t">
            <a:spAutoFit/>
          </a:bodyPr>
          <a:lstStyle/>
          <a:p>
            <a:pPr algn="l">
              <a:spcAft>
                <a:spcPts val="0"/>
              </a:spcAft>
            </a:pPr>
            <a:r>
              <a:rPr sz="1400" b="0" i="0">
                <a:solidFill>
                  <a:srgbClr val="1F1F1F"/>
                </a:solidFill>
              </a:rPr>
              <a:t>The same code ran on Foundry, another vendor and a local model — only the settings changed.</a:t>
            </a:r>
          </a:p>
        </p:txBody>
      </p:sp>
      <p:sp>
        <p:nvSpPr>
          <p:cNvPr id="16" name="Rounded Rectangle 15"/>
          <p:cNvSpPr/>
          <p:nvPr/>
        </p:nvSpPr>
        <p:spPr>
          <a:xfrm>
            <a:off x="585216" y="4297680"/>
            <a:ext cx="9656063" cy="960120"/>
          </a:xfrm>
          <a:prstGeom prst="roundRect">
            <a:avLst>
              <a:gd name="adj" fmla="val 12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59536" y="4389120"/>
            <a:ext cx="2011680" cy="365760"/>
          </a:xfrm>
          <a:prstGeom prst="rect">
            <a:avLst/>
          </a:prstGeom>
          <a:noFill/>
        </p:spPr>
        <p:txBody>
          <a:bodyPr wrap="square" lIns="0" rIns="0" tIns="0" bIns="0" anchor="t">
            <a:spAutoFit/>
          </a:bodyPr>
          <a:lstStyle/>
          <a:p>
            <a:pPr algn="l">
              <a:spcAft>
                <a:spcPts val="0"/>
              </a:spcAft>
            </a:pPr>
            <a:r>
              <a:rPr sz="1200" b="1" i="0">
                <a:solidFill>
                  <a:srgbClr val="FFFFFF"/>
                </a:solidFill>
              </a:rPr>
              <a:t>NEXT · SEGMENT 2</a:t>
            </a:r>
          </a:p>
        </p:txBody>
      </p:sp>
      <p:sp>
        <p:nvSpPr>
          <p:cNvPr id="18" name="TextBox 17"/>
          <p:cNvSpPr txBox="1"/>
          <p:nvPr/>
        </p:nvSpPr>
        <p:spPr>
          <a:xfrm>
            <a:off x="859536" y="4681728"/>
            <a:ext cx="9107424" cy="502920"/>
          </a:xfrm>
          <a:prstGeom prst="rect">
            <a:avLst/>
          </a:prstGeom>
          <a:noFill/>
        </p:spPr>
        <p:txBody>
          <a:bodyPr wrap="square" lIns="0" rIns="0" tIns="0" bIns="0" anchor="t">
            <a:spAutoFit/>
          </a:bodyPr>
          <a:lstStyle/>
          <a:p>
            <a:pPr algn="l">
              <a:spcAft>
                <a:spcPts val="0"/>
              </a:spcAft>
            </a:pPr>
            <a:r>
              <a:rPr sz="1800" b="1" i="0">
                <a:solidFill>
                  <a:srgbClr val="FFFFFF"/>
                </a:solidFill>
              </a:rPr>
              <a:t>Integrating AI</a:t>
            </a:r>
            <a:r>
              <a:rPr sz="1800" b="0" i="0">
                <a:solidFill>
                  <a:srgbClr val="FFFFFF"/>
                </a:solidFill>
              </a:rPr>
              <a:t> — the context window is the product</a:t>
            </a:r>
          </a:p>
        </p:txBody>
      </p:sp>
      <p:sp>
        <p:nvSpPr>
          <p:cNvPr id="19" name="TextBox 18"/>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Narrative plan v001</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solidFill>
                  <a:srgbClr val="FFFFFF"/>
                </a:solidFill>
              </a:rPr>
              <a:t>Thank you</a:t>
            </a:r>
          </a:p>
        </p:txBody>
      </p:sp>
      <p:sp>
        <p:nvSpPr>
          <p:cNvPr id="3" name="Text Placeholder 2"/>
          <p:cNvSpPr>
            <a:spLocks noGrp="1"/>
          </p:cNvSpPr>
          <p:nvPr>
            <p:ph type="body" idx="12" sz="quarter"/>
          </p:nvPr>
        </p:nvSpPr>
        <p:spPr/>
        <p:txBody>
          <a:bodyPr/>
          <a:lstStyle/>
          <a:p>
            <a:r>
              <a:rPr sz="1800">
                <a:solidFill>
                  <a:srgbClr val="C8D0E8"/>
                </a:solidFill>
              </a:rPr>
              <a:t>daenet — an ACP Digital company</a:t>
            </a:r>
          </a:p>
        </p:txBody>
      </p:sp>
      <p:sp>
        <p:nvSpPr>
          <p:cNvPr id="4" name="TextBox 3"/>
          <p:cNvSpPr txBox="1"/>
          <p:nvPr/>
        </p:nvSpPr>
        <p:spPr>
          <a:xfrm>
            <a:off x="585216" y="5120640"/>
            <a:ext cx="5486400" cy="731520"/>
          </a:xfrm>
          <a:prstGeom prst="rect">
            <a:avLst/>
          </a:prstGeom>
          <a:noFill/>
        </p:spPr>
        <p:txBody>
          <a:bodyPr wrap="square" lIns="0" rIns="0" tIns="0" bIns="0" anchor="t">
            <a:spAutoFit/>
          </a:bodyPr>
          <a:lstStyle/>
          <a:p>
            <a:pPr algn="l">
              <a:spcAft>
                <a:spcPts val="600"/>
              </a:spcAft>
            </a:pPr>
            <a:r>
              <a:rPr sz="1300" b="0" i="0">
                <a:solidFill>
                  <a:srgbClr val="FFFFFF"/>
                </a:solidFill>
              </a:rPr>
              <a:t>Every source of today: appendix A-01 (References).</a:t>
            </a:r>
          </a:p>
          <a:p>
            <a:pPr algn="l">
              <a:spcAft>
                <a:spcPts val="600"/>
              </a:spcAft>
            </a:pPr>
            <a:r>
              <a:rPr sz="1200" b="0" i="0">
                <a:solidFill>
                  <a:srgbClr val="9AA6C2"/>
                </a:solidFill>
              </a:rPr>
              <a:t>Building Stuff with GenAI · the open-minded workshop beyond OpenAI</a:t>
            </a:r>
          </a:p>
        </p:txBody>
      </p:sp>
      <p:pic>
        <p:nvPicPr>
          <p:cNvPr id="5" name="Picture 4" descr="div_title.jpg"/>
          <p:cNvPicPr>
            <a:picLocks noChangeAspect="1"/>
          </p:cNvPicPr>
          <p:nvPr/>
        </p:nvPicPr>
        <p:blipFill>
          <a:blip r:embed="rId3"/>
          <a:stretch>
            <a:fillRect/>
          </a:stretch>
        </p:blipFill>
        <p:spPr>
          <a:xfrm>
            <a:off x="6446520" y="868680"/>
            <a:ext cx="2971800" cy="4892040"/>
          </a:xfrm>
          <a:prstGeom prst="roundRect">
            <a:avLst>
              <a:gd name="adj" fmla="val 4000"/>
            </a:avLst>
          </a:prstGeom>
        </p:spPr>
      </p:pic>
      <p:sp>
        <p:nvSpPr>
          <p:cNvPr id="6" name="Rounded Rectangle 5"/>
          <p:cNvSpPr/>
          <p:nvPr/>
        </p:nvSpPr>
        <p:spPr>
          <a:xfrm>
            <a:off x="585216" y="4434840"/>
            <a:ext cx="5120640" cy="548640"/>
          </a:xfrm>
          <a:prstGeom prst="roundRect">
            <a:avLst>
              <a:gd name="adj" fmla="val 8000"/>
            </a:avLst>
          </a:prstGeom>
          <a:solidFill>
            <a:srgbClr val="141E46"/>
          </a:solidFill>
          <a:ln w="12700">
            <a:solidFill>
              <a:srgbClr val="9AA6C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i="1">
                <a:solidFill>
                  <a:srgbClr val="9AA6C2"/>
                </a:solidFill>
              </a:rPr>
              <a:t>CONTACT · E-MAIL · QR — to be added</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000" b="1">
                <a:solidFill>
                  <a:srgbClr val="FFFFFF"/>
                </a:solidFill>
              </a:rPr>
              <a:t>Appendix</a:t>
            </a:r>
          </a:p>
        </p:txBody>
      </p:sp>
      <p:sp>
        <p:nvSpPr>
          <p:cNvPr id="3" name="Text Placeholder 2"/>
          <p:cNvSpPr>
            <a:spLocks noGrp="1"/>
          </p:cNvSpPr>
          <p:nvPr>
            <p:ph type="body" idx="12" sz="quarter"/>
          </p:nvPr>
        </p:nvSpPr>
        <p:spPr/>
        <p:txBody>
          <a:bodyPr/>
          <a:lstStyle/>
          <a:p>
            <a:r>
              <a:rPr sz="1800">
                <a:solidFill>
                  <a:srgbClr val="C8D0E8"/>
                </a:solidFill>
              </a:rPr>
              <a:t>Reference slides — not presented</a:t>
            </a:r>
          </a:p>
        </p:txBody>
      </p:sp>
      <p:sp>
        <p:nvSpPr>
          <p:cNvPr id="4" name="TextBox 3"/>
          <p:cNvSpPr txBox="1"/>
          <p:nvPr/>
        </p:nvSpPr>
        <p:spPr>
          <a:xfrm>
            <a:off x="585216" y="1874519"/>
            <a:ext cx="5486400" cy="411480"/>
          </a:xfrm>
          <a:prstGeom prst="rect">
            <a:avLst/>
          </a:prstGeom>
          <a:noFill/>
        </p:spPr>
        <p:txBody>
          <a:bodyPr wrap="square" lIns="0" rIns="0" tIns="0" bIns="0" anchor="t">
            <a:spAutoFit/>
          </a:bodyPr>
          <a:lstStyle/>
          <a:p>
            <a:pPr algn="l">
              <a:spcAft>
                <a:spcPts val="0"/>
              </a:spcAft>
            </a:pPr>
            <a:r>
              <a:rPr sz="1600" b="1" i="0">
                <a:solidFill>
                  <a:srgbClr val="FFB900"/>
                </a:solidFill>
              </a:rPr>
              <a:t>BUILDING STUFF WITH GENAI</a:t>
            </a:r>
          </a:p>
        </p:txBody>
      </p:sp>
      <p:sp>
        <p:nvSpPr>
          <p:cNvPr id="5" name="TextBox 4"/>
          <p:cNvSpPr txBox="1"/>
          <p:nvPr/>
        </p:nvSpPr>
        <p:spPr>
          <a:xfrm>
            <a:off x="585216" y="5074920"/>
            <a:ext cx="5486400" cy="365760"/>
          </a:xfrm>
          <a:prstGeom prst="rect">
            <a:avLst/>
          </a:prstGeom>
          <a:noFill/>
        </p:spPr>
        <p:txBody>
          <a:bodyPr wrap="square" lIns="0" rIns="0" tIns="0" bIns="0" anchor="t">
            <a:spAutoFit/>
          </a:bodyPr>
          <a:lstStyle/>
          <a:p>
            <a:pPr algn="l">
              <a:spcAft>
                <a:spcPts val="0"/>
              </a:spcAft>
            </a:pPr>
            <a:r>
              <a:rPr sz="1200" b="0" i="0">
                <a:solidFill>
                  <a:srgbClr val="9AA6C2"/>
                </a:solidFill>
              </a:rPr>
              <a:t>Facts as of 2026-09-21 · built 2026-09-23</a:t>
            </a:r>
          </a:p>
        </p:txBody>
      </p:sp>
      <p:sp>
        <p:nvSpPr>
          <p:cNvPr id="6" name="TextBox 5"/>
          <p:cNvSpPr txBox="1"/>
          <p:nvPr/>
        </p:nvSpPr>
        <p:spPr>
          <a:xfrm>
            <a:off x="6492240" y="1143000"/>
            <a:ext cx="2926080" cy="320040"/>
          </a:xfrm>
          <a:prstGeom prst="rect">
            <a:avLst/>
          </a:prstGeom>
          <a:noFill/>
        </p:spPr>
        <p:txBody>
          <a:bodyPr wrap="square" lIns="0" rIns="0" tIns="0" bIns="0" anchor="t">
            <a:spAutoFit/>
          </a:bodyPr>
          <a:lstStyle/>
          <a:p>
            <a:pPr algn="l">
              <a:spcAft>
                <a:spcPts val="0"/>
              </a:spcAft>
            </a:pPr>
            <a:r>
              <a:rPr sz="1200" b="1" i="0">
                <a:solidFill>
                  <a:srgbClr val="FFB900"/>
                </a:solidFill>
              </a:rPr>
              <a:t>IN THIS APPENDIX</a:t>
            </a:r>
          </a:p>
        </p:txBody>
      </p:sp>
      <p:sp>
        <p:nvSpPr>
          <p:cNvPr id="7" name="TextBox 6"/>
          <p:cNvSpPr txBox="1"/>
          <p:nvPr/>
        </p:nvSpPr>
        <p:spPr>
          <a:xfrm>
            <a:off x="6492240" y="1554480"/>
            <a:ext cx="2926080" cy="4206240"/>
          </a:xfrm>
          <a:prstGeom prst="rect">
            <a:avLst/>
          </a:prstGeom>
          <a:noFill/>
        </p:spPr>
        <p:txBody>
          <a:bodyPr wrap="square" lIns="0" rIns="0" tIns="0" bIns="0" anchor="t">
            <a:spAutoFit/>
          </a:bodyPr>
          <a:lstStyle/>
          <a:p>
            <a:pPr algn="l">
              <a:spcAft>
                <a:spcPts val="700"/>
              </a:spcAft>
            </a:pPr>
            <a:r>
              <a:rPr sz="1300" b="1" i="0">
                <a:solidFill>
                  <a:srgbClr val="FFFFFF"/>
                </a:solidFill>
              </a:rPr>
              <a:t>A-01</a:t>
            </a:r>
            <a:r>
              <a:rPr sz="1300" b="0" i="0">
                <a:solidFill>
                  <a:srgbClr val="FFFFFF"/>
                </a:solidFill>
              </a:rPr>
              <a:t>   References</a:t>
            </a:r>
          </a:p>
          <a:p>
            <a:pPr algn="l">
              <a:spcAft>
                <a:spcPts val="700"/>
              </a:spcAft>
            </a:pPr>
            <a:r>
              <a:rPr sz="1300" b="1" i="0">
                <a:solidFill>
                  <a:srgbClr val="FFFFFF"/>
                </a:solidFill>
              </a:rPr>
              <a:t>A-02</a:t>
            </a:r>
            <a:r>
              <a:rPr sz="1300" b="0" i="0">
                <a:solidFill>
                  <a:srgbClr val="FFFFFF"/>
                </a:solidFill>
              </a:rPr>
              <a:t>   LLM 101 history (cut)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LLM 101 extra: the 2017–2018 foundations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LLM 101 REFERENCE</a:t>
            </a:r>
          </a:p>
        </p:txBody>
      </p:sp>
      <p:graphicFrame>
        <p:nvGraphicFramePr>
          <p:cNvPr id="4" name="Table 3"/>
          <p:cNvGraphicFramePr>
            <a:graphicFrameLocks noGrp="1"/>
          </p:cNvGraphicFramePr>
          <p:nvPr/>
        </p:nvGraphicFramePr>
        <p:xfrm>
          <a:off x="585216" y="1463040"/>
          <a:ext cx="9656064" cy="2834640"/>
        </p:xfrm>
        <a:graphic>
          <a:graphicData uri="http://schemas.openxmlformats.org/drawingml/2006/table">
            <a:tbl>
              <a:tblPr firstRow="1" bandRow="1">
                <a:tableStyleId>{5C22544A-7EE6-4342-B048-85BDC9FD1C3A}</a:tableStyleId>
              </a:tblPr>
              <a:tblGrid>
                <a:gridCol w="2468880"/>
                <a:gridCol w="4206240"/>
                <a:gridCol w="2980944"/>
              </a:tblGrid>
              <a:tr h="365760">
                <a:tc>
                  <a:txBody>
                    <a:bodyPr/>
                    <a:lstStyle/>
                    <a:p>
                      <a:r>
                        <a:rPr sz="1200" b="1">
                          <a:solidFill>
                            <a:srgbClr val="FFFFFF"/>
                          </a:solidFill>
                        </a:rPr>
                        <a:t>Idea</a:t>
                      </a:r>
                    </a:p>
                  </a:txBody>
                  <a:tcPr marT="27432" marB="27432" marL="73152" marR="73152" anchor="ctr">
                    <a:solidFill>
                      <a:srgbClr val="2A446F"/>
                    </a:solidFill>
                  </a:tcPr>
                </a:tc>
                <a:tc>
                  <a:txBody>
                    <a:bodyPr/>
                    <a:lstStyle/>
                    <a:p>
                      <a:r>
                        <a:rPr sz="1200" b="1">
                          <a:solidFill>
                            <a:srgbClr val="FFFFFF"/>
                          </a:solidFill>
                        </a:rPr>
                        <a:t>In one line</a:t>
                      </a:r>
                    </a:p>
                  </a:txBody>
                  <a:tcPr marT="27432" marB="27432" marL="73152" marR="73152" anchor="ctr">
                    <a:solidFill>
                      <a:srgbClr val="2A446F"/>
                    </a:solidFill>
                  </a:tcPr>
                </a:tc>
                <a:tc>
                  <a:txBody>
                    <a:bodyPr/>
                    <a:lstStyle/>
                    <a:p>
                      <a:r>
                        <a:rPr sz="1200" b="1">
                          <a:solidFill>
                            <a:srgbClr val="FFFFFF"/>
                          </a:solidFill>
                        </a:rPr>
                        <a:t>Explore</a:t>
                      </a:r>
                    </a:p>
                  </a:txBody>
                  <a:tcPr marT="27432" marB="27432" marL="73152" marR="73152" anchor="ctr">
                    <a:solidFill>
                      <a:srgbClr val="2A446F"/>
                    </a:solidFill>
                  </a:tcPr>
                </a:tc>
              </a:tr>
              <a:tr h="822960">
                <a:tc>
                  <a:txBody>
                    <a:bodyPr/>
                    <a:lstStyle/>
                    <a:p>
                      <a:r>
                        <a:rPr sz="1200" b="1">
                          <a:solidFill>
                            <a:srgbClr val="1F1F1F"/>
                          </a:solidFill>
                        </a:rPr>
                        <a:t>Embeddings have geometry</a:t>
                      </a:r>
                    </a:p>
                  </a:txBody>
                  <a:tcPr marT="27432" marB="27432" marL="73152" marR="73152" anchor="ctr">
                    <a:solidFill>
                      <a:srgbClr val="FFFFFF"/>
                    </a:solidFill>
                  </a:tcPr>
                </a:tc>
                <a:tc>
                  <a:txBody>
                    <a:bodyPr/>
                    <a:lstStyle/>
                    <a:p>
                      <a:r>
                        <a:rPr sz="1200" b="0">
                          <a:solidFill>
                            <a:srgbClr val="1F1F1F"/>
                          </a:solidFill>
                        </a:rPr>
                        <a:t>tokens are points in 768-D to 4096-D space; similar meanings cluster; king − man + woman ≈ queen</a:t>
                      </a:r>
                    </a:p>
                  </a:txBody>
                  <a:tcPr marT="27432" marB="27432" marL="73152" marR="73152" anchor="ctr">
                    <a:solidFill>
                      <a:srgbClr val="FFFFFF"/>
                    </a:solidFill>
                  </a:tcPr>
                </a:tc>
                <a:tc>
                  <a:txBody>
                    <a:bodyPr/>
                    <a:lstStyle/>
                    <a:p>
                      <a:r>
                        <a:rPr sz="1200" b="0">
                          <a:solidFill>
                            <a:srgbClr val="1F1F1F"/>
                          </a:solidFill>
                        </a:rPr>
                        <a:t>projector.tensorflow.org · atlas.nomic.ai · poloclub.github.io/wizmap</a:t>
                      </a:r>
                    </a:p>
                  </a:txBody>
                  <a:tcPr marT="27432" marB="27432" marL="73152" marR="73152" anchor="ctr">
                    <a:solidFill>
                      <a:srgbClr val="FFFFFF"/>
                    </a:solidFill>
                  </a:tcPr>
                </a:tc>
              </a:tr>
              <a:tr h="822960">
                <a:tc>
                  <a:txBody>
                    <a:bodyPr/>
                    <a:lstStyle/>
                    <a:p>
                      <a:r>
                        <a:rPr sz="1200" b="1">
                          <a:solidFill>
                            <a:srgbClr val="1F1F1F"/>
                          </a:solidFill>
                        </a:rPr>
                        <a:t>Attention Is All You Need</a:t>
                      </a:r>
                    </a:p>
                  </a:txBody>
                  <a:tcPr marT="27432" marB="27432" marL="73152" marR="73152" anchor="ctr">
                    <a:solidFill>
                      <a:srgbClr val="F3F4F8"/>
                    </a:solidFill>
                  </a:tcPr>
                </a:tc>
                <a:tc>
                  <a:txBody>
                    <a:bodyPr/>
                    <a:lstStyle/>
                    <a:p>
                      <a:r>
                        <a:rPr sz="1200" b="0">
                          <a:solidFill>
                            <a:srgbClr val="1F1F1F"/>
                          </a:solidFill>
                        </a:rPr>
                        <a:t>2017, Vaswani et al. at Google Brain: attention + feed-forward replaced RNN/LSTM; encoder + decoder for translation; multi-head</a:t>
                      </a:r>
                    </a:p>
                  </a:txBody>
                  <a:tcPr marT="27432" marB="27432" marL="73152" marR="73152" anchor="ctr">
                    <a:solidFill>
                      <a:srgbClr val="F3F4F8"/>
                    </a:solidFill>
                  </a:tcPr>
                </a:tc>
                <a:tc>
                  <a:txBody>
                    <a:bodyPr/>
                    <a:lstStyle/>
                    <a:p>
                      <a:r>
                        <a:rPr sz="1200" b="0">
                          <a:solidFill>
                            <a:srgbClr val="1F1F1F"/>
                          </a:solidFill>
                        </a:rPr>
                        <a:t>arxiv.org/abs/1706.03762 · the Annotated Transformer</a:t>
                      </a:r>
                    </a:p>
                  </a:txBody>
                  <a:tcPr marT="27432" marB="27432" marL="73152" marR="73152" anchor="ctr">
                    <a:solidFill>
                      <a:srgbClr val="F3F4F8"/>
                    </a:solidFill>
                  </a:tcPr>
                </a:tc>
              </a:tr>
              <a:tr h="822960">
                <a:tc>
                  <a:txBody>
                    <a:bodyPr/>
                    <a:lstStyle/>
                    <a:p>
                      <a:r>
                        <a:rPr sz="1200" b="1">
                          <a:solidFill>
                            <a:srgbClr val="1F1F1F"/>
                          </a:solidFill>
                        </a:rPr>
                        <a:t>Tokens, attention, transformers</a:t>
                      </a:r>
                    </a:p>
                  </a:txBody>
                  <a:tcPr marT="27432" marB="27432" marL="73152" marR="73152" anchor="ctr">
                    <a:solidFill>
                      <a:srgbClr val="FFFFFF"/>
                    </a:solidFill>
                  </a:tcPr>
                </a:tc>
                <a:tc>
                  <a:txBody>
                    <a:bodyPr/>
                    <a:lstStyle/>
                    <a:p>
                      <a:r>
                        <a:rPr sz="1200" b="0">
                          <a:solidFill>
                            <a:srgbClr val="1F1F1F"/>
                          </a:solidFill>
                        </a:rPr>
                        <a:t>tokenization turns text into vectors, attention learns the relationships; every token sees every token</a:t>
                      </a:r>
                    </a:p>
                  </a:txBody>
                  <a:tcPr marT="27432" marB="27432" marL="73152" marR="73152" anchor="ctr">
                    <a:solidFill>
                      <a:srgbClr val="FFFFFF"/>
                    </a:solidFill>
                  </a:tcPr>
                </a:tc>
                <a:tc>
                  <a:txBody>
                    <a:bodyPr/>
                    <a:lstStyle/>
                    <a:p>
                      <a:r>
                        <a:rPr sz="1200" b="0">
                          <a:solidFill>
                            <a:srgbClr val="1F1F1F"/>
                          </a:solidFill>
                        </a:rPr>
                        <a:t>platform.openai.com/tokenizer · karpathy.ai/zero-to-hero</a:t>
                      </a:r>
                    </a:p>
                  </a:txBody>
                  <a:tcPr marT="27432" marB="27432" marL="73152" marR="73152" anchor="ctr">
                    <a:solidFill>
                      <a:srgbClr val="FFFFFF"/>
                    </a:solidFill>
                  </a:tcPr>
                </a:tc>
              </a:tr>
            </a:tbl>
          </a:graphicData>
        </a:graphic>
      </p:graphicFrame>
      <p:sp>
        <p:nvSpPr>
          <p:cNvPr id="5" name="TextBox 4"/>
          <p:cNvSpPr txBox="1"/>
          <p:nvPr/>
        </p:nvSpPr>
        <p:spPr>
          <a:xfrm>
            <a:off x="585216" y="4526280"/>
            <a:ext cx="9656063" cy="365760"/>
          </a:xfrm>
          <a:prstGeom prst="rect">
            <a:avLst/>
          </a:prstGeom>
          <a:noFill/>
        </p:spPr>
        <p:txBody>
          <a:bodyPr wrap="square" lIns="0" rIns="0" tIns="0" bIns="0" anchor="t">
            <a:spAutoFit/>
          </a:bodyPr>
          <a:lstStyle/>
          <a:p>
            <a:pPr algn="l">
              <a:spcAft>
                <a:spcPts val="0"/>
              </a:spcAft>
            </a:pPr>
            <a:r>
              <a:rPr sz="1300" b="0" i="1">
                <a:solidFill>
                  <a:srgbClr val="6B6B6B"/>
                </a:solidFill>
              </a:rPr>
              <a:t>Covered in the talk: tokens, embeddings, attention and the transformer block.</a:t>
            </a:r>
          </a:p>
        </p:txBody>
      </p:sp>
      <p:sp>
        <p:nvSpPr>
          <p:cNvPr id="6" name="TextBox 5"/>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slides 20, 21, 23 · Vaswani et al. 2017, Attention Is All You Need · TensorFlow Embedding Projector</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LLM 101 extra: scale in numbers, 2020–2023</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LLM 101 REFERENCE</a:t>
            </a:r>
          </a:p>
        </p:txBody>
      </p:sp>
      <p:graphicFrame>
        <p:nvGraphicFramePr>
          <p:cNvPr id="4" name="Table 3"/>
          <p:cNvGraphicFramePr>
            <a:graphicFrameLocks noGrp="1"/>
          </p:cNvGraphicFramePr>
          <p:nvPr/>
        </p:nvGraphicFramePr>
        <p:xfrm>
          <a:off x="585216" y="1463040"/>
          <a:ext cx="9656064" cy="2560320"/>
        </p:xfrm>
        <a:graphic>
          <a:graphicData uri="http://schemas.openxmlformats.org/drawingml/2006/table">
            <a:tbl>
              <a:tblPr firstRow="1" bandRow="1">
                <a:tableStyleId>{5C22544A-7EE6-4342-B048-85BDC9FD1C3A}</a:tableStyleId>
              </a:tblPr>
              <a:tblGrid>
                <a:gridCol w="2286000"/>
                <a:gridCol w="3931920"/>
                <a:gridCol w="3438144"/>
              </a:tblGrid>
              <a:tr h="365760">
                <a:tc>
                  <a:txBody>
                    <a:bodyPr/>
                    <a:lstStyle/>
                    <a:p>
                      <a:r>
                        <a:rPr sz="1200" b="1">
                          <a:solidFill>
                            <a:srgbClr val="FFFFFF"/>
                          </a:solidFill>
                        </a:rPr>
                        <a:t>Model</a:t>
                      </a:r>
                    </a:p>
                  </a:txBody>
                  <a:tcPr marT="27432" marB="27432" marL="73152" marR="73152" anchor="ctr">
                    <a:solidFill>
                      <a:srgbClr val="2A446F"/>
                    </a:solidFill>
                  </a:tcPr>
                </a:tc>
                <a:tc>
                  <a:txBody>
                    <a:bodyPr/>
                    <a:lstStyle/>
                    <a:p>
                      <a:r>
                        <a:rPr sz="1200" b="1">
                          <a:solidFill>
                            <a:srgbClr val="FFFFFF"/>
                          </a:solidFill>
                        </a:rPr>
                        <a:t>Why it mattered</a:t>
                      </a:r>
                    </a:p>
                  </a:txBody>
                  <a:tcPr marT="27432" marB="27432" marL="73152" marR="73152" anchor="ctr">
                    <a:solidFill>
                      <a:srgbClr val="2A446F"/>
                    </a:solidFill>
                  </a:tcPr>
                </a:tc>
                <a:tc>
                  <a:txBody>
                    <a:bodyPr/>
                    <a:lstStyle/>
                    <a:p>
                      <a:r>
                        <a:rPr sz="1200" b="1">
                          <a:solidFill>
                            <a:srgbClr val="FFFFFF"/>
                          </a:solidFill>
                        </a:rPr>
                        <a:t>Numbers (as reported)</a:t>
                      </a:r>
                    </a:p>
                  </a:txBody>
                  <a:tcPr marT="27432" marB="27432" marL="73152" marR="73152" anchor="ctr">
                    <a:solidFill>
                      <a:srgbClr val="2A446F"/>
                    </a:solidFill>
                  </a:tcPr>
                </a:tc>
              </a:tr>
              <a:tr h="731520">
                <a:tc>
                  <a:txBody>
                    <a:bodyPr/>
                    <a:lstStyle/>
                    <a:p>
                      <a:r>
                        <a:rPr sz="1200" b="1">
                          <a:solidFill>
                            <a:srgbClr val="1F1F1F"/>
                          </a:solidFill>
                        </a:rPr>
                        <a:t>BLOOM (BigScience)</a:t>
                      </a:r>
                    </a:p>
                  </a:txBody>
                  <a:tcPr marT="27432" marB="27432" marL="73152" marR="73152" anchor="ctr">
                    <a:solidFill>
                      <a:srgbClr val="FFFFFF"/>
                    </a:solidFill>
                  </a:tcPr>
                </a:tc>
                <a:tc>
                  <a:txBody>
                    <a:bodyPr/>
                    <a:lstStyle/>
                    <a:p>
                      <a:r>
                        <a:rPr sz="1200" b="0">
                          <a:solidFill>
                            <a:srgbClr val="1F1F1F"/>
                          </a:solidFill>
                        </a:rPr>
                        <a:t>an open foundation model trained in public: data, method, checkpoints, evaluation — not instruction-tuned</a:t>
                      </a:r>
                    </a:p>
                  </a:txBody>
                  <a:tcPr marT="27432" marB="27432" marL="73152" marR="73152" anchor="ctr">
                    <a:solidFill>
                      <a:srgbClr val="FFFFFF"/>
                    </a:solidFill>
                  </a:tcPr>
                </a:tc>
                <a:tc>
                  <a:txBody>
                    <a:bodyPr/>
                    <a:lstStyle/>
                    <a:p>
                      <a:r>
                        <a:rPr sz="1200" b="0">
                          <a:solidFill>
                            <a:srgbClr val="1F1F1F"/>
                          </a:solidFill>
                        </a:rPr>
                        <a:t>176 B parameters · 46 languages + 13 programming languages</a:t>
                      </a:r>
                    </a:p>
                  </a:txBody>
                  <a:tcPr marT="27432" marB="27432" marL="73152" marR="73152" anchor="ctr">
                    <a:solidFill>
                      <a:srgbClr val="FFFFFF"/>
                    </a:solidFill>
                  </a:tcPr>
                </a:tc>
              </a:tr>
              <a:tr h="731520">
                <a:tc>
                  <a:txBody>
                    <a:bodyPr/>
                    <a:lstStyle/>
                    <a:p>
                      <a:r>
                        <a:rPr sz="1200" b="1">
                          <a:solidFill>
                            <a:srgbClr val="1F1F1F"/>
                          </a:solidFill>
                        </a:rPr>
                        <a:t>GPT-3 training</a:t>
                      </a:r>
                    </a:p>
                  </a:txBody>
                  <a:tcPr marT="27432" marB="27432" marL="73152" marR="73152" anchor="ctr">
                    <a:solidFill>
                      <a:srgbClr val="F3F4F8"/>
                    </a:solidFill>
                  </a:tcPr>
                </a:tc>
                <a:tc>
                  <a:txBody>
                    <a:bodyPr/>
                    <a:lstStyle/>
                    <a:p>
                      <a:r>
                        <a:rPr sz="1200" b="0">
                          <a:solidFill>
                            <a:srgbClr val="1F1F1F"/>
                          </a:solidFill>
                        </a:rPr>
                        <a:t>the largest dense language model of its time (2020)</a:t>
                      </a:r>
                    </a:p>
                  </a:txBody>
                  <a:tcPr marT="27432" marB="27432" marL="73152" marR="73152" anchor="ctr">
                    <a:solidFill>
                      <a:srgbClr val="F3F4F8"/>
                    </a:solidFill>
                  </a:tcPr>
                </a:tc>
                <a:tc>
                  <a:txBody>
                    <a:bodyPr/>
                    <a:lstStyle/>
                    <a:p>
                      <a:r>
                        <a:rPr sz="1200" b="0">
                          <a:solidFill>
                            <a:srgbClr val="1F1F1F"/>
                          </a:solidFill>
                        </a:rPr>
                        <a:t>175 B params · 3.14e23 FLOPs · 10,000 V100 · ~15 days · ≈ $4.6 M · 552 t CO₂</a:t>
                      </a:r>
                    </a:p>
                  </a:txBody>
                  <a:tcPr marT="27432" marB="27432" marL="73152" marR="73152" anchor="ctr">
                    <a:solidFill>
                      <a:srgbClr val="F3F4F8"/>
                    </a:solidFill>
                  </a:tcPr>
                </a:tc>
              </a:tr>
              <a:tr h="731520">
                <a:tc>
                  <a:txBody>
                    <a:bodyPr/>
                    <a:lstStyle/>
                    <a:p>
                      <a:r>
                        <a:rPr sz="1200" b="1">
                          <a:solidFill>
                            <a:srgbClr val="1F1F1F"/>
                          </a:solidFill>
                        </a:rPr>
                        <a:t>GPT-4</a:t>
                      </a:r>
                    </a:p>
                  </a:txBody>
                  <a:tcPr marT="27432" marB="27432" marL="73152" marR="73152" anchor="ctr">
                    <a:solidFill>
                      <a:srgbClr val="FFFFFF"/>
                    </a:solidFill>
                  </a:tcPr>
                </a:tc>
                <a:tc>
                  <a:txBody>
                    <a:bodyPr/>
                    <a:lstStyle/>
                    <a:p>
                      <a:r>
                        <a:rPr sz="1200" b="0">
                          <a:solidFill>
                            <a:srgbClr val="1F1F1F"/>
                          </a:solidFill>
                        </a:rPr>
                        <a:t>announced 2023-03-14, multimodal from launch; “Sparks of AGI” paper 8 days later</a:t>
                      </a:r>
                    </a:p>
                  </a:txBody>
                  <a:tcPr marT="27432" marB="27432" marL="73152" marR="73152" anchor="ctr">
                    <a:solidFill>
                      <a:srgbClr val="FFFFFF"/>
                    </a:solidFill>
                  </a:tcPr>
                </a:tc>
                <a:tc>
                  <a:txBody>
                    <a:bodyPr/>
                    <a:lstStyle/>
                    <a:p>
                      <a:r>
                        <a:rPr sz="1200" b="0">
                          <a:solidFill>
                            <a:srgbClr val="1F1F1F"/>
                          </a:solidFill>
                        </a:rPr>
                        <a:t>MoE (leaked, unconfirmed): ~1.8 T total, top-2 routing · 8k / 32k context · est. $50–200 M</a:t>
                      </a:r>
                    </a:p>
                  </a:txBody>
                  <a:tcPr marT="27432" marB="27432" marL="73152" marR="73152" anchor="ctr">
                    <a:solidFill>
                      <a:srgbClr val="FFFFFF"/>
                    </a:solidFill>
                  </a:tcPr>
                </a:tc>
              </a:tr>
            </a:tbl>
          </a:graphicData>
        </a:graphic>
      </p:graphicFrame>
      <p:sp>
        <p:nvSpPr>
          <p:cNvPr id="5" name="TextBox 4"/>
          <p:cNvSpPr txBox="1"/>
          <p:nvPr/>
        </p:nvSpPr>
        <p:spPr>
          <a:xfrm>
            <a:off x="585216" y="4297680"/>
            <a:ext cx="9656063" cy="411480"/>
          </a:xfrm>
          <a:prstGeom prst="rect">
            <a:avLst/>
          </a:prstGeom>
          <a:noFill/>
        </p:spPr>
        <p:txBody>
          <a:bodyPr wrap="square" lIns="0" rIns="0" tIns="0" bIns="0" anchor="t">
            <a:spAutoFit/>
          </a:bodyPr>
          <a:lstStyle/>
          <a:p>
            <a:pPr algn="l">
              <a:spcAft>
                <a:spcPts val="0"/>
              </a:spcAft>
            </a:pPr>
            <a:r>
              <a:rPr sz="2000" b="0" i="1">
                <a:solidFill>
                  <a:srgbClr val="2A446F"/>
                </a:solidFill>
              </a:rPr>
              <a:t>“It’s more than that.”</a:t>
            </a:r>
          </a:p>
        </p:txBody>
      </p:sp>
      <p:sp>
        <p:nvSpPr>
          <p:cNvPr id="6" name="TextBox 5"/>
          <p:cNvSpPr txBox="1"/>
          <p:nvPr/>
        </p:nvSpPr>
        <p:spPr>
          <a:xfrm>
            <a:off x="585216" y="4754880"/>
            <a:ext cx="9656063" cy="320040"/>
          </a:xfrm>
          <a:prstGeom prst="rect">
            <a:avLst/>
          </a:prstGeom>
          <a:noFill/>
        </p:spPr>
        <p:txBody>
          <a:bodyPr wrap="square" lIns="0" rIns="0" tIns="0" bIns="0" anchor="t">
            <a:spAutoFit/>
          </a:bodyPr>
          <a:lstStyle/>
          <a:p>
            <a:pPr algn="l">
              <a:spcAft>
                <a:spcPts val="0"/>
              </a:spcAft>
            </a:pPr>
            <a:r>
              <a:rPr sz="1200" b="0" i="0">
                <a:solidFill>
                  <a:srgbClr val="6B6B6B"/>
                </a:solidFill>
              </a:rPr>
              <a:t>— Sam Altman at MIT (April 2023), asked whether GPT-4 cost $100 M to train</a:t>
            </a:r>
          </a:p>
        </p:txBody>
      </p:sp>
      <p:sp>
        <p:nvSpPr>
          <p:cNvPr id="7" name="TextBox 6"/>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slides 27, 29, 34–35 · BigScience BLOOM model card · Altman at MIT, Apr 2023 (via Wired)</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LLM 101 extra: interpretability and diffusion text</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LLM 101 REFERENCE</a:t>
            </a:r>
          </a:p>
        </p:txBody>
      </p:sp>
      <p:sp>
        <p:nvSpPr>
          <p:cNvPr id="4" name="Rounded Rectangle 3"/>
          <p:cNvSpPr/>
          <p:nvPr/>
        </p:nvSpPr>
        <p:spPr>
          <a:xfrm>
            <a:off x="585216" y="1463040"/>
            <a:ext cx="4736592" cy="21488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86384" y="1627632"/>
            <a:ext cx="4334255" cy="411480"/>
          </a:xfrm>
          <a:prstGeom prst="rect">
            <a:avLst/>
          </a:prstGeom>
          <a:noFill/>
        </p:spPr>
        <p:txBody>
          <a:bodyPr wrap="square" lIns="0" rIns="0" tIns="0" bIns="0" anchor="t">
            <a:spAutoFit/>
          </a:bodyPr>
          <a:lstStyle/>
          <a:p>
            <a:pPr algn="l">
              <a:spcAft>
                <a:spcPts val="0"/>
              </a:spcAft>
            </a:pPr>
            <a:r>
              <a:rPr sz="1400" b="1" i="0">
                <a:solidFill>
                  <a:srgbClr val="8661C5"/>
                </a:solidFill>
              </a:rPr>
              <a:t>INTERPRETABILITY</a:t>
            </a:r>
          </a:p>
        </p:txBody>
      </p:sp>
      <p:sp>
        <p:nvSpPr>
          <p:cNvPr id="6" name="TextBox 5"/>
          <p:cNvSpPr txBox="1"/>
          <p:nvPr/>
        </p:nvSpPr>
        <p:spPr>
          <a:xfrm>
            <a:off x="786384" y="2084832"/>
            <a:ext cx="4334255" cy="1371600"/>
          </a:xfrm>
          <a:prstGeom prst="rect">
            <a:avLst/>
          </a:prstGeom>
          <a:noFill/>
        </p:spPr>
        <p:txBody>
          <a:bodyPr wrap="square" lIns="0" rIns="0" tIns="0" bIns="0" anchor="t">
            <a:spAutoFit/>
          </a:bodyPr>
          <a:lstStyle/>
          <a:p>
            <a:pPr algn="l">
              <a:spcAft>
                <a:spcPts val="0"/>
              </a:spcAft>
            </a:pPr>
            <a:r>
              <a:rPr sz="1400" b="0" i="0">
                <a:solidFill>
                  <a:srgbClr val="1F1F1F"/>
                </a:solidFill>
              </a:rPr>
              <a:t>Sparse autoencoders split activations into human-readable features. Anthropic found features for the Golden Gate Bridge, code bugs and sycophancy in Claude 3 Sonnet; turning one up steers the model — “Golden Gate Claude”.</a:t>
            </a:r>
          </a:p>
        </p:txBody>
      </p:sp>
      <p:sp>
        <p:nvSpPr>
          <p:cNvPr id="7" name="Rounded Rectangle 6"/>
          <p:cNvSpPr/>
          <p:nvPr/>
        </p:nvSpPr>
        <p:spPr>
          <a:xfrm>
            <a:off x="5504688" y="1463040"/>
            <a:ext cx="4736592" cy="21488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705855" y="1627632"/>
            <a:ext cx="4334255" cy="411480"/>
          </a:xfrm>
          <a:prstGeom prst="rect">
            <a:avLst/>
          </a:prstGeom>
          <a:noFill/>
        </p:spPr>
        <p:txBody>
          <a:bodyPr wrap="square" lIns="0" rIns="0" tIns="0" bIns="0" anchor="t">
            <a:spAutoFit/>
          </a:bodyPr>
          <a:lstStyle/>
          <a:p>
            <a:pPr algn="l">
              <a:spcAft>
                <a:spcPts val="0"/>
              </a:spcAft>
            </a:pPr>
            <a:r>
              <a:rPr sz="1400" b="1" i="0">
                <a:solidFill>
                  <a:srgbClr val="0078D4"/>
                </a:solidFill>
              </a:rPr>
              <a:t>GEMINI DIFFUSION</a:t>
            </a:r>
          </a:p>
        </p:txBody>
      </p:sp>
      <p:sp>
        <p:nvSpPr>
          <p:cNvPr id="9" name="TextBox 8"/>
          <p:cNvSpPr txBox="1"/>
          <p:nvPr/>
        </p:nvSpPr>
        <p:spPr>
          <a:xfrm>
            <a:off x="5705855" y="2084832"/>
            <a:ext cx="4334255" cy="1371600"/>
          </a:xfrm>
          <a:prstGeom prst="rect">
            <a:avLst/>
          </a:prstGeom>
          <a:noFill/>
        </p:spPr>
        <p:txBody>
          <a:bodyPr wrap="square" lIns="0" rIns="0" tIns="0" bIns="0" anchor="t">
            <a:spAutoFit/>
          </a:bodyPr>
          <a:lstStyle/>
          <a:p>
            <a:pPr algn="l">
              <a:spcAft>
                <a:spcPts val="0"/>
              </a:spcAft>
            </a:pPr>
            <a:r>
              <a:rPr sz="1400" b="0" i="0">
                <a:solidFill>
                  <a:srgbClr val="1F1F1F"/>
                </a:solidFill>
              </a:rPr>
              <a:t>Google DeepMind’s diffusion text model: all tokens are generated together and refined over passes, instead of one token at a time — like speculative decoding and multi-token prediction, a way past one token per step.</a:t>
            </a:r>
          </a:p>
        </p:txBody>
      </p:sp>
      <p:sp>
        <p:nvSpPr>
          <p:cNvPr id="10" name="TextBox 9"/>
          <p:cNvSpPr txBox="1"/>
          <p:nvPr/>
        </p:nvSpPr>
        <p:spPr>
          <a:xfrm>
            <a:off x="585216" y="3886200"/>
            <a:ext cx="9656063" cy="914400"/>
          </a:xfrm>
          <a:prstGeom prst="rect">
            <a:avLst/>
          </a:prstGeom>
          <a:noFill/>
        </p:spPr>
        <p:txBody>
          <a:bodyPr wrap="square" lIns="0" rIns="0" tIns="0" bIns="0" anchor="t">
            <a:spAutoFit/>
          </a:bodyPr>
          <a:lstStyle/>
          <a:p>
            <a:pPr algn="l">
              <a:spcAft>
                <a:spcPts val="600"/>
              </a:spcAft>
            </a:pPr>
            <a:r>
              <a:rPr sz="1300" b="1" i="0">
                <a:solidFill>
                  <a:srgbClr val="2A446F"/>
                </a:solidFill>
              </a:rPr>
              <a:t>Explore</a:t>
            </a:r>
          </a:p>
          <a:p>
            <a:pPr algn="l">
              <a:spcAft>
                <a:spcPts val="600"/>
              </a:spcAft>
            </a:pPr>
            <a:r>
              <a:rPr sz="1300" b="0" i="0">
                <a:solidFill>
                  <a:srgbClr val="1F1F1F"/>
                </a:solidFill>
              </a:rPr>
              <a:t>neuronpedia.org · goodfire.ai/ember · transformer-circuits.pub · anthropic.com/news/golden-gate-claude · deepmind.google/models/gemini-diffusion</a:t>
            </a:r>
          </a:p>
        </p:txBody>
      </p:sp>
      <p:sp>
        <p:nvSpPr>
          <p:cNvPr id="11" name="TextBox 10"/>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slides 41, 45 · Anthropic, Golden Gate Claude · Google DeepMind, Gemini Diffusion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LLM 101 extra: live tools and conceptual reading</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LLM 101 REFERENCE</a:t>
            </a:r>
          </a:p>
        </p:txBody>
      </p:sp>
      <p:sp>
        <p:nvSpPr>
          <p:cNvPr id="4" name="TextBox 3"/>
          <p:cNvSpPr txBox="1"/>
          <p:nvPr/>
        </p:nvSpPr>
        <p:spPr>
          <a:xfrm>
            <a:off x="585216" y="1463040"/>
            <a:ext cx="2208275" cy="411480"/>
          </a:xfrm>
          <a:prstGeom prst="rect">
            <a:avLst/>
          </a:prstGeom>
          <a:noFill/>
        </p:spPr>
        <p:txBody>
          <a:bodyPr wrap="square" lIns="0" rIns="0" tIns="0" bIns="0" anchor="t">
            <a:spAutoFit/>
          </a:bodyPr>
          <a:lstStyle/>
          <a:p>
            <a:pPr algn="l">
              <a:spcAft>
                <a:spcPts val="0"/>
              </a:spcAft>
            </a:pPr>
            <a:r>
              <a:rPr sz="1400" b="1" i="0">
                <a:solidFill>
                  <a:srgbClr val="0078D4"/>
                </a:solidFill>
              </a:rPr>
              <a:t>ARCHITECTURE</a:t>
            </a:r>
          </a:p>
        </p:txBody>
      </p:sp>
      <p:sp>
        <p:nvSpPr>
          <p:cNvPr id="5" name="Rectangle 4"/>
          <p:cNvSpPr/>
          <p:nvPr/>
        </p:nvSpPr>
        <p:spPr>
          <a:xfrm>
            <a:off x="585216" y="1892808"/>
            <a:ext cx="2208275" cy="27432"/>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85216" y="2029968"/>
            <a:ext cx="2208275" cy="2084831"/>
          </a:xfrm>
          <a:prstGeom prst="rect">
            <a:avLst/>
          </a:prstGeom>
          <a:noFill/>
        </p:spPr>
        <p:txBody>
          <a:bodyPr wrap="square" lIns="0" rIns="0" tIns="0" bIns="0" anchor="t">
            <a:spAutoFit/>
          </a:bodyPr>
          <a:lstStyle/>
          <a:p>
            <a:pPr algn="l" marL="256032" indent="-256032">
              <a:spcAft>
                <a:spcPts val="500"/>
              </a:spcAft>
              <a:buClr>
                <a:srgbClr val="0078D4"/>
              </a:buClr>
              <a:buChar char="•"/>
            </a:pPr>
            <a:r>
              <a:rPr sz="1300" b="0" i="0">
                <a:solidFill>
                  <a:srgbClr val="1F1F1F"/>
                </a:solidFill>
              </a:rPr>
              <a:t>poloclub.github.io/transformer-explainer</a:t>
            </a:r>
          </a:p>
          <a:p>
            <a:pPr algn="l" marL="256032" indent="-256032">
              <a:spcAft>
                <a:spcPts val="500"/>
              </a:spcAft>
              <a:buClr>
                <a:srgbClr val="0078D4"/>
              </a:buClr>
              <a:buChar char="•"/>
            </a:pPr>
            <a:r>
              <a:rPr sz="1300" b="0" i="0">
                <a:solidFill>
                  <a:srgbClr val="1F1F1F"/>
                </a:solidFill>
              </a:rPr>
              <a:t>bbycroft.net/llm</a:t>
            </a:r>
          </a:p>
          <a:p>
            <a:pPr algn="l" marL="256032" indent="-256032">
              <a:spcAft>
                <a:spcPts val="500"/>
              </a:spcAft>
              <a:buClr>
                <a:srgbClr val="0078D4"/>
              </a:buClr>
              <a:buChar char="•"/>
            </a:pPr>
            <a:r>
              <a:rPr sz="1300" b="0" i="0">
                <a:solidFill>
                  <a:srgbClr val="1F1F1F"/>
                </a:solidFill>
              </a:rPr>
              <a:t>github.com/hahnyuan/LLM-Viewer</a:t>
            </a:r>
          </a:p>
          <a:p>
            <a:pPr algn="l" marL="256032" indent="-256032">
              <a:spcAft>
                <a:spcPts val="500"/>
              </a:spcAft>
              <a:buClr>
                <a:srgbClr val="0078D4"/>
              </a:buClr>
              <a:buChar char="•"/>
            </a:pPr>
            <a:r>
              <a:rPr sz="1300" b="0" i="0">
                <a:solidFill>
                  <a:srgbClr val="1F1F1F"/>
                </a:solidFill>
              </a:rPr>
              <a:t>Raschka: the big LLM architecture comparison</a:t>
            </a:r>
          </a:p>
        </p:txBody>
      </p:sp>
      <p:sp>
        <p:nvSpPr>
          <p:cNvPr id="7" name="TextBox 6"/>
          <p:cNvSpPr txBox="1"/>
          <p:nvPr/>
        </p:nvSpPr>
        <p:spPr>
          <a:xfrm>
            <a:off x="3067811" y="1463040"/>
            <a:ext cx="2208275" cy="411480"/>
          </a:xfrm>
          <a:prstGeom prst="rect">
            <a:avLst/>
          </a:prstGeom>
          <a:noFill/>
        </p:spPr>
        <p:txBody>
          <a:bodyPr wrap="square" lIns="0" rIns="0" tIns="0" bIns="0" anchor="t">
            <a:spAutoFit/>
          </a:bodyPr>
          <a:lstStyle/>
          <a:p>
            <a:pPr algn="l">
              <a:spcAft>
                <a:spcPts val="0"/>
              </a:spcAft>
            </a:pPr>
            <a:r>
              <a:rPr sz="1400" b="1" i="0">
                <a:solidFill>
                  <a:srgbClr val="0078D4"/>
                </a:solidFill>
              </a:rPr>
              <a:t>EMBEDDINGS</a:t>
            </a:r>
          </a:p>
        </p:txBody>
      </p:sp>
      <p:sp>
        <p:nvSpPr>
          <p:cNvPr id="8" name="Rectangle 7"/>
          <p:cNvSpPr/>
          <p:nvPr/>
        </p:nvSpPr>
        <p:spPr>
          <a:xfrm>
            <a:off x="3067811" y="1892808"/>
            <a:ext cx="2208275" cy="27432"/>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067811" y="2029968"/>
            <a:ext cx="2208275" cy="2084831"/>
          </a:xfrm>
          <a:prstGeom prst="rect">
            <a:avLst/>
          </a:prstGeom>
          <a:noFill/>
        </p:spPr>
        <p:txBody>
          <a:bodyPr wrap="square" lIns="0" rIns="0" tIns="0" bIns="0" anchor="t">
            <a:spAutoFit/>
          </a:bodyPr>
          <a:lstStyle/>
          <a:p>
            <a:pPr algn="l" marL="256032" indent="-256032">
              <a:spcAft>
                <a:spcPts val="500"/>
              </a:spcAft>
              <a:buClr>
                <a:srgbClr val="0078D4"/>
              </a:buClr>
              <a:buChar char="•"/>
            </a:pPr>
            <a:r>
              <a:rPr sz="1300" b="0" i="0">
                <a:solidFill>
                  <a:srgbClr val="1F1F1F"/>
                </a:solidFill>
              </a:rPr>
              <a:t>projector.tensorflow.org</a:t>
            </a:r>
          </a:p>
          <a:p>
            <a:pPr algn="l" marL="256032" indent="-256032">
              <a:spcAft>
                <a:spcPts val="500"/>
              </a:spcAft>
              <a:buClr>
                <a:srgbClr val="0078D4"/>
              </a:buClr>
              <a:buChar char="•"/>
            </a:pPr>
            <a:r>
              <a:rPr sz="1300" b="0" i="0">
                <a:solidFill>
                  <a:srgbClr val="1F1F1F"/>
                </a:solidFill>
              </a:rPr>
              <a:t>atlas.nomic.ai/discover</a:t>
            </a:r>
          </a:p>
          <a:p>
            <a:pPr algn="l" marL="256032" indent="-256032">
              <a:spcAft>
                <a:spcPts val="500"/>
              </a:spcAft>
              <a:buClr>
                <a:srgbClr val="0078D4"/>
              </a:buClr>
              <a:buChar char="•"/>
            </a:pPr>
            <a:r>
              <a:rPr sz="1300" b="0" i="0">
                <a:solidFill>
                  <a:srgbClr val="1F1F1F"/>
                </a:solidFill>
              </a:rPr>
              <a:t>poloclub.github.io/wizmap</a:t>
            </a:r>
          </a:p>
          <a:p>
            <a:pPr algn="l" marL="256032" indent="-256032">
              <a:spcAft>
                <a:spcPts val="500"/>
              </a:spcAft>
              <a:buClr>
                <a:srgbClr val="0078D4"/>
              </a:buClr>
              <a:buChar char="•"/>
            </a:pPr>
            <a:r>
              <a:rPr sz="1300" b="0" i="0">
                <a:solidFill>
                  <a:srgbClr val="1F1F1F"/>
                </a:solidFill>
              </a:rPr>
              <a:t>github.com/jessevig/bertviz</a:t>
            </a:r>
          </a:p>
        </p:txBody>
      </p:sp>
      <p:sp>
        <p:nvSpPr>
          <p:cNvPr id="10" name="TextBox 9"/>
          <p:cNvSpPr txBox="1"/>
          <p:nvPr/>
        </p:nvSpPr>
        <p:spPr>
          <a:xfrm>
            <a:off x="5550407" y="1463040"/>
            <a:ext cx="2208275" cy="411480"/>
          </a:xfrm>
          <a:prstGeom prst="rect">
            <a:avLst/>
          </a:prstGeom>
          <a:noFill/>
        </p:spPr>
        <p:txBody>
          <a:bodyPr wrap="square" lIns="0" rIns="0" tIns="0" bIns="0" anchor="t">
            <a:spAutoFit/>
          </a:bodyPr>
          <a:lstStyle/>
          <a:p>
            <a:pPr algn="l">
              <a:spcAft>
                <a:spcPts val="0"/>
              </a:spcAft>
            </a:pPr>
            <a:r>
              <a:rPr sz="1400" b="1" i="0">
                <a:solidFill>
                  <a:srgbClr val="0078D4"/>
                </a:solidFill>
              </a:rPr>
              <a:t>INTERPRETABILITY</a:t>
            </a:r>
          </a:p>
        </p:txBody>
      </p:sp>
      <p:sp>
        <p:nvSpPr>
          <p:cNvPr id="11" name="Rectangle 10"/>
          <p:cNvSpPr/>
          <p:nvPr/>
        </p:nvSpPr>
        <p:spPr>
          <a:xfrm>
            <a:off x="5550407" y="1892808"/>
            <a:ext cx="2208275" cy="27432"/>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550407" y="2029968"/>
            <a:ext cx="2208275" cy="2084831"/>
          </a:xfrm>
          <a:prstGeom prst="rect">
            <a:avLst/>
          </a:prstGeom>
          <a:noFill/>
        </p:spPr>
        <p:txBody>
          <a:bodyPr wrap="square" lIns="0" rIns="0" tIns="0" bIns="0" anchor="t">
            <a:spAutoFit/>
          </a:bodyPr>
          <a:lstStyle/>
          <a:p>
            <a:pPr algn="l" marL="256032" indent="-256032">
              <a:spcAft>
                <a:spcPts val="500"/>
              </a:spcAft>
              <a:buClr>
                <a:srgbClr val="0078D4"/>
              </a:buClr>
              <a:buChar char="•"/>
            </a:pPr>
            <a:r>
              <a:rPr sz="1300" b="0" i="0">
                <a:solidFill>
                  <a:srgbClr val="1F1F1F"/>
                </a:solidFill>
              </a:rPr>
              <a:t>neuronpedia.org</a:t>
            </a:r>
          </a:p>
          <a:p>
            <a:pPr algn="l" marL="256032" indent="-256032">
              <a:spcAft>
                <a:spcPts val="500"/>
              </a:spcAft>
              <a:buClr>
                <a:srgbClr val="0078D4"/>
              </a:buClr>
              <a:buChar char="•"/>
            </a:pPr>
            <a:r>
              <a:rPr sz="1300" b="0" i="0">
                <a:solidFill>
                  <a:srgbClr val="1F1F1F"/>
                </a:solidFill>
              </a:rPr>
              <a:t>goodfire.ai/ember</a:t>
            </a:r>
          </a:p>
          <a:p>
            <a:pPr algn="l" marL="256032" indent="-256032">
              <a:spcAft>
                <a:spcPts val="500"/>
              </a:spcAft>
              <a:buClr>
                <a:srgbClr val="0078D4"/>
              </a:buClr>
              <a:buChar char="•"/>
            </a:pPr>
            <a:r>
              <a:rPr sz="1300" b="0" i="0">
                <a:solidFill>
                  <a:srgbClr val="1F1F1F"/>
                </a:solidFill>
              </a:rPr>
              <a:t>transformer-circuits.pub</a:t>
            </a:r>
          </a:p>
        </p:txBody>
      </p:sp>
      <p:sp>
        <p:nvSpPr>
          <p:cNvPr id="13" name="TextBox 12"/>
          <p:cNvSpPr txBox="1"/>
          <p:nvPr/>
        </p:nvSpPr>
        <p:spPr>
          <a:xfrm>
            <a:off x="8033003" y="1463040"/>
            <a:ext cx="2208275" cy="411480"/>
          </a:xfrm>
          <a:prstGeom prst="rect">
            <a:avLst/>
          </a:prstGeom>
          <a:noFill/>
        </p:spPr>
        <p:txBody>
          <a:bodyPr wrap="square" lIns="0" rIns="0" tIns="0" bIns="0" anchor="t">
            <a:spAutoFit/>
          </a:bodyPr>
          <a:lstStyle/>
          <a:p>
            <a:pPr algn="l">
              <a:spcAft>
                <a:spcPts val="0"/>
              </a:spcAft>
            </a:pPr>
            <a:r>
              <a:rPr sz="1400" b="1" i="0">
                <a:solidFill>
                  <a:srgbClr val="0078D4"/>
                </a:solidFill>
              </a:rPr>
              <a:t>CONCEPTS</a:t>
            </a:r>
          </a:p>
        </p:txBody>
      </p:sp>
      <p:sp>
        <p:nvSpPr>
          <p:cNvPr id="14" name="Rectangle 13"/>
          <p:cNvSpPr/>
          <p:nvPr/>
        </p:nvSpPr>
        <p:spPr>
          <a:xfrm>
            <a:off x="8033003" y="1892808"/>
            <a:ext cx="2208275" cy="27432"/>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033003" y="2029968"/>
            <a:ext cx="2208275" cy="2084831"/>
          </a:xfrm>
          <a:prstGeom prst="rect">
            <a:avLst/>
          </a:prstGeom>
          <a:noFill/>
        </p:spPr>
        <p:txBody>
          <a:bodyPr wrap="square" lIns="0" rIns="0" tIns="0" bIns="0" anchor="t">
            <a:spAutoFit/>
          </a:bodyPr>
          <a:lstStyle/>
          <a:p>
            <a:pPr algn="l" marL="256032" indent="-256032">
              <a:spcAft>
                <a:spcPts val="500"/>
              </a:spcAft>
              <a:buClr>
                <a:srgbClr val="0078D4"/>
              </a:buClr>
              <a:buChar char="•"/>
            </a:pPr>
            <a:r>
              <a:rPr sz="1300" b="0" i="0">
                <a:solidFill>
                  <a:srgbClr val="1F1F1F"/>
                </a:solidFill>
              </a:rPr>
              <a:t>The Shoggoth: RLHF as a friendly mask on a strange base model</a:t>
            </a:r>
          </a:p>
          <a:p>
            <a:pPr algn="l" marL="256032" indent="-256032">
              <a:spcAft>
                <a:spcPts val="500"/>
              </a:spcAft>
              <a:buClr>
                <a:srgbClr val="0078D4"/>
              </a:buClr>
              <a:buChar char="•"/>
            </a:pPr>
            <a:r>
              <a:rPr sz="1300" b="0" i="0">
                <a:solidFill>
                  <a:srgbClr val="1F1F1F"/>
                </a:solidFill>
              </a:rPr>
              <a:t>Goodbye Shoggoth: the Stage</a:t>
            </a:r>
          </a:p>
          <a:p>
            <a:pPr algn="l" marL="256032" indent="-256032">
              <a:spcAft>
                <a:spcPts val="500"/>
              </a:spcAft>
              <a:buClr>
                <a:srgbClr val="0078D4"/>
              </a:buClr>
              <a:buChar char="•"/>
            </a:pPr>
            <a:r>
              <a:rPr sz="1300" b="0" i="0">
                <a:solidFill>
                  <a:srgbClr val="1F1F1F"/>
                </a:solidFill>
              </a:rPr>
              <a:t>The Waluigi Effect</a:t>
            </a:r>
          </a:p>
        </p:txBody>
      </p:sp>
      <p:sp>
        <p:nvSpPr>
          <p:cNvPr id="16" name="TextBox 15"/>
          <p:cNvSpPr txBox="1"/>
          <p:nvPr/>
        </p:nvSpPr>
        <p:spPr>
          <a:xfrm>
            <a:off x="585216" y="4206240"/>
            <a:ext cx="9656063" cy="365760"/>
          </a:xfrm>
          <a:prstGeom prst="rect">
            <a:avLst/>
          </a:prstGeom>
          <a:noFill/>
        </p:spPr>
        <p:txBody>
          <a:bodyPr wrap="square" lIns="0" rIns="0" tIns="0" bIns="0" anchor="t">
            <a:spAutoFit/>
          </a:bodyPr>
          <a:lstStyle/>
          <a:p>
            <a:pPr algn="l">
              <a:spcAft>
                <a:spcPts val="0"/>
              </a:spcAft>
            </a:pPr>
            <a:r>
              <a:rPr sz="1300" b="0" i="1">
                <a:solidFill>
                  <a:srgbClr val="6B6B6B"/>
                </a:solidFill>
              </a:rPr>
              <a:t>The concept pieces are attempts to make sense of LLMs, not accepted truth.</a:t>
            </a:r>
          </a:p>
        </p:txBody>
      </p:sp>
      <p:sp>
        <p:nvSpPr>
          <p:cNvPr id="17" name="TextBox 16"/>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slides 46, 48–50 · Crooked Timber, Shoggoths amongst us · LessWrong, The Waluigi Effect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Every source cited in this deck (1/5)</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SOURCES</a:t>
            </a:r>
          </a:p>
        </p:txBody>
      </p:sp>
      <p:graphicFrame>
        <p:nvGraphicFramePr>
          <p:cNvPr id="4" name="Table 3"/>
          <p:cNvGraphicFramePr>
            <a:graphicFrameLocks noGrp="1"/>
          </p:cNvGraphicFramePr>
          <p:nvPr/>
        </p:nvGraphicFramePr>
        <p:xfrm>
          <a:off x="585216" y="1371600"/>
          <a:ext cx="9656064" cy="3608831"/>
        </p:xfrm>
        <a:graphic>
          <a:graphicData uri="http://schemas.openxmlformats.org/drawingml/2006/table">
            <a:tbl>
              <a:tblPr firstRow="1" bandRow="1">
                <a:tableStyleId>{5C22544A-7EE6-4342-B048-85BDC9FD1C3A}</a:tableStyleId>
              </a:tblPr>
              <a:tblGrid>
                <a:gridCol w="3063240"/>
                <a:gridCol w="3931920"/>
                <a:gridCol w="868680"/>
                <a:gridCol w="1792224"/>
              </a:tblGrid>
              <a:tr h="225551">
                <a:tc>
                  <a:txBody>
                    <a:bodyPr/>
                    <a:lstStyle/>
                    <a:p>
                      <a:r>
                        <a:rPr sz="1000" b="1">
                          <a:solidFill>
                            <a:srgbClr val="FFFFFF"/>
                          </a:solidFill>
                        </a:rPr>
                        <a:t>Source</a:t>
                      </a:r>
                    </a:p>
                  </a:txBody>
                  <a:tcPr marL="54864" marR="54864" marT="32004" marB="32004" anchor="ctr">
                    <a:solidFill>
                      <a:srgbClr val="2A446F"/>
                    </a:solidFill>
                  </a:tcPr>
                </a:tc>
                <a:tc>
                  <a:txBody>
                    <a:bodyPr/>
                    <a:lstStyle/>
                    <a:p>
                      <a:r>
                        <a:rPr sz="1000" b="1">
                          <a:solidFill>
                            <a:srgbClr val="FFFFFF"/>
                          </a:solidFill>
                        </a:rPr>
                        <a:t>Link</a:t>
                      </a:r>
                    </a:p>
                  </a:txBody>
                  <a:tcPr marL="54864" marR="54864" marT="32004" marB="32004" anchor="ctr">
                    <a:solidFill>
                      <a:srgbClr val="2A446F"/>
                    </a:solidFill>
                  </a:tcPr>
                </a:tc>
                <a:tc>
                  <a:txBody>
                    <a:bodyPr/>
                    <a:lstStyle/>
                    <a:p>
                      <a:r>
                        <a:rPr sz="1000" b="1">
                          <a:solidFill>
                            <a:srgbClr val="FFFFFF"/>
                          </a:solidFill>
                        </a:rPr>
                        <a:t>Checked</a:t>
                      </a:r>
                    </a:p>
                  </a:txBody>
                  <a:tcPr marL="54864" marR="54864" marT="32004" marB="32004" anchor="ctr">
                    <a:solidFill>
                      <a:srgbClr val="2A446F"/>
                    </a:solidFill>
                  </a:tcPr>
                </a:tc>
                <a:tc>
                  <a:txBody>
                    <a:bodyPr/>
                    <a:lstStyle/>
                    <a:p>
                      <a:r>
                        <a:rPr sz="1000" b="1">
                          <a:solidFill>
                            <a:srgbClr val="FFFFFF"/>
                          </a:solidFill>
                        </a:rPr>
                        <a:t>Used on</a:t>
                      </a:r>
                    </a:p>
                  </a:txBody>
                  <a:tcPr marL="54864" marR="54864" marT="32004" marB="32004" anchor="ctr">
                    <a:solidFill>
                      <a:srgbClr val="2A446F"/>
                    </a:solidFill>
                  </a:tcPr>
                </a:tc>
              </a:tr>
              <a:tr h="225551">
                <a:tc>
                  <a:txBody>
                    <a:bodyPr/>
                    <a:lstStyle/>
                    <a:p>
                      <a:r>
                        <a:rPr sz="1000" b="0">
                          <a:solidFill>
                            <a:srgbClr val="1F1F1F"/>
                          </a:solidFill>
                        </a:rPr>
                        <a:t>Workshop plan v001</a:t>
                      </a:r>
                    </a:p>
                  </a:txBody>
                  <a:tcPr marL="54864" marR="54864" marT="32004" marB="32004" anchor="t">
                    <a:solidFill>
                      <a:srgbClr val="FFFFFF"/>
                    </a:solidFill>
                  </a:tcPr>
                </a:tc>
                <a:tc>
                  <a:txBody>
                    <a:bodyPr/>
                    <a:lstStyle/>
                    <a:p>
                      <a:r>
                        <a:rPr sz="1000" b="0">
                          <a:solidFill>
                            <a:srgbClr val="1F1F1F"/>
                          </a:solidFill>
                        </a:rPr>
                        <a:t>00_Workshop_Plan.md</a:t>
                      </a:r>
                    </a:p>
                  </a:txBody>
                  <a:tcPr marL="54864" marR="54864" marT="32004" marB="32004" anchor="t">
                    <a:solidFill>
                      <a:srgbClr val="FFFFFF"/>
                    </a:solidFill>
                  </a:tcPr>
                </a:tc>
                <a:tc>
                  <a:txBody>
                    <a:bodyPr/>
                    <a:lstStyle/>
                    <a:p>
                      <a:r>
                        <a:rPr sz="1000" b="0">
                          <a:solidFill>
                            <a:srgbClr val="1F1F1F"/>
                          </a:solidFill>
                        </a:rPr>
                        <a:t>2026‑09‑22</a:t>
                      </a:r>
                    </a:p>
                  </a:txBody>
                  <a:tcPr marL="54864" marR="54864" marT="32004" marB="32004" anchor="t">
                    <a:solidFill>
                      <a:srgbClr val="FFFFFF"/>
                    </a:solidFill>
                  </a:tcPr>
                </a:tc>
                <a:tc>
                  <a:txBody>
                    <a:bodyPr/>
                    <a:lstStyle/>
                    <a:p>
                      <a:r>
                        <a:rPr sz="1000" b="0">
                          <a:solidFill>
                            <a:srgbClr val="1F1F1F"/>
                          </a:solidFill>
                        </a:rPr>
                        <a:t>F-03, F-04</a:t>
                      </a:r>
                    </a:p>
                  </a:txBody>
                  <a:tcPr marL="54864" marR="54864" marT="32004" marB="32004" anchor="t">
                    <a:solidFill>
                      <a:srgbClr val="FFFFFF"/>
                    </a:solidFill>
                  </a:tcPr>
                </a:tc>
              </a:tr>
              <a:tr h="225551">
                <a:tc>
                  <a:txBody>
                    <a:bodyPr/>
                    <a:lstStyle/>
                    <a:p>
                      <a:r>
                        <a:rPr sz="1000" b="0">
                          <a:solidFill>
                            <a:srgbClr val="1F1F1F"/>
                          </a:solidFill>
                        </a:rPr>
                        <a:t>labs/README.md</a:t>
                      </a:r>
                    </a:p>
                  </a:txBody>
                  <a:tcPr marL="54864" marR="54864" marT="32004" marB="32004" anchor="t">
                    <a:solidFill>
                      <a:srgbClr val="F3F4F8"/>
                    </a:solidFill>
                  </a:tcPr>
                </a:tc>
                <a:tc>
                  <a:txBody>
                    <a:bodyPr/>
                    <a:lstStyle/>
                    <a:p>
                      <a:r>
                        <a:rPr sz="1000" b="0">
                          <a:solidFill>
                            <a:srgbClr val="1F1F1F"/>
                          </a:solidFill>
                        </a:rPr>
                        <a:t>labs/README.md</a:t>
                      </a:r>
                    </a:p>
                  </a:txBody>
                  <a:tcPr marL="54864" marR="54864" marT="32004" marB="32004" anchor="t">
                    <a:solidFill>
                      <a:srgbClr val="F3F4F8"/>
                    </a:solidFill>
                  </a:tcPr>
                </a:tc>
                <a:tc>
                  <a:txBody>
                    <a:bodyPr/>
                    <a:lstStyle/>
                    <a:p>
                      <a:r>
                        <a:rPr sz="1000" b="0">
                          <a:solidFill>
                            <a:srgbClr val="1F1F1F"/>
                          </a:solidFill>
                        </a:rPr>
                        <a:t>2026‑09‑23</a:t>
                      </a:r>
                    </a:p>
                  </a:txBody>
                  <a:tcPr marL="54864" marR="54864" marT="32004" marB="32004" anchor="t">
                    <a:solidFill>
                      <a:srgbClr val="F3F4F8"/>
                    </a:solidFill>
                  </a:tcPr>
                </a:tc>
                <a:tc>
                  <a:txBody>
                    <a:bodyPr/>
                    <a:lstStyle/>
                    <a:p>
                      <a:r>
                        <a:rPr sz="1000" b="0">
                          <a:solidFill>
                            <a:srgbClr val="1F1F1F"/>
                          </a:solidFill>
                        </a:rPr>
                        <a:t>F-04, F-07, F-08</a:t>
                      </a:r>
                    </a:p>
                  </a:txBody>
                  <a:tcPr marL="54864" marR="54864" marT="32004" marB="32004" anchor="t">
                    <a:solidFill>
                      <a:srgbClr val="F3F4F8"/>
                    </a:solidFill>
                  </a:tcPr>
                </a:tc>
              </a:tr>
              <a:tr h="225551">
                <a:tc>
                  <a:txBody>
                    <a:bodyPr/>
                    <a:lstStyle/>
                    <a:p>
                      <a:r>
                        <a:rPr sz="1000" b="0">
                          <a:solidFill>
                            <a:srgbClr val="1F1F1F"/>
                          </a:solidFill>
                        </a:rPr>
                        <a:t>labs/.env.example</a:t>
                      </a:r>
                    </a:p>
                  </a:txBody>
                  <a:tcPr marL="54864" marR="54864" marT="32004" marB="32004" anchor="t">
                    <a:solidFill>
                      <a:srgbClr val="FFFFFF"/>
                    </a:solidFill>
                  </a:tcPr>
                </a:tc>
                <a:tc>
                  <a:txBody>
                    <a:bodyPr/>
                    <a:lstStyle/>
                    <a:p>
                      <a:r>
                        <a:rPr sz="1000" b="0">
                          <a:solidFill>
                            <a:srgbClr val="1F1F1F"/>
                          </a:solidFill>
                        </a:rPr>
                        <a:t>labs/.env.example</a:t>
                      </a:r>
                    </a:p>
                  </a:txBody>
                  <a:tcPr marL="54864" marR="54864" marT="32004" marB="32004" anchor="t">
                    <a:solidFill>
                      <a:srgbClr val="FFFFFF"/>
                    </a:solidFill>
                  </a:tcPr>
                </a:tc>
                <a:tc>
                  <a:txBody>
                    <a:bodyPr/>
                    <a:lstStyle/>
                    <a:p>
                      <a:r>
                        <a:rPr sz="1000" b="0">
                          <a:solidFill>
                            <a:srgbClr val="1F1F1F"/>
                          </a:solidFill>
                        </a:rPr>
                        <a:t>2026‑09‑23</a:t>
                      </a:r>
                    </a:p>
                  </a:txBody>
                  <a:tcPr marL="54864" marR="54864" marT="32004" marB="32004" anchor="t">
                    <a:solidFill>
                      <a:srgbClr val="FFFFFF"/>
                    </a:solidFill>
                  </a:tcPr>
                </a:tc>
                <a:tc>
                  <a:txBody>
                    <a:bodyPr/>
                    <a:lstStyle/>
                    <a:p>
                      <a:r>
                        <a:rPr sz="1000" b="0">
                          <a:solidFill>
                            <a:srgbClr val="1F1F1F"/>
                          </a:solidFill>
                        </a:rPr>
                        <a:t>F-05</a:t>
                      </a:r>
                    </a:p>
                  </a:txBody>
                  <a:tcPr marL="54864" marR="54864" marT="32004" marB="32004" anchor="t">
                    <a:solidFill>
                      <a:srgbClr val="FFFFFF"/>
                    </a:solidFill>
                  </a:tcPr>
                </a:tc>
              </a:tr>
              <a:tr h="225551">
                <a:tc>
                  <a:txBody>
                    <a:bodyPr/>
                    <a:lstStyle/>
                    <a:p>
                      <a:r>
                        <a:rPr sz="1000" b="0">
                          <a:solidFill>
                            <a:srgbClr val="1F1F1F"/>
                          </a:solidFill>
                        </a:rPr>
                        <a:t>labs/00-setup/SETUP.md</a:t>
                      </a:r>
                    </a:p>
                  </a:txBody>
                  <a:tcPr marL="54864" marR="54864" marT="32004" marB="32004" anchor="t">
                    <a:solidFill>
                      <a:srgbClr val="F3F4F8"/>
                    </a:solidFill>
                  </a:tcPr>
                </a:tc>
                <a:tc>
                  <a:txBody>
                    <a:bodyPr/>
                    <a:lstStyle/>
                    <a:p>
                      <a:r>
                        <a:rPr sz="1000" b="0">
                          <a:solidFill>
                            <a:srgbClr val="1F1F1F"/>
                          </a:solidFill>
                        </a:rPr>
                        <a:t>labs/00-setup/SETUP.md</a:t>
                      </a:r>
                    </a:p>
                  </a:txBody>
                  <a:tcPr marL="54864" marR="54864" marT="32004" marB="32004" anchor="t">
                    <a:solidFill>
                      <a:srgbClr val="F3F4F8"/>
                    </a:solidFill>
                  </a:tcPr>
                </a:tc>
                <a:tc>
                  <a:txBody>
                    <a:bodyPr/>
                    <a:lstStyle/>
                    <a:p>
                      <a:r>
                        <a:rPr sz="1000" b="0">
                          <a:solidFill>
                            <a:srgbClr val="1F1F1F"/>
                          </a:solidFill>
                        </a:rPr>
                        <a:t>2026‑09‑23</a:t>
                      </a:r>
                    </a:p>
                  </a:txBody>
                  <a:tcPr marL="54864" marR="54864" marT="32004" marB="32004" anchor="t">
                    <a:solidFill>
                      <a:srgbClr val="F3F4F8"/>
                    </a:solidFill>
                  </a:tcPr>
                </a:tc>
                <a:tc>
                  <a:txBody>
                    <a:bodyPr/>
                    <a:lstStyle/>
                    <a:p>
                      <a:r>
                        <a:rPr sz="1000" b="0">
                          <a:solidFill>
                            <a:srgbClr val="1F1F1F"/>
                          </a:solidFill>
                        </a:rPr>
                        <a:t>F-05, F-08</a:t>
                      </a:r>
                    </a:p>
                  </a:txBody>
                  <a:tcPr marL="54864" marR="54864" marT="32004" marB="32004" anchor="t">
                    <a:solidFill>
                      <a:srgbClr val="F3F4F8"/>
                    </a:solidFill>
                  </a:tcPr>
                </a:tc>
              </a:tr>
              <a:tr h="225551">
                <a:tc>
                  <a:txBody>
                    <a:bodyPr/>
                    <a:lstStyle/>
                    <a:p>
                      <a:r>
                        <a:rPr sz="1000" b="0">
                          <a:solidFill>
                            <a:srgbClr val="1F1F1F"/>
                          </a:solidFill>
                        </a:rPr>
                        <a:t>Gateway policy attendee-policy.xml</a:t>
                      </a:r>
                    </a:p>
                  </a:txBody>
                  <a:tcPr marL="54864" marR="54864" marT="32004" marB="32004" anchor="t">
                    <a:solidFill>
                      <a:srgbClr val="FFFFFF"/>
                    </a:solidFill>
                  </a:tcPr>
                </a:tc>
                <a:tc>
                  <a:txBody>
                    <a:bodyPr/>
                    <a:lstStyle/>
                    <a:p>
                      <a:r>
                        <a:rPr sz="1000" b="0">
                          <a:solidFill>
                            <a:srgbClr val="1F1F1F"/>
                          </a:solidFill>
                        </a:rPr>
                        <a:t>infra/policies/attendee-policy.xml</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F-05, F-05b</a:t>
                      </a:r>
                    </a:p>
                  </a:txBody>
                  <a:tcPr marL="54864" marR="54864" marT="32004" marB="32004" anchor="t">
                    <a:solidFill>
                      <a:srgbClr val="FFFFFF"/>
                    </a:solidFill>
                  </a:tcPr>
                </a:tc>
              </a:tr>
              <a:tr h="225551">
                <a:tc>
                  <a:txBody>
                    <a:bodyPr/>
                    <a:lstStyle/>
                    <a:p>
                      <a:r>
                        <a:rPr sz="1000" b="0">
                          <a:solidFill>
                            <a:srgbClr val="1F1F1F"/>
                          </a:solidFill>
                        </a:rPr>
                        <a:t>Foundry provisioning plan</a:t>
                      </a:r>
                    </a:p>
                  </a:txBody>
                  <a:tcPr marL="54864" marR="54864" marT="32004" marB="32004" anchor="t">
                    <a:solidFill>
                      <a:srgbClr val="F3F4F8"/>
                    </a:solidFill>
                  </a:tcPr>
                </a:tc>
                <a:tc>
                  <a:txBody>
                    <a:bodyPr/>
                    <a:lstStyle/>
                    <a:p>
                      <a:r>
                        <a:rPr sz="1000" b="0">
                          <a:solidFill>
                            <a:srgbClr val="1F1F1F"/>
                          </a:solidFill>
                        </a:rPr>
                        <a:t>01_Foundry_Provisioning_Plan.md</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F-05b, S1-D2</a:t>
                      </a:r>
                    </a:p>
                  </a:txBody>
                  <a:tcPr marL="54864" marR="54864" marT="32004" marB="32004" anchor="t">
                    <a:solidFill>
                      <a:srgbClr val="F3F4F8"/>
                    </a:solidFill>
                  </a:tcPr>
                </a:tc>
              </a:tr>
              <a:tr h="225551">
                <a:tc>
                  <a:txBody>
                    <a:bodyPr/>
                    <a:lstStyle/>
                    <a:p>
                      <a:r>
                        <a:rPr sz="1000" b="0">
                          <a:solidFill>
                            <a:srgbClr val="1F1F1F"/>
                          </a:solidFill>
                        </a:rPr>
                        <a:t>APIM llm-token-limit policy</a:t>
                      </a:r>
                    </a:p>
                  </a:txBody>
                  <a:tcPr marL="54864" marR="54864" marT="32004" marB="32004" anchor="t">
                    <a:solidFill>
                      <a:srgbClr val="FFFFFF"/>
                    </a:solidFill>
                  </a:tcPr>
                </a:tc>
                <a:tc>
                  <a:txBody>
                    <a:bodyPr/>
                    <a:lstStyle/>
                    <a:p>
                      <a:r>
                        <a:rPr sz="1000" b="0">
                          <a:solidFill>
                            <a:srgbClr val="1F1F1F"/>
                          </a:solidFill>
                          <a:hlinkClick r:id="rId3"/>
                        </a:rPr>
                        <a:t>learn.microsoft.com/en-us/azure/api-manag…ken-limit-policy</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F-05b, S1-D3</a:t>
                      </a:r>
                    </a:p>
                  </a:txBody>
                  <a:tcPr marL="54864" marR="54864" marT="32004" marB="32004" anchor="t">
                    <a:solidFill>
                      <a:srgbClr val="FFFFFF"/>
                    </a:solidFill>
                  </a:tcPr>
                </a:tc>
              </a:tr>
              <a:tr h="225551">
                <a:tc>
                  <a:txBody>
                    <a:bodyPr/>
                    <a:lstStyle/>
                    <a:p>
                      <a:r>
                        <a:rPr sz="1000" b="0">
                          <a:solidFill>
                            <a:srgbClr val="1F1F1F"/>
                          </a:solidFill>
                        </a:rPr>
                        <a:t>LLM 101 deck (Day of Data 2026)</a:t>
                      </a:r>
                    </a:p>
                  </a:txBody>
                  <a:tcPr marL="54864" marR="54864" marT="32004" marB="32004" anchor="t">
                    <a:solidFill>
                      <a:srgbClr val="F3F4F8"/>
                    </a:solidFill>
                  </a:tcPr>
                </a:tc>
                <a:tc>
                  <a:txBody>
                    <a:bodyPr/>
                    <a:lstStyle/>
                    <a:p>
                      <a:r>
                        <a:rPr sz="1000" b="0">
                          <a:solidFill>
                            <a:srgbClr val="1F1F1F"/>
                          </a:solidFill>
                        </a:rPr>
                        <a:t>LLM_101_100.pptx (DayOfData2026/LLM_101) …llm101/slides.md</a:t>
                      </a:r>
                    </a:p>
                  </a:txBody>
                  <a:tcPr marL="54864" marR="54864" marT="32004" marB="32004" anchor="t">
                    <a:solidFill>
                      <a:srgbClr val="F3F4F8"/>
                    </a:solidFill>
                  </a:tcPr>
                </a:tc>
                <a:tc>
                  <a:txBody>
                    <a:bodyPr/>
                    <a:lstStyle/>
                    <a:p>
                      <a:r>
                        <a:rPr sz="1000" b="0">
                          <a:solidFill>
                            <a:srgbClr val="1F1F1F"/>
                          </a:solidFill>
                        </a:rPr>
                        <a:t>2026‑06</a:t>
                      </a:r>
                    </a:p>
                  </a:txBody>
                  <a:tcPr marL="54864" marR="54864" marT="32004" marB="32004" anchor="t">
                    <a:solidFill>
                      <a:srgbClr val="F3F4F8"/>
                    </a:solidFill>
                  </a:tcPr>
                </a:tc>
                <a:tc>
                  <a:txBody>
                    <a:bodyPr/>
                    <a:lstStyle/>
                    <a:p>
                      <a:r>
                        <a:rPr sz="1000" b="0">
                          <a:solidFill>
                            <a:srgbClr val="1F1F1F"/>
                          </a:solidFill>
                        </a:rPr>
                        <a:t>F-06, F-06b, S1‑01 +31</a:t>
                      </a:r>
                    </a:p>
                  </a:txBody>
                  <a:tcPr marL="54864" marR="54864" marT="32004" marB="32004" anchor="t">
                    <a:solidFill>
                      <a:srgbClr val="F3F4F8"/>
                    </a:solidFill>
                  </a:tcPr>
                </a:tc>
              </a:tr>
              <a:tr h="225551">
                <a:tc>
                  <a:txBody>
                    <a:bodyPr/>
                    <a:lstStyle/>
                    <a:p>
                      <a:r>
                        <a:rPr sz="1000" b="0">
                          <a:solidFill>
                            <a:srgbClr val="1F1F1F"/>
                          </a:solidFill>
                        </a:rPr>
                        <a:t>Narrative plan v001</a:t>
                      </a:r>
                    </a:p>
                  </a:txBody>
                  <a:tcPr marL="54864" marR="54864" marT="32004" marB="32004" anchor="t">
                    <a:solidFill>
                      <a:srgbClr val="FFFFFF"/>
                    </a:solidFill>
                  </a:tcPr>
                </a:tc>
                <a:tc>
                  <a:txBody>
                    <a:bodyPr/>
                    <a:lstStyle/>
                    <a:p>
                      <a:r>
                        <a:rPr sz="1000" b="0">
                          <a:solidFill>
                            <a:srgbClr val="1F1F1F"/>
                          </a:solidFill>
                        </a:rPr>
                        <a:t>06_Narrative_Plan_v001.md</a:t>
                      </a:r>
                    </a:p>
                  </a:txBody>
                  <a:tcPr marL="54864" marR="54864" marT="32004" marB="32004" anchor="t">
                    <a:solidFill>
                      <a:srgbClr val="FFFFFF"/>
                    </a:solidFill>
                  </a:tcPr>
                </a:tc>
                <a:tc>
                  <a:txBody>
                    <a:bodyPr/>
                    <a:lstStyle/>
                    <a:p>
                      <a:r>
                        <a:rPr sz="1000" b="0">
                          <a:solidFill>
                            <a:srgbClr val="1F1F1F"/>
                          </a:solidFill>
                        </a:rPr>
                        <a:t>2026‑09‑22</a:t>
                      </a:r>
                    </a:p>
                  </a:txBody>
                  <a:tcPr marL="54864" marR="54864" marT="32004" marB="32004" anchor="t">
                    <a:solidFill>
                      <a:srgbClr val="FFFFFF"/>
                    </a:solidFill>
                  </a:tcPr>
                </a:tc>
                <a:tc>
                  <a:txBody>
                    <a:bodyPr/>
                    <a:lstStyle/>
                    <a:p>
                      <a:r>
                        <a:rPr sz="1000" b="0">
                          <a:solidFill>
                            <a:srgbClr val="1F1F1F"/>
                          </a:solidFill>
                        </a:rPr>
                        <a:t>F-06, F-06b, E-01-S1</a:t>
                      </a:r>
                    </a:p>
                  </a:txBody>
                  <a:tcPr marL="54864" marR="54864" marT="32004" marB="32004" anchor="t">
                    <a:solidFill>
                      <a:srgbClr val="FFFFFF"/>
                    </a:solidFill>
                  </a:tcPr>
                </a:tc>
              </a:tr>
              <a:tr h="225551">
                <a:tc>
                  <a:txBody>
                    <a:bodyPr/>
                    <a:lstStyle/>
                    <a:p>
                      <a:r>
                        <a:rPr sz="1000" b="0">
                          <a:solidFill>
                            <a:srgbClr val="1F1F1F"/>
                          </a:solidFill>
                        </a:rPr>
                        <a:t>Model catalog §0 (checked 2026‑09‑21)</a:t>
                      </a:r>
                    </a:p>
                  </a:txBody>
                  <a:tcPr marL="54864" marR="54864" marT="32004" marB="32004" anchor="t">
                    <a:solidFill>
                      <a:srgbClr val="F3F4F8"/>
                    </a:solidFill>
                  </a:tcPr>
                </a:tc>
                <a:tc>
                  <a:txBody>
                    <a:bodyPr/>
                    <a:lstStyle/>
                    <a:p>
                      <a:r>
                        <a:rPr sz="1000" b="0">
                          <a:solidFill>
                            <a:srgbClr val="1F1F1F"/>
                          </a:solidFill>
                        </a:rPr>
                        <a:t>05_Model_Catalog_2026‑09.md</a:t>
                      </a:r>
                    </a:p>
                  </a:txBody>
                  <a:tcPr marL="54864" marR="54864" marT="32004" marB="32004" anchor="t">
                    <a:solidFill>
                      <a:srgbClr val="F3F4F8"/>
                    </a:solidFill>
                  </a:tcPr>
                </a:tc>
                <a:tc>
                  <a:txBody>
                    <a:bodyPr/>
                    <a:lstStyle/>
                    <a:p>
                      <a:r>
                        <a:rPr sz="1000" b="0">
                          <a:solidFill>
                            <a:srgbClr val="1F1F1F"/>
                          </a:solidFill>
                        </a:rPr>
                        <a:t>2026‑09‑21</a:t>
                      </a:r>
                    </a:p>
                  </a:txBody>
                  <a:tcPr marL="54864" marR="54864" marT="32004" marB="32004" anchor="t">
                    <a:solidFill>
                      <a:srgbClr val="F3F4F8"/>
                    </a:solidFill>
                  </a:tcPr>
                </a:tc>
                <a:tc>
                  <a:txBody>
                    <a:bodyPr/>
                    <a:lstStyle/>
                    <a:p>
                      <a:r>
                        <a:rPr sz="1000" b="0">
                          <a:solidFill>
                            <a:srgbClr val="1F1F1F"/>
                          </a:solidFill>
                        </a:rPr>
                        <a:t>F-07</a:t>
                      </a:r>
                    </a:p>
                  </a:txBody>
                  <a:tcPr marL="54864" marR="54864" marT="32004" marB="32004" anchor="t">
                    <a:solidFill>
                      <a:srgbClr val="F3F4F8"/>
                    </a:solidFill>
                  </a:tcPr>
                </a:tc>
              </a:tr>
              <a:tr h="225551">
                <a:tc>
                  <a:txBody>
                    <a:bodyPr/>
                    <a:lstStyle/>
                    <a:p>
                      <a:r>
                        <a:rPr sz="1000" b="0">
                          <a:solidFill>
                            <a:srgbClr val="1F1F1F"/>
                          </a:solidFill>
                        </a:rPr>
                        <a:t>Snippet verification 2026‑09‑22</a:t>
                      </a:r>
                    </a:p>
                  </a:txBody>
                  <a:tcPr marL="54864" marR="54864" marT="32004" marB="32004" anchor="t">
                    <a:solidFill>
                      <a:srgbClr val="FFFFFF"/>
                    </a:solidFill>
                  </a:tcPr>
                </a:tc>
                <a:tc>
                  <a:txBody>
                    <a:bodyPr/>
                    <a:lstStyle/>
                    <a:p>
                      <a:r>
                        <a:rPr sz="1000" b="0">
                          <a:solidFill>
                            <a:srgbClr val="1F1F1F"/>
                          </a:solidFill>
                        </a:rPr>
                        <a:t>research/2026‑09‑22_framework-snippet-verification.md</a:t>
                      </a:r>
                    </a:p>
                  </a:txBody>
                  <a:tcPr marL="54864" marR="54864" marT="32004" marB="32004" anchor="t">
                    <a:solidFill>
                      <a:srgbClr val="FFFFFF"/>
                    </a:solidFill>
                  </a:tcPr>
                </a:tc>
                <a:tc>
                  <a:txBody>
                    <a:bodyPr/>
                    <a:lstStyle/>
                    <a:p>
                      <a:r>
                        <a:rPr sz="1000" b="0">
                          <a:solidFill>
                            <a:srgbClr val="1F1F1F"/>
                          </a:solidFill>
                        </a:rPr>
                        <a:t>2026‑09‑22</a:t>
                      </a:r>
                    </a:p>
                  </a:txBody>
                  <a:tcPr marL="54864" marR="54864" marT="32004" marB="32004" anchor="t">
                    <a:solidFill>
                      <a:srgbClr val="FFFFFF"/>
                    </a:solidFill>
                  </a:tcPr>
                </a:tc>
                <a:tc>
                  <a:txBody>
                    <a:bodyPr/>
                    <a:lstStyle/>
                    <a:p>
                      <a:r>
                        <a:rPr sz="1000" b="0">
                          <a:solidFill>
                            <a:srgbClr val="1F1F1F"/>
                          </a:solidFill>
                        </a:rPr>
                        <a:t>F-07, S1‑20, S1‑27 +2</a:t>
                      </a:r>
                    </a:p>
                  </a:txBody>
                  <a:tcPr marL="54864" marR="54864" marT="32004" marB="32004" anchor="t">
                    <a:solidFill>
                      <a:srgbClr val="FFFFFF"/>
                    </a:solidFill>
                  </a:tcPr>
                </a:tc>
              </a:tr>
              <a:tr h="225551">
                <a:tc>
                  <a:txBody>
                    <a:bodyPr/>
                    <a:lstStyle/>
                    <a:p>
                      <a:r>
                        <a:rPr sz="1000" b="0">
                          <a:solidFill>
                            <a:srgbClr val="1F1F1F"/>
                          </a:solidFill>
                        </a:rPr>
                        <a:t>genai-landscape-research skill</a:t>
                      </a:r>
                    </a:p>
                  </a:txBody>
                  <a:tcPr marL="54864" marR="54864" marT="32004" marB="32004" anchor="t">
                    <a:solidFill>
                      <a:srgbClr val="F3F4F8"/>
                    </a:solidFill>
                  </a:tcPr>
                </a:tc>
                <a:tc>
                  <a:txBody>
                    <a:bodyPr/>
                    <a:lstStyle/>
                    <a:p>
                      <a:r>
                        <a:rPr sz="1000" b="0">
                          <a:solidFill>
                            <a:srgbClr val="1F1F1F"/>
                          </a:solidFill>
                        </a:rPr>
                        <a:t>skills/genai-landscape-research/SKILL.md</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F-07</a:t>
                      </a:r>
                    </a:p>
                  </a:txBody>
                  <a:tcPr marL="54864" marR="54864" marT="32004" marB="32004" anchor="t">
                    <a:solidFill>
                      <a:srgbClr val="F3F4F8"/>
                    </a:solidFill>
                  </a:tcPr>
                </a:tc>
              </a:tr>
              <a:tr h="225551">
                <a:tc>
                  <a:txBody>
                    <a:bodyPr/>
                    <a:lstStyle/>
                    <a:p>
                      <a:r>
                        <a:rPr sz="1000" b="0">
                          <a:solidFill>
                            <a:srgbClr val="1F1F1F"/>
                          </a:solidFill>
                        </a:rPr>
                        <a:t>check_env.py / .cs / .mjs</a:t>
                      </a:r>
                    </a:p>
                  </a:txBody>
                  <a:tcPr marL="54864" marR="54864" marT="32004" marB="32004" anchor="t">
                    <a:solidFill>
                      <a:srgbClr val="FFFFFF"/>
                    </a:solidFill>
                  </a:tcPr>
                </a:tc>
                <a:tc>
                  <a:txBody>
                    <a:bodyPr/>
                    <a:lstStyle/>
                    <a:p>
                      <a:r>
                        <a:rPr sz="1000" b="0">
                          <a:solidFill>
                            <a:srgbClr val="1F1F1F"/>
                          </a:solidFill>
                        </a:rPr>
                        <a:t>labs/00-setup/check_env.py</a:t>
                      </a:r>
                    </a:p>
                  </a:txBody>
                  <a:tcPr marL="54864" marR="54864" marT="32004" marB="32004" anchor="t">
                    <a:solidFill>
                      <a:srgbClr val="FFFFFF"/>
                    </a:solidFill>
                  </a:tcPr>
                </a:tc>
                <a:tc>
                  <a:txBody>
                    <a:bodyPr/>
                    <a:lstStyle/>
                    <a:p>
                      <a:r>
                        <a:rPr sz="1000" b="0">
                          <a:solidFill>
                            <a:srgbClr val="1F1F1F"/>
                          </a:solidFill>
                        </a:rPr>
                        <a:t>2026‑09‑23</a:t>
                      </a:r>
                    </a:p>
                  </a:txBody>
                  <a:tcPr marL="54864" marR="54864" marT="32004" marB="32004" anchor="t">
                    <a:solidFill>
                      <a:srgbClr val="FFFFFF"/>
                    </a:solidFill>
                  </a:tcPr>
                </a:tc>
                <a:tc>
                  <a:txBody>
                    <a:bodyPr/>
                    <a:lstStyle/>
                    <a:p>
                      <a:r>
                        <a:rPr sz="1000" b="0">
                          <a:solidFill>
                            <a:srgbClr val="1F1F1F"/>
                          </a:solidFill>
                        </a:rPr>
                        <a:t>F-08</a:t>
                      </a:r>
                    </a:p>
                  </a:txBody>
                  <a:tcPr marL="54864" marR="54864" marT="32004" marB="32004" anchor="t">
                    <a:solidFill>
                      <a:srgbClr val="FFFFFF"/>
                    </a:solidFill>
                  </a:tcPr>
                </a:tc>
              </a:tr>
              <a:tr h="225551">
                <a:tc>
                  <a:txBody>
                    <a:bodyPr/>
                    <a:lstStyle/>
                    <a:p>
                      <a:r>
                        <a:rPr sz="1000" b="0">
                          <a:solidFill>
                            <a:srgbClr val="1F1F1F"/>
                          </a:solidFill>
                        </a:rPr>
                        <a:t>mock_openai_server.py</a:t>
                      </a:r>
                    </a:p>
                  </a:txBody>
                  <a:tcPr marL="54864" marR="54864" marT="32004" marB="32004" anchor="t">
                    <a:solidFill>
                      <a:srgbClr val="F3F4F8"/>
                    </a:solidFill>
                  </a:tcPr>
                </a:tc>
                <a:tc>
                  <a:txBody>
                    <a:bodyPr/>
                    <a:lstStyle/>
                    <a:p>
                      <a:r>
                        <a:rPr sz="1000" b="0">
                          <a:solidFill>
                            <a:srgbClr val="1F1F1F"/>
                          </a:solidFill>
                        </a:rPr>
                        <a:t>labs/00-setup/mock/mock_openai_server.py</a:t>
                      </a:r>
                    </a:p>
                  </a:txBody>
                  <a:tcPr marL="54864" marR="54864" marT="32004" marB="32004" anchor="t">
                    <a:solidFill>
                      <a:srgbClr val="F3F4F8"/>
                    </a:solidFill>
                  </a:tcPr>
                </a:tc>
                <a:tc>
                  <a:txBody>
                    <a:bodyPr/>
                    <a:lstStyle/>
                    <a:p>
                      <a:r>
                        <a:rPr sz="1000" b="0">
                          <a:solidFill>
                            <a:srgbClr val="1F1F1F"/>
                          </a:solidFill>
                        </a:rPr>
                        <a:t>2026‑09‑23</a:t>
                      </a:r>
                    </a:p>
                  </a:txBody>
                  <a:tcPr marL="54864" marR="54864" marT="32004" marB="32004" anchor="t">
                    <a:solidFill>
                      <a:srgbClr val="F3F4F8"/>
                    </a:solidFill>
                  </a:tcPr>
                </a:tc>
                <a:tc>
                  <a:txBody>
                    <a:bodyPr/>
                    <a:lstStyle/>
                    <a:p>
                      <a:r>
                        <a:rPr sz="1000" b="0">
                          <a:solidFill>
                            <a:srgbClr val="1F1F1F"/>
                          </a:solidFill>
                        </a:rPr>
                        <a:t>F-08</a:t>
                      </a:r>
                    </a:p>
                  </a:txBody>
                  <a:tcPr marL="54864" marR="54864" marT="32004" marB="32004" anchor="t">
                    <a:solidFill>
                      <a:srgbClr val="F3F4F8"/>
                    </a:solidFill>
                  </a:tcPr>
                </a:tc>
              </a:tr>
              <a:tr h="225551">
                <a:tc>
                  <a:txBody>
                    <a:bodyPr/>
                    <a:lstStyle/>
                    <a:p>
                      <a:r>
                        <a:rPr sz="1000" b="0">
                          <a:solidFill>
                            <a:srgbClr val="1F1F1F"/>
                          </a:solidFill>
                        </a:rPr>
                        <a:t>Transformer Explainer (Polo Club)</a:t>
                      </a:r>
                    </a:p>
                  </a:txBody>
                  <a:tcPr marL="54864" marR="54864" marT="32004" marB="32004" anchor="t">
                    <a:solidFill>
                      <a:srgbClr val="FFFFFF"/>
                    </a:solidFill>
                  </a:tcPr>
                </a:tc>
                <a:tc>
                  <a:txBody>
                    <a:bodyPr/>
                    <a:lstStyle/>
                    <a:p>
                      <a:r>
                        <a:rPr sz="1000" b="0">
                          <a:solidFill>
                            <a:srgbClr val="1F1F1F"/>
                          </a:solidFill>
                          <a:hlinkClick r:id="rId4"/>
                        </a:rPr>
                        <a:t>poloclub.github.io/transformer-explainer</a:t>
                      </a:r>
                    </a:p>
                  </a:txBody>
                  <a:tcPr marL="54864" marR="54864" marT="32004" marB="32004" anchor="t">
                    <a:solidFill>
                      <a:srgbClr val="FFFFFF"/>
                    </a:solidFill>
                  </a:tcPr>
                </a:tc>
                <a:tc>
                  <a:txBody>
                    <a:bodyPr/>
                    <a:lstStyle/>
                    <a:p>
                      <a:r>
                        <a:rPr sz="1000" b="0">
                          <a:solidFill>
                            <a:srgbClr val="1F1F1F"/>
                          </a:solidFill>
                        </a:rPr>
                        <a:t>2026‑06</a:t>
                      </a:r>
                    </a:p>
                  </a:txBody>
                  <a:tcPr marL="54864" marR="54864" marT="32004" marB="32004" anchor="t">
                    <a:solidFill>
                      <a:srgbClr val="FFFFFF"/>
                    </a:solidFill>
                  </a:tcPr>
                </a:tc>
                <a:tc>
                  <a:txBody>
                    <a:bodyPr/>
                    <a:lstStyle/>
                    <a:p>
                      <a:r>
                        <a:rPr sz="1000" b="0">
                          <a:solidFill>
                            <a:srgbClr val="1F1F1F"/>
                          </a:solidFill>
                        </a:rPr>
                        <a:t>S1‑05a, S1‑05b, S1‑05, S1-D1</a:t>
                      </a:r>
                    </a:p>
                  </a:txBody>
                  <a:tcPr marL="54864" marR="54864" marT="32004" marB="32004" anchor="t">
                    <a:solidFill>
                      <a:srgbClr val="FFFFFF"/>
                    </a:solidFill>
                  </a:tcPr>
                </a:tc>
              </a:tr>
            </a:tbl>
          </a:graphicData>
        </a:graphic>
      </p:graphicFrame>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Every source cited in this deck (2/5)</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SOURCES</a:t>
            </a:r>
          </a:p>
        </p:txBody>
      </p:sp>
      <p:graphicFrame>
        <p:nvGraphicFramePr>
          <p:cNvPr id="4" name="Table 3"/>
          <p:cNvGraphicFramePr>
            <a:graphicFrameLocks noGrp="1"/>
          </p:cNvGraphicFramePr>
          <p:nvPr/>
        </p:nvGraphicFramePr>
        <p:xfrm>
          <a:off x="585216" y="1371600"/>
          <a:ext cx="9656064" cy="3383279"/>
        </p:xfrm>
        <a:graphic>
          <a:graphicData uri="http://schemas.openxmlformats.org/drawingml/2006/table">
            <a:tbl>
              <a:tblPr firstRow="1" bandRow="1">
                <a:tableStyleId>{5C22544A-7EE6-4342-B048-85BDC9FD1C3A}</a:tableStyleId>
              </a:tblPr>
              <a:tblGrid>
                <a:gridCol w="3063240"/>
                <a:gridCol w="3931920"/>
                <a:gridCol w="868680"/>
                <a:gridCol w="1792224"/>
              </a:tblGrid>
              <a:tr h="225551">
                <a:tc>
                  <a:txBody>
                    <a:bodyPr/>
                    <a:lstStyle/>
                    <a:p>
                      <a:r>
                        <a:rPr sz="1000" b="1">
                          <a:solidFill>
                            <a:srgbClr val="FFFFFF"/>
                          </a:solidFill>
                        </a:rPr>
                        <a:t>Source</a:t>
                      </a:r>
                    </a:p>
                  </a:txBody>
                  <a:tcPr marL="54864" marR="54864" marT="32004" marB="32004" anchor="ctr">
                    <a:solidFill>
                      <a:srgbClr val="2A446F"/>
                    </a:solidFill>
                  </a:tcPr>
                </a:tc>
                <a:tc>
                  <a:txBody>
                    <a:bodyPr/>
                    <a:lstStyle/>
                    <a:p>
                      <a:r>
                        <a:rPr sz="1000" b="1">
                          <a:solidFill>
                            <a:srgbClr val="FFFFFF"/>
                          </a:solidFill>
                        </a:rPr>
                        <a:t>Link</a:t>
                      </a:r>
                    </a:p>
                  </a:txBody>
                  <a:tcPr marL="54864" marR="54864" marT="32004" marB="32004" anchor="ctr">
                    <a:solidFill>
                      <a:srgbClr val="2A446F"/>
                    </a:solidFill>
                  </a:tcPr>
                </a:tc>
                <a:tc>
                  <a:txBody>
                    <a:bodyPr/>
                    <a:lstStyle/>
                    <a:p>
                      <a:r>
                        <a:rPr sz="1000" b="1">
                          <a:solidFill>
                            <a:srgbClr val="FFFFFF"/>
                          </a:solidFill>
                        </a:rPr>
                        <a:t>Checked</a:t>
                      </a:r>
                    </a:p>
                  </a:txBody>
                  <a:tcPr marL="54864" marR="54864" marT="32004" marB="32004" anchor="ctr">
                    <a:solidFill>
                      <a:srgbClr val="2A446F"/>
                    </a:solidFill>
                  </a:tcPr>
                </a:tc>
                <a:tc>
                  <a:txBody>
                    <a:bodyPr/>
                    <a:lstStyle/>
                    <a:p>
                      <a:r>
                        <a:rPr sz="1000" b="1">
                          <a:solidFill>
                            <a:srgbClr val="FFFFFF"/>
                          </a:solidFill>
                        </a:rPr>
                        <a:t>Used on</a:t>
                      </a:r>
                    </a:p>
                  </a:txBody>
                  <a:tcPr marL="54864" marR="54864" marT="32004" marB="32004" anchor="ctr">
                    <a:solidFill>
                      <a:srgbClr val="2A446F"/>
                    </a:solidFill>
                  </a:tcPr>
                </a:tc>
              </a:tr>
              <a:tr h="225551">
                <a:tc>
                  <a:txBody>
                    <a:bodyPr/>
                    <a:lstStyle/>
                    <a:p>
                      <a:r>
                        <a:rPr sz="1000" b="0">
                          <a:solidFill>
                            <a:srgbClr val="1F1F1F"/>
                          </a:solidFill>
                        </a:rPr>
                        <a:t>Transformer Explainer source (GitHub)</a:t>
                      </a:r>
                    </a:p>
                  </a:txBody>
                  <a:tcPr marL="54864" marR="54864" marT="32004" marB="32004" anchor="t">
                    <a:solidFill>
                      <a:srgbClr val="FFFFFF"/>
                    </a:solidFill>
                  </a:tcPr>
                </a:tc>
                <a:tc>
                  <a:txBody>
                    <a:bodyPr/>
                    <a:lstStyle/>
                    <a:p>
                      <a:r>
                        <a:rPr sz="1000" b="0">
                          <a:solidFill>
                            <a:srgbClr val="1F1F1F"/>
                          </a:solidFill>
                          <a:hlinkClick r:id="rId3"/>
                        </a:rPr>
                        <a:t>github.com/poloclub/transformer-explainer</a:t>
                      </a:r>
                    </a:p>
                  </a:txBody>
                  <a:tcPr marL="54864" marR="54864" marT="32004" marB="32004" anchor="t">
                    <a:solidFill>
                      <a:srgbClr val="FFFFFF"/>
                    </a:solidFill>
                  </a:tcPr>
                </a:tc>
                <a:tc>
                  <a:txBody>
                    <a:bodyPr/>
                    <a:lstStyle/>
                    <a:p>
                      <a:r>
                        <a:rPr sz="1000" b="0">
                          <a:solidFill>
                            <a:srgbClr val="1F1F1F"/>
                          </a:solidFill>
                        </a:rPr>
                        <a:t>2026‑09‑23</a:t>
                      </a:r>
                    </a:p>
                  </a:txBody>
                  <a:tcPr marL="54864" marR="54864" marT="32004" marB="32004" anchor="t">
                    <a:solidFill>
                      <a:srgbClr val="FFFFFF"/>
                    </a:solidFill>
                  </a:tcPr>
                </a:tc>
                <a:tc>
                  <a:txBody>
                    <a:bodyPr/>
                    <a:lstStyle/>
                    <a:p>
                      <a:r>
                        <a:rPr sz="1000" b="0">
                          <a:solidFill>
                            <a:srgbClr val="1F1F1F"/>
                          </a:solidFill>
                        </a:rPr>
                        <a:t>S1‑05a</a:t>
                      </a:r>
                    </a:p>
                  </a:txBody>
                  <a:tcPr marL="54864" marR="54864" marT="32004" marB="32004" anchor="t">
                    <a:solidFill>
                      <a:srgbClr val="FFFFFF"/>
                    </a:solidFill>
                  </a:tcPr>
                </a:tc>
              </a:tr>
              <a:tr h="225551">
                <a:tc>
                  <a:txBody>
                    <a:bodyPr/>
                    <a:lstStyle/>
                    <a:p>
                      <a:r>
                        <a:rPr sz="1000" b="0">
                          <a:solidFill>
                            <a:srgbClr val="1F1F1F"/>
                          </a:solidFill>
                        </a:rPr>
                        <a:t>LLM visualisation (bbycroft.net)</a:t>
                      </a:r>
                    </a:p>
                  </a:txBody>
                  <a:tcPr marL="54864" marR="54864" marT="32004" marB="32004" anchor="t">
                    <a:solidFill>
                      <a:srgbClr val="F3F4F8"/>
                    </a:solidFill>
                  </a:tcPr>
                </a:tc>
                <a:tc>
                  <a:txBody>
                    <a:bodyPr/>
                    <a:lstStyle/>
                    <a:p>
                      <a:r>
                        <a:rPr sz="1000" b="0">
                          <a:solidFill>
                            <a:srgbClr val="1F1F1F"/>
                          </a:solidFill>
                          <a:hlinkClick r:id="rId4"/>
                        </a:rPr>
                        <a:t>bbycroft.net/llm</a:t>
                      </a:r>
                    </a:p>
                  </a:txBody>
                  <a:tcPr marL="54864" marR="54864" marT="32004" marB="32004" anchor="t">
                    <a:solidFill>
                      <a:srgbClr val="F3F4F8"/>
                    </a:solidFill>
                  </a:tcPr>
                </a:tc>
                <a:tc>
                  <a:txBody>
                    <a:bodyPr/>
                    <a:lstStyle/>
                    <a:p>
                      <a:r>
                        <a:rPr sz="1000" b="0">
                          <a:solidFill>
                            <a:srgbClr val="1F1F1F"/>
                          </a:solidFill>
                        </a:rPr>
                        <a:t>2026‑06</a:t>
                      </a:r>
                    </a:p>
                  </a:txBody>
                  <a:tcPr marL="54864" marR="54864" marT="32004" marB="32004" anchor="t">
                    <a:solidFill>
                      <a:srgbClr val="F3F4F8"/>
                    </a:solidFill>
                  </a:tcPr>
                </a:tc>
                <a:tc>
                  <a:txBody>
                    <a:bodyPr/>
                    <a:lstStyle/>
                    <a:p>
                      <a:r>
                        <a:rPr sz="1000" b="0">
                          <a:solidFill>
                            <a:srgbClr val="1F1F1F"/>
                          </a:solidFill>
                        </a:rPr>
                        <a:t>S1‑05b, S1‑06</a:t>
                      </a:r>
                    </a:p>
                  </a:txBody>
                  <a:tcPr marL="54864" marR="54864" marT="32004" marB="32004" anchor="t">
                    <a:solidFill>
                      <a:srgbClr val="F3F4F8"/>
                    </a:solidFill>
                  </a:tcPr>
                </a:tc>
              </a:tr>
              <a:tr h="225551">
                <a:tc>
                  <a:txBody>
                    <a:bodyPr/>
                    <a:lstStyle/>
                    <a:p>
                      <a:r>
                        <a:rPr sz="1000" b="0">
                          <a:solidFill>
                            <a:srgbClr val="1F1F1F"/>
                          </a:solidFill>
                        </a:rPr>
                        <a:t>LLM-Viewer</a:t>
                      </a:r>
                    </a:p>
                  </a:txBody>
                  <a:tcPr marL="54864" marR="54864" marT="32004" marB="32004" anchor="t">
                    <a:solidFill>
                      <a:srgbClr val="FFFFFF"/>
                    </a:solidFill>
                  </a:tcPr>
                </a:tc>
                <a:tc>
                  <a:txBody>
                    <a:bodyPr/>
                    <a:lstStyle/>
                    <a:p>
                      <a:r>
                        <a:rPr sz="1000" b="0">
                          <a:solidFill>
                            <a:srgbClr val="1F1F1F"/>
                          </a:solidFill>
                          <a:hlinkClick r:id="rId5"/>
                        </a:rPr>
                        <a:t>llm-viewer.com</a:t>
                      </a:r>
                    </a:p>
                  </a:txBody>
                  <a:tcPr marL="54864" marR="54864" marT="32004" marB="32004" anchor="t">
                    <a:solidFill>
                      <a:srgbClr val="FFFFFF"/>
                    </a:solidFill>
                  </a:tcPr>
                </a:tc>
                <a:tc>
                  <a:txBody>
                    <a:bodyPr/>
                    <a:lstStyle/>
                    <a:p>
                      <a:r>
                        <a:rPr sz="1000" b="0">
                          <a:solidFill>
                            <a:srgbClr val="1F1F1F"/>
                          </a:solidFill>
                        </a:rPr>
                        <a:t>2026‑09‑23</a:t>
                      </a:r>
                    </a:p>
                  </a:txBody>
                  <a:tcPr marL="54864" marR="54864" marT="32004" marB="32004" anchor="t">
                    <a:solidFill>
                      <a:srgbClr val="FFFFFF"/>
                    </a:solidFill>
                  </a:tcPr>
                </a:tc>
                <a:tc>
                  <a:txBody>
                    <a:bodyPr/>
                    <a:lstStyle/>
                    <a:p>
                      <a:r>
                        <a:rPr sz="1000" b="0">
                          <a:solidFill>
                            <a:srgbClr val="1F1F1F"/>
                          </a:solidFill>
                        </a:rPr>
                        <a:t>S1‑05b</a:t>
                      </a:r>
                    </a:p>
                  </a:txBody>
                  <a:tcPr marL="54864" marR="54864" marT="32004" marB="32004" anchor="t">
                    <a:solidFill>
                      <a:srgbClr val="FFFFFF"/>
                    </a:solidFill>
                  </a:tcPr>
                </a:tc>
              </a:tr>
              <a:tr h="225551">
                <a:tc>
                  <a:txBody>
                    <a:bodyPr/>
                    <a:lstStyle/>
                    <a:p>
                      <a:r>
                        <a:rPr sz="1000" b="0">
                          <a:solidFill>
                            <a:srgbClr val="1F1F1F"/>
                          </a:solidFill>
                        </a:rPr>
                        <a:t>bertviz</a:t>
                      </a:r>
                    </a:p>
                  </a:txBody>
                  <a:tcPr marL="54864" marR="54864" marT="32004" marB="32004" anchor="t">
                    <a:solidFill>
                      <a:srgbClr val="F3F4F8"/>
                    </a:solidFill>
                  </a:tcPr>
                </a:tc>
                <a:tc>
                  <a:txBody>
                    <a:bodyPr/>
                    <a:lstStyle/>
                    <a:p>
                      <a:r>
                        <a:rPr sz="1000" b="0">
                          <a:solidFill>
                            <a:srgbClr val="1F1F1F"/>
                          </a:solidFill>
                          <a:hlinkClick r:id="rId6"/>
                        </a:rPr>
                        <a:t>github.com/jessevig/bertviz</a:t>
                      </a:r>
                    </a:p>
                  </a:txBody>
                  <a:tcPr marL="54864" marR="54864" marT="32004" marB="32004" anchor="t">
                    <a:solidFill>
                      <a:srgbClr val="F3F4F8"/>
                    </a:solidFill>
                  </a:tcPr>
                </a:tc>
                <a:tc>
                  <a:txBody>
                    <a:bodyPr/>
                    <a:lstStyle/>
                    <a:p>
                      <a:r>
                        <a:rPr sz="1000" b="0">
                          <a:solidFill>
                            <a:srgbClr val="1F1F1F"/>
                          </a:solidFill>
                        </a:rPr>
                        <a:t>2026‑06</a:t>
                      </a:r>
                    </a:p>
                  </a:txBody>
                  <a:tcPr marL="54864" marR="54864" marT="32004" marB="32004" anchor="t">
                    <a:solidFill>
                      <a:srgbClr val="F3F4F8"/>
                    </a:solidFill>
                  </a:tcPr>
                </a:tc>
                <a:tc>
                  <a:txBody>
                    <a:bodyPr/>
                    <a:lstStyle/>
                    <a:p>
                      <a:r>
                        <a:rPr sz="1000" b="0">
                          <a:solidFill>
                            <a:srgbClr val="1F1F1F"/>
                          </a:solidFill>
                        </a:rPr>
                        <a:t>S1‑05b</a:t>
                      </a:r>
                    </a:p>
                  </a:txBody>
                  <a:tcPr marL="54864" marR="54864" marT="32004" marB="32004" anchor="t">
                    <a:solidFill>
                      <a:srgbClr val="F3F4F8"/>
                    </a:solidFill>
                  </a:tcPr>
                </a:tc>
              </a:tr>
              <a:tr h="225551">
                <a:tc>
                  <a:txBody>
                    <a:bodyPr/>
                    <a:lstStyle/>
                    <a:p>
                      <a:r>
                        <a:rPr sz="1000" b="0">
                          <a:solidFill>
                            <a:srgbClr val="1F1F1F"/>
                          </a:solidFill>
                        </a:rPr>
                        <a:t>tiktokenizer</a:t>
                      </a:r>
                    </a:p>
                  </a:txBody>
                  <a:tcPr marL="54864" marR="54864" marT="32004" marB="32004" anchor="t">
                    <a:solidFill>
                      <a:srgbClr val="FFFFFF"/>
                    </a:solidFill>
                  </a:tcPr>
                </a:tc>
                <a:tc>
                  <a:txBody>
                    <a:bodyPr/>
                    <a:lstStyle/>
                    <a:p>
                      <a:r>
                        <a:rPr sz="1000" b="0">
                          <a:solidFill>
                            <a:srgbClr val="1F1F1F"/>
                          </a:solidFill>
                          <a:hlinkClick r:id="rId7"/>
                        </a:rPr>
                        <a:t>tiktokenizer.vercel.app</a:t>
                      </a:r>
                    </a:p>
                  </a:txBody>
                  <a:tcPr marL="54864" marR="54864" marT="32004" marB="32004" anchor="t">
                    <a:solidFill>
                      <a:srgbClr val="FFFFFF"/>
                    </a:solidFill>
                  </a:tcPr>
                </a:tc>
                <a:tc>
                  <a:txBody>
                    <a:bodyPr/>
                    <a:lstStyle/>
                    <a:p>
                      <a:r>
                        <a:rPr sz="1000" b="0">
                          <a:solidFill>
                            <a:srgbClr val="1F1F1F"/>
                          </a:solidFill>
                        </a:rPr>
                        <a:t>2026‑06</a:t>
                      </a:r>
                    </a:p>
                  </a:txBody>
                  <a:tcPr marL="54864" marR="54864" marT="32004" marB="32004" anchor="t">
                    <a:solidFill>
                      <a:srgbClr val="FFFFFF"/>
                    </a:solidFill>
                  </a:tcPr>
                </a:tc>
                <a:tc>
                  <a:txBody>
                    <a:bodyPr/>
                    <a:lstStyle/>
                    <a:p>
                      <a:r>
                        <a:rPr sz="1000" b="0">
                          <a:solidFill>
                            <a:srgbClr val="1F1F1F"/>
                          </a:solidFill>
                        </a:rPr>
                        <a:t>S1‑05b, S1‑03, S1-D1</a:t>
                      </a:r>
                    </a:p>
                  </a:txBody>
                  <a:tcPr marL="54864" marR="54864" marT="32004" marB="32004" anchor="t">
                    <a:solidFill>
                      <a:srgbClr val="FFFFFF"/>
                    </a:solidFill>
                  </a:tcPr>
                </a:tc>
              </a:tr>
              <a:tr h="225551">
                <a:tc>
                  <a:txBody>
                    <a:bodyPr/>
                    <a:lstStyle/>
                    <a:p>
                      <a:r>
                        <a:rPr sz="1000" b="0">
                          <a:solidFill>
                            <a:srgbClr val="1F1F1F"/>
                          </a:solidFill>
                        </a:rPr>
                        <a:t>GPT-3 paper (arXiv 2005.14165)</a:t>
                      </a:r>
                    </a:p>
                  </a:txBody>
                  <a:tcPr marL="54864" marR="54864" marT="32004" marB="32004" anchor="t">
                    <a:solidFill>
                      <a:srgbClr val="F3F4F8"/>
                    </a:solidFill>
                  </a:tcPr>
                </a:tc>
                <a:tc>
                  <a:txBody>
                    <a:bodyPr/>
                    <a:lstStyle/>
                    <a:p>
                      <a:r>
                        <a:rPr sz="1000" b="0">
                          <a:solidFill>
                            <a:srgbClr val="1F1F1F"/>
                          </a:solidFill>
                          <a:hlinkClick r:id="rId8"/>
                        </a:rPr>
                        <a:t>arxiv.org/pdf/2005.14165</a:t>
                      </a:r>
                    </a:p>
                  </a:txBody>
                  <a:tcPr marL="54864" marR="54864" marT="32004" marB="32004" anchor="t">
                    <a:solidFill>
                      <a:srgbClr val="F3F4F8"/>
                    </a:solidFill>
                  </a:tcPr>
                </a:tc>
                <a:tc>
                  <a:txBody>
                    <a:bodyPr/>
                    <a:lstStyle/>
                    <a:p>
                      <a:r>
                        <a:rPr sz="1000" b="0">
                          <a:solidFill>
                            <a:srgbClr val="1F1F1F"/>
                          </a:solidFill>
                        </a:rPr>
                        <a:t>2026‑06</a:t>
                      </a:r>
                    </a:p>
                  </a:txBody>
                  <a:tcPr marL="54864" marR="54864" marT="32004" marB="32004" anchor="t">
                    <a:solidFill>
                      <a:srgbClr val="F3F4F8"/>
                    </a:solidFill>
                  </a:tcPr>
                </a:tc>
                <a:tc>
                  <a:txBody>
                    <a:bodyPr/>
                    <a:lstStyle/>
                    <a:p>
                      <a:r>
                        <a:rPr sz="1000" b="0">
                          <a:solidFill>
                            <a:srgbClr val="1F1F1F"/>
                          </a:solidFill>
                        </a:rPr>
                        <a:t>S1‑01, S1‑09, S1‑10, S1‑24</a:t>
                      </a:r>
                    </a:p>
                  </a:txBody>
                  <a:tcPr marL="54864" marR="54864" marT="32004" marB="32004" anchor="t">
                    <a:solidFill>
                      <a:srgbClr val="F3F4F8"/>
                    </a:solidFill>
                  </a:tcPr>
                </a:tc>
              </a:tr>
              <a:tr h="225551">
                <a:tc>
                  <a:txBody>
                    <a:bodyPr/>
                    <a:lstStyle/>
                    <a:p>
                      <a:r>
                        <a:rPr sz="1000" b="0">
                          <a:solidFill>
                            <a:srgbClr val="1F1F1F"/>
                          </a:solidFill>
                        </a:rPr>
                        <a:t>OpenAI, InstructGPT (2022)</a:t>
                      </a:r>
                    </a:p>
                  </a:txBody>
                  <a:tcPr marL="54864" marR="54864" marT="32004" marB="32004" anchor="t">
                    <a:solidFill>
                      <a:srgbClr val="FFFFFF"/>
                    </a:solidFill>
                  </a:tcPr>
                </a:tc>
                <a:tc>
                  <a:txBody>
                    <a:bodyPr/>
                    <a:lstStyle/>
                    <a:p>
                      <a:r>
                        <a:rPr sz="1000" b="0">
                          <a:solidFill>
                            <a:srgbClr val="1F1F1F"/>
                          </a:solidFill>
                          <a:hlinkClick r:id="rId9"/>
                        </a:rPr>
                        <a:t>openai.com/index/instruction-following</a:t>
                      </a:r>
                    </a:p>
                  </a:txBody>
                  <a:tcPr marL="54864" marR="54864" marT="32004" marB="32004" anchor="t">
                    <a:solidFill>
                      <a:srgbClr val="FFFFFF"/>
                    </a:solidFill>
                  </a:tcPr>
                </a:tc>
                <a:tc>
                  <a:txBody>
                    <a:bodyPr/>
                    <a:lstStyle/>
                    <a:p>
                      <a:r>
                        <a:rPr sz="1000" b="0">
                          <a:solidFill>
                            <a:srgbClr val="1F1F1F"/>
                          </a:solidFill>
                        </a:rPr>
                        <a:t>2026‑06</a:t>
                      </a:r>
                    </a:p>
                  </a:txBody>
                  <a:tcPr marL="54864" marR="54864" marT="32004" marB="32004" anchor="t">
                    <a:solidFill>
                      <a:srgbClr val="FFFFFF"/>
                    </a:solidFill>
                  </a:tcPr>
                </a:tc>
                <a:tc>
                  <a:txBody>
                    <a:bodyPr/>
                    <a:lstStyle/>
                    <a:p>
                      <a:r>
                        <a:rPr sz="1000" b="0">
                          <a:solidFill>
                            <a:srgbClr val="1F1F1F"/>
                          </a:solidFill>
                        </a:rPr>
                        <a:t>S1‑01, S1‑11</a:t>
                      </a:r>
                    </a:p>
                  </a:txBody>
                  <a:tcPr marL="54864" marR="54864" marT="32004" marB="32004" anchor="t">
                    <a:solidFill>
                      <a:srgbClr val="FFFFFF"/>
                    </a:solidFill>
                  </a:tcPr>
                </a:tc>
              </a:tr>
              <a:tr h="225551">
                <a:tc>
                  <a:txBody>
                    <a:bodyPr/>
                    <a:lstStyle/>
                    <a:p>
                      <a:r>
                        <a:rPr sz="1000" b="0">
                          <a:solidFill>
                            <a:srgbClr val="1F1F1F"/>
                          </a:solidFill>
                        </a:rPr>
                        <a:t>Epoch AI model database</a:t>
                      </a:r>
                    </a:p>
                  </a:txBody>
                  <a:tcPr marL="54864" marR="54864" marT="32004" marB="32004" anchor="t">
                    <a:solidFill>
                      <a:srgbClr val="F3F4F8"/>
                    </a:solidFill>
                  </a:tcPr>
                </a:tc>
                <a:tc>
                  <a:txBody>
                    <a:bodyPr/>
                    <a:lstStyle/>
                    <a:p>
                      <a:r>
                        <a:rPr sz="1000" b="0">
                          <a:solidFill>
                            <a:srgbClr val="1F1F1F"/>
                          </a:solidFill>
                          <a:hlinkClick r:id="rId10"/>
                        </a:rPr>
                        <a:t>epoch.ai/data/ai-models</a:t>
                      </a:r>
                    </a:p>
                  </a:txBody>
                  <a:tcPr marL="54864" marR="54864" marT="32004" marB="32004" anchor="t">
                    <a:solidFill>
                      <a:srgbClr val="F3F4F8"/>
                    </a:solidFill>
                  </a:tcPr>
                </a:tc>
                <a:tc>
                  <a:txBody>
                    <a:bodyPr/>
                    <a:lstStyle/>
                    <a:p>
                      <a:r>
                        <a:rPr sz="1000" b="0">
                          <a:solidFill>
                            <a:srgbClr val="1F1F1F"/>
                          </a:solidFill>
                        </a:rPr>
                        <a:t>2026‑06</a:t>
                      </a:r>
                    </a:p>
                  </a:txBody>
                  <a:tcPr marL="54864" marR="54864" marT="32004" marB="32004" anchor="t">
                    <a:solidFill>
                      <a:srgbClr val="F3F4F8"/>
                    </a:solidFill>
                  </a:tcPr>
                </a:tc>
                <a:tc>
                  <a:txBody>
                    <a:bodyPr/>
                    <a:lstStyle/>
                    <a:p>
                      <a:r>
                        <a:rPr sz="1000" b="0">
                          <a:solidFill>
                            <a:srgbClr val="1F1F1F"/>
                          </a:solidFill>
                        </a:rPr>
                        <a:t>S1‑01</a:t>
                      </a:r>
                    </a:p>
                  </a:txBody>
                  <a:tcPr marL="54864" marR="54864" marT="32004" marB="32004" anchor="t">
                    <a:solidFill>
                      <a:srgbClr val="F3F4F8"/>
                    </a:solidFill>
                  </a:tcPr>
                </a:tc>
              </a:tr>
              <a:tr h="225551">
                <a:tc>
                  <a:txBody>
                    <a:bodyPr/>
                    <a:lstStyle/>
                    <a:p>
                      <a:r>
                        <a:rPr sz="1000" b="0">
                          <a:solidFill>
                            <a:srgbClr val="1F1F1F"/>
                          </a:solidFill>
                        </a:rPr>
                        <a:t>Foundry access research 2026‑09‑19</a:t>
                      </a:r>
                    </a:p>
                  </a:txBody>
                  <a:tcPr marL="54864" marR="54864" marT="32004" marB="32004" anchor="t">
                    <a:solidFill>
                      <a:srgbClr val="FFFFFF"/>
                    </a:solidFill>
                  </a:tcPr>
                </a:tc>
                <a:tc>
                  <a:txBody>
                    <a:bodyPr/>
                    <a:lstStyle/>
                    <a:p>
                      <a:r>
                        <a:rPr sz="1000" b="0">
                          <a:solidFill>
                            <a:srgbClr val="1F1F1F"/>
                          </a:solidFill>
                        </a:rPr>
                        <a:t>research/2026‑09‑19_foundry-access-for-workshop.md</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S1‑03, S1‑22, S1‑32</a:t>
                      </a:r>
                    </a:p>
                  </a:txBody>
                  <a:tcPr marL="54864" marR="54864" marT="32004" marB="32004" anchor="t">
                    <a:solidFill>
                      <a:srgbClr val="FFFFFF"/>
                    </a:solidFill>
                  </a:tcPr>
                </a:tc>
              </a:tr>
              <a:tr h="225551">
                <a:tc>
                  <a:txBody>
                    <a:bodyPr/>
                    <a:lstStyle/>
                    <a:p>
                      <a:r>
                        <a:rPr sz="1000" b="0">
                          <a:solidFill>
                            <a:srgbClr val="1F1F1F"/>
                          </a:solidFill>
                        </a:rPr>
                        <a:t>TensorFlow Embedding Projector</a:t>
                      </a:r>
                    </a:p>
                  </a:txBody>
                  <a:tcPr marL="54864" marR="54864" marT="32004" marB="32004" anchor="t">
                    <a:solidFill>
                      <a:srgbClr val="F3F4F8"/>
                    </a:solidFill>
                  </a:tcPr>
                </a:tc>
                <a:tc>
                  <a:txBody>
                    <a:bodyPr/>
                    <a:lstStyle/>
                    <a:p>
                      <a:r>
                        <a:rPr sz="1000" b="0">
                          <a:solidFill>
                            <a:srgbClr val="1F1F1F"/>
                          </a:solidFill>
                          <a:hlinkClick r:id="rId11"/>
                        </a:rPr>
                        <a:t>projector.tensorflow.org</a:t>
                      </a:r>
                    </a:p>
                  </a:txBody>
                  <a:tcPr marL="54864" marR="54864" marT="32004" marB="32004" anchor="t">
                    <a:solidFill>
                      <a:srgbClr val="F3F4F8"/>
                    </a:solidFill>
                  </a:tcPr>
                </a:tc>
                <a:tc>
                  <a:txBody>
                    <a:bodyPr/>
                    <a:lstStyle/>
                    <a:p>
                      <a:r>
                        <a:rPr sz="1000" b="0">
                          <a:solidFill>
                            <a:srgbClr val="1F1F1F"/>
                          </a:solidFill>
                        </a:rPr>
                        <a:t>2026‑06</a:t>
                      </a:r>
                    </a:p>
                  </a:txBody>
                  <a:tcPr marL="54864" marR="54864" marT="32004" marB="32004" anchor="t">
                    <a:solidFill>
                      <a:srgbClr val="F3F4F8"/>
                    </a:solidFill>
                  </a:tcPr>
                </a:tc>
                <a:tc>
                  <a:txBody>
                    <a:bodyPr/>
                    <a:lstStyle/>
                    <a:p>
                      <a:r>
                        <a:rPr sz="1000" b="0">
                          <a:solidFill>
                            <a:srgbClr val="1F1F1F"/>
                          </a:solidFill>
                        </a:rPr>
                        <a:t>S1‑04, A-02a</a:t>
                      </a:r>
                    </a:p>
                  </a:txBody>
                  <a:tcPr marL="54864" marR="54864" marT="32004" marB="32004" anchor="t">
                    <a:solidFill>
                      <a:srgbClr val="F3F4F8"/>
                    </a:solidFill>
                  </a:tcPr>
                </a:tc>
              </a:tr>
              <a:tr h="225551">
                <a:tc>
                  <a:txBody>
                    <a:bodyPr/>
                    <a:lstStyle/>
                    <a:p>
                      <a:r>
                        <a:rPr sz="1000" b="0">
                          <a:solidFill>
                            <a:srgbClr val="1F1F1F"/>
                          </a:solidFill>
                        </a:rPr>
                        <a:t>Vaswani et al. 2017, Attention Is All You Need</a:t>
                      </a:r>
                    </a:p>
                  </a:txBody>
                  <a:tcPr marL="54864" marR="54864" marT="32004" marB="32004" anchor="t">
                    <a:solidFill>
                      <a:srgbClr val="FFFFFF"/>
                    </a:solidFill>
                  </a:tcPr>
                </a:tc>
                <a:tc>
                  <a:txBody>
                    <a:bodyPr/>
                    <a:lstStyle/>
                    <a:p>
                      <a:r>
                        <a:rPr sz="1000" b="0">
                          <a:solidFill>
                            <a:srgbClr val="1F1F1F"/>
                          </a:solidFill>
                          <a:hlinkClick r:id="rId12"/>
                        </a:rPr>
                        <a:t>arxiv.org/abs/1706.03762</a:t>
                      </a:r>
                    </a:p>
                  </a:txBody>
                  <a:tcPr marL="54864" marR="54864" marT="32004" marB="32004" anchor="t">
                    <a:solidFill>
                      <a:srgbClr val="FFFFFF"/>
                    </a:solidFill>
                  </a:tcPr>
                </a:tc>
                <a:tc>
                  <a:txBody>
                    <a:bodyPr/>
                    <a:lstStyle/>
                    <a:p>
                      <a:r>
                        <a:rPr sz="1000" b="0">
                          <a:solidFill>
                            <a:srgbClr val="1F1F1F"/>
                          </a:solidFill>
                        </a:rPr>
                        <a:t>2026‑09‑23</a:t>
                      </a:r>
                    </a:p>
                  </a:txBody>
                  <a:tcPr marL="54864" marR="54864" marT="32004" marB="32004" anchor="t">
                    <a:solidFill>
                      <a:srgbClr val="FFFFFF"/>
                    </a:solidFill>
                  </a:tcPr>
                </a:tc>
                <a:tc>
                  <a:txBody>
                    <a:bodyPr/>
                    <a:lstStyle/>
                    <a:p>
                      <a:r>
                        <a:rPr sz="1000" b="0">
                          <a:solidFill>
                            <a:srgbClr val="1F1F1F"/>
                          </a:solidFill>
                        </a:rPr>
                        <a:t>S1‑05, S1‑06, S1‑07, A-02a</a:t>
                      </a:r>
                    </a:p>
                  </a:txBody>
                  <a:tcPr marL="54864" marR="54864" marT="32004" marB="32004" anchor="t">
                    <a:solidFill>
                      <a:srgbClr val="FFFFFF"/>
                    </a:solidFill>
                  </a:tcPr>
                </a:tc>
              </a:tr>
              <a:tr h="225551">
                <a:tc>
                  <a:txBody>
                    <a:bodyPr/>
                    <a:lstStyle/>
                    <a:p>
                      <a:r>
                        <a:rPr sz="1000" b="0">
                          <a:solidFill>
                            <a:srgbClr val="1F1F1F"/>
                          </a:solidFill>
                        </a:rPr>
                        <a:t>BERT paper (arXiv 1810.04805)</a:t>
                      </a:r>
                    </a:p>
                  </a:txBody>
                  <a:tcPr marL="54864" marR="54864" marT="32004" marB="32004" anchor="t">
                    <a:solidFill>
                      <a:srgbClr val="F3F4F8"/>
                    </a:solidFill>
                  </a:tcPr>
                </a:tc>
                <a:tc>
                  <a:txBody>
                    <a:bodyPr/>
                    <a:lstStyle/>
                    <a:p>
                      <a:r>
                        <a:rPr sz="1000" b="0">
                          <a:solidFill>
                            <a:srgbClr val="1F1F1F"/>
                          </a:solidFill>
                          <a:hlinkClick r:id="rId13"/>
                        </a:rPr>
                        <a:t>arxiv.org/abs/1810.04805</a:t>
                      </a:r>
                    </a:p>
                  </a:txBody>
                  <a:tcPr marL="54864" marR="54864" marT="32004" marB="32004" anchor="t">
                    <a:solidFill>
                      <a:srgbClr val="F3F4F8"/>
                    </a:solidFill>
                  </a:tcPr>
                </a:tc>
                <a:tc>
                  <a:txBody>
                    <a:bodyPr/>
                    <a:lstStyle/>
                    <a:p>
                      <a:r>
                        <a:rPr sz="1000" b="0">
                          <a:solidFill>
                            <a:srgbClr val="1F1F1F"/>
                          </a:solidFill>
                        </a:rPr>
                        <a:t>2026‑06</a:t>
                      </a:r>
                    </a:p>
                  </a:txBody>
                  <a:tcPr marL="54864" marR="54864" marT="32004" marB="32004" anchor="t">
                    <a:solidFill>
                      <a:srgbClr val="F3F4F8"/>
                    </a:solidFill>
                  </a:tcPr>
                </a:tc>
                <a:tc>
                  <a:txBody>
                    <a:bodyPr/>
                    <a:lstStyle/>
                    <a:p>
                      <a:r>
                        <a:rPr sz="1000" b="0">
                          <a:solidFill>
                            <a:srgbClr val="1F1F1F"/>
                          </a:solidFill>
                        </a:rPr>
                        <a:t>S1‑07</a:t>
                      </a:r>
                    </a:p>
                  </a:txBody>
                  <a:tcPr marL="54864" marR="54864" marT="32004" marB="32004" anchor="t">
                    <a:solidFill>
                      <a:srgbClr val="F3F4F8"/>
                    </a:solidFill>
                  </a:tcPr>
                </a:tc>
              </a:tr>
              <a:tr h="225551">
                <a:tc>
                  <a:txBody>
                    <a:bodyPr/>
                    <a:lstStyle/>
                    <a:p>
                      <a:r>
                        <a:rPr sz="1000" b="0">
                          <a:solidFill>
                            <a:srgbClr val="1F1F1F"/>
                          </a:solidFill>
                        </a:rPr>
                        <a:t>Raschka, The Big LLM Architecture Comparison</a:t>
                      </a:r>
                    </a:p>
                  </a:txBody>
                  <a:tcPr marL="54864" marR="54864" marT="32004" marB="32004" anchor="t">
                    <a:solidFill>
                      <a:srgbClr val="FFFFFF"/>
                    </a:solidFill>
                  </a:tcPr>
                </a:tc>
                <a:tc>
                  <a:txBody>
                    <a:bodyPr/>
                    <a:lstStyle/>
                    <a:p>
                      <a:r>
                        <a:rPr sz="1000" b="0">
                          <a:solidFill>
                            <a:srgbClr val="1F1F1F"/>
                          </a:solidFill>
                          <a:hlinkClick r:id="rId14"/>
                        </a:rPr>
                        <a:t>magazine.sebastianraschka.com/p/the-big-l…cture-comparison</a:t>
                      </a:r>
                    </a:p>
                  </a:txBody>
                  <a:tcPr marL="54864" marR="54864" marT="32004" marB="32004" anchor="t">
                    <a:solidFill>
                      <a:srgbClr val="FFFFFF"/>
                    </a:solidFill>
                  </a:tcPr>
                </a:tc>
                <a:tc>
                  <a:txBody>
                    <a:bodyPr/>
                    <a:lstStyle/>
                    <a:p>
                      <a:r>
                        <a:rPr sz="1000" b="0">
                          <a:solidFill>
                            <a:srgbClr val="1F1F1F"/>
                          </a:solidFill>
                        </a:rPr>
                        <a:t>2026‑06</a:t>
                      </a:r>
                    </a:p>
                  </a:txBody>
                  <a:tcPr marL="54864" marR="54864" marT="32004" marB="32004" anchor="t">
                    <a:solidFill>
                      <a:srgbClr val="FFFFFF"/>
                    </a:solidFill>
                  </a:tcPr>
                </a:tc>
                <a:tc>
                  <a:txBody>
                    <a:bodyPr/>
                    <a:lstStyle/>
                    <a:p>
                      <a:r>
                        <a:rPr sz="1000" b="0">
                          <a:solidFill>
                            <a:srgbClr val="1F1F1F"/>
                          </a:solidFill>
                        </a:rPr>
                        <a:t>S1‑08</a:t>
                      </a:r>
                    </a:p>
                  </a:txBody>
                  <a:tcPr marL="54864" marR="54864" marT="32004" marB="32004" anchor="t">
                    <a:solidFill>
                      <a:srgbClr val="FFFFFF"/>
                    </a:solidFill>
                  </a:tcPr>
                </a:tc>
              </a:tr>
              <a:tr h="225551">
                <a:tc>
                  <a:txBody>
                    <a:bodyPr/>
                    <a:lstStyle/>
                    <a:p>
                      <a:r>
                        <a:rPr sz="1000" b="0">
                          <a:solidFill>
                            <a:srgbClr val="1F1F1F"/>
                          </a:solidFill>
                        </a:rPr>
                        <a:t>OpenAI, Better language models (GPT-2)</a:t>
                      </a:r>
                    </a:p>
                  </a:txBody>
                  <a:tcPr marL="54864" marR="54864" marT="32004" marB="32004" anchor="t">
                    <a:solidFill>
                      <a:srgbClr val="F3F4F8"/>
                    </a:solidFill>
                  </a:tcPr>
                </a:tc>
                <a:tc>
                  <a:txBody>
                    <a:bodyPr/>
                    <a:lstStyle/>
                    <a:p>
                      <a:r>
                        <a:rPr sz="1000" b="0">
                          <a:solidFill>
                            <a:srgbClr val="1F1F1F"/>
                          </a:solidFill>
                          <a:hlinkClick r:id="rId15"/>
                        </a:rPr>
                        <a:t>openai.com/index/better-language-models</a:t>
                      </a:r>
                    </a:p>
                  </a:txBody>
                  <a:tcPr marL="54864" marR="54864" marT="32004" marB="32004" anchor="t">
                    <a:solidFill>
                      <a:srgbClr val="F3F4F8"/>
                    </a:solidFill>
                  </a:tcPr>
                </a:tc>
                <a:tc>
                  <a:txBody>
                    <a:bodyPr/>
                    <a:lstStyle/>
                    <a:p>
                      <a:r>
                        <a:rPr sz="1000" b="0">
                          <a:solidFill>
                            <a:srgbClr val="1F1F1F"/>
                          </a:solidFill>
                        </a:rPr>
                        <a:t>2026‑06</a:t>
                      </a:r>
                    </a:p>
                  </a:txBody>
                  <a:tcPr marL="54864" marR="54864" marT="32004" marB="32004" anchor="t">
                    <a:solidFill>
                      <a:srgbClr val="F3F4F8"/>
                    </a:solidFill>
                  </a:tcPr>
                </a:tc>
                <a:tc>
                  <a:txBody>
                    <a:bodyPr/>
                    <a:lstStyle/>
                    <a:p>
                      <a:r>
                        <a:rPr sz="1000" b="0">
                          <a:solidFill>
                            <a:srgbClr val="1F1F1F"/>
                          </a:solidFill>
                        </a:rPr>
                        <a:t>S1‑09</a:t>
                      </a:r>
                    </a:p>
                  </a:txBody>
                  <a:tcPr marL="54864" marR="54864" marT="32004" marB="32004" anchor="t">
                    <a:solidFill>
                      <a:srgbClr val="F3F4F8"/>
                    </a:solidFill>
                  </a:tcPr>
                </a:tc>
              </a:tr>
            </a:tbl>
          </a:graphicData>
        </a:graphic>
      </p:graphicFrame>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Every source cited in this deck (3/5)</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SOURCES</a:t>
            </a:r>
          </a:p>
        </p:txBody>
      </p:sp>
      <p:graphicFrame>
        <p:nvGraphicFramePr>
          <p:cNvPr id="4" name="Table 3"/>
          <p:cNvGraphicFramePr>
            <a:graphicFrameLocks noGrp="1"/>
          </p:cNvGraphicFramePr>
          <p:nvPr/>
        </p:nvGraphicFramePr>
        <p:xfrm>
          <a:off x="585216" y="1371600"/>
          <a:ext cx="9656064" cy="3383279"/>
        </p:xfrm>
        <a:graphic>
          <a:graphicData uri="http://schemas.openxmlformats.org/drawingml/2006/table">
            <a:tbl>
              <a:tblPr firstRow="1" bandRow="1">
                <a:tableStyleId>{5C22544A-7EE6-4342-B048-85BDC9FD1C3A}</a:tableStyleId>
              </a:tblPr>
              <a:tblGrid>
                <a:gridCol w="3063240"/>
                <a:gridCol w="3931920"/>
                <a:gridCol w="868680"/>
                <a:gridCol w="1792224"/>
              </a:tblGrid>
              <a:tr h="225551">
                <a:tc>
                  <a:txBody>
                    <a:bodyPr/>
                    <a:lstStyle/>
                    <a:p>
                      <a:r>
                        <a:rPr sz="1000" b="1">
                          <a:solidFill>
                            <a:srgbClr val="FFFFFF"/>
                          </a:solidFill>
                        </a:rPr>
                        <a:t>Source</a:t>
                      </a:r>
                    </a:p>
                  </a:txBody>
                  <a:tcPr marL="54864" marR="54864" marT="32004" marB="32004" anchor="ctr">
                    <a:solidFill>
                      <a:srgbClr val="2A446F"/>
                    </a:solidFill>
                  </a:tcPr>
                </a:tc>
                <a:tc>
                  <a:txBody>
                    <a:bodyPr/>
                    <a:lstStyle/>
                    <a:p>
                      <a:r>
                        <a:rPr sz="1000" b="1">
                          <a:solidFill>
                            <a:srgbClr val="FFFFFF"/>
                          </a:solidFill>
                        </a:rPr>
                        <a:t>Link</a:t>
                      </a:r>
                    </a:p>
                  </a:txBody>
                  <a:tcPr marL="54864" marR="54864" marT="32004" marB="32004" anchor="ctr">
                    <a:solidFill>
                      <a:srgbClr val="2A446F"/>
                    </a:solidFill>
                  </a:tcPr>
                </a:tc>
                <a:tc>
                  <a:txBody>
                    <a:bodyPr/>
                    <a:lstStyle/>
                    <a:p>
                      <a:r>
                        <a:rPr sz="1000" b="1">
                          <a:solidFill>
                            <a:srgbClr val="FFFFFF"/>
                          </a:solidFill>
                        </a:rPr>
                        <a:t>Checked</a:t>
                      </a:r>
                    </a:p>
                  </a:txBody>
                  <a:tcPr marL="54864" marR="54864" marT="32004" marB="32004" anchor="ctr">
                    <a:solidFill>
                      <a:srgbClr val="2A446F"/>
                    </a:solidFill>
                  </a:tcPr>
                </a:tc>
                <a:tc>
                  <a:txBody>
                    <a:bodyPr/>
                    <a:lstStyle/>
                    <a:p>
                      <a:r>
                        <a:rPr sz="1000" b="1">
                          <a:solidFill>
                            <a:srgbClr val="FFFFFF"/>
                          </a:solidFill>
                        </a:rPr>
                        <a:t>Used on</a:t>
                      </a:r>
                    </a:p>
                  </a:txBody>
                  <a:tcPr marL="54864" marR="54864" marT="32004" marB="32004" anchor="ctr">
                    <a:solidFill>
                      <a:srgbClr val="2A446F"/>
                    </a:solidFill>
                  </a:tcPr>
                </a:tc>
              </a:tr>
              <a:tr h="225551">
                <a:tc>
                  <a:txBody>
                    <a:bodyPr/>
                    <a:lstStyle/>
                    <a:p>
                      <a:r>
                        <a:rPr sz="1000" b="0">
                          <a:solidFill>
                            <a:srgbClr val="1F1F1F"/>
                          </a:solidFill>
                        </a:rPr>
                        <a:t>Chinchilla paper (arXiv 2203.15556)</a:t>
                      </a:r>
                    </a:p>
                  </a:txBody>
                  <a:tcPr marL="54864" marR="54864" marT="32004" marB="32004" anchor="t">
                    <a:solidFill>
                      <a:srgbClr val="FFFFFF"/>
                    </a:solidFill>
                  </a:tcPr>
                </a:tc>
                <a:tc>
                  <a:txBody>
                    <a:bodyPr/>
                    <a:lstStyle/>
                    <a:p>
                      <a:r>
                        <a:rPr sz="1000" b="0">
                          <a:solidFill>
                            <a:srgbClr val="1F1F1F"/>
                          </a:solidFill>
                          <a:hlinkClick r:id="rId3"/>
                        </a:rPr>
                        <a:t>arxiv.org/abs/2203.15556</a:t>
                      </a:r>
                    </a:p>
                  </a:txBody>
                  <a:tcPr marL="54864" marR="54864" marT="32004" marB="32004" anchor="t">
                    <a:solidFill>
                      <a:srgbClr val="FFFFFF"/>
                    </a:solidFill>
                  </a:tcPr>
                </a:tc>
                <a:tc>
                  <a:txBody>
                    <a:bodyPr/>
                    <a:lstStyle/>
                    <a:p>
                      <a:r>
                        <a:rPr sz="1000" b="0">
                          <a:solidFill>
                            <a:srgbClr val="1F1F1F"/>
                          </a:solidFill>
                        </a:rPr>
                        <a:t>2026‑06</a:t>
                      </a:r>
                    </a:p>
                  </a:txBody>
                  <a:tcPr marL="54864" marR="54864" marT="32004" marB="32004" anchor="t">
                    <a:solidFill>
                      <a:srgbClr val="FFFFFF"/>
                    </a:solidFill>
                  </a:tcPr>
                </a:tc>
                <a:tc>
                  <a:txBody>
                    <a:bodyPr/>
                    <a:lstStyle/>
                    <a:p>
                      <a:r>
                        <a:rPr sz="1000" b="0">
                          <a:solidFill>
                            <a:srgbClr val="1F1F1F"/>
                          </a:solidFill>
                        </a:rPr>
                        <a:t>S1‑10</a:t>
                      </a:r>
                    </a:p>
                  </a:txBody>
                  <a:tcPr marL="54864" marR="54864" marT="32004" marB="32004" anchor="t">
                    <a:solidFill>
                      <a:srgbClr val="FFFFFF"/>
                    </a:solidFill>
                  </a:tcPr>
                </a:tc>
              </a:tr>
              <a:tr h="225551">
                <a:tc>
                  <a:txBody>
                    <a:bodyPr/>
                    <a:lstStyle/>
                    <a:p>
                      <a:r>
                        <a:rPr sz="1000" b="0">
                          <a:solidFill>
                            <a:srgbClr val="1F1F1F"/>
                          </a:solidFill>
                        </a:rPr>
                        <a:t>OpenAI, Introducing ChatGPT (2022)</a:t>
                      </a:r>
                    </a:p>
                  </a:txBody>
                  <a:tcPr marL="54864" marR="54864" marT="32004" marB="32004" anchor="t">
                    <a:solidFill>
                      <a:srgbClr val="F3F4F8"/>
                    </a:solidFill>
                  </a:tcPr>
                </a:tc>
                <a:tc>
                  <a:txBody>
                    <a:bodyPr/>
                    <a:lstStyle/>
                    <a:p>
                      <a:r>
                        <a:rPr sz="1000" b="0">
                          <a:solidFill>
                            <a:srgbClr val="1F1F1F"/>
                          </a:solidFill>
                          <a:hlinkClick r:id="rId4"/>
                        </a:rPr>
                        <a:t>openai.com/index/chatgpt</a:t>
                      </a:r>
                    </a:p>
                  </a:txBody>
                  <a:tcPr marL="54864" marR="54864" marT="32004" marB="32004" anchor="t">
                    <a:solidFill>
                      <a:srgbClr val="F3F4F8"/>
                    </a:solidFill>
                  </a:tcPr>
                </a:tc>
                <a:tc>
                  <a:txBody>
                    <a:bodyPr/>
                    <a:lstStyle/>
                    <a:p>
                      <a:r>
                        <a:rPr sz="1000" b="0">
                          <a:solidFill>
                            <a:srgbClr val="1F1F1F"/>
                          </a:solidFill>
                        </a:rPr>
                        <a:t>2026‑06</a:t>
                      </a:r>
                    </a:p>
                  </a:txBody>
                  <a:tcPr marL="54864" marR="54864" marT="32004" marB="32004" anchor="t">
                    <a:solidFill>
                      <a:srgbClr val="F3F4F8"/>
                    </a:solidFill>
                  </a:tcPr>
                </a:tc>
                <a:tc>
                  <a:txBody>
                    <a:bodyPr/>
                    <a:lstStyle/>
                    <a:p>
                      <a:r>
                        <a:rPr sz="1000" b="0">
                          <a:solidFill>
                            <a:srgbClr val="1F1F1F"/>
                          </a:solidFill>
                        </a:rPr>
                        <a:t>S1‑12</a:t>
                      </a:r>
                    </a:p>
                  </a:txBody>
                  <a:tcPr marL="54864" marR="54864" marT="32004" marB="32004" anchor="t">
                    <a:solidFill>
                      <a:srgbClr val="F3F4F8"/>
                    </a:solidFill>
                  </a:tcPr>
                </a:tc>
              </a:tr>
              <a:tr h="225551">
                <a:tc>
                  <a:txBody>
                    <a:bodyPr/>
                    <a:lstStyle/>
                    <a:p>
                      <a:r>
                        <a:rPr sz="1000" b="0">
                          <a:solidFill>
                            <a:srgbClr val="1F1F1F"/>
                          </a:solidFill>
                        </a:rPr>
                        <a:t>Hugging Face TRL docs</a:t>
                      </a:r>
                    </a:p>
                  </a:txBody>
                  <a:tcPr marL="54864" marR="54864" marT="32004" marB="32004" anchor="t">
                    <a:solidFill>
                      <a:srgbClr val="FFFFFF"/>
                    </a:solidFill>
                  </a:tcPr>
                </a:tc>
                <a:tc>
                  <a:txBody>
                    <a:bodyPr/>
                    <a:lstStyle/>
                    <a:p>
                      <a:r>
                        <a:rPr sz="1000" b="0">
                          <a:solidFill>
                            <a:srgbClr val="1F1F1F"/>
                          </a:solidFill>
                          <a:hlinkClick r:id="rId5"/>
                        </a:rPr>
                        <a:t>huggingface.co/docs/trl</a:t>
                      </a:r>
                    </a:p>
                  </a:txBody>
                  <a:tcPr marL="54864" marR="54864" marT="32004" marB="32004" anchor="t">
                    <a:solidFill>
                      <a:srgbClr val="FFFFFF"/>
                    </a:solidFill>
                  </a:tcPr>
                </a:tc>
                <a:tc>
                  <a:txBody>
                    <a:bodyPr/>
                    <a:lstStyle/>
                    <a:p>
                      <a:r>
                        <a:rPr sz="1000" b="0">
                          <a:solidFill>
                            <a:srgbClr val="1F1F1F"/>
                          </a:solidFill>
                        </a:rPr>
                        <a:t>2026‑06</a:t>
                      </a:r>
                    </a:p>
                  </a:txBody>
                  <a:tcPr marL="54864" marR="54864" marT="32004" marB="32004" anchor="t">
                    <a:solidFill>
                      <a:srgbClr val="FFFFFF"/>
                    </a:solidFill>
                  </a:tcPr>
                </a:tc>
                <a:tc>
                  <a:txBody>
                    <a:bodyPr/>
                    <a:lstStyle/>
                    <a:p>
                      <a:r>
                        <a:rPr sz="1000" b="0">
                          <a:solidFill>
                            <a:srgbClr val="1F1F1F"/>
                          </a:solidFill>
                        </a:rPr>
                        <a:t>S1‑13</a:t>
                      </a:r>
                    </a:p>
                  </a:txBody>
                  <a:tcPr marL="54864" marR="54864" marT="32004" marB="32004" anchor="t">
                    <a:solidFill>
                      <a:srgbClr val="FFFFFF"/>
                    </a:solidFill>
                  </a:tcPr>
                </a:tc>
              </a:tr>
              <a:tr h="225551">
                <a:tc>
                  <a:txBody>
                    <a:bodyPr/>
                    <a:lstStyle/>
                    <a:p>
                      <a:r>
                        <a:rPr sz="1000" b="0">
                          <a:solidFill>
                            <a:srgbClr val="1F1F1F"/>
                          </a:solidFill>
                        </a:rPr>
                        <a:t>DAPO paper (arXiv 2503.14476)</a:t>
                      </a:r>
                    </a:p>
                  </a:txBody>
                  <a:tcPr marL="54864" marR="54864" marT="32004" marB="32004" anchor="t">
                    <a:solidFill>
                      <a:srgbClr val="F3F4F8"/>
                    </a:solidFill>
                  </a:tcPr>
                </a:tc>
                <a:tc>
                  <a:txBody>
                    <a:bodyPr/>
                    <a:lstStyle/>
                    <a:p>
                      <a:r>
                        <a:rPr sz="1000" b="0">
                          <a:solidFill>
                            <a:srgbClr val="1F1F1F"/>
                          </a:solidFill>
                          <a:hlinkClick r:id="rId6"/>
                        </a:rPr>
                        <a:t>arxiv.org/abs/2503.14476</a:t>
                      </a:r>
                    </a:p>
                  </a:txBody>
                  <a:tcPr marL="54864" marR="54864" marT="32004" marB="32004" anchor="t">
                    <a:solidFill>
                      <a:srgbClr val="F3F4F8"/>
                    </a:solidFill>
                  </a:tcPr>
                </a:tc>
                <a:tc>
                  <a:txBody>
                    <a:bodyPr/>
                    <a:lstStyle/>
                    <a:p>
                      <a:r>
                        <a:rPr sz="1000" b="0">
                          <a:solidFill>
                            <a:srgbClr val="1F1F1F"/>
                          </a:solidFill>
                        </a:rPr>
                        <a:t>2026‑06</a:t>
                      </a:r>
                    </a:p>
                  </a:txBody>
                  <a:tcPr marL="54864" marR="54864" marT="32004" marB="32004" anchor="t">
                    <a:solidFill>
                      <a:srgbClr val="F3F4F8"/>
                    </a:solidFill>
                  </a:tcPr>
                </a:tc>
                <a:tc>
                  <a:txBody>
                    <a:bodyPr/>
                    <a:lstStyle/>
                    <a:p>
                      <a:r>
                        <a:rPr sz="1000" b="0">
                          <a:solidFill>
                            <a:srgbClr val="1F1F1F"/>
                          </a:solidFill>
                        </a:rPr>
                        <a:t>S1‑13</a:t>
                      </a:r>
                    </a:p>
                  </a:txBody>
                  <a:tcPr marL="54864" marR="54864" marT="32004" marB="32004" anchor="t">
                    <a:solidFill>
                      <a:srgbClr val="F3F4F8"/>
                    </a:solidFill>
                  </a:tcPr>
                </a:tc>
              </a:tr>
              <a:tr h="225551">
                <a:tc>
                  <a:txBody>
                    <a:bodyPr/>
                    <a:lstStyle/>
                    <a:p>
                      <a:r>
                        <a:rPr sz="1000" b="0">
                          <a:solidFill>
                            <a:srgbClr val="1F1F1F"/>
                          </a:solidFill>
                        </a:rPr>
                        <a:t>DeepSeek-R1 (arXiv 2501.12948)</a:t>
                      </a:r>
                    </a:p>
                  </a:txBody>
                  <a:tcPr marL="54864" marR="54864" marT="32004" marB="32004" anchor="t">
                    <a:solidFill>
                      <a:srgbClr val="FFFFFF"/>
                    </a:solidFill>
                  </a:tcPr>
                </a:tc>
                <a:tc>
                  <a:txBody>
                    <a:bodyPr/>
                    <a:lstStyle/>
                    <a:p>
                      <a:r>
                        <a:rPr sz="1000" b="0">
                          <a:solidFill>
                            <a:srgbClr val="1F1F1F"/>
                          </a:solidFill>
                          <a:hlinkClick r:id="rId7"/>
                        </a:rPr>
                        <a:t>arxiv.org/abs/2501.12948</a:t>
                      </a:r>
                    </a:p>
                  </a:txBody>
                  <a:tcPr marL="54864" marR="54864" marT="32004" marB="32004" anchor="t">
                    <a:solidFill>
                      <a:srgbClr val="FFFFFF"/>
                    </a:solidFill>
                  </a:tcPr>
                </a:tc>
                <a:tc>
                  <a:txBody>
                    <a:bodyPr/>
                    <a:lstStyle/>
                    <a:p>
                      <a:r>
                        <a:rPr sz="1000" b="0">
                          <a:solidFill>
                            <a:srgbClr val="1F1F1F"/>
                          </a:solidFill>
                        </a:rPr>
                        <a:t>2026‑06</a:t>
                      </a:r>
                    </a:p>
                  </a:txBody>
                  <a:tcPr marL="54864" marR="54864" marT="32004" marB="32004" anchor="t">
                    <a:solidFill>
                      <a:srgbClr val="FFFFFF"/>
                    </a:solidFill>
                  </a:tcPr>
                </a:tc>
                <a:tc>
                  <a:txBody>
                    <a:bodyPr/>
                    <a:lstStyle/>
                    <a:p>
                      <a:r>
                        <a:rPr sz="1000" b="0">
                          <a:solidFill>
                            <a:srgbClr val="1F1F1F"/>
                          </a:solidFill>
                        </a:rPr>
                        <a:t>S1‑13</a:t>
                      </a:r>
                    </a:p>
                  </a:txBody>
                  <a:tcPr marL="54864" marR="54864" marT="32004" marB="32004" anchor="t">
                    <a:solidFill>
                      <a:srgbClr val="FFFFFF"/>
                    </a:solidFill>
                  </a:tcPr>
                </a:tc>
              </a:tr>
              <a:tr h="225551">
                <a:tc>
                  <a:txBody>
                    <a:bodyPr/>
                    <a:lstStyle/>
                    <a:p>
                      <a:r>
                        <a:rPr sz="1000" b="0">
                          <a:solidFill>
                            <a:srgbClr val="1F1F1F"/>
                          </a:solidFill>
                        </a:rPr>
                        <a:t>Beyond the Slop (daenet, Jul 2026)</a:t>
                      </a:r>
                    </a:p>
                  </a:txBody>
                  <a:tcPr marL="54864" marR="54864" marT="32004" marB="32004" anchor="t">
                    <a:solidFill>
                      <a:srgbClr val="F3F4F8"/>
                    </a:solidFill>
                  </a:tcPr>
                </a:tc>
                <a:tc>
                  <a:txBody>
                    <a:bodyPr/>
                    <a:lstStyle/>
                    <a:p>
                      <a:r>
                        <a:rPr sz="1000" b="0">
                          <a:solidFill>
                            <a:srgbClr val="1F1F1F"/>
                          </a:solidFill>
                        </a:rPr>
                        <a:t>research/beyond_the_slop/Beyond_the_Slop_…6_slide_text.txt</a:t>
                      </a:r>
                    </a:p>
                  </a:txBody>
                  <a:tcPr marL="54864" marR="54864" marT="32004" marB="32004" anchor="t">
                    <a:solidFill>
                      <a:srgbClr val="F3F4F8"/>
                    </a:solidFill>
                  </a:tcPr>
                </a:tc>
                <a:tc>
                  <a:txBody>
                    <a:bodyPr/>
                    <a:lstStyle/>
                    <a:p>
                      <a:r>
                        <a:rPr sz="1000" b="0">
                          <a:solidFill>
                            <a:srgbClr val="1F1F1F"/>
                          </a:solidFill>
                        </a:rPr>
                        <a:t>2026‑07‑14</a:t>
                      </a:r>
                    </a:p>
                  </a:txBody>
                  <a:tcPr marL="54864" marR="54864" marT="32004" marB="32004" anchor="t">
                    <a:solidFill>
                      <a:srgbClr val="F3F4F8"/>
                    </a:solidFill>
                  </a:tcPr>
                </a:tc>
                <a:tc>
                  <a:txBody>
                    <a:bodyPr/>
                    <a:lstStyle/>
                    <a:p>
                      <a:r>
                        <a:rPr sz="1000" b="0">
                          <a:solidFill>
                            <a:srgbClr val="1F1F1F"/>
                          </a:solidFill>
                        </a:rPr>
                        <a:t>S1‑14, S1‑15</a:t>
                      </a:r>
                    </a:p>
                  </a:txBody>
                  <a:tcPr marL="54864" marR="54864" marT="32004" marB="32004" anchor="t">
                    <a:solidFill>
                      <a:srgbClr val="F3F4F8"/>
                    </a:solidFill>
                  </a:tcPr>
                </a:tc>
              </a:tr>
              <a:tr h="225551">
                <a:tc>
                  <a:txBody>
                    <a:bodyPr/>
                    <a:lstStyle/>
                    <a:p>
                      <a:r>
                        <a:rPr sz="1000" b="0">
                          <a:solidFill>
                            <a:srgbClr val="1F1F1F"/>
                          </a:solidFill>
                        </a:rPr>
                        <a:t>Lab 1 code (tested 2026‑09‑22)</a:t>
                      </a:r>
                    </a:p>
                  </a:txBody>
                  <a:tcPr marL="54864" marR="54864" marT="32004" marB="32004" anchor="t">
                    <a:solidFill>
                      <a:srgbClr val="FFFFFF"/>
                    </a:solidFill>
                  </a:tcPr>
                </a:tc>
                <a:tc>
                  <a:txBody>
                    <a:bodyPr/>
                    <a:lstStyle/>
                    <a:p>
                      <a:r>
                        <a:rPr sz="1000" b="0">
                          <a:solidFill>
                            <a:srgbClr val="1F1F1F"/>
                          </a:solidFill>
                        </a:rPr>
                        <a:t>labs/01-hello-model</a:t>
                      </a:r>
                    </a:p>
                  </a:txBody>
                  <a:tcPr marL="54864" marR="54864" marT="32004" marB="32004" anchor="t">
                    <a:solidFill>
                      <a:srgbClr val="FFFFFF"/>
                    </a:solidFill>
                  </a:tcPr>
                </a:tc>
                <a:tc>
                  <a:txBody>
                    <a:bodyPr/>
                    <a:lstStyle/>
                    <a:p>
                      <a:r>
                        <a:rPr sz="1000" b="0">
                          <a:solidFill>
                            <a:srgbClr val="1F1F1F"/>
                          </a:solidFill>
                        </a:rPr>
                        <a:t>2026‑09‑22</a:t>
                      </a:r>
                    </a:p>
                  </a:txBody>
                  <a:tcPr marL="54864" marR="54864" marT="32004" marB="32004" anchor="t">
                    <a:solidFill>
                      <a:srgbClr val="FFFFFF"/>
                    </a:solidFill>
                  </a:tcPr>
                </a:tc>
                <a:tc>
                  <a:txBody>
                    <a:bodyPr/>
                    <a:lstStyle/>
                    <a:p>
                      <a:r>
                        <a:rPr sz="1000" b="0">
                          <a:solidFill>
                            <a:srgbClr val="1F1F1F"/>
                          </a:solidFill>
                        </a:rPr>
                        <a:t>S1‑14, S1-D3, S1‑25 +5</a:t>
                      </a:r>
                    </a:p>
                  </a:txBody>
                  <a:tcPr marL="54864" marR="54864" marT="32004" marB="32004" anchor="t">
                    <a:solidFill>
                      <a:srgbClr val="FFFFFF"/>
                    </a:solidFill>
                  </a:tcPr>
                </a:tc>
              </a:tr>
              <a:tr h="225551">
                <a:tc>
                  <a:txBody>
                    <a:bodyPr/>
                    <a:lstStyle/>
                    <a:p>
                      <a:r>
                        <a:rPr sz="1000" b="0">
                          <a:solidFill>
                            <a:srgbClr val="1F1F1F"/>
                          </a:solidFill>
                        </a:rPr>
                        <a:t>DeepSeek-V3 (arXiv 2412.19437)</a:t>
                      </a:r>
                    </a:p>
                  </a:txBody>
                  <a:tcPr marL="54864" marR="54864" marT="32004" marB="32004" anchor="t">
                    <a:solidFill>
                      <a:srgbClr val="F3F4F8"/>
                    </a:solidFill>
                  </a:tcPr>
                </a:tc>
                <a:tc>
                  <a:txBody>
                    <a:bodyPr/>
                    <a:lstStyle/>
                    <a:p>
                      <a:r>
                        <a:rPr sz="1000" b="0">
                          <a:solidFill>
                            <a:srgbClr val="1F1F1F"/>
                          </a:solidFill>
                          <a:hlinkClick r:id="rId8"/>
                        </a:rPr>
                        <a:t>arxiv.org/abs/2412.19437</a:t>
                      </a:r>
                    </a:p>
                  </a:txBody>
                  <a:tcPr marL="54864" marR="54864" marT="32004" marB="32004" anchor="t">
                    <a:solidFill>
                      <a:srgbClr val="F3F4F8"/>
                    </a:solidFill>
                  </a:tcPr>
                </a:tc>
                <a:tc>
                  <a:txBody>
                    <a:bodyPr/>
                    <a:lstStyle/>
                    <a:p>
                      <a:r>
                        <a:rPr sz="1000" b="0">
                          <a:solidFill>
                            <a:srgbClr val="1F1F1F"/>
                          </a:solidFill>
                        </a:rPr>
                        <a:t>2026‑06</a:t>
                      </a:r>
                    </a:p>
                  </a:txBody>
                  <a:tcPr marL="54864" marR="54864" marT="32004" marB="32004" anchor="t">
                    <a:solidFill>
                      <a:srgbClr val="F3F4F8"/>
                    </a:solidFill>
                  </a:tcPr>
                </a:tc>
                <a:tc>
                  <a:txBody>
                    <a:bodyPr/>
                    <a:lstStyle/>
                    <a:p>
                      <a:r>
                        <a:rPr sz="1000" b="0">
                          <a:solidFill>
                            <a:srgbClr val="1F1F1F"/>
                          </a:solidFill>
                        </a:rPr>
                        <a:t>S1‑16, S1‑18</a:t>
                      </a:r>
                    </a:p>
                  </a:txBody>
                  <a:tcPr marL="54864" marR="54864" marT="32004" marB="32004" anchor="t">
                    <a:solidFill>
                      <a:srgbClr val="F3F4F8"/>
                    </a:solidFill>
                  </a:tcPr>
                </a:tc>
              </a:tr>
              <a:tr h="225551">
                <a:tc>
                  <a:txBody>
                    <a:bodyPr/>
                    <a:lstStyle/>
                    <a:p>
                      <a:r>
                        <a:rPr sz="1000" b="0">
                          <a:solidFill>
                            <a:srgbClr val="1F1F1F"/>
                          </a:solidFill>
                        </a:rPr>
                        <a:t>Model catalog §2 (checked 2026‑09‑21)</a:t>
                      </a:r>
                    </a:p>
                  </a:txBody>
                  <a:tcPr marL="54864" marR="54864" marT="32004" marB="32004" anchor="t">
                    <a:solidFill>
                      <a:srgbClr val="FFFFFF"/>
                    </a:solidFill>
                  </a:tcPr>
                </a:tc>
                <a:tc>
                  <a:txBody>
                    <a:bodyPr/>
                    <a:lstStyle/>
                    <a:p>
                      <a:r>
                        <a:rPr sz="1000" b="0">
                          <a:solidFill>
                            <a:srgbClr val="1F1F1F"/>
                          </a:solidFill>
                        </a:rPr>
                        <a:t>05_Model_Catalog_2026‑09.md</a:t>
                      </a:r>
                    </a:p>
                  </a:txBody>
                  <a:tcPr marL="54864" marR="54864" marT="32004" marB="32004" anchor="t">
                    <a:solidFill>
                      <a:srgbClr val="FFFFFF"/>
                    </a:solidFill>
                  </a:tcPr>
                </a:tc>
                <a:tc>
                  <a:txBody>
                    <a:bodyPr/>
                    <a:lstStyle/>
                    <a:p>
                      <a:r>
                        <a:rPr sz="1000" b="0">
                          <a:solidFill>
                            <a:srgbClr val="1F1F1F"/>
                          </a:solidFill>
                        </a:rPr>
                        <a:t>2026‑09‑21</a:t>
                      </a:r>
                    </a:p>
                  </a:txBody>
                  <a:tcPr marL="54864" marR="54864" marT="32004" marB="32004" anchor="t">
                    <a:solidFill>
                      <a:srgbClr val="FFFFFF"/>
                    </a:solidFill>
                  </a:tcPr>
                </a:tc>
                <a:tc>
                  <a:txBody>
                    <a:bodyPr/>
                    <a:lstStyle/>
                    <a:p>
                      <a:r>
                        <a:rPr sz="1000" b="0">
                          <a:solidFill>
                            <a:srgbClr val="1F1F1F"/>
                          </a:solidFill>
                        </a:rPr>
                        <a:t>S1‑16, S1‑17, S1‑18 +2</a:t>
                      </a:r>
                    </a:p>
                  </a:txBody>
                  <a:tcPr marL="54864" marR="54864" marT="32004" marB="32004" anchor="t">
                    <a:solidFill>
                      <a:srgbClr val="FFFFFF"/>
                    </a:solidFill>
                  </a:tcPr>
                </a:tc>
              </a:tr>
              <a:tr h="225551">
                <a:tc>
                  <a:txBody>
                    <a:bodyPr/>
                    <a:lstStyle/>
                    <a:p>
                      <a:r>
                        <a:rPr sz="1000" b="0">
                          <a:solidFill>
                            <a:srgbClr val="1F1F1F"/>
                          </a:solidFill>
                        </a:rPr>
                        <a:t>Raschka, LLM architecture gallery (MLA)</a:t>
                      </a:r>
                    </a:p>
                  </a:txBody>
                  <a:tcPr marL="54864" marR="54864" marT="32004" marB="32004" anchor="t">
                    <a:solidFill>
                      <a:srgbClr val="F3F4F8"/>
                    </a:solidFill>
                  </a:tcPr>
                </a:tc>
                <a:tc>
                  <a:txBody>
                    <a:bodyPr/>
                    <a:lstStyle/>
                    <a:p>
                      <a:r>
                        <a:rPr sz="1000" b="0">
                          <a:solidFill>
                            <a:srgbClr val="1F1F1F"/>
                          </a:solidFill>
                          <a:hlinkClick r:id="rId9"/>
                        </a:rPr>
                        <a:t>sebastianraschka.com/llm-architecture-gallery/mla</a:t>
                      </a:r>
                    </a:p>
                  </a:txBody>
                  <a:tcPr marL="54864" marR="54864" marT="32004" marB="32004" anchor="t">
                    <a:solidFill>
                      <a:srgbClr val="F3F4F8"/>
                    </a:solidFill>
                  </a:tcPr>
                </a:tc>
                <a:tc>
                  <a:txBody>
                    <a:bodyPr/>
                    <a:lstStyle/>
                    <a:p>
                      <a:r>
                        <a:rPr sz="1000" b="0">
                          <a:solidFill>
                            <a:srgbClr val="1F1F1F"/>
                          </a:solidFill>
                        </a:rPr>
                        <a:t>2026‑06</a:t>
                      </a:r>
                    </a:p>
                  </a:txBody>
                  <a:tcPr marL="54864" marR="54864" marT="32004" marB="32004" anchor="t">
                    <a:solidFill>
                      <a:srgbClr val="F3F4F8"/>
                    </a:solidFill>
                  </a:tcPr>
                </a:tc>
                <a:tc>
                  <a:txBody>
                    <a:bodyPr/>
                    <a:lstStyle/>
                    <a:p>
                      <a:r>
                        <a:rPr sz="1000" b="0">
                          <a:solidFill>
                            <a:srgbClr val="1F1F1F"/>
                          </a:solidFill>
                        </a:rPr>
                        <a:t>S1‑17</a:t>
                      </a:r>
                    </a:p>
                  </a:txBody>
                  <a:tcPr marL="54864" marR="54864" marT="32004" marB="32004" anchor="t">
                    <a:solidFill>
                      <a:srgbClr val="F3F4F8"/>
                    </a:solidFill>
                  </a:tcPr>
                </a:tc>
              </a:tr>
              <a:tr h="225551">
                <a:tc>
                  <a:txBody>
                    <a:bodyPr/>
                    <a:lstStyle/>
                    <a:p>
                      <a:r>
                        <a:rPr sz="1000" b="0">
                          <a:solidFill>
                            <a:srgbClr val="1F1F1F"/>
                          </a:solidFill>
                        </a:rPr>
                        <a:t>Inception Labs (Mercury)</a:t>
                      </a:r>
                    </a:p>
                  </a:txBody>
                  <a:tcPr marL="54864" marR="54864" marT="32004" marB="32004" anchor="t">
                    <a:solidFill>
                      <a:srgbClr val="FFFFFF"/>
                    </a:solidFill>
                  </a:tcPr>
                </a:tc>
                <a:tc>
                  <a:txBody>
                    <a:bodyPr/>
                    <a:lstStyle/>
                    <a:p>
                      <a:r>
                        <a:rPr sz="1000" b="0">
                          <a:solidFill>
                            <a:srgbClr val="1F1F1F"/>
                          </a:solidFill>
                          <a:hlinkClick r:id="rId10"/>
                        </a:rPr>
                        <a:t>inceptionlabs.ai</a:t>
                      </a:r>
                    </a:p>
                  </a:txBody>
                  <a:tcPr marL="54864" marR="54864" marT="32004" marB="32004" anchor="t">
                    <a:solidFill>
                      <a:srgbClr val="FFFFFF"/>
                    </a:solidFill>
                  </a:tcPr>
                </a:tc>
                <a:tc>
                  <a:txBody>
                    <a:bodyPr/>
                    <a:lstStyle/>
                    <a:p>
                      <a:r>
                        <a:rPr sz="1000" b="0">
                          <a:solidFill>
                            <a:srgbClr val="1F1F1F"/>
                          </a:solidFill>
                        </a:rPr>
                        <a:t>2026‑06</a:t>
                      </a:r>
                    </a:p>
                  </a:txBody>
                  <a:tcPr marL="54864" marR="54864" marT="32004" marB="32004" anchor="t">
                    <a:solidFill>
                      <a:srgbClr val="FFFFFF"/>
                    </a:solidFill>
                  </a:tcPr>
                </a:tc>
                <a:tc>
                  <a:txBody>
                    <a:bodyPr/>
                    <a:lstStyle/>
                    <a:p>
                      <a:r>
                        <a:rPr sz="1000" b="0">
                          <a:solidFill>
                            <a:srgbClr val="1F1F1F"/>
                          </a:solidFill>
                        </a:rPr>
                        <a:t>S1‑19</a:t>
                      </a:r>
                    </a:p>
                  </a:txBody>
                  <a:tcPr marL="54864" marR="54864" marT="32004" marB="32004" anchor="t">
                    <a:solidFill>
                      <a:srgbClr val="FFFFFF"/>
                    </a:solidFill>
                  </a:tcPr>
                </a:tc>
              </a:tr>
              <a:tr h="225551">
                <a:tc>
                  <a:txBody>
                    <a:bodyPr/>
                    <a:lstStyle/>
                    <a:p>
                      <a:r>
                        <a:rPr sz="1000" b="0">
                          <a:solidFill>
                            <a:srgbClr val="1F1F1F"/>
                          </a:solidFill>
                        </a:rPr>
                        <a:t>arXiv 2506.17298</a:t>
                      </a:r>
                    </a:p>
                  </a:txBody>
                  <a:tcPr marL="54864" marR="54864" marT="32004" marB="32004" anchor="t">
                    <a:solidFill>
                      <a:srgbClr val="F3F4F8"/>
                    </a:solidFill>
                  </a:tcPr>
                </a:tc>
                <a:tc>
                  <a:txBody>
                    <a:bodyPr/>
                    <a:lstStyle/>
                    <a:p>
                      <a:r>
                        <a:rPr sz="1000" b="0">
                          <a:solidFill>
                            <a:srgbClr val="1F1F1F"/>
                          </a:solidFill>
                          <a:hlinkClick r:id="rId11"/>
                        </a:rPr>
                        <a:t>arxiv.org/abs/2506.17298</a:t>
                      </a:r>
                    </a:p>
                  </a:txBody>
                  <a:tcPr marL="54864" marR="54864" marT="32004" marB="32004" anchor="t">
                    <a:solidFill>
                      <a:srgbClr val="F3F4F8"/>
                    </a:solidFill>
                  </a:tcPr>
                </a:tc>
                <a:tc>
                  <a:txBody>
                    <a:bodyPr/>
                    <a:lstStyle/>
                    <a:p>
                      <a:r>
                        <a:rPr sz="1000" b="0">
                          <a:solidFill>
                            <a:srgbClr val="1F1F1F"/>
                          </a:solidFill>
                        </a:rPr>
                        <a:t>2026‑06</a:t>
                      </a:r>
                    </a:p>
                  </a:txBody>
                  <a:tcPr marL="54864" marR="54864" marT="32004" marB="32004" anchor="t">
                    <a:solidFill>
                      <a:srgbClr val="F3F4F8"/>
                    </a:solidFill>
                  </a:tcPr>
                </a:tc>
                <a:tc>
                  <a:txBody>
                    <a:bodyPr/>
                    <a:lstStyle/>
                    <a:p>
                      <a:r>
                        <a:rPr sz="1000" b="0">
                          <a:solidFill>
                            <a:srgbClr val="1F1F1F"/>
                          </a:solidFill>
                        </a:rPr>
                        <a:t>S1‑19</a:t>
                      </a:r>
                    </a:p>
                  </a:txBody>
                  <a:tcPr marL="54864" marR="54864" marT="32004" marB="32004" anchor="t">
                    <a:solidFill>
                      <a:srgbClr val="F3F4F8"/>
                    </a:solidFill>
                  </a:tcPr>
                </a:tc>
              </a:tr>
              <a:tr h="225551">
                <a:tc>
                  <a:txBody>
                    <a:bodyPr/>
                    <a:lstStyle/>
                    <a:p>
                      <a:r>
                        <a:rPr sz="1000" b="0">
                          <a:solidFill>
                            <a:srgbClr val="1F1F1F"/>
                          </a:solidFill>
                        </a:rPr>
                        <a:t>Google DeepMind, Gemini Diffusion</a:t>
                      </a:r>
                    </a:p>
                  </a:txBody>
                  <a:tcPr marL="54864" marR="54864" marT="32004" marB="32004" anchor="t">
                    <a:solidFill>
                      <a:srgbClr val="FFFFFF"/>
                    </a:solidFill>
                  </a:tcPr>
                </a:tc>
                <a:tc>
                  <a:txBody>
                    <a:bodyPr/>
                    <a:lstStyle/>
                    <a:p>
                      <a:r>
                        <a:rPr sz="1000" b="0">
                          <a:solidFill>
                            <a:srgbClr val="1F1F1F"/>
                          </a:solidFill>
                          <a:hlinkClick r:id="rId12"/>
                        </a:rPr>
                        <a:t>deepmind.google/models/gemini-diffusion</a:t>
                      </a:r>
                    </a:p>
                  </a:txBody>
                  <a:tcPr marL="54864" marR="54864" marT="32004" marB="32004" anchor="t">
                    <a:solidFill>
                      <a:srgbClr val="FFFFFF"/>
                    </a:solidFill>
                  </a:tcPr>
                </a:tc>
                <a:tc>
                  <a:txBody>
                    <a:bodyPr/>
                    <a:lstStyle/>
                    <a:p>
                      <a:r>
                        <a:rPr sz="1000" b="0">
                          <a:solidFill>
                            <a:srgbClr val="1F1F1F"/>
                          </a:solidFill>
                        </a:rPr>
                        <a:t>2026‑06</a:t>
                      </a:r>
                    </a:p>
                  </a:txBody>
                  <a:tcPr marL="54864" marR="54864" marT="32004" marB="32004" anchor="t">
                    <a:solidFill>
                      <a:srgbClr val="FFFFFF"/>
                    </a:solidFill>
                  </a:tcPr>
                </a:tc>
                <a:tc>
                  <a:txBody>
                    <a:bodyPr/>
                    <a:lstStyle/>
                    <a:p>
                      <a:r>
                        <a:rPr sz="1000" b="0">
                          <a:solidFill>
                            <a:srgbClr val="1F1F1F"/>
                          </a:solidFill>
                        </a:rPr>
                        <a:t>S1‑19, A-02c</a:t>
                      </a:r>
                    </a:p>
                  </a:txBody>
                  <a:tcPr marL="54864" marR="54864" marT="32004" marB="32004" anchor="t">
                    <a:solidFill>
                      <a:srgbClr val="FFFFFF"/>
                    </a:solidFill>
                  </a:tcPr>
                </a:tc>
              </a:tr>
              <a:tr h="225551">
                <a:tc>
                  <a:txBody>
                    <a:bodyPr/>
                    <a:lstStyle/>
                    <a:p>
                      <a:r>
                        <a:rPr sz="1000" b="0">
                          <a:solidFill>
                            <a:srgbClr val="1F1F1F"/>
                          </a:solidFill>
                        </a:rPr>
                        <a:t>OpenAI 2024, Learning to reason (o1)</a:t>
                      </a:r>
                    </a:p>
                  </a:txBody>
                  <a:tcPr marL="54864" marR="54864" marT="32004" marB="32004" anchor="t">
                    <a:solidFill>
                      <a:srgbClr val="F3F4F8"/>
                    </a:solidFill>
                  </a:tcPr>
                </a:tc>
                <a:tc>
                  <a:txBody>
                    <a:bodyPr/>
                    <a:lstStyle/>
                    <a:p>
                      <a:r>
                        <a:rPr sz="1000" b="0">
                          <a:solidFill>
                            <a:srgbClr val="1F1F1F"/>
                          </a:solidFill>
                          <a:hlinkClick r:id="rId13"/>
                        </a:rPr>
                        <a:t>openai.com/index/learning-to-reason-with-llms</a:t>
                      </a:r>
                    </a:p>
                  </a:txBody>
                  <a:tcPr marL="54864" marR="54864" marT="32004" marB="32004" anchor="t">
                    <a:solidFill>
                      <a:srgbClr val="F3F4F8"/>
                    </a:solidFill>
                  </a:tcPr>
                </a:tc>
                <a:tc>
                  <a:txBody>
                    <a:bodyPr/>
                    <a:lstStyle/>
                    <a:p>
                      <a:r>
                        <a:rPr sz="1000" b="0">
                          <a:solidFill>
                            <a:srgbClr val="1F1F1F"/>
                          </a:solidFill>
                        </a:rPr>
                        <a:t>2026‑06</a:t>
                      </a:r>
                    </a:p>
                  </a:txBody>
                  <a:tcPr marL="54864" marR="54864" marT="32004" marB="32004" anchor="t">
                    <a:solidFill>
                      <a:srgbClr val="F3F4F8"/>
                    </a:solidFill>
                  </a:tcPr>
                </a:tc>
                <a:tc>
                  <a:txBody>
                    <a:bodyPr/>
                    <a:lstStyle/>
                    <a:p>
                      <a:r>
                        <a:rPr sz="1000" b="0">
                          <a:solidFill>
                            <a:srgbClr val="1F1F1F"/>
                          </a:solidFill>
                        </a:rPr>
                        <a:t>S1‑20</a:t>
                      </a:r>
                    </a:p>
                  </a:txBody>
                  <a:tcPr marL="54864" marR="54864" marT="32004" marB="32004" anchor="t">
                    <a:solidFill>
                      <a:srgbClr val="F3F4F8"/>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Every source cited in this deck (4/5)</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SOURCES</a:t>
            </a:r>
          </a:p>
        </p:txBody>
      </p:sp>
      <p:graphicFrame>
        <p:nvGraphicFramePr>
          <p:cNvPr id="4" name="Table 3"/>
          <p:cNvGraphicFramePr>
            <a:graphicFrameLocks noGrp="1"/>
          </p:cNvGraphicFramePr>
          <p:nvPr/>
        </p:nvGraphicFramePr>
        <p:xfrm>
          <a:off x="585216" y="1371600"/>
          <a:ext cx="9656064" cy="3383279"/>
        </p:xfrm>
        <a:graphic>
          <a:graphicData uri="http://schemas.openxmlformats.org/drawingml/2006/table">
            <a:tbl>
              <a:tblPr firstRow="1" bandRow="1">
                <a:tableStyleId>{5C22544A-7EE6-4342-B048-85BDC9FD1C3A}</a:tableStyleId>
              </a:tblPr>
              <a:tblGrid>
                <a:gridCol w="3063240"/>
                <a:gridCol w="3931920"/>
                <a:gridCol w="868680"/>
                <a:gridCol w="1792224"/>
              </a:tblGrid>
              <a:tr h="225551">
                <a:tc>
                  <a:txBody>
                    <a:bodyPr/>
                    <a:lstStyle/>
                    <a:p>
                      <a:r>
                        <a:rPr sz="1000" b="1">
                          <a:solidFill>
                            <a:srgbClr val="FFFFFF"/>
                          </a:solidFill>
                        </a:rPr>
                        <a:t>Source</a:t>
                      </a:r>
                    </a:p>
                  </a:txBody>
                  <a:tcPr marL="54864" marR="54864" marT="32004" marB="32004" anchor="ctr">
                    <a:solidFill>
                      <a:srgbClr val="2A446F"/>
                    </a:solidFill>
                  </a:tcPr>
                </a:tc>
                <a:tc>
                  <a:txBody>
                    <a:bodyPr/>
                    <a:lstStyle/>
                    <a:p>
                      <a:r>
                        <a:rPr sz="1000" b="1">
                          <a:solidFill>
                            <a:srgbClr val="FFFFFF"/>
                          </a:solidFill>
                        </a:rPr>
                        <a:t>Link</a:t>
                      </a:r>
                    </a:p>
                  </a:txBody>
                  <a:tcPr marL="54864" marR="54864" marT="32004" marB="32004" anchor="ctr">
                    <a:solidFill>
                      <a:srgbClr val="2A446F"/>
                    </a:solidFill>
                  </a:tcPr>
                </a:tc>
                <a:tc>
                  <a:txBody>
                    <a:bodyPr/>
                    <a:lstStyle/>
                    <a:p>
                      <a:r>
                        <a:rPr sz="1000" b="1">
                          <a:solidFill>
                            <a:srgbClr val="FFFFFF"/>
                          </a:solidFill>
                        </a:rPr>
                        <a:t>Checked</a:t>
                      </a:r>
                    </a:p>
                  </a:txBody>
                  <a:tcPr marL="54864" marR="54864" marT="32004" marB="32004" anchor="ctr">
                    <a:solidFill>
                      <a:srgbClr val="2A446F"/>
                    </a:solidFill>
                  </a:tcPr>
                </a:tc>
                <a:tc>
                  <a:txBody>
                    <a:bodyPr/>
                    <a:lstStyle/>
                    <a:p>
                      <a:r>
                        <a:rPr sz="1000" b="1">
                          <a:solidFill>
                            <a:srgbClr val="FFFFFF"/>
                          </a:solidFill>
                        </a:rPr>
                        <a:t>Used on</a:t>
                      </a:r>
                    </a:p>
                  </a:txBody>
                  <a:tcPr marL="54864" marR="54864" marT="32004" marB="32004" anchor="ctr">
                    <a:solidFill>
                      <a:srgbClr val="2A446F"/>
                    </a:solidFill>
                  </a:tcPr>
                </a:tc>
              </a:tr>
              <a:tr h="225551">
                <a:tc>
                  <a:txBody>
                    <a:bodyPr/>
                    <a:lstStyle/>
                    <a:p>
                      <a:r>
                        <a:rPr sz="1000" b="0">
                          <a:solidFill>
                            <a:srgbClr val="1F1F1F"/>
                          </a:solidFill>
                        </a:rPr>
                        <a:t>Model catalog §1 (checked 2026‑09‑21)</a:t>
                      </a:r>
                    </a:p>
                  </a:txBody>
                  <a:tcPr marL="54864" marR="54864" marT="32004" marB="32004" anchor="t">
                    <a:solidFill>
                      <a:srgbClr val="FFFFFF"/>
                    </a:solidFill>
                  </a:tcPr>
                </a:tc>
                <a:tc>
                  <a:txBody>
                    <a:bodyPr/>
                    <a:lstStyle/>
                    <a:p>
                      <a:r>
                        <a:rPr sz="1000" b="0">
                          <a:solidFill>
                            <a:srgbClr val="1F1F1F"/>
                          </a:solidFill>
                        </a:rPr>
                        <a:t>05_Model_Catalog_2026‑09.md</a:t>
                      </a:r>
                    </a:p>
                  </a:txBody>
                  <a:tcPr marL="54864" marR="54864" marT="32004" marB="32004" anchor="t">
                    <a:solidFill>
                      <a:srgbClr val="FFFFFF"/>
                    </a:solidFill>
                  </a:tcPr>
                </a:tc>
                <a:tc>
                  <a:txBody>
                    <a:bodyPr/>
                    <a:lstStyle/>
                    <a:p>
                      <a:r>
                        <a:rPr sz="1000" b="0">
                          <a:solidFill>
                            <a:srgbClr val="1F1F1F"/>
                          </a:solidFill>
                        </a:rPr>
                        <a:t>2026‑09‑21</a:t>
                      </a:r>
                    </a:p>
                  </a:txBody>
                  <a:tcPr marL="54864" marR="54864" marT="32004" marB="32004" anchor="t">
                    <a:solidFill>
                      <a:srgbClr val="FFFFFF"/>
                    </a:solidFill>
                  </a:tcPr>
                </a:tc>
                <a:tc>
                  <a:txBody>
                    <a:bodyPr/>
                    <a:lstStyle/>
                    <a:p>
                      <a:r>
                        <a:rPr sz="1000" b="0">
                          <a:solidFill>
                            <a:srgbClr val="1F1F1F"/>
                          </a:solidFill>
                        </a:rPr>
                        <a:t>S1‑21</a:t>
                      </a:r>
                    </a:p>
                  </a:txBody>
                  <a:tcPr marL="54864" marR="54864" marT="32004" marB="32004" anchor="t">
                    <a:solidFill>
                      <a:srgbClr val="FFFFFF"/>
                    </a:solidFill>
                  </a:tcPr>
                </a:tc>
              </a:tr>
              <a:tr h="225551">
                <a:tc>
                  <a:txBody>
                    <a:bodyPr/>
                    <a:lstStyle/>
                    <a:p>
                      <a:r>
                        <a:rPr sz="1000" b="0">
                          <a:solidFill>
                            <a:srgbClr val="1F1F1F"/>
                          </a:solidFill>
                        </a:rPr>
                        <a:t>Artificial Analysis</a:t>
                      </a:r>
                    </a:p>
                  </a:txBody>
                  <a:tcPr marL="54864" marR="54864" marT="32004" marB="32004" anchor="t">
                    <a:solidFill>
                      <a:srgbClr val="F3F4F8"/>
                    </a:solidFill>
                  </a:tcPr>
                </a:tc>
                <a:tc>
                  <a:txBody>
                    <a:bodyPr/>
                    <a:lstStyle/>
                    <a:p>
                      <a:r>
                        <a:rPr sz="1000" b="0">
                          <a:solidFill>
                            <a:srgbClr val="1F1F1F"/>
                          </a:solidFill>
                          <a:hlinkClick r:id="rId3"/>
                        </a:rPr>
                        <a:t>artificialanalysis.ai</a:t>
                      </a:r>
                    </a:p>
                  </a:txBody>
                  <a:tcPr marL="54864" marR="54864" marT="32004" marB="32004" anchor="t">
                    <a:solidFill>
                      <a:srgbClr val="F3F4F8"/>
                    </a:solidFill>
                  </a:tcPr>
                </a:tc>
                <a:tc>
                  <a:txBody>
                    <a:bodyPr/>
                    <a:lstStyle/>
                    <a:p>
                      <a:r>
                        <a:rPr sz="1000" b="0">
                          <a:solidFill>
                            <a:srgbClr val="1F1F1F"/>
                          </a:solidFill>
                        </a:rPr>
                        <a:t>2026‑09‑21</a:t>
                      </a:r>
                    </a:p>
                  </a:txBody>
                  <a:tcPr marL="54864" marR="54864" marT="32004" marB="32004" anchor="t">
                    <a:solidFill>
                      <a:srgbClr val="F3F4F8"/>
                    </a:solidFill>
                  </a:tcPr>
                </a:tc>
                <a:tc>
                  <a:txBody>
                    <a:bodyPr/>
                    <a:lstStyle/>
                    <a:p>
                      <a:r>
                        <a:rPr sz="1000" b="0">
                          <a:solidFill>
                            <a:srgbClr val="1F1F1F"/>
                          </a:solidFill>
                        </a:rPr>
                        <a:t>S1‑21, S1‑23</a:t>
                      </a:r>
                    </a:p>
                  </a:txBody>
                  <a:tcPr marL="54864" marR="54864" marT="32004" marB="32004" anchor="t">
                    <a:solidFill>
                      <a:srgbClr val="F3F4F8"/>
                    </a:solidFill>
                  </a:tcPr>
                </a:tc>
              </a:tr>
              <a:tr h="225551">
                <a:tc>
                  <a:txBody>
                    <a:bodyPr/>
                    <a:lstStyle/>
                    <a:p>
                      <a:r>
                        <a:rPr sz="1000" b="0">
                          <a:solidFill>
                            <a:srgbClr val="1F1F1F"/>
                          </a:solidFill>
                        </a:rPr>
                        <a:t>OpenAI, Introducing GPT-5</a:t>
                      </a:r>
                    </a:p>
                  </a:txBody>
                  <a:tcPr marL="54864" marR="54864" marT="32004" marB="32004" anchor="t">
                    <a:solidFill>
                      <a:srgbClr val="FFFFFF"/>
                    </a:solidFill>
                  </a:tcPr>
                </a:tc>
                <a:tc>
                  <a:txBody>
                    <a:bodyPr/>
                    <a:lstStyle/>
                    <a:p>
                      <a:r>
                        <a:rPr sz="1000" b="0">
                          <a:solidFill>
                            <a:srgbClr val="1F1F1F"/>
                          </a:solidFill>
                          <a:hlinkClick r:id="rId4"/>
                        </a:rPr>
                        <a:t>openai.com/index/introducing-gpt-5</a:t>
                      </a:r>
                    </a:p>
                  </a:txBody>
                  <a:tcPr marL="54864" marR="54864" marT="32004" marB="32004" anchor="t">
                    <a:solidFill>
                      <a:srgbClr val="FFFFFF"/>
                    </a:solidFill>
                  </a:tcPr>
                </a:tc>
                <a:tc>
                  <a:txBody>
                    <a:bodyPr/>
                    <a:lstStyle/>
                    <a:p>
                      <a:r>
                        <a:rPr sz="1000" b="0">
                          <a:solidFill>
                            <a:srgbClr val="1F1F1F"/>
                          </a:solidFill>
                        </a:rPr>
                        <a:t>2026‑06</a:t>
                      </a:r>
                    </a:p>
                  </a:txBody>
                  <a:tcPr marL="54864" marR="54864" marT="32004" marB="32004" anchor="t">
                    <a:solidFill>
                      <a:srgbClr val="FFFFFF"/>
                    </a:solidFill>
                  </a:tcPr>
                </a:tc>
                <a:tc>
                  <a:txBody>
                    <a:bodyPr/>
                    <a:lstStyle/>
                    <a:p>
                      <a:r>
                        <a:rPr sz="1000" b="0">
                          <a:solidFill>
                            <a:srgbClr val="1F1F1F"/>
                          </a:solidFill>
                        </a:rPr>
                        <a:t>S1‑22</a:t>
                      </a:r>
                    </a:p>
                  </a:txBody>
                  <a:tcPr marL="54864" marR="54864" marT="32004" marB="32004" anchor="t">
                    <a:solidFill>
                      <a:srgbClr val="FFFFFF"/>
                    </a:solidFill>
                  </a:tcPr>
                </a:tc>
              </a:tr>
              <a:tr h="225551">
                <a:tc>
                  <a:txBody>
                    <a:bodyPr/>
                    <a:lstStyle/>
                    <a:p>
                      <a:r>
                        <a:rPr sz="1000" b="0">
                          <a:solidFill>
                            <a:srgbClr val="1F1F1F"/>
                          </a:solidFill>
                        </a:rPr>
                        <a:t>LiveBench</a:t>
                      </a:r>
                    </a:p>
                  </a:txBody>
                  <a:tcPr marL="54864" marR="54864" marT="32004" marB="32004" anchor="t">
                    <a:solidFill>
                      <a:srgbClr val="F3F4F8"/>
                    </a:solidFill>
                  </a:tcPr>
                </a:tc>
                <a:tc>
                  <a:txBody>
                    <a:bodyPr/>
                    <a:lstStyle/>
                    <a:p>
                      <a:r>
                        <a:rPr sz="1000" b="0">
                          <a:solidFill>
                            <a:srgbClr val="1F1F1F"/>
                          </a:solidFill>
                          <a:hlinkClick r:id="rId5"/>
                        </a:rPr>
                        <a:t>livebench.ai</a:t>
                      </a:r>
                    </a:p>
                  </a:txBody>
                  <a:tcPr marL="54864" marR="54864" marT="32004" marB="32004" anchor="t">
                    <a:solidFill>
                      <a:srgbClr val="F3F4F8"/>
                    </a:solidFill>
                  </a:tcPr>
                </a:tc>
                <a:tc>
                  <a:txBody>
                    <a:bodyPr/>
                    <a:lstStyle/>
                    <a:p>
                      <a:r>
                        <a:rPr sz="1000" b="0">
                          <a:solidFill>
                            <a:srgbClr val="1F1F1F"/>
                          </a:solidFill>
                        </a:rPr>
                        <a:t>2026‑06</a:t>
                      </a:r>
                    </a:p>
                  </a:txBody>
                  <a:tcPr marL="54864" marR="54864" marT="32004" marB="32004" anchor="t">
                    <a:solidFill>
                      <a:srgbClr val="F3F4F8"/>
                    </a:solidFill>
                  </a:tcPr>
                </a:tc>
                <a:tc>
                  <a:txBody>
                    <a:bodyPr/>
                    <a:lstStyle/>
                    <a:p>
                      <a:r>
                        <a:rPr sz="1000" b="0">
                          <a:solidFill>
                            <a:srgbClr val="1F1F1F"/>
                          </a:solidFill>
                        </a:rPr>
                        <a:t>S1‑23</a:t>
                      </a:r>
                    </a:p>
                  </a:txBody>
                  <a:tcPr marL="54864" marR="54864" marT="32004" marB="32004" anchor="t">
                    <a:solidFill>
                      <a:srgbClr val="F3F4F8"/>
                    </a:solidFill>
                  </a:tcPr>
                </a:tc>
              </a:tr>
              <a:tr h="225551">
                <a:tc>
                  <a:txBody>
                    <a:bodyPr/>
                    <a:lstStyle/>
                    <a:p>
                      <a:r>
                        <a:rPr sz="1000" b="0">
                          <a:solidFill>
                            <a:srgbClr val="1F1F1F"/>
                          </a:solidFill>
                        </a:rPr>
                        <a:t>Lab 2 code (tested 2026‑09‑22)</a:t>
                      </a:r>
                    </a:p>
                  </a:txBody>
                  <a:tcPr marL="54864" marR="54864" marT="32004" marB="32004" anchor="t">
                    <a:solidFill>
                      <a:srgbClr val="FFFFFF"/>
                    </a:solidFill>
                  </a:tcPr>
                </a:tc>
                <a:tc>
                  <a:txBody>
                    <a:bodyPr/>
                    <a:lstStyle/>
                    <a:p>
                      <a:r>
                        <a:rPr sz="1000" b="0">
                          <a:solidFill>
                            <a:srgbClr val="1F1F1F"/>
                          </a:solidFill>
                        </a:rPr>
                        <a:t>labs/02-rag-mcp</a:t>
                      </a:r>
                    </a:p>
                  </a:txBody>
                  <a:tcPr marL="54864" marR="54864" marT="32004" marB="32004" anchor="t">
                    <a:solidFill>
                      <a:srgbClr val="FFFFFF"/>
                    </a:solidFill>
                  </a:tcPr>
                </a:tc>
                <a:tc>
                  <a:txBody>
                    <a:bodyPr/>
                    <a:lstStyle/>
                    <a:p>
                      <a:r>
                        <a:rPr sz="1000" b="0">
                          <a:solidFill>
                            <a:srgbClr val="1F1F1F"/>
                          </a:solidFill>
                        </a:rPr>
                        <a:t>2026‑09‑22</a:t>
                      </a:r>
                    </a:p>
                  </a:txBody>
                  <a:tcPr marL="54864" marR="54864" marT="32004" marB="32004" anchor="t">
                    <a:solidFill>
                      <a:srgbClr val="FFFFFF"/>
                    </a:solidFill>
                  </a:tcPr>
                </a:tc>
                <a:tc>
                  <a:txBody>
                    <a:bodyPr/>
                    <a:lstStyle/>
                    <a:p>
                      <a:r>
                        <a:rPr sz="1000" b="0">
                          <a:solidFill>
                            <a:srgbClr val="1F1F1F"/>
                          </a:solidFill>
                        </a:rPr>
                        <a:t>S1‑25</a:t>
                      </a:r>
                    </a:p>
                  </a:txBody>
                  <a:tcPr marL="54864" marR="54864" marT="32004" marB="32004" anchor="t">
                    <a:solidFill>
                      <a:srgbClr val="FFFFFF"/>
                    </a:solidFill>
                  </a:tcPr>
                </a:tc>
              </a:tr>
              <a:tr h="225551">
                <a:tc>
                  <a:txBody>
                    <a:bodyPr/>
                    <a:lstStyle/>
                    <a:p>
                      <a:r>
                        <a:rPr sz="1000" b="0">
                          <a:solidFill>
                            <a:srgbClr val="1F1F1F"/>
                          </a:solidFill>
                        </a:rPr>
                        <a:t>Verified snippets 2026‑09‑22</a:t>
                      </a:r>
                    </a:p>
                  </a:txBody>
                  <a:tcPr marL="54864" marR="54864" marT="32004" marB="32004" anchor="t">
                    <a:solidFill>
                      <a:srgbClr val="F3F4F8"/>
                    </a:solidFill>
                  </a:tcPr>
                </a:tc>
                <a:tc>
                  <a:txBody>
                    <a:bodyPr/>
                    <a:lstStyle/>
                    <a:p>
                      <a:r>
                        <a:rPr sz="1000" b="0">
                          <a:solidFill>
                            <a:srgbClr val="1F1F1F"/>
                          </a:solidFill>
                        </a:rPr>
                        <a:t>labs/_verified_snippets</a:t>
                      </a:r>
                    </a:p>
                  </a:txBody>
                  <a:tcPr marL="54864" marR="54864" marT="32004" marB="32004" anchor="t">
                    <a:solidFill>
                      <a:srgbClr val="F3F4F8"/>
                    </a:solidFill>
                  </a:tcPr>
                </a:tc>
                <a:tc>
                  <a:txBody>
                    <a:bodyPr/>
                    <a:lstStyle/>
                    <a:p>
                      <a:r>
                        <a:rPr sz="1000" b="0">
                          <a:solidFill>
                            <a:srgbClr val="1F1F1F"/>
                          </a:solidFill>
                        </a:rPr>
                        <a:t>2026‑09‑22</a:t>
                      </a:r>
                    </a:p>
                  </a:txBody>
                  <a:tcPr marL="54864" marR="54864" marT="32004" marB="32004" anchor="t">
                    <a:solidFill>
                      <a:srgbClr val="F3F4F8"/>
                    </a:solidFill>
                  </a:tcPr>
                </a:tc>
                <a:tc>
                  <a:txBody>
                    <a:bodyPr/>
                    <a:lstStyle/>
                    <a:p>
                      <a:r>
                        <a:rPr sz="1000" b="0">
                          <a:solidFill>
                            <a:srgbClr val="1F1F1F"/>
                          </a:solidFill>
                        </a:rPr>
                        <a:t>S1‑27, S1‑29, S1‑30, S1‑33</a:t>
                      </a:r>
                    </a:p>
                  </a:txBody>
                  <a:tcPr marL="54864" marR="54864" marT="32004" marB="32004" anchor="t">
                    <a:solidFill>
                      <a:srgbClr val="F3F4F8"/>
                    </a:solidFill>
                  </a:tcPr>
                </a:tc>
              </a:tr>
              <a:tr h="225551">
                <a:tc>
                  <a:txBody>
                    <a:bodyPr/>
                    <a:lstStyle/>
                    <a:p>
                      <a:r>
                        <a:rPr sz="1000" b="0">
                          <a:solidFill>
                            <a:srgbClr val="1F1F1F"/>
                          </a:solidFill>
                        </a:rPr>
                        <a:t>Foundry deployment types</a:t>
                      </a:r>
                    </a:p>
                  </a:txBody>
                  <a:tcPr marL="54864" marR="54864" marT="32004" marB="32004" anchor="t">
                    <a:solidFill>
                      <a:srgbClr val="FFFFFF"/>
                    </a:solidFill>
                  </a:tcPr>
                </a:tc>
                <a:tc>
                  <a:txBody>
                    <a:bodyPr/>
                    <a:lstStyle/>
                    <a:p>
                      <a:r>
                        <a:rPr sz="1000" b="0">
                          <a:solidFill>
                            <a:srgbClr val="1F1F1F"/>
                          </a:solidFill>
                          <a:hlinkClick r:id="rId6"/>
                        </a:rPr>
                        <a:t>learn.microsoft.com/en-us/azure/foundry/f…deployment-types</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S1‑30</a:t>
                      </a:r>
                    </a:p>
                  </a:txBody>
                  <a:tcPr marL="54864" marR="54864" marT="32004" marB="32004" anchor="t">
                    <a:solidFill>
                      <a:srgbClr val="FFFFFF"/>
                    </a:solidFill>
                  </a:tcPr>
                </a:tc>
              </a:tr>
              <a:tr h="225551">
                <a:tc>
                  <a:txBody>
                    <a:bodyPr/>
                    <a:lstStyle/>
                    <a:p>
                      <a:r>
                        <a:rPr sz="1000" b="0">
                          <a:solidFill>
                            <a:srgbClr val="1F1F1F"/>
                          </a:solidFill>
                        </a:rPr>
                        <a:t>OpenAI prompt caching guide</a:t>
                      </a:r>
                    </a:p>
                  </a:txBody>
                  <a:tcPr marL="54864" marR="54864" marT="32004" marB="32004" anchor="t">
                    <a:solidFill>
                      <a:srgbClr val="F3F4F8"/>
                    </a:solidFill>
                  </a:tcPr>
                </a:tc>
                <a:tc>
                  <a:txBody>
                    <a:bodyPr/>
                    <a:lstStyle/>
                    <a:p>
                      <a:r>
                        <a:rPr sz="1000" b="0">
                          <a:solidFill>
                            <a:srgbClr val="1F1F1F"/>
                          </a:solidFill>
                          <a:hlinkClick r:id="rId7"/>
                        </a:rPr>
                        <a:t>developers.openai.com/api/docs/guides/prompt-caching</a:t>
                      </a:r>
                    </a:p>
                  </a:txBody>
                  <a:tcPr marL="54864" marR="54864" marT="32004" marB="32004" anchor="t">
                    <a:solidFill>
                      <a:srgbClr val="F3F4F8"/>
                    </a:solidFill>
                  </a:tcPr>
                </a:tc>
                <a:tc>
                  <a:txBody>
                    <a:bodyPr/>
                    <a:lstStyle/>
                    <a:p>
                      <a:r>
                        <a:rPr sz="1000" b="0">
                          <a:solidFill>
                            <a:srgbClr val="1F1F1F"/>
                          </a:solidFill>
                        </a:rPr>
                        <a:t>2026‑09‑23</a:t>
                      </a:r>
                    </a:p>
                  </a:txBody>
                  <a:tcPr marL="54864" marR="54864" marT="32004" marB="32004" anchor="t">
                    <a:solidFill>
                      <a:srgbClr val="F3F4F8"/>
                    </a:solidFill>
                  </a:tcPr>
                </a:tc>
                <a:tc>
                  <a:txBody>
                    <a:bodyPr/>
                    <a:lstStyle/>
                    <a:p>
                      <a:r>
                        <a:rPr sz="1000" b="0">
                          <a:solidFill>
                            <a:srgbClr val="1F1F1F"/>
                          </a:solidFill>
                        </a:rPr>
                        <a:t>S1‑30</a:t>
                      </a:r>
                    </a:p>
                  </a:txBody>
                  <a:tcPr marL="54864" marR="54864" marT="32004" marB="32004" anchor="t">
                    <a:solidFill>
                      <a:srgbClr val="F3F4F8"/>
                    </a:solidFill>
                  </a:tcPr>
                </a:tc>
              </a:tr>
              <a:tr h="225551">
                <a:tc>
                  <a:txBody>
                    <a:bodyPr/>
                    <a:lstStyle/>
                    <a:p>
                      <a:r>
                        <a:rPr sz="1000" b="0">
                          <a:solidFill>
                            <a:srgbClr val="1F1F1F"/>
                          </a:solidFill>
                        </a:rPr>
                        <a:t>Framework landscape 2026‑09‑19</a:t>
                      </a:r>
                    </a:p>
                  </a:txBody>
                  <a:tcPr marL="54864" marR="54864" marT="32004" marB="32004" anchor="t">
                    <a:solidFill>
                      <a:srgbClr val="FFFFFF"/>
                    </a:solidFill>
                  </a:tcPr>
                </a:tc>
                <a:tc>
                  <a:txBody>
                    <a:bodyPr/>
                    <a:lstStyle/>
                    <a:p>
                      <a:r>
                        <a:rPr sz="1000" b="0">
                          <a:solidFill>
                            <a:srgbClr val="1F1F1F"/>
                          </a:solidFill>
                        </a:rPr>
                        <a:t>research/2026‑09‑19_framework-landscape.md</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S1‑31, S1‑33</a:t>
                      </a:r>
                    </a:p>
                  </a:txBody>
                  <a:tcPr marL="54864" marR="54864" marT="32004" marB="32004" anchor="t">
                    <a:solidFill>
                      <a:srgbClr val="FFFFFF"/>
                    </a:solidFill>
                  </a:tcPr>
                </a:tc>
              </a:tr>
              <a:tr h="225551">
                <a:tc>
                  <a:txBody>
                    <a:bodyPr/>
                    <a:lstStyle/>
                    <a:p>
                      <a:r>
                        <a:rPr sz="1000" b="0">
                          <a:solidFill>
                            <a:srgbClr val="1F1F1F"/>
                          </a:solidFill>
                        </a:rPr>
                        <a:t>OpenAI API deprecations</a:t>
                      </a:r>
                    </a:p>
                  </a:txBody>
                  <a:tcPr marL="54864" marR="54864" marT="32004" marB="32004" anchor="t">
                    <a:solidFill>
                      <a:srgbClr val="F3F4F8"/>
                    </a:solidFill>
                  </a:tcPr>
                </a:tc>
                <a:tc>
                  <a:txBody>
                    <a:bodyPr/>
                    <a:lstStyle/>
                    <a:p>
                      <a:r>
                        <a:rPr sz="1000" b="0">
                          <a:solidFill>
                            <a:srgbClr val="1F1F1F"/>
                          </a:solidFill>
                          <a:hlinkClick r:id="rId8"/>
                        </a:rPr>
                        <a:t>developers.openai.com/api/docs/deprecations</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S1‑31</a:t>
                      </a:r>
                    </a:p>
                  </a:txBody>
                  <a:tcPr marL="54864" marR="54864" marT="32004" marB="32004" anchor="t">
                    <a:solidFill>
                      <a:srgbClr val="F3F4F8"/>
                    </a:solidFill>
                  </a:tcPr>
                </a:tc>
              </a:tr>
              <a:tr h="225551">
                <a:tc>
                  <a:txBody>
                    <a:bodyPr/>
                    <a:lstStyle/>
                    <a:p>
                      <a:r>
                        <a:rPr sz="1000" b="0">
                          <a:solidFill>
                            <a:srgbClr val="1F1F1F"/>
                          </a:solidFill>
                        </a:rPr>
                        <a:t>Foundry SDK overview (endpoints)</a:t>
                      </a:r>
                    </a:p>
                  </a:txBody>
                  <a:tcPr marL="54864" marR="54864" marT="32004" marB="32004" anchor="t">
                    <a:solidFill>
                      <a:srgbClr val="FFFFFF"/>
                    </a:solidFill>
                  </a:tcPr>
                </a:tc>
                <a:tc>
                  <a:txBody>
                    <a:bodyPr/>
                    <a:lstStyle/>
                    <a:p>
                      <a:r>
                        <a:rPr sz="1000" b="0">
                          <a:solidFill>
                            <a:srgbClr val="1F1F1F"/>
                          </a:solidFill>
                          <a:hlinkClick r:id="rId9"/>
                        </a:rPr>
                        <a:t>learn.microsoft.com/en-us/azure/foundry/h…lop/sdk-overview</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S1‑32</a:t>
                      </a:r>
                    </a:p>
                  </a:txBody>
                  <a:tcPr marL="54864" marR="54864" marT="32004" marB="32004" anchor="t">
                    <a:solidFill>
                      <a:srgbClr val="FFFFFF"/>
                    </a:solidFill>
                  </a:tcPr>
                </a:tc>
              </a:tr>
              <a:tr h="225551">
                <a:tc>
                  <a:txBody>
                    <a:bodyPr/>
                    <a:lstStyle/>
                    <a:p>
                      <a:r>
                        <a:rPr sz="1000" b="0">
                          <a:solidFill>
                            <a:srgbClr val="1F1F1F"/>
                          </a:solidFill>
                        </a:rPr>
                        <a:t>OpenRouter docs</a:t>
                      </a:r>
                    </a:p>
                  </a:txBody>
                  <a:tcPr marL="54864" marR="54864" marT="32004" marB="32004" anchor="t">
                    <a:solidFill>
                      <a:srgbClr val="F3F4F8"/>
                    </a:solidFill>
                  </a:tcPr>
                </a:tc>
                <a:tc>
                  <a:txBody>
                    <a:bodyPr/>
                    <a:lstStyle/>
                    <a:p>
                      <a:r>
                        <a:rPr sz="1000" b="0">
                          <a:solidFill>
                            <a:srgbClr val="1F1F1F"/>
                          </a:solidFill>
                          <a:hlinkClick r:id="rId10"/>
                        </a:rPr>
                        <a:t>openrouter.ai/docs/quickstart</a:t>
                      </a:r>
                    </a:p>
                  </a:txBody>
                  <a:tcPr marL="54864" marR="54864" marT="32004" marB="32004" anchor="t">
                    <a:solidFill>
                      <a:srgbClr val="F3F4F8"/>
                    </a:solidFill>
                  </a:tcPr>
                </a:tc>
                <a:tc>
                  <a:txBody>
                    <a:bodyPr/>
                    <a:lstStyle/>
                    <a:p>
                      <a:r>
                        <a:rPr sz="1000" b="0">
                          <a:solidFill>
                            <a:srgbClr val="1F1F1F"/>
                          </a:solidFill>
                        </a:rPr>
                        <a:t>2026‑09‑23</a:t>
                      </a:r>
                    </a:p>
                  </a:txBody>
                  <a:tcPr marL="54864" marR="54864" marT="32004" marB="32004" anchor="t">
                    <a:solidFill>
                      <a:srgbClr val="F3F4F8"/>
                    </a:solidFill>
                  </a:tcPr>
                </a:tc>
                <a:tc>
                  <a:txBody>
                    <a:bodyPr/>
                    <a:lstStyle/>
                    <a:p>
                      <a:r>
                        <a:rPr sz="1000" b="0">
                          <a:solidFill>
                            <a:srgbClr val="1F1F1F"/>
                          </a:solidFill>
                        </a:rPr>
                        <a:t>S1‑32</a:t>
                      </a:r>
                    </a:p>
                  </a:txBody>
                  <a:tcPr marL="54864" marR="54864" marT="32004" marB="32004" anchor="t">
                    <a:solidFill>
                      <a:srgbClr val="F3F4F8"/>
                    </a:solidFill>
                  </a:tcPr>
                </a:tc>
              </a:tr>
              <a:tr h="225551">
                <a:tc>
                  <a:txBody>
                    <a:bodyPr/>
                    <a:lstStyle/>
                    <a:p>
                      <a:r>
                        <a:rPr sz="1000" b="0">
                          <a:solidFill>
                            <a:srgbClr val="1F1F1F"/>
                          </a:solidFill>
                        </a:rPr>
                        <a:t>LangChain v1 release notes</a:t>
                      </a:r>
                    </a:p>
                  </a:txBody>
                  <a:tcPr marL="54864" marR="54864" marT="32004" marB="32004" anchor="t">
                    <a:solidFill>
                      <a:srgbClr val="FFFFFF"/>
                    </a:solidFill>
                  </a:tcPr>
                </a:tc>
                <a:tc>
                  <a:txBody>
                    <a:bodyPr/>
                    <a:lstStyle/>
                    <a:p>
                      <a:r>
                        <a:rPr sz="1000" b="0">
                          <a:solidFill>
                            <a:srgbClr val="1F1F1F"/>
                          </a:solidFill>
                          <a:hlinkClick r:id="rId11"/>
                        </a:rPr>
                        <a:t>docs.langchain.com/oss/python/releases/langchain-v1</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S1‑33</a:t>
                      </a:r>
                    </a:p>
                  </a:txBody>
                  <a:tcPr marL="54864" marR="54864" marT="32004" marB="32004" anchor="t">
                    <a:solidFill>
                      <a:srgbClr val="FFFFFF"/>
                    </a:solidFill>
                  </a:tcPr>
                </a:tc>
              </a:tr>
              <a:tr h="225551">
                <a:tc>
                  <a:txBody>
                    <a:bodyPr/>
                    <a:lstStyle/>
                    <a:p>
                      <a:r>
                        <a:rPr sz="1000" b="0">
                          <a:solidFill>
                            <a:srgbClr val="1F1F1F"/>
                          </a:solidFill>
                        </a:rPr>
                        <a:t>Vercel, AI SDK 7</a:t>
                      </a:r>
                    </a:p>
                  </a:txBody>
                  <a:tcPr marL="54864" marR="54864" marT="32004" marB="32004" anchor="t">
                    <a:solidFill>
                      <a:srgbClr val="F3F4F8"/>
                    </a:solidFill>
                  </a:tcPr>
                </a:tc>
                <a:tc>
                  <a:txBody>
                    <a:bodyPr/>
                    <a:lstStyle/>
                    <a:p>
                      <a:r>
                        <a:rPr sz="1000" b="0">
                          <a:solidFill>
                            <a:srgbClr val="1F1F1F"/>
                          </a:solidFill>
                          <a:hlinkClick r:id="rId12"/>
                        </a:rPr>
                        <a:t>vercel.com/blog/ai-sdk-7</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S1‑33</a:t>
                      </a:r>
                    </a:p>
                  </a:txBody>
                  <a:tcPr marL="54864" marR="54864" marT="32004" marB="32004" anchor="t">
                    <a:solidFill>
                      <a:srgbClr val="F3F4F8"/>
                    </a:solidFill>
                  </a:tcPr>
                </a:tc>
              </a:tr>
            </a:tbl>
          </a:graphicData>
        </a:graphic>
      </p:graphicFrame>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Every source cited in this deck (5/5)</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SOURCES</a:t>
            </a:r>
          </a:p>
        </p:txBody>
      </p:sp>
      <p:graphicFrame>
        <p:nvGraphicFramePr>
          <p:cNvPr id="4" name="Table 3"/>
          <p:cNvGraphicFramePr>
            <a:graphicFrameLocks noGrp="1"/>
          </p:cNvGraphicFramePr>
          <p:nvPr/>
        </p:nvGraphicFramePr>
        <p:xfrm>
          <a:off x="585216" y="1371600"/>
          <a:ext cx="9656064" cy="3383279"/>
        </p:xfrm>
        <a:graphic>
          <a:graphicData uri="http://schemas.openxmlformats.org/drawingml/2006/table">
            <a:tbl>
              <a:tblPr firstRow="1" bandRow="1">
                <a:tableStyleId>{5C22544A-7EE6-4342-B048-85BDC9FD1C3A}</a:tableStyleId>
              </a:tblPr>
              <a:tblGrid>
                <a:gridCol w="3063240"/>
                <a:gridCol w="3931920"/>
                <a:gridCol w="868680"/>
                <a:gridCol w="1792224"/>
              </a:tblGrid>
              <a:tr h="225551">
                <a:tc>
                  <a:txBody>
                    <a:bodyPr/>
                    <a:lstStyle/>
                    <a:p>
                      <a:r>
                        <a:rPr sz="1000" b="1">
                          <a:solidFill>
                            <a:srgbClr val="FFFFFF"/>
                          </a:solidFill>
                        </a:rPr>
                        <a:t>Source</a:t>
                      </a:r>
                    </a:p>
                  </a:txBody>
                  <a:tcPr marL="54864" marR="54864" marT="32004" marB="32004" anchor="ctr">
                    <a:solidFill>
                      <a:srgbClr val="2A446F"/>
                    </a:solidFill>
                  </a:tcPr>
                </a:tc>
                <a:tc>
                  <a:txBody>
                    <a:bodyPr/>
                    <a:lstStyle/>
                    <a:p>
                      <a:r>
                        <a:rPr sz="1000" b="1">
                          <a:solidFill>
                            <a:srgbClr val="FFFFFF"/>
                          </a:solidFill>
                        </a:rPr>
                        <a:t>Link</a:t>
                      </a:r>
                    </a:p>
                  </a:txBody>
                  <a:tcPr marL="54864" marR="54864" marT="32004" marB="32004" anchor="ctr">
                    <a:solidFill>
                      <a:srgbClr val="2A446F"/>
                    </a:solidFill>
                  </a:tcPr>
                </a:tc>
                <a:tc>
                  <a:txBody>
                    <a:bodyPr/>
                    <a:lstStyle/>
                    <a:p>
                      <a:r>
                        <a:rPr sz="1000" b="1">
                          <a:solidFill>
                            <a:srgbClr val="FFFFFF"/>
                          </a:solidFill>
                        </a:rPr>
                        <a:t>Checked</a:t>
                      </a:r>
                    </a:p>
                  </a:txBody>
                  <a:tcPr marL="54864" marR="54864" marT="32004" marB="32004" anchor="ctr">
                    <a:solidFill>
                      <a:srgbClr val="2A446F"/>
                    </a:solidFill>
                  </a:tcPr>
                </a:tc>
                <a:tc>
                  <a:txBody>
                    <a:bodyPr/>
                    <a:lstStyle/>
                    <a:p>
                      <a:r>
                        <a:rPr sz="1000" b="1">
                          <a:solidFill>
                            <a:srgbClr val="FFFFFF"/>
                          </a:solidFill>
                        </a:rPr>
                        <a:t>Used on</a:t>
                      </a:r>
                    </a:p>
                  </a:txBody>
                  <a:tcPr marL="54864" marR="54864" marT="32004" marB="32004" anchor="ctr">
                    <a:solidFill>
                      <a:srgbClr val="2A446F"/>
                    </a:solidFill>
                  </a:tcPr>
                </a:tc>
              </a:tr>
              <a:tr h="225551">
                <a:tc>
                  <a:txBody>
                    <a:bodyPr/>
                    <a:lstStyle/>
                    <a:p>
                      <a:r>
                        <a:rPr sz="1000" b="0">
                          <a:solidFill>
                            <a:srgbClr val="1F1F1F"/>
                          </a:solidFill>
                        </a:rPr>
                        <a:t>Model catalog §10 (checked 2026‑09‑21)</a:t>
                      </a:r>
                    </a:p>
                  </a:txBody>
                  <a:tcPr marL="54864" marR="54864" marT="32004" marB="32004" anchor="t">
                    <a:solidFill>
                      <a:srgbClr val="FFFFFF"/>
                    </a:solidFill>
                  </a:tcPr>
                </a:tc>
                <a:tc>
                  <a:txBody>
                    <a:bodyPr/>
                    <a:lstStyle/>
                    <a:p>
                      <a:r>
                        <a:rPr sz="1000" b="0">
                          <a:solidFill>
                            <a:srgbClr val="1F1F1F"/>
                          </a:solidFill>
                        </a:rPr>
                        <a:t>05_Model_Catalog_2026‑09.md</a:t>
                      </a:r>
                    </a:p>
                  </a:txBody>
                  <a:tcPr marL="54864" marR="54864" marT="32004" marB="32004" anchor="t">
                    <a:solidFill>
                      <a:srgbClr val="FFFFFF"/>
                    </a:solidFill>
                  </a:tcPr>
                </a:tc>
                <a:tc>
                  <a:txBody>
                    <a:bodyPr/>
                    <a:lstStyle/>
                    <a:p>
                      <a:r>
                        <a:rPr sz="1000" b="0">
                          <a:solidFill>
                            <a:srgbClr val="1F1F1F"/>
                          </a:solidFill>
                        </a:rPr>
                        <a:t>2026‑09‑21</a:t>
                      </a:r>
                    </a:p>
                  </a:txBody>
                  <a:tcPr marL="54864" marR="54864" marT="32004" marB="32004" anchor="t">
                    <a:solidFill>
                      <a:srgbClr val="FFFFFF"/>
                    </a:solidFill>
                  </a:tcPr>
                </a:tc>
                <a:tc>
                  <a:txBody>
                    <a:bodyPr/>
                    <a:lstStyle/>
                    <a:p>
                      <a:r>
                        <a:rPr sz="1000" b="0">
                          <a:solidFill>
                            <a:srgbClr val="1F1F1F"/>
                          </a:solidFill>
                        </a:rPr>
                        <a:t>S1-D2</a:t>
                      </a:r>
                    </a:p>
                  </a:txBody>
                  <a:tcPr marL="54864" marR="54864" marT="32004" marB="32004" anchor="t">
                    <a:solidFill>
                      <a:srgbClr val="FFFFFF"/>
                    </a:solidFill>
                  </a:tcPr>
                </a:tc>
              </a:tr>
              <a:tr h="225551">
                <a:tc>
                  <a:txBody>
                    <a:bodyPr/>
                    <a:lstStyle/>
                    <a:p>
                      <a:r>
                        <a:rPr sz="1000" b="0">
                          <a:solidFill>
                            <a:srgbClr val="1F1F1F"/>
                          </a:solidFill>
                        </a:rPr>
                        <a:t>Model catalog §4 (checked 2026‑09‑21)</a:t>
                      </a:r>
                    </a:p>
                  </a:txBody>
                  <a:tcPr marL="54864" marR="54864" marT="32004" marB="32004" anchor="t">
                    <a:solidFill>
                      <a:srgbClr val="F3F4F8"/>
                    </a:solidFill>
                  </a:tcPr>
                </a:tc>
                <a:tc>
                  <a:txBody>
                    <a:bodyPr/>
                    <a:lstStyle/>
                    <a:p>
                      <a:r>
                        <a:rPr sz="1000" b="0">
                          <a:solidFill>
                            <a:srgbClr val="1F1F1F"/>
                          </a:solidFill>
                        </a:rPr>
                        <a:t>05_Model_Catalog_2026‑09.md</a:t>
                      </a:r>
                    </a:p>
                  </a:txBody>
                  <a:tcPr marL="54864" marR="54864" marT="32004" marB="32004" anchor="t">
                    <a:solidFill>
                      <a:srgbClr val="F3F4F8"/>
                    </a:solidFill>
                  </a:tcPr>
                </a:tc>
                <a:tc>
                  <a:txBody>
                    <a:bodyPr/>
                    <a:lstStyle/>
                    <a:p>
                      <a:r>
                        <a:rPr sz="1000" b="0">
                          <a:solidFill>
                            <a:srgbClr val="1F1F1F"/>
                          </a:solidFill>
                        </a:rPr>
                        <a:t>2026‑09‑21</a:t>
                      </a:r>
                    </a:p>
                  </a:txBody>
                  <a:tcPr marL="54864" marR="54864" marT="32004" marB="32004" anchor="t">
                    <a:solidFill>
                      <a:srgbClr val="F3F4F8"/>
                    </a:solidFill>
                  </a:tcPr>
                </a:tc>
                <a:tc>
                  <a:txBody>
                    <a:bodyPr/>
                    <a:lstStyle/>
                    <a:p>
                      <a:r>
                        <a:rPr sz="1000" b="0">
                          <a:solidFill>
                            <a:srgbClr val="1F1F1F"/>
                          </a:solidFill>
                        </a:rPr>
                        <a:t>S1‑34</a:t>
                      </a:r>
                    </a:p>
                  </a:txBody>
                  <a:tcPr marL="54864" marR="54864" marT="32004" marB="32004" anchor="t">
                    <a:solidFill>
                      <a:srgbClr val="F3F4F8"/>
                    </a:solidFill>
                  </a:tcPr>
                </a:tc>
              </a:tr>
              <a:tr h="225551">
                <a:tc>
                  <a:txBody>
                    <a:bodyPr/>
                    <a:lstStyle/>
                    <a:p>
                      <a:r>
                        <a:rPr sz="1000" b="0">
                          <a:solidFill>
                            <a:srgbClr val="1F1F1F"/>
                          </a:solidFill>
                        </a:rPr>
                        <a:t>Jev / System One note 2026‑09‑21</a:t>
                      </a:r>
                    </a:p>
                  </a:txBody>
                  <a:tcPr marL="54864" marR="54864" marT="32004" marB="32004" anchor="t">
                    <a:solidFill>
                      <a:srgbClr val="FFFFFF"/>
                    </a:solidFill>
                  </a:tcPr>
                </a:tc>
                <a:tc>
                  <a:txBody>
                    <a:bodyPr/>
                    <a:lstStyle/>
                    <a:p>
                      <a:r>
                        <a:rPr sz="1000" b="0">
                          <a:solidFill>
                            <a:srgbClr val="1F1F1F"/>
                          </a:solidFill>
                        </a:rPr>
                        <a:t>research/2026‑09‑21_jev-system-one-models.md</a:t>
                      </a:r>
                    </a:p>
                  </a:txBody>
                  <a:tcPr marL="54864" marR="54864" marT="32004" marB="32004" anchor="t">
                    <a:solidFill>
                      <a:srgbClr val="FFFFFF"/>
                    </a:solidFill>
                  </a:tcPr>
                </a:tc>
                <a:tc>
                  <a:txBody>
                    <a:bodyPr/>
                    <a:lstStyle/>
                    <a:p>
                      <a:r>
                        <a:rPr sz="1000" b="0">
                          <a:solidFill>
                            <a:srgbClr val="1F1F1F"/>
                          </a:solidFill>
                        </a:rPr>
                        <a:t>2026‑09‑21</a:t>
                      </a:r>
                    </a:p>
                  </a:txBody>
                  <a:tcPr marL="54864" marR="54864" marT="32004" marB="32004" anchor="t">
                    <a:solidFill>
                      <a:srgbClr val="FFFFFF"/>
                    </a:solidFill>
                  </a:tcPr>
                </a:tc>
                <a:tc>
                  <a:txBody>
                    <a:bodyPr/>
                    <a:lstStyle/>
                    <a:p>
                      <a:r>
                        <a:rPr sz="1000" b="0">
                          <a:solidFill>
                            <a:srgbClr val="1F1F1F"/>
                          </a:solidFill>
                        </a:rPr>
                        <a:t>S1‑34</a:t>
                      </a:r>
                    </a:p>
                  </a:txBody>
                  <a:tcPr marL="54864" marR="54864" marT="32004" marB="32004" anchor="t">
                    <a:solidFill>
                      <a:srgbClr val="FFFFFF"/>
                    </a:solidFill>
                  </a:tcPr>
                </a:tc>
              </a:tr>
              <a:tr h="225551">
                <a:tc>
                  <a:txBody>
                    <a:bodyPr/>
                    <a:lstStyle/>
                    <a:p>
                      <a:r>
                        <a:rPr sz="1000" b="0">
                          <a:solidFill>
                            <a:srgbClr val="1F1F1F"/>
                          </a:solidFill>
                        </a:rPr>
                        <a:t>TypeSafe AI, Introducing Jev</a:t>
                      </a:r>
                    </a:p>
                  </a:txBody>
                  <a:tcPr marL="54864" marR="54864" marT="32004" marB="32004" anchor="t">
                    <a:solidFill>
                      <a:srgbClr val="F3F4F8"/>
                    </a:solidFill>
                  </a:tcPr>
                </a:tc>
                <a:tc>
                  <a:txBody>
                    <a:bodyPr/>
                    <a:lstStyle/>
                    <a:p>
                      <a:r>
                        <a:rPr sz="1000" b="0">
                          <a:solidFill>
                            <a:srgbClr val="1F1F1F"/>
                          </a:solidFill>
                          <a:hlinkClick r:id="rId3"/>
                        </a:rPr>
                        <a:t>typesafe.ai/blog/introducing-system-one-models-and-jev</a:t>
                      </a:r>
                    </a:p>
                  </a:txBody>
                  <a:tcPr marL="54864" marR="54864" marT="32004" marB="32004" anchor="t">
                    <a:solidFill>
                      <a:srgbClr val="F3F4F8"/>
                    </a:solidFill>
                  </a:tcPr>
                </a:tc>
                <a:tc>
                  <a:txBody>
                    <a:bodyPr/>
                    <a:lstStyle/>
                    <a:p>
                      <a:r>
                        <a:rPr sz="1000" b="0">
                          <a:solidFill>
                            <a:srgbClr val="1F1F1F"/>
                          </a:solidFill>
                        </a:rPr>
                        <a:t>2026‑09‑21</a:t>
                      </a:r>
                    </a:p>
                  </a:txBody>
                  <a:tcPr marL="54864" marR="54864" marT="32004" marB="32004" anchor="t">
                    <a:solidFill>
                      <a:srgbClr val="F3F4F8"/>
                    </a:solidFill>
                  </a:tcPr>
                </a:tc>
                <a:tc>
                  <a:txBody>
                    <a:bodyPr/>
                    <a:lstStyle/>
                    <a:p>
                      <a:r>
                        <a:rPr sz="1000" b="0">
                          <a:solidFill>
                            <a:srgbClr val="1F1F1F"/>
                          </a:solidFill>
                        </a:rPr>
                        <a:t>S1‑34</a:t>
                      </a:r>
                    </a:p>
                  </a:txBody>
                  <a:tcPr marL="54864" marR="54864" marT="32004" marB="32004" anchor="t">
                    <a:solidFill>
                      <a:srgbClr val="F3F4F8"/>
                    </a:solidFill>
                  </a:tcPr>
                </a:tc>
              </a:tr>
              <a:tr h="225551">
                <a:tc>
                  <a:txBody>
                    <a:bodyPr/>
                    <a:lstStyle/>
                    <a:p>
                      <a:r>
                        <a:rPr sz="1000" b="0">
                          <a:solidFill>
                            <a:srgbClr val="1F1F1F"/>
                          </a:solidFill>
                        </a:rPr>
                        <a:t>OpenAI 2025, Why LMs hallucinate</a:t>
                      </a:r>
                    </a:p>
                  </a:txBody>
                  <a:tcPr marL="54864" marR="54864" marT="32004" marB="32004" anchor="t">
                    <a:solidFill>
                      <a:srgbClr val="FFFFFF"/>
                    </a:solidFill>
                  </a:tcPr>
                </a:tc>
                <a:tc>
                  <a:txBody>
                    <a:bodyPr/>
                    <a:lstStyle/>
                    <a:p>
                      <a:r>
                        <a:rPr sz="1000" b="0">
                          <a:solidFill>
                            <a:srgbClr val="1F1F1F"/>
                          </a:solidFill>
                          <a:hlinkClick r:id="rId4"/>
                        </a:rPr>
                        <a:t>openai.com/index/why-language-models-hallucinate</a:t>
                      </a:r>
                    </a:p>
                  </a:txBody>
                  <a:tcPr marL="54864" marR="54864" marT="32004" marB="32004" anchor="t">
                    <a:solidFill>
                      <a:srgbClr val="FFFFFF"/>
                    </a:solidFill>
                  </a:tcPr>
                </a:tc>
                <a:tc>
                  <a:txBody>
                    <a:bodyPr/>
                    <a:lstStyle/>
                    <a:p>
                      <a:r>
                        <a:rPr sz="1000" b="0">
                          <a:solidFill>
                            <a:srgbClr val="1F1F1F"/>
                          </a:solidFill>
                        </a:rPr>
                        <a:t>2026‑06</a:t>
                      </a:r>
                    </a:p>
                  </a:txBody>
                  <a:tcPr marL="54864" marR="54864" marT="32004" marB="32004" anchor="t">
                    <a:solidFill>
                      <a:srgbClr val="FFFFFF"/>
                    </a:solidFill>
                  </a:tcPr>
                </a:tc>
                <a:tc>
                  <a:txBody>
                    <a:bodyPr/>
                    <a:lstStyle/>
                    <a:p>
                      <a:r>
                        <a:rPr sz="1000" b="0">
                          <a:solidFill>
                            <a:srgbClr val="1F1F1F"/>
                          </a:solidFill>
                        </a:rPr>
                        <a:t>S1‑35</a:t>
                      </a:r>
                    </a:p>
                  </a:txBody>
                  <a:tcPr marL="54864" marR="54864" marT="32004" marB="32004" anchor="t">
                    <a:solidFill>
                      <a:srgbClr val="FFFFFF"/>
                    </a:solidFill>
                  </a:tcPr>
                </a:tc>
              </a:tr>
              <a:tr h="225551">
                <a:tc>
                  <a:txBody>
                    <a:bodyPr/>
                    <a:lstStyle/>
                    <a:p>
                      <a:r>
                        <a:rPr sz="1000" b="0">
                          <a:solidFill>
                            <a:srgbClr val="1F1F1F"/>
                          </a:solidFill>
                        </a:rPr>
                        <a:t>Anthropic, circuit tracing</a:t>
                      </a:r>
                    </a:p>
                  </a:txBody>
                  <a:tcPr marL="54864" marR="54864" marT="32004" marB="32004" anchor="t">
                    <a:solidFill>
                      <a:srgbClr val="F3F4F8"/>
                    </a:solidFill>
                  </a:tcPr>
                </a:tc>
                <a:tc>
                  <a:txBody>
                    <a:bodyPr/>
                    <a:lstStyle/>
                    <a:p>
                      <a:r>
                        <a:rPr sz="1000" b="0">
                          <a:solidFill>
                            <a:srgbClr val="1F1F1F"/>
                          </a:solidFill>
                          <a:hlinkClick r:id="rId5"/>
                        </a:rPr>
                        <a:t>anthropic.com/research/tracing-thoughts-language-model</a:t>
                      </a:r>
                    </a:p>
                  </a:txBody>
                  <a:tcPr marL="54864" marR="54864" marT="32004" marB="32004" anchor="t">
                    <a:solidFill>
                      <a:srgbClr val="F3F4F8"/>
                    </a:solidFill>
                  </a:tcPr>
                </a:tc>
                <a:tc>
                  <a:txBody>
                    <a:bodyPr/>
                    <a:lstStyle/>
                    <a:p>
                      <a:r>
                        <a:rPr sz="1000" b="0">
                          <a:solidFill>
                            <a:srgbClr val="1F1F1F"/>
                          </a:solidFill>
                        </a:rPr>
                        <a:t>2026‑06</a:t>
                      </a:r>
                    </a:p>
                  </a:txBody>
                  <a:tcPr marL="54864" marR="54864" marT="32004" marB="32004" anchor="t">
                    <a:solidFill>
                      <a:srgbClr val="F3F4F8"/>
                    </a:solidFill>
                  </a:tcPr>
                </a:tc>
                <a:tc>
                  <a:txBody>
                    <a:bodyPr/>
                    <a:lstStyle/>
                    <a:p>
                      <a:r>
                        <a:rPr sz="1000" b="0">
                          <a:solidFill>
                            <a:srgbClr val="1F1F1F"/>
                          </a:solidFill>
                        </a:rPr>
                        <a:t>S1‑35</a:t>
                      </a:r>
                    </a:p>
                  </a:txBody>
                  <a:tcPr marL="54864" marR="54864" marT="32004" marB="32004" anchor="t">
                    <a:solidFill>
                      <a:srgbClr val="F3F4F8"/>
                    </a:solidFill>
                  </a:tcPr>
                </a:tc>
              </a:tr>
              <a:tr h="225551">
                <a:tc>
                  <a:txBody>
                    <a:bodyPr/>
                    <a:lstStyle/>
                    <a:p>
                      <a:r>
                        <a:rPr sz="1000" b="0">
                          <a:solidFill>
                            <a:srgbClr val="1F1F1F"/>
                          </a:solidFill>
                        </a:rPr>
                        <a:t>GPT-4 report (2303.08774)</a:t>
                      </a:r>
                    </a:p>
                  </a:txBody>
                  <a:tcPr marL="54864" marR="54864" marT="32004" marB="32004" anchor="t">
                    <a:solidFill>
                      <a:srgbClr val="FFFFFF"/>
                    </a:solidFill>
                  </a:tcPr>
                </a:tc>
                <a:tc>
                  <a:txBody>
                    <a:bodyPr/>
                    <a:lstStyle/>
                    <a:p>
                      <a:r>
                        <a:rPr sz="1000" b="0">
                          <a:solidFill>
                            <a:srgbClr val="1F1F1F"/>
                          </a:solidFill>
                          <a:hlinkClick r:id="rId6"/>
                        </a:rPr>
                        <a:t>arxiv.org/abs/2303.08774</a:t>
                      </a:r>
                    </a:p>
                  </a:txBody>
                  <a:tcPr marL="54864" marR="54864" marT="32004" marB="32004" anchor="t">
                    <a:solidFill>
                      <a:srgbClr val="FFFFFF"/>
                    </a:solidFill>
                  </a:tcPr>
                </a:tc>
                <a:tc>
                  <a:txBody>
                    <a:bodyPr/>
                    <a:lstStyle/>
                    <a:p>
                      <a:r>
                        <a:rPr sz="1000" b="0">
                          <a:solidFill>
                            <a:srgbClr val="1F1F1F"/>
                          </a:solidFill>
                        </a:rPr>
                        <a:t>2026‑06</a:t>
                      </a:r>
                    </a:p>
                  </a:txBody>
                  <a:tcPr marL="54864" marR="54864" marT="32004" marB="32004" anchor="t">
                    <a:solidFill>
                      <a:srgbClr val="FFFFFF"/>
                    </a:solidFill>
                  </a:tcPr>
                </a:tc>
                <a:tc>
                  <a:txBody>
                    <a:bodyPr/>
                    <a:lstStyle/>
                    <a:p>
                      <a:r>
                        <a:rPr sz="1000" b="0">
                          <a:solidFill>
                            <a:srgbClr val="1F1F1F"/>
                          </a:solidFill>
                        </a:rPr>
                        <a:t>S1‑35</a:t>
                      </a:r>
                    </a:p>
                  </a:txBody>
                  <a:tcPr marL="54864" marR="54864" marT="32004" marB="32004" anchor="t">
                    <a:solidFill>
                      <a:srgbClr val="FFFFFF"/>
                    </a:solidFill>
                  </a:tcPr>
                </a:tc>
              </a:tr>
              <a:tr h="225551">
                <a:tc>
                  <a:txBody>
                    <a:bodyPr/>
                    <a:lstStyle/>
                    <a:p>
                      <a:r>
                        <a:rPr sz="1000" b="0">
                          <a:solidFill>
                            <a:srgbClr val="1F1F1F"/>
                          </a:solidFill>
                        </a:rPr>
                        <a:t>Chain-of-Verification (arXiv 2309.11495)</a:t>
                      </a:r>
                    </a:p>
                  </a:txBody>
                  <a:tcPr marL="54864" marR="54864" marT="32004" marB="32004" anchor="t">
                    <a:solidFill>
                      <a:srgbClr val="F3F4F8"/>
                    </a:solidFill>
                  </a:tcPr>
                </a:tc>
                <a:tc>
                  <a:txBody>
                    <a:bodyPr/>
                    <a:lstStyle/>
                    <a:p>
                      <a:r>
                        <a:rPr sz="1000" b="0">
                          <a:solidFill>
                            <a:srgbClr val="1F1F1F"/>
                          </a:solidFill>
                          <a:hlinkClick r:id="rId7"/>
                        </a:rPr>
                        <a:t>arxiv.org/abs/2309.11495</a:t>
                      </a:r>
                    </a:p>
                  </a:txBody>
                  <a:tcPr marL="54864" marR="54864" marT="32004" marB="32004" anchor="t">
                    <a:solidFill>
                      <a:srgbClr val="F3F4F8"/>
                    </a:solidFill>
                  </a:tcPr>
                </a:tc>
                <a:tc>
                  <a:txBody>
                    <a:bodyPr/>
                    <a:lstStyle/>
                    <a:p>
                      <a:r>
                        <a:rPr sz="1000" b="0">
                          <a:solidFill>
                            <a:srgbClr val="1F1F1F"/>
                          </a:solidFill>
                        </a:rPr>
                        <a:t>2026‑06</a:t>
                      </a:r>
                    </a:p>
                  </a:txBody>
                  <a:tcPr marL="54864" marR="54864" marT="32004" marB="32004" anchor="t">
                    <a:solidFill>
                      <a:srgbClr val="F3F4F8"/>
                    </a:solidFill>
                  </a:tcPr>
                </a:tc>
                <a:tc>
                  <a:txBody>
                    <a:bodyPr/>
                    <a:lstStyle/>
                    <a:p>
                      <a:r>
                        <a:rPr sz="1000" b="0">
                          <a:solidFill>
                            <a:srgbClr val="1F1F1F"/>
                          </a:solidFill>
                        </a:rPr>
                        <a:t>S1‑36</a:t>
                      </a:r>
                    </a:p>
                  </a:txBody>
                  <a:tcPr marL="54864" marR="54864" marT="32004" marB="32004" anchor="t">
                    <a:solidFill>
                      <a:srgbClr val="F3F4F8"/>
                    </a:solidFill>
                  </a:tcPr>
                </a:tc>
              </a:tr>
              <a:tr h="225551">
                <a:tc>
                  <a:txBody>
                    <a:bodyPr/>
                    <a:lstStyle/>
                    <a:p>
                      <a:r>
                        <a:rPr sz="1000" b="0">
                          <a:solidFill>
                            <a:srgbClr val="1F1F1F"/>
                          </a:solidFill>
                        </a:rPr>
                        <a:t>Artificial Analysis, AA-Omniscience</a:t>
                      </a:r>
                    </a:p>
                  </a:txBody>
                  <a:tcPr marL="54864" marR="54864" marT="32004" marB="32004" anchor="t">
                    <a:solidFill>
                      <a:srgbClr val="FFFFFF"/>
                    </a:solidFill>
                  </a:tcPr>
                </a:tc>
                <a:tc>
                  <a:txBody>
                    <a:bodyPr/>
                    <a:lstStyle/>
                    <a:p>
                      <a:r>
                        <a:rPr sz="1000" b="0">
                          <a:solidFill>
                            <a:srgbClr val="1F1F1F"/>
                          </a:solidFill>
                          <a:hlinkClick r:id="rId8"/>
                        </a:rPr>
                        <a:t>artificialanalysis.ai/evaluations/omniscience</a:t>
                      </a:r>
                    </a:p>
                  </a:txBody>
                  <a:tcPr marL="54864" marR="54864" marT="32004" marB="32004" anchor="t">
                    <a:solidFill>
                      <a:srgbClr val="FFFFFF"/>
                    </a:solidFill>
                  </a:tcPr>
                </a:tc>
                <a:tc>
                  <a:txBody>
                    <a:bodyPr/>
                    <a:lstStyle/>
                    <a:p>
                      <a:r>
                        <a:rPr sz="1000" b="0">
                          <a:solidFill>
                            <a:srgbClr val="1F1F1F"/>
                          </a:solidFill>
                        </a:rPr>
                        <a:t>2026‑09‑23</a:t>
                      </a:r>
                    </a:p>
                  </a:txBody>
                  <a:tcPr marL="54864" marR="54864" marT="32004" marB="32004" anchor="t">
                    <a:solidFill>
                      <a:srgbClr val="FFFFFF"/>
                    </a:solidFill>
                  </a:tcPr>
                </a:tc>
                <a:tc>
                  <a:txBody>
                    <a:bodyPr/>
                    <a:lstStyle/>
                    <a:p>
                      <a:r>
                        <a:rPr sz="1000" b="0">
                          <a:solidFill>
                            <a:srgbClr val="1F1F1F"/>
                          </a:solidFill>
                        </a:rPr>
                        <a:t>S1‑36</a:t>
                      </a:r>
                    </a:p>
                  </a:txBody>
                  <a:tcPr marL="54864" marR="54864" marT="32004" marB="32004" anchor="t">
                    <a:solidFill>
                      <a:srgbClr val="FFFFFF"/>
                    </a:solidFill>
                  </a:tcPr>
                </a:tc>
              </a:tr>
              <a:tr h="225551">
                <a:tc>
                  <a:txBody>
                    <a:bodyPr/>
                    <a:lstStyle/>
                    <a:p>
                      <a:r>
                        <a:rPr sz="1000" b="0">
                          <a:solidFill>
                            <a:srgbClr val="1F1F1F"/>
                          </a:solidFill>
                        </a:rPr>
                        <a:t>BigScience BLOOM model card</a:t>
                      </a:r>
                    </a:p>
                  </a:txBody>
                  <a:tcPr marL="54864" marR="54864" marT="32004" marB="32004" anchor="t">
                    <a:solidFill>
                      <a:srgbClr val="F3F4F8"/>
                    </a:solidFill>
                  </a:tcPr>
                </a:tc>
                <a:tc>
                  <a:txBody>
                    <a:bodyPr/>
                    <a:lstStyle/>
                    <a:p>
                      <a:r>
                        <a:rPr sz="1000" b="0">
                          <a:solidFill>
                            <a:srgbClr val="1F1F1F"/>
                          </a:solidFill>
                          <a:hlinkClick r:id="rId9"/>
                        </a:rPr>
                        <a:t>huggingface.co/bigscience/bloom</a:t>
                      </a:r>
                    </a:p>
                  </a:txBody>
                  <a:tcPr marL="54864" marR="54864" marT="32004" marB="32004" anchor="t">
                    <a:solidFill>
                      <a:srgbClr val="F3F4F8"/>
                    </a:solidFill>
                  </a:tcPr>
                </a:tc>
                <a:tc>
                  <a:txBody>
                    <a:bodyPr/>
                    <a:lstStyle/>
                    <a:p>
                      <a:r>
                        <a:rPr sz="1000" b="0">
                          <a:solidFill>
                            <a:srgbClr val="1F1F1F"/>
                          </a:solidFill>
                        </a:rPr>
                        <a:t>2026‑06</a:t>
                      </a:r>
                    </a:p>
                  </a:txBody>
                  <a:tcPr marL="54864" marR="54864" marT="32004" marB="32004" anchor="t">
                    <a:solidFill>
                      <a:srgbClr val="F3F4F8"/>
                    </a:solidFill>
                  </a:tcPr>
                </a:tc>
                <a:tc>
                  <a:txBody>
                    <a:bodyPr/>
                    <a:lstStyle/>
                    <a:p>
                      <a:r>
                        <a:rPr sz="1000" b="0">
                          <a:solidFill>
                            <a:srgbClr val="1F1F1F"/>
                          </a:solidFill>
                        </a:rPr>
                        <a:t>A-02b</a:t>
                      </a:r>
                    </a:p>
                  </a:txBody>
                  <a:tcPr marL="54864" marR="54864" marT="32004" marB="32004" anchor="t">
                    <a:solidFill>
                      <a:srgbClr val="F3F4F8"/>
                    </a:solidFill>
                  </a:tcPr>
                </a:tc>
              </a:tr>
              <a:tr h="225551">
                <a:tc>
                  <a:txBody>
                    <a:bodyPr/>
                    <a:lstStyle/>
                    <a:p>
                      <a:r>
                        <a:rPr sz="1000" b="0">
                          <a:solidFill>
                            <a:srgbClr val="1F1F1F"/>
                          </a:solidFill>
                        </a:rPr>
                        <a:t>Altman at MIT, Apr 2023 (via Wired)</a:t>
                      </a:r>
                    </a:p>
                  </a:txBody>
                  <a:tcPr marL="54864" marR="54864" marT="32004" marB="32004" anchor="t">
                    <a:solidFill>
                      <a:srgbClr val="FFFFFF"/>
                    </a:solidFill>
                  </a:tcPr>
                </a:tc>
                <a:tc>
                  <a:txBody>
                    <a:bodyPr/>
                    <a:lstStyle/>
                    <a:p>
                      <a:r>
                        <a:rPr sz="1000" b="0">
                          <a:solidFill>
                            <a:srgbClr val="1F1F1F"/>
                          </a:solidFill>
                          <a:hlinkClick r:id="rId10"/>
                        </a:rPr>
                        <a:t>x.com/peterhartree/status/1648423541837299713</a:t>
                      </a:r>
                    </a:p>
                  </a:txBody>
                  <a:tcPr marL="54864" marR="54864" marT="32004" marB="32004" anchor="t">
                    <a:solidFill>
                      <a:srgbClr val="FFFFFF"/>
                    </a:solidFill>
                  </a:tcPr>
                </a:tc>
                <a:tc>
                  <a:txBody>
                    <a:bodyPr/>
                    <a:lstStyle/>
                    <a:p>
                      <a:r>
                        <a:rPr sz="1000" b="0">
                          <a:solidFill>
                            <a:srgbClr val="1F1F1F"/>
                          </a:solidFill>
                        </a:rPr>
                        <a:t>2026‑09‑23</a:t>
                      </a:r>
                    </a:p>
                  </a:txBody>
                  <a:tcPr marL="54864" marR="54864" marT="32004" marB="32004" anchor="t">
                    <a:solidFill>
                      <a:srgbClr val="FFFFFF"/>
                    </a:solidFill>
                  </a:tcPr>
                </a:tc>
                <a:tc>
                  <a:txBody>
                    <a:bodyPr/>
                    <a:lstStyle/>
                    <a:p>
                      <a:r>
                        <a:rPr sz="1000" b="0">
                          <a:solidFill>
                            <a:srgbClr val="1F1F1F"/>
                          </a:solidFill>
                        </a:rPr>
                        <a:t>A-02b</a:t>
                      </a:r>
                    </a:p>
                  </a:txBody>
                  <a:tcPr marL="54864" marR="54864" marT="32004" marB="32004" anchor="t">
                    <a:solidFill>
                      <a:srgbClr val="FFFFFF"/>
                    </a:solidFill>
                  </a:tcPr>
                </a:tc>
              </a:tr>
              <a:tr h="225551">
                <a:tc>
                  <a:txBody>
                    <a:bodyPr/>
                    <a:lstStyle/>
                    <a:p>
                      <a:r>
                        <a:rPr sz="1000" b="0">
                          <a:solidFill>
                            <a:srgbClr val="1F1F1F"/>
                          </a:solidFill>
                        </a:rPr>
                        <a:t>Anthropic, Golden Gate Claude</a:t>
                      </a:r>
                    </a:p>
                  </a:txBody>
                  <a:tcPr marL="54864" marR="54864" marT="32004" marB="32004" anchor="t">
                    <a:solidFill>
                      <a:srgbClr val="F3F4F8"/>
                    </a:solidFill>
                  </a:tcPr>
                </a:tc>
                <a:tc>
                  <a:txBody>
                    <a:bodyPr/>
                    <a:lstStyle/>
                    <a:p>
                      <a:r>
                        <a:rPr sz="1000" b="0">
                          <a:solidFill>
                            <a:srgbClr val="1F1F1F"/>
                          </a:solidFill>
                          <a:hlinkClick r:id="rId11"/>
                        </a:rPr>
                        <a:t>anthropic.com/news/golden-gate-claude</a:t>
                      </a:r>
                    </a:p>
                  </a:txBody>
                  <a:tcPr marL="54864" marR="54864" marT="32004" marB="32004" anchor="t">
                    <a:solidFill>
                      <a:srgbClr val="F3F4F8"/>
                    </a:solidFill>
                  </a:tcPr>
                </a:tc>
                <a:tc>
                  <a:txBody>
                    <a:bodyPr/>
                    <a:lstStyle/>
                    <a:p>
                      <a:r>
                        <a:rPr sz="1000" b="0">
                          <a:solidFill>
                            <a:srgbClr val="1F1F1F"/>
                          </a:solidFill>
                        </a:rPr>
                        <a:t>2026‑06</a:t>
                      </a:r>
                    </a:p>
                  </a:txBody>
                  <a:tcPr marL="54864" marR="54864" marT="32004" marB="32004" anchor="t">
                    <a:solidFill>
                      <a:srgbClr val="F3F4F8"/>
                    </a:solidFill>
                  </a:tcPr>
                </a:tc>
                <a:tc>
                  <a:txBody>
                    <a:bodyPr/>
                    <a:lstStyle/>
                    <a:p>
                      <a:r>
                        <a:rPr sz="1000" b="0">
                          <a:solidFill>
                            <a:srgbClr val="1F1F1F"/>
                          </a:solidFill>
                        </a:rPr>
                        <a:t>A-02c</a:t>
                      </a:r>
                    </a:p>
                  </a:txBody>
                  <a:tcPr marL="54864" marR="54864" marT="32004" marB="32004" anchor="t">
                    <a:solidFill>
                      <a:srgbClr val="F3F4F8"/>
                    </a:solidFill>
                  </a:tcPr>
                </a:tc>
              </a:tr>
              <a:tr h="225551">
                <a:tc>
                  <a:txBody>
                    <a:bodyPr/>
                    <a:lstStyle/>
                    <a:p>
                      <a:r>
                        <a:rPr sz="1000" b="0">
                          <a:solidFill>
                            <a:srgbClr val="1F1F1F"/>
                          </a:solidFill>
                        </a:rPr>
                        <a:t>Crooked Timber, Shoggoths amongst us</a:t>
                      </a:r>
                    </a:p>
                  </a:txBody>
                  <a:tcPr marL="54864" marR="54864" marT="32004" marB="32004" anchor="t">
                    <a:solidFill>
                      <a:srgbClr val="FFFFFF"/>
                    </a:solidFill>
                  </a:tcPr>
                </a:tc>
                <a:tc>
                  <a:txBody>
                    <a:bodyPr/>
                    <a:lstStyle/>
                    <a:p>
                      <a:r>
                        <a:rPr sz="1000" b="0">
                          <a:solidFill>
                            <a:srgbClr val="1F1F1F"/>
                          </a:solidFill>
                          <a:hlinkClick r:id="rId12"/>
                        </a:rPr>
                        <a:t>crookedtimber.org/2023/07/03/shoggoths-amongst-us</a:t>
                      </a:r>
                    </a:p>
                  </a:txBody>
                  <a:tcPr marL="54864" marR="54864" marT="32004" marB="32004" anchor="t">
                    <a:solidFill>
                      <a:srgbClr val="FFFFFF"/>
                    </a:solidFill>
                  </a:tcPr>
                </a:tc>
                <a:tc>
                  <a:txBody>
                    <a:bodyPr/>
                    <a:lstStyle/>
                    <a:p>
                      <a:r>
                        <a:rPr sz="1000" b="0">
                          <a:solidFill>
                            <a:srgbClr val="1F1F1F"/>
                          </a:solidFill>
                        </a:rPr>
                        <a:t>2026‑06</a:t>
                      </a:r>
                    </a:p>
                  </a:txBody>
                  <a:tcPr marL="54864" marR="54864" marT="32004" marB="32004" anchor="t">
                    <a:solidFill>
                      <a:srgbClr val="FFFFFF"/>
                    </a:solidFill>
                  </a:tcPr>
                </a:tc>
                <a:tc>
                  <a:txBody>
                    <a:bodyPr/>
                    <a:lstStyle/>
                    <a:p>
                      <a:r>
                        <a:rPr sz="1000" b="0">
                          <a:solidFill>
                            <a:srgbClr val="1F1F1F"/>
                          </a:solidFill>
                        </a:rPr>
                        <a:t>A-02d</a:t>
                      </a:r>
                    </a:p>
                  </a:txBody>
                  <a:tcPr marL="54864" marR="54864" marT="32004" marB="32004" anchor="t">
                    <a:solidFill>
                      <a:srgbClr val="FFFFFF"/>
                    </a:solidFill>
                  </a:tcPr>
                </a:tc>
              </a:tr>
              <a:tr h="225551">
                <a:tc>
                  <a:txBody>
                    <a:bodyPr/>
                    <a:lstStyle/>
                    <a:p>
                      <a:r>
                        <a:rPr sz="1000" b="0">
                          <a:solidFill>
                            <a:srgbClr val="1F1F1F"/>
                          </a:solidFill>
                        </a:rPr>
                        <a:t>LessWrong, The Waluigi Effect</a:t>
                      </a:r>
                    </a:p>
                  </a:txBody>
                  <a:tcPr marL="54864" marR="54864" marT="32004" marB="32004" anchor="t">
                    <a:solidFill>
                      <a:srgbClr val="F3F4F8"/>
                    </a:solidFill>
                  </a:tcPr>
                </a:tc>
                <a:tc>
                  <a:txBody>
                    <a:bodyPr/>
                    <a:lstStyle/>
                    <a:p>
                      <a:r>
                        <a:rPr sz="1000" b="0">
                          <a:solidFill>
                            <a:srgbClr val="1F1F1F"/>
                          </a:solidFill>
                          <a:hlinkClick r:id="rId13"/>
                        </a:rPr>
                        <a:t>lesswrong.com/posts/D7PumeYTDPfBTp3i7/the…effect-mega-post</a:t>
                      </a:r>
                    </a:p>
                  </a:txBody>
                  <a:tcPr marL="54864" marR="54864" marT="32004" marB="32004" anchor="t">
                    <a:solidFill>
                      <a:srgbClr val="F3F4F8"/>
                    </a:solidFill>
                  </a:tcPr>
                </a:tc>
                <a:tc>
                  <a:txBody>
                    <a:bodyPr/>
                    <a:lstStyle/>
                    <a:p>
                      <a:r>
                        <a:rPr sz="1000" b="0">
                          <a:solidFill>
                            <a:srgbClr val="1F1F1F"/>
                          </a:solidFill>
                        </a:rPr>
                        <a:t>2026‑06</a:t>
                      </a:r>
                    </a:p>
                  </a:txBody>
                  <a:tcPr marL="54864" marR="54864" marT="32004" marB="32004" anchor="t">
                    <a:solidFill>
                      <a:srgbClr val="F3F4F8"/>
                    </a:solidFill>
                  </a:tcPr>
                </a:tc>
                <a:tc>
                  <a:txBody>
                    <a:bodyPr/>
                    <a:lstStyle/>
                    <a:p>
                      <a:r>
                        <a:rPr sz="1000" b="0">
                          <a:solidFill>
                            <a:srgbClr val="1F1F1F"/>
                          </a:solidFill>
                        </a:rPr>
                        <a:t>A-02d</a:t>
                      </a:r>
                    </a:p>
                  </a:txBody>
                  <a:tcPr marL="54864" marR="54864" marT="32004" marB="32004" anchor="t">
                    <a:solidFill>
                      <a:srgbClr val="F3F4F8"/>
                    </a:solidFill>
                  </a:tcPr>
                </a:tc>
              </a:tr>
            </a:tbl>
          </a:graphicData>
        </a:graphic>
      </p:graphicFrame>
    </p:spTree>
  </p:cSld>
  <p:clrMapOvr>
    <a:masterClrMapping/>
  </p:clrMapOvr>
</p:sld>
</file>

<file path=ppt/theme/theme1.xml><?xml version="1.0" encoding="utf-8"?>
<a:theme xmlns:a="http://schemas.openxmlformats.org/drawingml/2006/main" name="Microsoft Build 16:9 Template Light">
  <a:themeElements>
    <a:clrScheme name="Custom 80">
      <a:dk1>
        <a:srgbClr val="000000"/>
      </a:dk1>
      <a:lt1>
        <a:srgbClr val="FFFFFF"/>
      </a:lt1>
      <a:dk2>
        <a:srgbClr val="2A446F"/>
      </a:dk2>
      <a:lt2>
        <a:srgbClr val="D7D2CB"/>
      </a:lt2>
      <a:accent1>
        <a:srgbClr val="00A4EF"/>
      </a:accent1>
      <a:accent2>
        <a:srgbClr val="7FBA00"/>
      </a:accent2>
      <a:accent3>
        <a:srgbClr val="F25022"/>
      </a:accent3>
      <a:accent4>
        <a:srgbClr val="BF9474"/>
      </a:accent4>
      <a:accent5>
        <a:srgbClr val="FFB900"/>
      </a:accent5>
      <a:accent6>
        <a:srgbClr val="B1B3B3"/>
      </a:accent6>
      <a:hlink>
        <a:srgbClr val="0078D4"/>
      </a:hlink>
      <a:folHlink>
        <a:srgbClr val="8661C5"/>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daenet PowerPoint template 2026.pptx" id="{7CDD124D-0DEC-400D-B519-1D8B2B93C33B}" vid="{3A48EF0A-65C2-467D-B8C8-0650CBE1A9E7}"/>
    </a:ext>
  </a:extLst>
</a:theme>
</file>

<file path=ppt/theme/theme2.xml><?xml version="1.0" encoding="utf-8"?>
<a:theme xmlns:a="http://schemas.openxmlformats.org/drawingml/2006/main" name="Microsoft Build 16:9 Template Dark">
  <a:themeElements>
    <a:clrScheme name="Custom 79">
      <a:dk1>
        <a:srgbClr val="000000"/>
      </a:dk1>
      <a:lt1>
        <a:srgbClr val="FFFFFF"/>
      </a:lt1>
      <a:dk2>
        <a:srgbClr val="091F2C"/>
      </a:dk2>
      <a:lt2>
        <a:srgbClr val="E8E6DF"/>
      </a:lt2>
      <a:accent1>
        <a:srgbClr val="00A4EF"/>
      </a:accent1>
      <a:accent2>
        <a:srgbClr val="7FBA00"/>
      </a:accent2>
      <a:accent3>
        <a:srgbClr val="F25022"/>
      </a:accent3>
      <a:accent4>
        <a:srgbClr val="E1D3C7"/>
      </a:accent4>
      <a:accent5>
        <a:srgbClr val="FFB900"/>
      </a:accent5>
      <a:accent6>
        <a:srgbClr val="D9D9D6"/>
      </a:accent6>
      <a:hlink>
        <a:srgbClr val="8DC8E8"/>
      </a:hlink>
      <a:folHlink>
        <a:srgbClr val="C5B4E3"/>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daenet PowerPoint template 2026.pptx" id="{7CDD124D-0DEC-400D-B519-1D8B2B93C33B}" vid="{33E41DF9-7505-4F09-833D-4DBC25FD03B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docProps/app.xml><?xml version="1.0" encoding="utf-8"?>
<Properties xmlns="http://schemas.openxmlformats.org/officeDocument/2006/extended-properties" xmlns:vt="http://schemas.openxmlformats.org/officeDocument/2006/docPropsVTypes">
  <Template/>
  <TotalTime>0</TotalTime>
  <Words>0</Words>
  <Application>Microsoft Office PowerPoint</Application>
  <PresentationFormat>Widescreen</PresentationFormat>
  <Paragraphs>0</Paragraphs>
  <Slides>4</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4</vt:i4>
      </vt:variant>
    </vt:vector>
  </HeadingPairs>
  <TitlesOfParts>
    <vt:vector size="13" baseType="lpstr">
      <vt:lpstr>Arial</vt:lpstr>
      <vt:lpstr>Calibri</vt:lpstr>
      <vt:lpstr>Consolas</vt:lpstr>
      <vt:lpstr>Segoe Sans Display Semibold</vt:lpstr>
      <vt:lpstr>Segoe UI</vt:lpstr>
      <vt:lpstr>Segoe UI Semibold</vt:lpstr>
      <vt:lpstr>Wingdings</vt:lpstr>
      <vt:lpstr>Microsoft Build 16:9 Template Light</vt:lpstr>
      <vt:lpstr>Microsoft Build 16:9 Template Dark</vt:lpstr>
      <vt:lpstr>PowerPoint Presentation</vt:lpstr>
      <vt:lpstr>PowerPoint Presentation</vt:lpstr>
      <vt:lpstr>PowerPoint Presentation</vt:lpstr>
      <vt:lpstr>PowerPoint Presentation</vt:lpstr>
    </vt:vector>
  </TitlesOfParts>
  <Manager>&lt;Comms manager name here&gt;</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Build 2026</dc:subject>
  <dc:creator>Damir Dobric</dc:creator>
  <cp:keywords>Build 2026</cp:keywords>
  <dc:description/>
  <cp:lastModifiedBy>Damir Dobric</cp:lastModifiedBy>
  <cp:revision>12</cp:revision>
  <cp:lastPrinted>2023-02-15T20:48:24Z</cp:lastPrinted>
  <dcterms:created xsi:type="dcterms:W3CDTF">2026-06-22T10:24:51Z</dcterms:created>
  <dcterms:modified xsi:type="dcterms:W3CDTF">2026-06-28T08:25:13Z</dcterms:modified>
  <cp:category>Build 2026</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0x010100431D58916F44B8489C8C473F8FFAAB9D</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7" name="Sensitivity">
    <vt:lpwstr>General</vt:lpwstr>
  </property>
  <property fmtid="{D5CDD505-2E9C-101B-9397-08002B2CF9AE}" pid="18" name="MediaServiceImageTags">
    <vt:lpwstr/>
  </property>
</Properties>
</file>