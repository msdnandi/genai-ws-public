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5447" r:id="rId4"/>
    <p:sldMasterId id="2147485551" r:id="rId5"/>
  </p:sldMasterIdLst>
  <p:notesMasterIdLst>
    <p:notesMasterId r:id="rId10"/>
  </p:notesMasterIdLst>
  <p:handoutMasterIdLst>
    <p:handoutMasterId r:id="rId11"/>
  </p:handoutMasterIdLst>
  <p:sldIdLst>
    <p:sldId id="256" r:id="rId9"/>
    <p:sldId id="257" r:id="rId8"/>
    <p:sldId id="258" r:id="rId7"/>
    <p:sldId id="259" r:id="rId6"/>
    <p:sldId id="260" r:id="rId3"/>
    <p:sldId id="261" r:id="rId2"/>
    <p:sldId id="262" r:id="rId1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291" r:id="rId45"/>
    <p:sldId id="292" r:id="rId46"/>
    <p:sldId id="293" r:id="rId47"/>
    <p:sldId id="294" r:id="rId48"/>
    <p:sldId id="295" r:id="rId49"/>
    <p:sldId id="296" r:id="rId50"/>
  </p:sldIdLst>
  <p:sldSz cx="12192000" cy="6858000"/>
  <p:notesSz cx="6858000" cy="9144000"/>
  <p:defaultTextStyle>
    <a:defPPr>
      <a:defRPr lang="en-US"/>
    </a:defPPr>
    <a:lvl1pPr marL="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1pPr>
    <a:lvl2pPr marL="457183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2pPr>
    <a:lvl3pPr marL="914367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3pPr>
    <a:lvl4pPr marL="137155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4pPr>
    <a:lvl5pPr marL="182873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5pPr>
    <a:lvl6pPr marL="2285918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0F3F000A-B150-4937-9191-A809791FB745}">
          <p14:sldIdLst>
            <p14:sldId id="256"/>
            <p14:sldId id="257"/>
            <p14:sldId id="258"/>
          </p14:sldIdLst>
        </p14:section>
        <p14:section name="Segment 3 — The world of agents" id="{5709B66F-B243-4271-8539-B963ED5D33C2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</p14:sldIdLst>
        </p14:section>
        <p14:section name="Close" id="{4D4479B2-24D7-4EF6-A585-EA7F9D6D0353}">
          <p14:sldIdLst>
            <p14:sldId id="291"/>
            <p14:sldId id="292"/>
          </p14:sldIdLst>
        </p14:section>
        <p14:section name="Appendix" id="{7115CE4F-DA4A-4A97-A054-5B94AD364FFE}">
          <p14:sldIdLst>
            <p14:sldId id="293"/>
            <p14:sldId id="294"/>
            <p14:sldId id="295"/>
            <p14:sldId id="29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11" clrIdx="0"/>
  <p:cmAuthor id="1" name="Mary Feil-Jacobs" initials="MFJ" lastIdx="43" clrIdx="1"/>
  <p:cmAuthor id="2" name="Monica Lueder" initials="ML" lastIdx="22" clrIdx="2">
    <p:extLst>
      <p:ext uri="{19B8F6BF-5375-455C-9EA6-DF929625EA0E}">
        <p15:presenceInfo xmlns:p15="http://schemas.microsoft.com/office/powerpoint/2012/main" userId="S-1-5-21-2127521184-1604012920-1887927527-2598260" providerId="AD"/>
      </p:ext>
    </p:extLst>
  </p:cmAuthor>
  <p:cmAuthor id="3" name="Mary Feil-Jacobs" initials="MF" lastIdx="28" clrIdx="3">
    <p:extLst>
      <p:ext uri="{19B8F6BF-5375-455C-9EA6-DF929625EA0E}">
        <p15:presenceInfo xmlns:p15="http://schemas.microsoft.com/office/powerpoint/2012/main" userId="S-1-5-21-2127521184-1604012920-1887927527-65006" providerId="AD"/>
      </p:ext>
    </p:extLst>
  </p:cmAuthor>
  <p:cmAuthor id="4" name="Tracy Tran" initials="TT" lastIdx="9" clrIdx="4">
    <p:extLst>
      <p:ext uri="{19B8F6BF-5375-455C-9EA6-DF929625EA0E}">
        <p15:presenceInfo xmlns:p15="http://schemas.microsoft.com/office/powerpoint/2012/main" userId="S::tracyt@microsoft.com::7b485f56-8fe8-4efc-a1b3-85e720327ac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FFF"/>
    <a:srgbClr val="060702"/>
    <a:srgbClr val="0078D4"/>
    <a:srgbClr val="D7D2CB"/>
    <a:srgbClr val="E8E6DF"/>
    <a:srgbClr val="E1D3C7"/>
    <a:srgbClr val="4EFFFE"/>
    <a:srgbClr val="9BF00E"/>
    <a:srgbClr val="D59DFF"/>
    <a:srgbClr val="7FB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20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48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3668" y="101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" Target="slides/slide7.xml"/><Relationship Id="rId2" Type="http://schemas.openxmlformats.org/officeDocument/2006/relationships/slide" Target="slides/slide6.xml"/><Relationship Id="rId3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4.xml"/><Relationship Id="rId7" Type="http://schemas.openxmlformats.org/officeDocument/2006/relationships/slide" Target="slides/slide3.xml"/><Relationship Id="rId8" Type="http://schemas.openxmlformats.org/officeDocument/2006/relationships/slide" Target="slides/slide2.xml"/><Relationship Id="rId9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11" Type="http://schemas.openxmlformats.org/officeDocument/2006/relationships/handoutMaster" Target="handoutMasters/handoutMaster1.xml"/><Relationship Id="rId12" Type="http://schemas.openxmlformats.org/officeDocument/2006/relationships/commentAuthors" Target="commentAuthors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Relationship Id="rId36" Type="http://schemas.openxmlformats.org/officeDocument/2006/relationships/slide" Target="slides/slide27.xml"/><Relationship Id="rId37" Type="http://schemas.openxmlformats.org/officeDocument/2006/relationships/slide" Target="slides/slide28.xml"/><Relationship Id="rId38" Type="http://schemas.openxmlformats.org/officeDocument/2006/relationships/slide" Target="slides/slide29.xml"/><Relationship Id="rId39" Type="http://schemas.openxmlformats.org/officeDocument/2006/relationships/slide" Target="slides/slide30.xml"/><Relationship Id="rId40" Type="http://schemas.openxmlformats.org/officeDocument/2006/relationships/slide" Target="slides/slide31.xml"/><Relationship Id="rId41" Type="http://schemas.openxmlformats.org/officeDocument/2006/relationships/slide" Target="slides/slide32.xml"/><Relationship Id="rId42" Type="http://schemas.openxmlformats.org/officeDocument/2006/relationships/slide" Target="slides/slide33.xml"/><Relationship Id="rId43" Type="http://schemas.openxmlformats.org/officeDocument/2006/relationships/slide" Target="slides/slide34.xml"/><Relationship Id="rId44" Type="http://schemas.openxmlformats.org/officeDocument/2006/relationships/slide" Target="slides/slide35.xml"/><Relationship Id="rId45" Type="http://schemas.openxmlformats.org/officeDocument/2006/relationships/slide" Target="slides/slide36.xml"/><Relationship Id="rId46" Type="http://schemas.openxmlformats.org/officeDocument/2006/relationships/slide" Target="slides/slide37.xml"/><Relationship Id="rId47" Type="http://schemas.openxmlformats.org/officeDocument/2006/relationships/slide" Target="slides/slide38.xml"/><Relationship Id="rId48" Type="http://schemas.openxmlformats.org/officeDocument/2006/relationships/slide" Target="slides/slide39.xml"/><Relationship Id="rId49" Type="http://schemas.openxmlformats.org/officeDocument/2006/relationships/slide" Target="slides/slide40.xml"/><Relationship Id="rId50" Type="http://schemas.openxmlformats.org/officeDocument/2006/relationships/slide" Target="slides/slide4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574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Segoe UI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0F9EC6-89FF-47E1-8594-1A32E3B45134}" type="datetime8">
              <a:rPr lang="en-US" smtClean="0">
                <a:latin typeface="Segoe UI" pitchFamily="34" charset="0"/>
              </a:rPr>
              <a:t>6/28/2026 10:25 AM</a:t>
            </a:fld>
            <a:endParaRPr lang="en-US">
              <a:latin typeface="Segoe UI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5795010" cy="332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398463" defTabSz="914099" eaLnBrk="0" hangingPunct="0"/>
            <a:r>
              <a:rPr lang="en-US" sz="4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78DAAD-3934-518B-F62A-B32024044EE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6BE5CB-6A38-415E-A601-C5DE328E214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egoe UI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5920740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571500" indent="0" algn="l">
              <a:defRPr sz="1200"/>
            </a:lvl1pPr>
          </a:lstStyle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386CE63F-9E7F-4C04-9D0D-FCA25A8E9E86}" type="datetime8">
              <a:rPr lang="en-US" smtClean="0"/>
              <a:t>6/28/2026 10:24 AM</a:t>
            </a:fld>
            <a:endParaRPr lang="en-US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909309" y="8685213"/>
            <a:ext cx="94710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367" rtl="0" eaLnBrk="1" latinLnBrk="0" hangingPunct="1">
      <a:lnSpc>
        <a:spcPct val="90000"/>
      </a:lnSpc>
      <a:spcAft>
        <a:spcPts val="333"/>
      </a:spcAft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1pPr>
    <a:lvl2pPr marL="212982" indent="-105829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2pPr>
    <a:lvl3pPr marL="328071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3pPr>
    <a:lvl4pPr marL="482848" indent="-146838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4pPr>
    <a:lvl5pPr marL="615134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5pPr>
    <a:lvl6pPr marL="2285918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[F-01-S3]</a:t>
            </a:r>
          </a:p>
          <a:p>
            <a:r>
              <a:t>Segment deck 3 of 4 of Building Stuff with GenAI — The world of agents — simple agents, teams, runtimes, safety.</a:t>
            </a:r>
          </a:p>
          <a:p>
            <a:r>
              <a:t>Motto of the segment: A loop, a runtime, then a team. Planned: 90 min · talk 40′ · demos 15′ · Lab 3 30′.</a:t>
            </a:r>
          </a:p>
          <a:p>
            <a:r>
              <a:t>The day deck (BuildingStuffGenAI_001) carries the full opening; this deck repeats only where we are in the day and the key card.</a:t>
            </a:r>
          </a:p>
          <a:p>
            <a:r>
              <a:t>VERIFY: event, date, speaker — not decided yet (00_Workshop_Plan.md §8 Q1).</a:t>
            </a:r>
          </a:p>
          <a:p>
            <a:r>
              <a:t>Sources: Workshop plan v001 — 00_Workshop_Plan.md · Narrative plan v001 — 06_Narrative_Plan_v001.md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[F-04-S3]</a:t>
            </a:r>
          </a:p>
          <a:p>
            <a:r>
              <a:t>Segment 3: The world of agents — simple agents, teams, runtimes, safety — 90 min · talk 40′ · demos 15′ · Lab 3 30′.</a:t>
            </a:r>
          </a:p>
          <a:p>
            <a:r>
              <a:t>The lab of this segment is Lab 3 — Two agents and a workflow (labs/03-agents); its core takes 15 minutes and everyone finishes it, the stretch goals are for the fast ones.</a:t>
            </a:r>
          </a:p>
          <a:p>
            <a:r>
              <a:t>Times are placeholders until the event date is fixed. VERIFY: final times (00_Workshop_Plan.md §8 Q2).</a:t>
            </a:r>
          </a:p>
          <a:p>
            <a:r>
              <a:t>Sources: Workshop plan v001 — 00_Workshop_Plan.md · Narrative plan v001 — 06_Narrative_Plan_v001.md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[F-05-S3]</a:t>
            </a:r>
          </a:p>
          <a:p>
            <a:r>
              <a:t>Copy labs/.env.example to labs/.env and paste the four lines from your handout card: the gateway URL (ends in /openai/v1), your personal key, the header name api-key, and the default model gpt-5-mini. GENAI_MODEL_2 (default DeepSeek-V3.2) is a second vendor on the same endpoint and key.</a:t>
            </a:r>
          </a:p>
          <a:p>
            <a:r>
              <a:t>The key always travels in an "api-key" header — the gateway requires it (Ollama ignores it). 401 = key missing or mistyped; 403 = your daily token quota is used up; 429 = your per-minute token budget is spent — wait a minute. The gateway policy defines 429 for the rate and 403 for the quota; SETUP.md’s troubleshooting table still lumps both into 429.</a:t>
            </a:r>
          </a:p>
          <a:p>
            <a:r>
              <a:t>No network: the same code runs on Ollama (localhost:11434/v1, qwen3.5:4b, GENAI_REASONING_EFFORT=none) or against the instructor’s offline mock (answers are echoes, every script runs).</a:t>
            </a:r>
          </a:p>
          <a:p>
            <a:r>
              <a:t>VERIFY: gateway URL and key format (handout card still open — nothing provisioned), the QR code to labs/00-setup (repo URL not decided), and the 403-vs-429 wording in SETUP.md (align it with the policy).</a:t>
            </a:r>
          </a:p>
          <a:p>
            <a:r>
              <a:t>Sources: labs/.env.example · labs/00-setup/SETUP.md · Gateway policy attendee-policy.xml — infra/policies/attendee-policy.xml · APIM llm-token-limit policy — https://learn.microsoft.com/en-us/azure/api-management/llm-token-limit-policy · labs/README.md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[S3-00]</a:t>
            </a:r>
          </a:p>
          <a:p>
            <a:r>
              <a:t>Segment 3, 90 minutes: about 40 minutes of talk, four short demos (15 minutes), then Lab 3 for 30 minutes.</a:t>
            </a:r>
          </a:p>
          <a:p>
            <a:r>
              <a:t>The arc is the motto: a loop, a runtime, then a team. We skip the hype framing on purpose — an agent is the tool loop you wrote by hand in Lab 1, plus a runtime that owns the budget, the memory, the tools and the permissions.</a:t>
            </a:r>
          </a:p>
          <a:p>
            <a:r>
              <a:t>Four movements: what an agent is (and when not to build one) · agents that already work for you (a dated tour) · agents in code (MAF, LangChain, the other SDKs) · teams in production (orchestration, Foundry Agent Service, observability, cost, security, evaluation).</a:t>
            </a:r>
          </a:p>
          <a:p>
            <a:r>
              <a:t>By the end you have a researcher → writer workflow in Microsoft Agent Framework that calls your own Lab 2 MCP server — and you know how it would be deployed.</a:t>
            </a:r>
          </a:p>
          <a:p>
            <a:r>
              <a:t>75-minute cut (build with --trim): S3-08, S3-17, S3-D2 and S3-25 drop out; S3-D3 becomes two screenshots.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[S3-01]</a:t>
            </a:r>
          </a:p>
          <a:p>
            <a:r>
              <a:t>Third time we see the spine (after S1-02 and S2-01). Segment 1 gave us tokens, the chat API, structured output and tools; Segment 2 added MCP and skills. Now two blocks light up: the agent loop and the workflow.</a:t>
            </a:r>
          </a:p>
          <a:p>
            <a:r>
              <a:t>Point at the MCP block: the server you built in Lab 2 is exactly what today’s agents call — nothing new to learn on the tool side.</a:t>
            </a:r>
          </a:p>
          <a:p>
            <a:r>
              <a:t>The bottom row is the plan for the next 90 minutes; Lab 3 builds each piece in turn (agent, MCP tool, workflow, critic, trace). About 1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[S3-02]</a:t>
            </a:r>
          </a:p>
          <a:p>
            <a:r>
              <a:t>Start from the loop everyone wrote in Lab 1: the model asks for a tool, our code runs it, the result goes back, repeat until the model answers without a tool call.</a:t>
            </a:r>
          </a:p>
          <a:p>
            <a:r>
              <a:t>An agent adds three things. Planning: the model picks the next step itself (ReAct style). Memory: the transcript plus a session the runtime keeps across turns. Termination: a final answer, a step budget, or a goal check — the red octagon. A loop without a stop rule is a bill.</a:t>
            </a:r>
          </a:p>
          <a:p>
            <a:r>
              <a:t>"Autonomy is a dial": a fixed workflow is autonomy zero; a tool loop lets the model pick tools; an agent picks its steps; a fully autonomous agent picks its own sub-goals and when it is done.</a:t>
            </a:r>
          </a:p>
          <a:p>
            <a:r>
              <a:t>About 1.5 minutes. Sources: LLM 101 slides 58 and 63 (Day of Data 2026); ReAct https://arxiv.org/abs/2210.03629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[S3-03]</a:t>
            </a:r>
          </a:p>
          <a:p>
            <a:r>
              <a:t>The model is stateless: one request in, one answer out. Everything that makes it feel like an agent is code around it — the runtime: system prompt, tool registry, memory, a sandbox for code and shell, budgets, retries, human approval and tracing.</a:t>
            </a:r>
          </a:p>
          <a:p>
            <a:r>
              <a:t>That code is either a library you run yourself (Microsoft Agent Framework, LangGraph, AI SDK — what Lab 3 uses) or a product someone runs for you (Claude Code, Copilot, Foundry Agent Service).</a:t>
            </a:r>
          </a:p>
          <a:p>
            <a:r>
              <a:t>When two agent products use the same model and behave very differently, the difference is the runtime. VERIFY before saying it aloud: LLM 101 slide 105 quoted benchmark swings of about 16 points for the same model in different harnesses (June 2026).</a:t>
            </a:r>
          </a:p>
          <a:p>
            <a:r>
              <a:t>About 1.5 minutes. Source: LLM 101 slides 60 and 63 ("the runtime owns system prompt, tool registry, memory, file/shell sandbox, token budget, retry, human-in-the-loop").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[S3-04]</a:t>
            </a:r>
          </a:p>
          <a:p>
            <a:r>
              <a:t>Four patterns you will meet in every framework’s docs. ReAct (Yao et al., 2022): reason, act, observe — the grandparent of every agent loop. Reflexion (Shinn et al., 2023): after a failed attempt, write a verbal critique and retry with it.</a:t>
            </a:r>
          </a:p>
          <a:p>
            <a:r>
              <a:t>Verifier loops: draft, check, revise until a checker — a test, a schema, or another model — is satisfied. Lab 3 step 4 (writer + critic with an APPROVED exit) is exactly this.</a:t>
            </a:r>
          </a:p>
          <a:p>
            <a:r>
              <a:t>Plan-then-execute: a planner writes the steps, executors do them, re-plan on failure — MAF’s Magentic orchestration keeps that plan in a task ledger (S3-15).</a:t>
            </a:r>
          </a:p>
          <a:p>
            <a:r>
              <a:t>Reasoning models bake some of these patterns into training, so hand-written "Thought: … Action: …" prompts are rarely needed now — but the host still decides when to plan, verify, retry or vote. About 1.5 minutes.</a:t>
            </a:r>
          </a:p>
          <a:p>
            <a:r>
              <a:t>Sources: https://arxiv.org/abs/2210.03629 · https://arxiv.org/abs/2303.11366 · LLM 101 slide 61.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[S3-05]</a:t>
            </a:r>
          </a:p>
          <a:p>
            <a:r>
              <a:t>The most useful agent advice: often, don’t. If you know the steps, write a workflow — code decides the order and calls the LLM for the fuzzy parts; it is cheaper, testable and predictable. Lab 3’s critic uses a fixed speaking order for exactly this reason.</a:t>
            </a:r>
          </a:p>
          <a:p>
            <a:r>
              <a:t>If it is one call with maybe one tool, it is the Segment 1 function call. Only when the task needs judgement across many tools and you cannot enumerate the paths is an agent worth its cost.</a:t>
            </a:r>
          </a:p>
          <a:p>
            <a:r>
              <a:t>The cost line: each agent step is a full model call that resends the growing transcript — S3-22 puts numbers on it. About 1.5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[S3-06]</a:t>
            </a:r>
          </a:p>
          <a:p>
            <a:r>
              <a:t>A dated snapshot of the coding agents people already have. Same loop underneath; the harness differs: where it runs, which models it may use, what it reads from your repo.</a:t>
            </a:r>
          </a:p>
          <a:p>
            <a:r>
              <a:t>Walk the table in one breath per row; the details (Codex CLI is Apache 2.0 with sandbox/approval profiles, Aider pairs an architect and an editor model, Copilot CLI reads AGENTS.md and .github/agents) are for questions.</a:t>
            </a:r>
          </a:p>
          <a:p>
            <a:r>
              <a:t>The Segment 2 artefacts travel: AGENTS.md is read by Codex, Cursor, Copilot, Aider (Claude Code as a fallback); SKILL.md is adopted by GitHub Copilot, VS Code, ChatGPT &amp; Codex, Cursor and ~20 others (agentskills.io); MCP by nearly all.</a:t>
            </a:r>
          </a:p>
          <a:p>
            <a:r>
              <a:t>Plans (research 2026-09-19): Copilot Free / Pro $10 / Pro+ $39 / Max $100 / Business $19 per seat / Enterprise $39 per seat; Copilot CLI consumes AI credits. Claude Code shares the usage limits of Pro/Max/Team/Enterprise.</a:t>
            </a:r>
          </a:p>
          <a:p>
            <a:r>
              <a:t>VERIFY: star counts and the harness-benchmark claim from LLM 101 slide 105 were left off on purpose; Cursor/Codex/Aider/Cline pricing was not researched; Cline’s MCP/skills support not checked.</a:t>
            </a:r>
          </a:p>
          <a:p>
            <a:r>
              <a:t>Sources: https://docs.github.com/en/copilot/concepts/agents/about-copilot-cli · https://docs.github.com/en/copilot/get-started/plans · https://support.claude.com/en/articles/11145838-use-claude-code-with-your-pro-or-max-plan · https://agentskills.io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[S3-07]</a:t>
            </a:r>
          </a:p>
          <a:p>
            <a:r>
              <a:t>Beyond code, the same loop moved into everyday apps. Cowork (Claude Cowork, Microsoft Copilot Cowork) packages the coding agent’s file-and-app loop for non-coders; it is approval-gated — sends and posts ask first.</a:t>
            </a:r>
          </a:p>
          <a:p>
            <a:r>
              <a:t>Computer use: screenshot → decide → click/type → new screenshot. It is the universal back door when a product has no API, and the slowest, most expensive way to call anything.</a:t>
            </a:r>
          </a:p>
          <a:p>
            <a:r>
              <a:t>AI browsers put the agent inside the browser: smaller attack surface than full computer use (no shell, no file system), but every web page is untrusted input — the injection story from Segment 2.</a:t>
            </a:r>
          </a:p>
          <a:p>
            <a:r>
              <a:t>In Azure the same tools exist as Foundry Agent Service preview tools: computer use and browser automation (Playwright Workspaces). About 1.5 minutes.</a:t>
            </a:r>
          </a:p>
          <a:p>
            <a:r>
              <a:t>VERIFY: the product list comes from LLM 101 (June 2026) — re-check names and status before the event. LLM 101 slide 123 quotes Anthropic’s measured prompt-injection success rate on Claude in Chrome (23.6 % → 11.2 % with mitigations); re-verify before quoting it.</a:t>
            </a:r>
          </a:p>
          <a:p>
            <a:r>
              <a:t>Sources: https://www.anthropic.com/product/claude-cowork · https://www.microsoft.com/en-us/microsoft-365/blog/2026/03/09/copilot-cowork-a-new-way-of-getting-work-done/ · https://anthropic.com/news/claude-for-chrome · https://learn.microsoft.com/en-us/azure/foundry/agents/overview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[S3-D4]</a:t>
            </a:r>
          </a:p>
          <a:p>
            <a:r>
              <a:t>Two minutes — keep it moving. Both terminals are pre-opened in the workshop repo and logged in; the kestrel-docs MCP server (Lab 2, finished C# or Python server) is registered in both, and the Lab 2 stretch SKILL.md (when and how to use kestrel-docs: cite chunk ids, refuse when nothing is found) is in the repo.</a:t>
            </a:r>
          </a:p>
          <a:p>
            <a:r>
              <a:t>Ask both the same question. Point out: each plans, discovers the skill, asks before it runs the MCP tool, and answers with chunk ids. The correct answer: no — the handbook limits night flights to 90 m.</a:t>
            </a:r>
          </a:p>
          <a:p>
            <a:r>
              <a:t>Do not wait for perfect output; the point is the shape of the loop and that your S2 artefacts work in agents you already have.</a:t>
            </a:r>
          </a:p>
          <a:p>
            <a:r>
              <a:t>VERIFY: MCP registration paths for Copilot CLI and Claude Code on the instructor laptop (dry run); the SKILL.md is a Lab 2 stretch — write it before the day. Fallback: recorded terminals.</a:t>
            </a:r>
          </a:p>
          <a:p>
            <a:r>
              <a:t>Sources: https://docs.github.com/en/copilot/concepts/agents/about-copilot-cli · labs/02-rag-mcp/README.md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[S3-08]</a:t>
            </a:r>
          </a:p>
          <a:p>
            <a:r>
              <a:t>[trim] Where the loop runs is the real difference between these products.</a:t>
            </a:r>
          </a:p>
          <a:p>
            <a:r>
              <a:t>On your laptop: Claude Code, Copilot CLI, Aider, Goose (Block; desktop app + CLI, MCP-native) — you watch it work and it uses your files and keys. On your server: personal runtimes such as OpenClaw, Hermes Agent (Nous Research) or Letta (agents with memory, MemGPT lineage) — always on, memory across sessions, messenger gateways (WhatsApp, Telegram, Slack…), bring your own model.</a:t>
            </a:r>
          </a:p>
          <a:p>
            <a:r>
              <a:t>In the vendor’s cloud: Devin, Codex Web, GitHub Copilot cloud agent (runs on GitHub Actions), Jules, OpenHands (in a container) — give a goal, come back to a pull request.</a:t>
            </a:r>
          </a:p>
          <a:p>
            <a:r>
              <a:t>The model inside is swappable in almost all of them; memory, sandbox, permissions and where your data lives are the product. About 1 minute.</a:t>
            </a:r>
          </a:p>
          <a:p>
            <a:r>
              <a:t>VERIFY: product list and descriptions from LLM 101 slides 104–115 (June 2026), not re-verified in the 2026-09 research pass; Goose, OpenHands and Letta are listed as Agent Skills adopters (agentskills.io).</a:t>
            </a:r>
          </a:p>
          <a:p>
            <a:r>
              <a:t>Sources: https://devin.ai · https://openhands.dev · https://jules.google · https://block.github.io/goose · https://letta.com · https://openclaw.ai · https://hermes-agent.nousresearch.com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[S3-09]</a:t>
            </a:r>
          </a:p>
          <a:p>
            <a:r>
              <a:t>Lab 3 step 1, verbatim. Top: the one client for the whole lab — OpenAIChatCompletionClient pointed at GENAI_BASE_URL, with the api-key header the gateway expects. OpenAIChatClient would speak the Responses API instead: fine for Foundry /openai/v1 and OpenAI, not for Ollama, LM Studio or the gateway’s chat route.</a:t>
            </a:r>
          </a:p>
          <a:p>
            <a:r>
              <a:t>Bottom: a tool is a plain function with @tool — type hints and the docstring become its JSON schema. Agent(...) takes the client, a name, instructions and tools; create_session() is the memory; agent.run(question, session=session) runs the whole loop from Lab 1.</a:t>
            </a:r>
          </a:p>
          <a:p>
            <a:r>
              <a:t>The third question ("Which city did I ask about?") only works because of the session; the file ends with the same question without it.</a:t>
            </a:r>
          </a:p>
          <a:p>
            <a:r>
              <a:t>Names changed a lot in 2026 (ChatAgent → Agent, AgentThread → AgentSession, @ai_function → @tool): samples older than mid-2026 are wrong. About 1.5 minutes.</a:t>
            </a:r>
          </a:p>
          <a:p>
            <a:r>
              <a:t>Sources: labs/03-agents/python/solution/01_agent.py and lab3_common.py (MAF 1.19, tested 2026-09-22/23) · https://learn.microsoft.com/en-us/agent-framework/support/upgrade/python-2026-significant-changes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[S3-10]</a:t>
            </a:r>
          </a:p>
          <a:p>
            <a:r>
              <a:t>Same agent in .NET 10, as a single-file app (dotnet run --file 01_agent.cs; the #:package lines pin Microsoft.Agents.AI.OpenAI 1.22). Top: the api-key header as a PipelinePolicy — every C# lab file has it.</a:t>
            </a:r>
          </a:p>
          <a:p>
            <a:r>
              <a:t>The chat client is any IChatClient from Microsoft.Extensions.AI — the real .NET abstraction; AsAIAgent wraps it into an agent. Teach M.E.AI first, MAF second.</a:t>
            </a:r>
          </a:p>
          <a:p>
            <a:r>
              <a:t>Tools are plain methods: [Description] and the parameter types become the schema; AIFunctionFactory.Create with an explicit name avoids a mangled local-function name. AgentSession / CreateSessionAsync replace the old thread API; RunAsync(...).Text is the answer, RunStreamingAsync streams (verified in the MafCheck snippet).</a:t>
            </a:r>
          </a:p>
          <a:p>
            <a:r>
              <a:t>Swap GetChatClient(model) for GetResponsesClient() to use the Responses API (still [Experimental] OPENAI001 in OpenAI .NET 2.13). About 1 minute.</a:t>
            </a:r>
          </a:p>
          <a:p>
            <a:r>
              <a:t>Sources: labs/03-agents/csharp/solution/01_agent.cs · labs/_verified_snippets/csharp/MafCheck/Program.cs · research/2026-09-22_framework-snippet-verification.md §3, §6.1 · https://learn.microsoft.com/en-us/agent-framework/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[S3-11]</a:t>
            </a:r>
          </a:p>
          <a:p>
            <a:r>
              <a:t>LangChain 1.x does the same job with create_agent; under the hood it returns a compiled LangGraph graph (a model node and a tools node). invoke({"messages": [...]}) returns the whole transcript — HumanMessage, AIMessage with tool_calls, ToolMessage, final AIMessage: the Lab 1 loop, made visible.</a:t>
            </a:r>
          </a:p>
          <a:p>
            <a:r>
              <a:t>Same OpenAI-compatible pattern as everywhere today: ChatOpenAI with base_url and the api-key header (the header line is in the file). init_chat_model("openai:&lt;model&gt;", base_url=…, default_headers=…) is the one-liner that works for every OpenAI-compatible endpoint (verified).</a:t>
            </a:r>
          </a:p>
          <a:p>
            <a:r>
              <a:t>Because it is a graph, a checkpointer (InMemorySaver) gives memory per thread_id and human-in-the-loop interrupts; create_agent(checkpointer=…, middleware=[HumanInTheLoopMiddleware(...)]) was verified in round 2. About 1 minute.</a:t>
            </a:r>
          </a:p>
          <a:p>
            <a:r>
              <a:t>Sources: labs/_verified_snippets/python/v3_langchain_agent.py (LangChain 1.4, LangGraph 1.2) · https://docs.langchain.com/oss/python/releases/langchain-v1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[S3-12]</a:t>
            </a:r>
          </a:p>
          <a:p>
            <a:r>
              <a:t>One row each instead of one slide each: they all implement the same loop.</a:t>
            </a:r>
          </a:p>
          <a:p>
            <a:r>
              <a:t>PydanticAI (typed Python, model-agnostic — the vendor-neutral foil): Agent(model, instructions=…), @agent.tool_plain, run_sync() → .output; r.usage is a property; the api-key header needs a pre-configured AsyncOpenAI client because OpenAIProvider has no header argument (verified, v4). MCP: “Agents can connect to MCP servers and use their tools” (Pydantic AI docs, web-checked 2026-09-23).</a:t>
            </a:r>
          </a:p>
          <a:p>
            <a:r>
              <a:t>OpenAI Agents SDK: explicit handoffs between agents; the April 2026 "next evolution" added a model-native harness — filesystem tools, MCP, skills, shell/patch and sandbox providers; the harness launched in Python first, TypeScript support is “planned” (OpenAI post of 2026-04-15, web-checked 2026-09-23). Claude Agent SDK: Claude Code’s loop as a library — built-in tools, hooks, sub-agents, MCP, permissions, sessions, skills from .claude/.</a:t>
            </a:r>
          </a:p>
          <a:p>
            <a:r>
              <a:t>AI SDK 7: ToolLoopAgent with stopWhen: isStepCount(n) (default 20 steps; stepCountIs was renamed, system → instructions); MCP via createMCPClient from @ai-sdk/mcp; WorkflowAgent lives in the beta @ai-sdk/workflow package (durable, stream-only) — not for the workshop.</a:t>
            </a:r>
          </a:p>
          <a:p>
            <a:r>
              <a:t>Versions (2026-09-19/22): pydantic-ai 2.46–2.47 on PyPI (the pinned lab set resolved 2.32.2), openai-agents 0.22.3 / @openai/agents 0.18.0, claude-agent-sdk 0.2.157 / @anthropic-ai/claude-agent-sdk 0.3.278, ai 7.0.111.</a:t>
            </a:r>
          </a:p>
          <a:p>
            <a:r>
              <a:t>Sources: research/2026-09-22_framework-snippet-verification.md (v4, ts2, §6.2) · research/2026-09-19_framework-landscape.md §4 · https://openai.com/index/the-next-evolution-of-the-agents-sdk/ · https://code.claude.com/docs/en/agent-sdk/overview · https://vercel.com/blog/ai-sdk-7 · https://pydantic.dev/docs/ai/mcp/overview/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[S3-13]</a:t>
            </a:r>
          </a:p>
          <a:p>
            <a:r>
              <a:t>The recurring proof of the day: same code, different model. The Lab 3 agent runs unchanged on gpt-5-mini, DeepSeek-V3.2, Kimi-K2.6 or grok-4.1-fast — all Direct from Azure on the same gateway and key — only GENAI_MODEL changes. For a local model point GENAI_BASE_URL at Ollama (http://localhost:11434/v1) with qwen3.5:4b and GENAI_REASONING_EFFORT=none; the instructor laptop can show gemma4:e4b.</a:t>
            </a:r>
          </a:p>
          <a:p>
            <a:r>
              <a:t>What differs is tool-calling quality, and we show it honestly. In our own runs with small local models (qwen3.5:2b / qwen3:1.7b on CPU): the model asked for get_weather and to_fahrenheit(16) in the same turn — inventing the second argument before the first result existed; a "HH:MM" format in a structured-output field description (Lab 1 step 3, Session.start) came back as "Tuesday at 10:50 AM"; on the night-flight question a small model said yes and quoted the 90 m limit that contradicts it. Tools make answers groundable, not automatically correct.</a:t>
            </a:r>
          </a:p>
          <a:p>
            <a:r>
              <a:t>Lab 3 stretch: run step 2 with GENAI_MODEL_2 and compare. About 1.5 minutes.</a:t>
            </a:r>
          </a:p>
          <a:p>
            <a:r>
              <a:t>VERIFY: the slide uses the catalog §10 name grok-4.1-fast; the provisioning plan §3 deploys grok-4-fast (non-reasoning) — confirm the deployment name on the day’s gateway. Also the Kimi-K2.6 format string; frontier-model behaviour on the Foundry endpoint is not yet observed (not provisioned).</a:t>
            </a:r>
          </a:p>
          <a:p>
            <a:r>
              <a:t>Sources: 05_Model_Catalog_2026-09.md §10 · 01_Foundry_Provisioning_Plan.md §3 · research/2026-09-22_framework-snippet-verification.md §7 · labs/03-agents/README.md step 2 · labs/01-hello-model/README.md step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[S3-14]</a:t>
            </a:r>
          </a:p>
          <a:p>
            <a:r>
              <a:t>An MCP server is just another tool source. Python: MCPStdioTool starts the finished Lab 2 server as a child process over stdio and lists its tools; the agent gets it in tools=[docs] like any function.</a:t>
            </a:r>
          </a:p>
          <a:p>
            <a:r>
              <a:t>Two gotchas from our runs are in the code: stdio children get a minimal environment (HOME, PATH, SHELL, TERM), so we pass env=dict(os.environ); load_prompts=False keeps the server’s prompt templates from becoming functions. Pin mcp==1.30 in Python — MAF 1.19’s MCP tool breaks when mcp 2.x is in the same venv.</a:t>
            </a:r>
          </a:p>
          <a:p>
            <a:r>
              <a:t>C#: McpClient.CreateAsync(new StdioClientTransport(…)) — there is no McpClientFactory in ModelContextProtocol 2.2 — then ListToolsAsync(). Each McpClientTool is an AIFunction, so it plugs straight into the agent: tools: [.. docsTools]. Build the C# server first and start it with --no-build (build output on stdout breaks the protocol); the lab also sets ShutdownTimeout = 1 s (default: a 5 s wait at exit).</a:t>
            </a:r>
          </a:p>
          <a:p>
            <a:r>
              <a:t>MCPStreamableHTTPTool is the remote (HTTP) variant of the same idea. About 1.5 minutes.</a:t>
            </a:r>
          </a:p>
          <a:p>
            <a:r>
              <a:t>Sources: labs/03-agents/{python,csharp}/solution/02_agent_with_mcp.* · lab3_common.py · research/2026-09-22_framework-snippet-verification.md §6.1, §6.3, §7 · https://blog.modelcontextprotocol.io/posts/2026-07-28/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[S3-15]</a:t>
            </a:r>
          </a:p>
          <a:p>
            <a:r>
              <a:t>Five patterns with names — the vocabulary every framework shares. Sequential: a fixed order, each agent sees the conversation so far (Lab 3 step 3). Concurrent: the same input to several agents in parallel, results merged by an aggregator.</a:t>
            </a:r>
          </a:p>
          <a:p>
            <a:r>
              <a:t>Handoff: an agent passes control to a specialist — that is routing; in MAF it pauses for user input by default, so it is a stretch goal. Group chat: a manager picks who speaks next — Lab 3 step 4 uses a fixed order, a round limit and an APPROVED exit. Magentic (from Magentic-One): a planner keeps a task ledger, assigns work and re-plans.</a:t>
            </a:r>
          </a:p>
          <a:p>
            <a:r>
              <a:t>Python: builder classes in the separate package agent-framework-orchestrations (must be in requirements). C#: methods on AgentWorkflowBuilder. Verified 2026-09-22: all five Python builders (Magentic: construction only), C# sequential, group chat and handoff run, concurrent and Magentic compile.</a:t>
            </a:r>
          </a:p>
          <a:p>
            <a:r>
              <a:t>About 1.5 minutes. Sources: research/2026-09-22_framework-snippet-verification.md §6.1, §6.3 · https://learn.microsoft.com/en-us/agent-framework/workflows/orchestrations/sequential · LLM 101 slides 103–104.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[S3-16]</a:t>
            </a:r>
          </a:p>
          <a:p>
            <a:r>
              <a:t>Lab 3 step 3 in both languages. Python: two Agent objects, SequentialBuilder(participants=[researcher, writer]).build(), then await workflow.run(TASK); get_outputs() has the writer’s reply, intermediate_output_from=[researcher] exposes the notes. C#: AgentWorkflowBuilder.BuildSequential(researcher, writer), hosted as an agent with AsAIAgent() and run with RunAsync.</a:t>
            </a:r>
          </a:p>
          <a:p>
            <a:r>
              <a:t>The gotcha is how the hand-off arrives. Python MAF 1.19 passes the researcher’s notes to the writer as an ASSISTANT turn — frontier models cope, but small local models (qwen3.5:2b in our run) think they already answered and return an EMPTY reply. handoffs_as_user() in lab3_common.py (10 lines, chat middleware) re-labels other agents’ turns as user turns. C# MAF 1.22 already hands the previous agent’s reply over as a USER turn. Same pattern, different plumbing — start the mock with MOCK_LOG to see the requests.</a:t>
            </a:r>
          </a:p>
          <a:p>
            <a:r>
              <a:t>75-minute cut (S3-17 dropped): add one sentence — "the same team can be drawn as a LangGraph graph with checkpoints; 06_langgraph.py is in the lab folder". About 2 minutes.</a:t>
            </a:r>
          </a:p>
          <a:p>
            <a:r>
              <a:t>Sources: labs/03-agents/{python,csharp}/solution/03_workflow.* · lab3_common.py · research/2026-09-22_framework-snippet-verification.md §6.1, §7 · https://learn.microsoft.com/en-us/agent-framework/workflows/orchestrations/sequential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[S3-D1]</a:t>
            </a:r>
          </a:p>
          <a:p>
            <a:r>
              <a:t>Six minutes. Python first, in labs/03-agents/python/solution: python 03_workflow.py — point at the researcher’s MCP tool call and its cited notes, then the writer’s reply.</a:t>
            </a:r>
          </a:p>
          <a:p>
            <a:r>
              <a:t>Then the C# twin: dotnet run --file 03_workflow.cs (pre-built — the first run of the Lab 2 server build takes ~20 s). DevUI on the side: python 07_devui.py opens http://127.0.0.1:8090 (auth_enabled=False on localhost); run the pipeline and click through each step.</a:t>
            </a:r>
          </a:p>
          <a:p>
            <a:r>
              <a:t>If time allows: the mock with MOCK_LOG shows Python sending the hand-off as an assistant turn and C# as a user turn. Fallback: recorded terminal and screenshots.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[S3-17]</a:t>
            </a:r>
          </a:p>
          <a:p>
            <a:r>
              <a:t>[trim] Same researcher → writer, drawn explicitly: nodes are functions, edges are the order, the state is a TypedDict. compile(checkpointer=InMemorySaver()) saves the state after every step, keyed by thread_id — memory, crash recovery and time travel in one mechanism.</a:t>
            </a:r>
          </a:p>
          <a:p>
            <a:r>
              <a:t>human_review calls interrupt(): the graph pauses and the state is saved; Command(resume=…) continues — to END on "approve", or back to write with the feedback. Gotcha: code before interrupt() runs twice (the node restarts on resume).</a:t>
            </a:r>
          </a:p>
          <a:p>
            <a:r>
              <a:t>In MAF you declare a pattern; here you draw the graph — pick by how much control you need. Deep Agents (deepagents 0.7 on PyPI) is LangChain’s batteries-included harness above create_agent (filesystem, memory, compaction, sub-agents, permissions); Managed Deep Agents is in public beta. About 1.5 minutes.</a:t>
            </a:r>
          </a:p>
          <a:p>
            <a:r>
              <a:t>Sources: labs/03-agents/python/solution/06_langgraph.py · research/2026-09-22_framework-snippet-verification.md §6.3 · research/2026-09-19_framework-landscape.md §2 · https://docs.langchain.com/oss/python/releases/langchain-v1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[S3-D2]</a:t>
            </a:r>
          </a:p>
          <a:p>
            <a:r>
              <a:t>[trim] Three minutes. Run python 06_langgraph.py interactively in labs/03-agents/python/solution: the graph researches and drafts, then stops at human_review.</a:t>
            </a:r>
          </a:p>
          <a:p>
            <a:r>
              <a:t>Type feedback (for example "mention the limit in Wh") — it loops back to write with the feedback; then type approve — END. The script prints how many checkpoints were saved for thread customer-4711.</a:t>
            </a:r>
          </a:p>
          <a:p>
            <a:r>
              <a:t>If asked: --auto approves automatically (used by the test runner). Fallback: recorded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[S3-18]</a:t>
            </a:r>
          </a:p>
          <a:p>
            <a:r>
              <a:t>You may not need a framework for a team. In Claude Code a sub-agent is a Markdown file in .claude/agents/ with frontmatter (name, description, tools, model). The main agent delegates through its Task tool; each sub-agent runs in its own clean context with only its own tools, several in parallel, and returns one summary.</a:t>
            </a:r>
          </a:p>
          <a:p>
            <a:r>
              <a:t>Same idea across the tools (paths as on the Segment 2 config-file slide): GitHub Copilot .github/agents/&lt;name&gt;.agent.md, shared by Copilot CLI, the IDE chat and the cloud agent; Cursor .cursor/agents/ (confirmed on cursor.com 2026-09-23); Codex has named custom agents as TOML files in .codex/agents/ (web-checked 2026-09-23); goose starts subagents from the prompt, next to the recipes you start yourself (web-checked 2026-09-23).</a:t>
            </a:r>
          </a:p>
          <a:p>
            <a:r>
              <a:t>The table maps the file-defined team onto Lab 3’s team in code: who does what, which tools, what context, how results come back, who decides the order. About 1 minute.</a:t>
            </a:r>
          </a:p>
          <a:p>
            <a:r>
              <a:t>VERIFY: Aider (chat modes, no named agents) comes from LLM 101 slide 92 (June 2026) and was not re-checked — it stays in these notes only.</a:t>
            </a:r>
          </a:p>
          <a:p>
            <a:r>
              <a:t>Sources: https://docs.claude.com/en/docs/claude-code/sub-agents · https://cursor.com/docs/subagents · https://developers.openai.com/codex/subagents · https://block.github.io/goose/blog/2025/09/26/subagents-vs-subrecipes/ · LLM 101 slides 90–93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[S3-19]</a:t>
            </a:r>
          </a:p>
          <a:p>
            <a:r>
              <a:t>Foundry Agent Service is the managed Azure runtime (GA since May 2025, reworked at Build 2026). Three kinds of agents. Prompt agents: configuration only. Hosted agents (GA): your own code in a container — Python or C#, framework-agnostic: MAF, LangGraph, Semantic Kernel, OpenAI Agents SDK, Anthropic’s Agent SDK, GitHub Copilot SDK. Ephemeral agents: created through the Responses API.</a:t>
            </a:r>
          </a:p>
          <a:p>
            <a:r>
              <a:t>A hosted agent gets a per-session VM-isolated sandbox with persistent $HOME and /files, an Entra agent identity, auto-scale and Application Insights. Teams via connected agents; protocols include OpenResponses, Activity, Invocations and A2A v1.0 (GA).</a:t>
            </a:r>
          </a:p>
          <a:p>
            <a:r>
              <a:t>This is the beyond-OpenAI punchline: the managed runtime runs whichever SDK — and whichever Direct-from-Azure model — you choose. MAF vs Agent Service: MAF is the library you write agents with; Agent Service is where you deploy them. About 1.5 minutes.</a:t>
            </a:r>
          </a:p>
          <a:p>
            <a:r>
              <a:t>Sources: research/2026-09-19_framework-landscape.md §3 · https://learn.microsoft.com/en-us/azure/foundry/agents/concepts/hosted-agents · https://learn.microsoft.com/en-us/azure/foundry/agents/overview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[S3-20]</a:t>
            </a:r>
          </a:p>
          <a:p>
            <a:r>
              <a:t>Deploying an agent is shipping a container with a loop inside: your agent code → a container image → a hosted agent in a Foundry project → an endpoint that your app, Teams or Microsoft 365 Copilot can call (publishing to Teams/M365 Copilot arrived at Build 2026).</a:t>
            </a:r>
          </a:p>
          <a:p>
            <a:r>
              <a:t>What Foundry adds is the runtime around your loop: an Entra agent identity, a per-session sandbox, scale (to zero), traces in Application Insights, and the content filters every Foundry model call already has.</a:t>
            </a:r>
          </a:p>
          <a:p>
            <a:r>
              <a:t>Caveat for this room: Agent Service endpoints are Entra-only (Foundry Agent Consumer role) — people holding a key, like you today, need APIM in front. That is why the deploy demo runs on the instructor’s own project.</a:t>
            </a:r>
          </a:p>
          <a:p>
            <a:r>
              <a:t>VERIFY: the exact deploy path (azd AI agent extension vs SDK) — dry run before the event; provisioning only with Erben’s explicit go. About 1.5 minutes.</a:t>
            </a:r>
          </a:p>
          <a:p>
            <a:r>
              <a:t>Sources: https://learn.microsoft.com/en-us/azure/foundry/agents/concepts/hosted-agents · research/2026-09-19_foundry-access-for-workshop.md §3(d) · https://learn.microsoft.com/en-us/azure/foundry/concepts/authentication-authorization-foundry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[S3-D3]</a:t>
            </a:r>
          </a:p>
          <a:p>
            <a:r>
              <a:t>Four minutes on the instructor subscription (needs Erben’s go for provisioning and a dry run beforehand). Show the unchanged Lab 3 workflow code in a container, create the hosted agent, call it from the lab script, open the trace in Application Insights, point at the agent identity.</a:t>
            </a:r>
          </a:p>
          <a:p>
            <a:r>
              <a:t>Attendees cannot call it with their gateway key: Agent Service endpoints are Entra-only unless APIM sits in front — say so.</a:t>
            </a:r>
          </a:p>
          <a:p>
            <a:r>
              <a:t>75-minute cut: replace the live run with the two screenshots from the fallback folder.</a:t>
            </a:r>
          </a:p>
          <a:p>
            <a:r>
              <a:t>VERIFY: hosted-agent deploy flow and container contract — not yet exercised in the workshop repo.</a:t>
            </a:r>
          </a:p>
          <a:p>
            <a:r>
              <a:t>Sources: https://learn.microsoft.com/en-us/azure/foundry/agents/concepts/hosted-agents · research/2026-09-19_foundry-access-for-workshop.md §3(d)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[S3-21]</a:t>
            </a:r>
          </a:p>
          <a:p>
            <a:r>
              <a:t>When an agent misbehaves you need to see the steps. OpenTelemetry’s GenAI semantic conventions (still marked "in development") give every framework the same span names: invoke_agent → chat → execute_tool → chat, with the model, token usage and tool arguments as attributes; MAF workflows add workflow.run and executor.process spans.</a:t>
            </a:r>
          </a:p>
          <a:p>
            <a:r>
              <a:t>Lab 3 step 5 switches it on with one line per language and prints one line per span. Point OTEL_EXPORTER_OTLP_ENDPOINT at Application Insights, Aspire, Jaeger or Langfuse — no code change. enable_sensitive_data puts prompts and tool arguments into the spans: fine locally, think twice in production.</a:t>
            </a:r>
          </a:p>
          <a:p>
            <a:r>
              <a:t>Cost per run falls out of the token attributes × price (next slide). LangChain/LangGraph: traces via LangSmith or OTel through langchain-azure-ai[opentelemetry] — VERIFY the exact span names before claiming parity with MAF. About 1.5 minutes.</a:t>
            </a:r>
          </a:p>
          <a:p>
            <a:r>
              <a:t>Sources: labs/03-agents/{python,csharp}/solution/05_tracing.* · research/2026-09-22_framework-snippet-verification.md §6.3 (round-2 findings §3) · https://opentelemetry.io/blog/2026/genai-observability/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[S3-22]</a:t>
            </a:r>
          </a:p>
          <a:p>
            <a:r>
              <a:t>Put numbers on the cost line. gpt-5-mini costs $0.25 per 1M input tokens and $2 per 1M output tokens (catalog §1, Foundry Direct from Azure). With the day’s planning assumption of 2,000 tokens in and 600 out per call: 2,000 × 0.25/1M + 600 × 2/1M = $0.0017 per call.</a:t>
            </a:r>
          </a:p>
          <a:p>
            <a:r>
              <a:t>A two-agent workflow where each agent takes five steps is 10 calls: about $0.017 and roughly 26,000 tokens per run (in reality more, because every step resends the growing transcript). For the whole room the planning estimate is about $8 for 30 people on gpt-5-mini — cheap. The real limit is the gateway.</a:t>
            </a:r>
          </a:p>
          <a:p>
            <a:r>
              <a:t>Each attendee key has 20k tokens per minute and 500k tokens per day (APIM llm-token-limit: 429 on rate, 403 on quota). 500k / 26k ≈ 19 team runs per day — and a fast run can exceed 20k tokens in a minute, so expect 429s and let the SDK retry.</a:t>
            </a:r>
          </a:p>
          <a:p>
            <a:r>
              <a:t>Caps: max steps (isStepCount(5) in AI SDK, max_rounds=5 in the Python critic, MaximumIterationCount = 5 in C#), a token budget per run (stop or compact), the gateway quota. About 1.5 minutes.</a:t>
            </a:r>
          </a:p>
          <a:p>
            <a:r>
              <a:t>Sources: 05_Model_Catalog_2026-09.md §1 · 01_Foundry_Provisioning_Plan.md §2–3 · research/2026-09-19_foundry-access-for-workshop.md §3–4 · https://learn.microsoft.com/en-us/azure/api-management/llm-token-limit-policy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[S3-23]</a:t>
            </a:r>
          </a:p>
          <a:p>
            <a:r>
              <a:t>Segment 2’s lethal trifecta (Willison): private data + untrusted content + a way to communicate out = a breach; cut any one leg and you are safer. In a team the legs are spread across agents: the web page carries the instruction, the researcher has the private data and copies the instruction into its notes, the writer trusts those notes and has send_mail. Two hops, and no single agent looks dangerous.</a:t>
            </a:r>
          </a:p>
          <a:p>
            <a:r>
              <a:t>Mitigations — cut one leg per agent: tool allow-lists (the researcher is read-only, one agent may send); a sandbox for Bash and code; treat other agents’ output as data, never as instructions; human approval on every exit. The next slide adds a check before each dangerous tool call.</a:t>
            </a:r>
          </a:p>
          <a:p>
            <a:r>
              <a:t>Note the tension with S3-16: handoffs_as_user turns another agent’s output into a USER turn — the model then trusts it more. Fine for our own documents, dangerous with web content.</a:t>
            </a:r>
          </a:p>
          <a:p>
            <a:r>
              <a:t>VERIFY: LLM 101 slide 67 says multi-hop attacks via tool chains and sub-agents were "up &gt;70 % YoY in 2026" — no primary source in our research; left off the slide. About 1.5 minutes.</a:t>
            </a:r>
          </a:p>
          <a:p>
            <a:r>
              <a:t>Sources: https://simonwillison.net/series/prompt-injection · LLM 101 slides 67–68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[S3-24]</a:t>
            </a:r>
          </a:p>
          <a:p>
            <a:r>
              <a:t>The pattern: before a dangerous tool (Bash, delete, send) runs, a guard scores the proposed call and decides allow / ask a human / deny. LangChain calls its version of this "Auto Mode".</a:t>
            </a:r>
          </a:p>
          <a:p>
            <a:r>
              <a:t>Who scores? A decision model such as TypeSafe’s Jev (launched 2026-09-15/18): state + question → typed, calibrated answers (Choice/Score/Noul), API-only with a waitlist; TypeSafe reports up to ~200× faster and ~400× cheaper than LLM classification — vendor-run evals, say so. Or the thing you already have: ask a local model "is this destructive?" and read the logprob of yes (the Mini-jev pattern) — no key, no cost. Or plain rules first.</a:t>
            </a:r>
          </a:p>
          <a:p>
            <a:r>
              <a:t>Caveat from the research: a classifier can be attacked too — keep a hard deny list and a sandbox underneath. Lab 3 stretch "danger zone": give an agent a tool that changes something and require approval first.</a:t>
            </a:r>
          </a:p>
          <a:p>
            <a:r>
              <a:t>No code on this slide on purpose: none of this is in the tested lab code yet. About 1.5 minutes.</a:t>
            </a:r>
          </a:p>
          <a:p>
            <a:r>
              <a:t>Sources: 05_Model_Catalog_2026-09.md §4 · research/2026-09-21_jev-system-one-models.md · https://typesafe.ai/blog/introducing-system-one-models-and-jev · https://www.langchain.com/blog/building-a-harness-with-jev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[S3-25]</a:t>
            </a:r>
          </a:p>
          <a:p>
            <a:r>
              <a:t>[trim] An agent can reach the right answer the wrong way — or the wrong answer the right way. Grade the trajectory: task success, tool-call precision (right tool, right arguments, no extra calls), number of steps, cost per run.</a:t>
            </a:r>
          </a:p>
          <a:p>
            <a:r>
              <a:t>Golden tasks with an expected path; run the agent; score the trajectory from the traces (S3-21 spans have every tool call and its arguments); gate merges in CI. Tools: Azure AI Evaluation SDK, promptfoo; Ragas has not released since January 2026 (risk).</a:t>
            </a:r>
          </a:p>
          <a:p>
            <a:r>
              <a:t>Lab 2 is the small version of this: a six-question golden set caught the flattened-table bug — 5 of 6 with MarkItDown, 6 of 6 after adding table rows as sentences. About 1 minute.</a:t>
            </a:r>
          </a:p>
          <a:p>
            <a:r>
              <a:t>Sources: research/2026-09-19_framework-landscape.md §5 · research/2026-09-22_framework-snippet-verification.md §7 · labs/02-rag-mcp/README.md (stretch: 06_eval)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[S3-26]</a:t>
            </a:r>
          </a:p>
          <a:p>
            <a:r>
              <a:t>Everything in this segment is a snapshot: sources checked 2026-09-19 to 2026-09-23 (the model catalog on 2026-09-21), deck built 2026-09-23. This year alone: GitHub Models was retired (2026-07-30), the MCP spec went stateless (revision 2026-07-28), OpenAI shut down the Assistants API (2026-08-26; Agent Builder follows 2026-11-30), MAF’s Python API was renamed through 2026 (ChatAgent → Agent, AgentThread → AgentSession), AI SDK 7 renamed stepCountIs to isStepCount.</a:t>
            </a:r>
          </a:p>
          <a:p>
            <a:r>
              <a:t>How we keep the workshop honest: the verified snippets re-run against a real endpoint (run_all.sh --real), the model catalog is refreshed with the genai-landscape-research skill the week before, and every slide cites a source with a date (appendix A-01).</a:t>
            </a:r>
          </a:p>
          <a:p>
            <a:r>
              <a:t>Tell the room: when you copy code from a blog post, check its date first — most MAF samples older than mid-2026 do not run. About 1 minute, then Lab 3.</a:t>
            </a:r>
          </a:p>
          <a:p>
            <a:r>
              <a:t>Sources: https://github.blog/changelog/2026-07-30-github-models-is-now-retired/ · https://blog.modelcontextprotocol.io/posts/2026-07-28/ · https://developers.openai.com/api/docs/deprecations · https://learn.microsoft.com/en-us/agent-framework/support/upgrade/python-2026-significant-changes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[S3-L3]</a:t>
            </a:r>
          </a:p>
          <a:p>
            <a:r>
              <a:t>30 minutes, core 15: steps 1–3 are the core everyone finishes; 4–5 and the stretch goals absorb the fast ones. Python (MAF 1.19), C# (MAF 1.22, single-file apps) and TypeScript (AI SDK 7; no workflow builder, the agents are chained in code) — pick one.</a:t>
            </a:r>
          </a:p>
          <a:p>
            <a:r>
              <a:t>Prerequisite: the Lab 2 index exists (labs/02-rag-mcp/build/index.json); the agents always start the FINISHED Lab 2 server, so an unfinished Lab 2 does not block anyone.</a:t>
            </a:r>
          </a:p>
          <a:p>
            <a:r>
              <a:t>Watch for: an empty writer reply on small local models (see handoffs_as_user in lab3_common.py); the critic never saying APPROVED (fine — the round limit stops it); tracing that prints nothing (the exporter batches; keep the flush line). C#: the first run builds the Lab 2 server, give it ~20 s.</a:t>
            </a:r>
          </a:p>
          <a:p>
            <a:r>
              <a:t>Checkpoints from the README: step 2 — the night-flight answer cites the handbook (and is it right? max 90 m at night); step 4 — two or more drafts, the last one shorter or more correct.</a:t>
            </a:r>
          </a:p>
          <a:p>
            <a:r>
              <a:t>Fallback: no key or endpoint down → Ollama qwen3.5:4b with GENAI_REASONING_EFFORT=none; no Wi-Fi → the instructor mock (answers become echoes, every script runs). Source: labs/03-agents/README.md.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[E-01-S3]</a:t>
            </a:r>
          </a:p>
          <a:p>
            <a:r>
              <a:t>Recap of Segment 3 (The world of agents — simple agents, teams, runtimes, safety) in three sentences — read the cards, no new content.</a:t>
            </a:r>
          </a:p>
          <a:p>
            <a:r>
              <a:t>Arc of the segment: A loop, a runtime, then a team. The lab (Lab 3 — Two agents and a workflow) is where each card became code.</a:t>
            </a:r>
          </a:p>
          <a:p>
            <a:r>
              <a:t>Bridge: next is Segment 4 — Local AI, media &amp; beyond the West — local AI, media generation, and AI beyond the Western corporate world; its motto: Slot machine → instrument.</a:t>
            </a:r>
          </a:p>
          <a:p>
            <a:r>
              <a:t>Sources: Narrative plan v001 — 06_Narrative_Plan_v001.md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[E-04]</a:t>
            </a:r>
          </a:p>
          <a:p>
            <a:r>
              <a:t>Thank you. Point to the references appendix (A-01): every fact slide of the day is listed there with its URL and the date it was checked.</a:t>
            </a:r>
          </a:p>
          <a:p>
            <a:r>
              <a:t>Remind people that the workshop keys are switched off after the event; the labs keep running on Ollama or the offline mock.</a:t>
            </a:r>
          </a:p>
          <a:p>
            <a:r>
              <a:t>VERIFY: contact / QR — speaker name, e-mail and QR code are not in the sources yet (LLM 101 slide 141 has the contact pattern to reuse).</a:t>
            </a:r>
          </a:p>
          <a:p>
            <a:r>
              <a:t>Sources: Narrative plan v001 — 06_Narrative_Plan_v001.md · labs/00-setup/SETUP.md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[A-00]</a:t>
            </a:r>
          </a:p>
          <a:p>
            <a:r>
              <a:t>Appendix: reference slides for after the day, not presented.</a:t>
            </a:r>
          </a:p>
          <a:p>
            <a:r>
              <a:t>A-01 lists every source cited in this deck (generated from refs.py; only the keys this deck actually cites). The catalog tables are generated from 05_Model_Catalog_2026-09.md at build time — numbers are never typed into the deck.</a:t>
            </a:r>
          </a:p>
          <a:p>
            <a:r>
              <a:t>Sources: Narrative plan v001 — 06_Narrative_Plan_v001.md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[A-01a]</a:t>
            </a:r>
          </a:p>
          <a:p>
            <a:r>
              <a:t>Generated from refs.py (merged REFS of all deck modules) — only the sources this deck cites, in the order of their first use; "Used on" lists slide ids. Links are clickable in the file and the PDF; the full list with every URL is 07_References_v001.md (refs.write_markdown).</a:t>
            </a:r>
          </a:p>
          <a:p>
            <a:r>
              <a:t>Full URLs on this page: Workshop plan v001 — 00_Workshop_Plan.md · labs/.env.example · labs/00-setup/SETUP.md · Gateway policy attendee-policy.xml — infra/policies/attendee-policy.xml · LLM 101 (Day of Data 2026) slides 58–65 — LLM_101_100.pptx (Day of Data 2026) · Yao et al. 2022, ReAct — https://arxiv.org/abs/2210.03629 · Shinn et al. 2023, Reflexion — https://arxiv.org/abs/2303.11366 · GitHub Docs: about Copilot CLI — https://docs.github.com/en/copilot/concepts/agents/about-copilot-cli · Claude Help: Claude Code with Pro/Max — https://support.claude.com/en/articles/11145838-use-claude-code-with-your-pro-or-max-plan · agentskills.io — https://agentskills.io · Foundry Agent Service overview — https://learn.microsoft.com/en-us/azure/foundry/agents/overview · Lab 2 eval (labs/02-rag-mcp) — labs/02-rag-mcp/README.md · Lab 3 (labs/03-agents, tested 2026-09-22/23) — labs/03-agents/README.md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[A-01b]</a:t>
            </a:r>
          </a:p>
          <a:p>
            <a:r>
              <a:t>Generated from refs.py (merged REFS of all deck modules) — only the sources this deck cites, in the order of their first use; "Used on" lists slide ids. Links are clickable in the file and the PDF; the full list with every URL is 07_References_v001.md (refs.write_markdown).</a:t>
            </a:r>
          </a:p>
          <a:p>
            <a:r>
              <a:t>Full URLs on this page: Snippet verification 2026-09-22 — research/2026-09-22_framework-snippet-verification.md · MAF Python 2026 changes — https://learn.microsoft.com/en-us/agent-framework/support/upgrade/python-2026-significant-changes · Framework landscape 2026-09-19 — research/2026-09-19_framework-landscape.md · LangChain v1 release notes — https://docs.langchain.com/oss/python/releases/langchain-v1 · OpenAI Agents SDK harness (2026-04-15) — https://openai.com/index/the-next-evolution-of-the-agents-sdk/ · Pydantic AI docs: MCP — https://pydantic.dev/docs/ai/mcp/overview/ · Model catalog §10 (checked 2026-09-21) — 05_Model_Catalog_2026-09.md · Foundry provisioning plan §2–3 — 01_Foundry_Provisioning_Plan.md · MAF docs: sequential orchestration — https://learn.microsoft.com/en-us/agent-framework/workflows/orchestrations/sequential · Cursor docs: subagents — https://cursor.com/docs/subagents · Codex docs: subagents — https://developers.openai.com/codex/subagents · goose: subagents — https://block.github.io/goose/blog/2025/09/26/subagents-vs-subrecipes/ · Foundry hosted agents — https://learn.microsoft.com/en-us/azure/foundry/agents/concepts/hosted-agents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[A-01c]</a:t>
            </a:r>
          </a:p>
          <a:p>
            <a:r>
              <a:t>Generated from refs.py (merged REFS of all deck modules) — only the sources this deck cites, in the order of their first use; "Used on" lists slide ids. Links are clickable in the file and the PDF; the full list with every URL is 07_References_v001.md (refs.write_markdown).</a:t>
            </a:r>
          </a:p>
          <a:p>
            <a:r>
              <a:t>Full URLs on this page: Foundry access research 2026-09-19 — research/2026-09-19_foundry-access-for-workshop.md · Foundry authentication — https://learn.microsoft.com/en-us/azure/foundry/concepts/authentication-authorization-foundry · OpenTelemetry: GenAI observability — https://opentelemetry.io/blog/2026/genai-observability/ · Model catalog §1 (checked 2026-09-21) — 05_Model_Catalog_2026-09.md · APIM llm-token-limit policy — https://learn.microsoft.com/en-us/azure/api-management/llm-token-limit-policy · Willison: prompt injection series — https://simonwillison.net/series/prompt-injection · Model catalog §4 (checked 2026-09-21) — 05_Model_Catalog_2026-09.md · Jev / System One research 2026-09-21 — research/2026-09-21_jev-system-one-models.md · LangChain: a harness with Jev — https://www.langchain.com/blog/building-a-harness-with-jev · GitHub Models retired — https://github.blog/changelog/2026-07-30-github-models-is-now-retired/ · MCP spec 2026-07-28 — https://blog.modelcontextprotocol.io/posts/2026-07-28/ · OpenAI API deprecations — https://developers.openai.com/api/docs/deprecations · Narrative plan v001 — 06_Narrative_Plan_v001.md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3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3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3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3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3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Relationship Id="rId3" Type="http://schemas.openxmlformats.org/officeDocument/2006/relationships/image" Target="../media/image10.jpe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11.jpeg"/><Relationship Id="rId4" Type="http://schemas.openxmlformats.org/officeDocument/2006/relationships/image" Target="../media/image12.jpe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11.jpeg"/><Relationship Id="rId4" Type="http://schemas.openxmlformats.org/officeDocument/2006/relationships/image" Target="../media/image12.jpeg"/><Relationship Id="rId5" Type="http://schemas.openxmlformats.org/officeDocument/2006/relationships/image" Target="../media/image13.jpe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eg"/><Relationship Id="rId3" Type="http://schemas.openxmlformats.org/officeDocument/2006/relationships/image" Target="../media/image15.jpe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eg"/><Relationship Id="rId3" Type="http://schemas.openxmlformats.org/officeDocument/2006/relationships/image" Target="../media/image17.jpeg"/><Relationship Id="rId4" Type="http://schemas.openxmlformats.org/officeDocument/2006/relationships/image" Target="../media/image18.jpe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jpeg"/><Relationship Id="rId3" Type="http://schemas.openxmlformats.org/officeDocument/2006/relationships/image" Target="../media/image20.jpeg"/><Relationship Id="rId4" Type="http://schemas.openxmlformats.org/officeDocument/2006/relationships/image" Target="../media/image21.jpeg"/><Relationship Id="rId5" Type="http://schemas.openxmlformats.org/officeDocument/2006/relationships/image" Target="../media/image22.jpe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11.jpeg"/><Relationship Id="rId4" Type="http://schemas.openxmlformats.org/officeDocument/2006/relationships/image" Target="../media/image12.jpeg"/><Relationship Id="rId5" Type="http://schemas.openxmlformats.org/officeDocument/2006/relationships/image" Target="../media/image13.jpeg"/><Relationship Id="rId6" Type="http://schemas.openxmlformats.org/officeDocument/2006/relationships/image" Target="../media/image23.jpe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11.jpeg"/><Relationship Id="rId4" Type="http://schemas.openxmlformats.org/officeDocument/2006/relationships/image" Target="../media/image12.jpe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11.jpeg"/><Relationship Id="rId4" Type="http://schemas.openxmlformats.org/officeDocument/2006/relationships/image" Target="../media/image12.jpeg"/><Relationship Id="rId5" Type="http://schemas.openxmlformats.org/officeDocument/2006/relationships/image" Target="../media/image13.jpe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jpeg"/><Relationship Id="rId3" Type="http://schemas.openxmlformats.org/officeDocument/2006/relationships/image" Target="../media/image25.jpeg"/><Relationship Id="rId4" Type="http://schemas.openxmlformats.org/officeDocument/2006/relationships/image" Target="../media/image26.jpeg"/><Relationship Id="rId5" Type="http://schemas.openxmlformats.org/officeDocument/2006/relationships/image" Target="../media/image27.jpeg"/><Relationship Id="rId6" Type="http://schemas.openxmlformats.org/officeDocument/2006/relationships/image" Target="../media/image28.jpe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3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jpg"/><Relationship Id="rId3" Type="http://schemas.openxmlformats.org/officeDocument/2006/relationships/image" Target="../media/image3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emf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jpe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jpg"/><Relationship Id="rId3" Type="http://schemas.openxmlformats.org/officeDocument/2006/relationships/image" Target="../media/image3.png"/><Relationship Id="rId4" Type="http://schemas.openxmlformats.org/officeDocument/2006/relationships/image" Target="../media/image33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jpg"/><Relationship Id="rId3" Type="http://schemas.openxmlformats.org/officeDocument/2006/relationships/image" Target="../media/image33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jpg"/><Relationship Id="rId3" Type="http://schemas.openxmlformats.org/officeDocument/2006/relationships/image" Target="../media/image33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jpg"/><Relationship Id="rId3" Type="http://schemas.openxmlformats.org/officeDocument/2006/relationships/image" Target="../media/image33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jpg"/><Relationship Id="rId3" Type="http://schemas.openxmlformats.org/officeDocument/2006/relationships/image" Target="../media/image33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jpg"/><Relationship Id="rId3" Type="http://schemas.openxmlformats.org/officeDocument/2006/relationships/image" Target="../media/image33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jpg"/><Relationship Id="rId3" Type="http://schemas.openxmlformats.org/officeDocument/2006/relationships/image" Target="../media/image33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jpg"/><Relationship Id="rId3" Type="http://schemas.openxmlformats.org/officeDocument/2006/relationships/image" Target="../media/image33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jpg"/><Relationship Id="rId3" Type="http://schemas.openxmlformats.org/officeDocument/2006/relationships/image" Target="../media/image33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jpg"/><Relationship Id="rId3" Type="http://schemas.openxmlformats.org/officeDocument/2006/relationships/image" Target="../media/image33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jpg"/><Relationship Id="rId3" Type="http://schemas.openxmlformats.org/officeDocument/2006/relationships/image" Target="../media/image33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jpg"/><Relationship Id="rId3" Type="http://schemas.openxmlformats.org/officeDocument/2006/relationships/image" Target="../media/image33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jpg"/><Relationship Id="rId3" Type="http://schemas.openxmlformats.org/officeDocument/2006/relationships/image" Target="../media/image33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jpg"/><Relationship Id="rId3" Type="http://schemas.openxmlformats.org/officeDocument/2006/relationships/image" Target="../media/image33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jpe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jpe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jpe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jpe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jpe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jpe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jpe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jpe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jpeg"/><Relationship Id="rId3" Type="http://schemas.openxmlformats.org/officeDocument/2006/relationships/image" Target="../media/image10.jpeg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jpeg"/><Relationship Id="rId3" Type="http://schemas.openxmlformats.org/officeDocument/2006/relationships/image" Target="../media/image11.jpeg"/><Relationship Id="rId4" Type="http://schemas.openxmlformats.org/officeDocument/2006/relationships/image" Target="../media/image12.jpe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jpeg"/><Relationship Id="rId3" Type="http://schemas.openxmlformats.org/officeDocument/2006/relationships/image" Target="../media/image11.jpeg"/><Relationship Id="rId4" Type="http://schemas.openxmlformats.org/officeDocument/2006/relationships/image" Target="../media/image12.jpeg"/><Relationship Id="rId5" Type="http://schemas.openxmlformats.org/officeDocument/2006/relationships/image" Target="../media/image13.jpe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jpeg"/><Relationship Id="rId3" Type="http://schemas.openxmlformats.org/officeDocument/2006/relationships/image" Target="../media/image15.jpe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jpeg"/><Relationship Id="rId3" Type="http://schemas.openxmlformats.org/officeDocument/2006/relationships/image" Target="../media/image17.jpeg"/><Relationship Id="rId4" Type="http://schemas.openxmlformats.org/officeDocument/2006/relationships/image" Target="../media/image18.jpeg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jpeg"/><Relationship Id="rId3" Type="http://schemas.openxmlformats.org/officeDocument/2006/relationships/image" Target="../media/image20.jpeg"/><Relationship Id="rId4" Type="http://schemas.openxmlformats.org/officeDocument/2006/relationships/image" Target="../media/image21.jpeg"/><Relationship Id="rId5" Type="http://schemas.openxmlformats.org/officeDocument/2006/relationships/image" Target="../media/image22.jpeg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jpeg"/><Relationship Id="rId3" Type="http://schemas.openxmlformats.org/officeDocument/2006/relationships/image" Target="../media/image11.jpeg"/><Relationship Id="rId4" Type="http://schemas.openxmlformats.org/officeDocument/2006/relationships/image" Target="../media/image12.jpeg"/><Relationship Id="rId5" Type="http://schemas.openxmlformats.org/officeDocument/2006/relationships/image" Target="../media/image13.jpeg"/><Relationship Id="rId6" Type="http://schemas.openxmlformats.org/officeDocument/2006/relationships/image" Target="../media/image23.jpeg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jpeg"/><Relationship Id="rId3" Type="http://schemas.openxmlformats.org/officeDocument/2006/relationships/image" Target="../media/image11.jpeg"/><Relationship Id="rId4" Type="http://schemas.openxmlformats.org/officeDocument/2006/relationships/image" Target="../media/image12.jpe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jpeg"/><Relationship Id="rId3" Type="http://schemas.openxmlformats.org/officeDocument/2006/relationships/image" Target="../media/image11.jpeg"/><Relationship Id="rId4" Type="http://schemas.openxmlformats.org/officeDocument/2006/relationships/image" Target="../media/image12.jpeg"/><Relationship Id="rId5" Type="http://schemas.openxmlformats.org/officeDocument/2006/relationships/image" Target="../media/image13.jpeg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.jpeg"/><Relationship Id="rId3" Type="http://schemas.openxmlformats.org/officeDocument/2006/relationships/image" Target="../media/image25.jpeg"/><Relationship Id="rId4" Type="http://schemas.openxmlformats.org/officeDocument/2006/relationships/image" Target="../media/image26.jpeg"/><Relationship Id="rId5" Type="http://schemas.openxmlformats.org/officeDocument/2006/relationships/image" Target="../media/image27.jpeg"/><Relationship Id="rId6" Type="http://schemas.openxmlformats.org/officeDocument/2006/relationships/image" Target="../media/image28.jpeg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jpg"/><Relationship Id="rId3" Type="http://schemas.openxmlformats.org/officeDocument/2006/relationships/image" Target="../media/image33.png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jpg"/><Relationship Id="rId3" Type="http://schemas.openxmlformats.org/officeDocument/2006/relationships/image" Target="../media/image33.png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emf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i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4B2CB-E17F-657B-15B3-DB0E98286C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544922" y="1948409"/>
            <a:ext cx="5577840" cy="1107996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Segoe Sans Display Semibold" pitchFamily="2" charset="0"/>
                <a:ea typeface="+mn-ea"/>
                <a:cs typeface="Segoe Sans Display Semibold" pitchFamily="2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 dirty="0"/>
              <a:t>Event name or presentation title 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2D1683EB-8052-DD8D-9241-2E790290F05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44921" y="3485028"/>
            <a:ext cx="5577839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The Software of </a:t>
            </a:r>
            <a:r>
              <a:rPr lang="en-US" dirty="0" err="1"/>
              <a:t>Tomorrrow</a:t>
            </a:r>
            <a:r>
              <a:rPr lang="en-US" dirty="0"/>
              <a:t> – Delivered Today.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49874B-A7F6-D873-41D3-03DCB02A217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4921" y="152120"/>
            <a:ext cx="1307016" cy="77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829122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584200" y="2425780"/>
            <a:ext cx="5577840" cy="1107996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bg1"/>
                </a:solidFill>
                <a:effectLst/>
                <a:latin typeface="Segoe Sans Display Semibold" pitchFamily="2" charset="0"/>
                <a:ea typeface="+mn-ea"/>
                <a:cs typeface="Segoe Sans Display Semibold" pitchFamily="2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84199" y="3962399"/>
            <a:ext cx="5577839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spc="0" baseline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The Software of </a:t>
            </a:r>
            <a:r>
              <a:rPr lang="en-US" dirty="0" err="1"/>
              <a:t>Tomorrrow</a:t>
            </a:r>
            <a:r>
              <a:rPr lang="en-US" dirty="0"/>
              <a:t> – Delivered Today.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168319-9987-2C60-6DCC-D542B8BDECF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84199" y="318281"/>
            <a:ext cx="1307016" cy="77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138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18223"/>
            <a:ext cx="9144000" cy="615553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A40C98-8BA3-8FE1-8D1D-CD52B65611C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74692" y="6019257"/>
            <a:ext cx="1307016" cy="77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3970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5100"/>
            <a:ext cx="11018838" cy="48339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9662A5-6E2F-47B0-9B6E-E87983D37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F7C16A-CB57-4B52-16F1-46EC9146B99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51445" y="6011807"/>
            <a:ext cx="1307016" cy="77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82736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Non-bulle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2308324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A1E400-7BEA-5DAA-C9FD-6AB535DFD13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74692" y="6019257"/>
            <a:ext cx="1307016" cy="77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57981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Non-bulle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E9CDCB4-03E1-4763-B83E-A1334BCDB0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97171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815E9D-1B9A-F9D6-AAFD-87240CDC592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74692" y="6019257"/>
            <a:ext cx="1307016" cy="77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24214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with Subhead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D525736-DEE8-4391-8135-23DE064005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E90344-0294-48E2-AAF0-601BB99500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66750" indent="-152400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B4F729D4-B1F1-45F2-A06A-40234B19C8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F896FB-325C-4849-B372-8DF0D6C056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97625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85800" indent="-136525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0F0E3A-8E11-B9E6-77DA-936F67762C0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74692" y="6019257"/>
            <a:ext cx="1307016" cy="77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13108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Content with Subhead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2759870-0BEA-44DC-A414-1C70D04E35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FEF95FA-F121-4653-B60A-0D068C34546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88963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327262A-D327-4189-AD22-BAD67CF4AB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47F8EAA9-0E64-4589-A234-BC31685BE7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94451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ADFBB8-E1C1-D5AB-8154-CBA2D9EFB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3BDD84-7211-1C60-C033-22B94D88308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74692" y="6019257"/>
            <a:ext cx="1307016" cy="77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89722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Bullet with Subtitle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B20F198-3776-433D-85A8-C2B6AC6235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7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97BC59AA-6CF8-4091-8008-21AA9AD8E8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5217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22263" indent="-150813">
              <a:defRPr lang="en-US" sz="1800" dirty="0"/>
            </a:lvl2pPr>
            <a:lvl3pPr marL="466725" indent="-138113">
              <a:defRPr lang="en-US" dirty="0"/>
            </a:lvl3pPr>
            <a:lvl4pPr marL="595313" indent="-128588">
              <a:defRPr lang="en-US" dirty="0"/>
            </a:lvl4pPr>
            <a:lvl5pPr marL="731838" indent="-1222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ECED387-BA3E-49B2-8F1E-0E371E09E0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63796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6B26A1CD-81F9-4C2F-896F-E69757C665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63796" y="238413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9263A4B-A9A8-4CE5-96A8-6F6EC365E51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42375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205743D-F71A-4647-9BE4-2900BDA2582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42375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929F23-BA9E-B0CC-0E0B-57A879219BA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74692" y="6019257"/>
            <a:ext cx="1307016" cy="77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11343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1506">
          <p15:clr>
            <a:srgbClr val="5ACBF0"/>
          </p15:clr>
        </p15:guide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430">
          <p15:clr>
            <a:srgbClr val="5ACBF0"/>
          </p15:clr>
        </p15:guide>
        <p15:guide id="7" pos="2811">
          <p15:clr>
            <a:srgbClr val="5ACBF0"/>
          </p15:clr>
        </p15:guide>
        <p15:guide id="8" pos="4871">
          <p15:clr>
            <a:srgbClr val="5ACBF0"/>
          </p15:clr>
        </p15:guide>
        <p15:guide id="9" pos="5251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lumn Bullet with Subtitle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125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13125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4208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4208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3133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73133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9B869F-282F-B18A-F8BC-B8285FB6D96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74692" y="6019257"/>
            <a:ext cx="1307016" cy="77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26567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436">
          <p15:clr>
            <a:srgbClr val="5ACBF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Column Bullet with Subtitle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4200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07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49007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13814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13814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78621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78621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40485AC-5036-400C-92C3-D3E9EC0252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43428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90290A2-7689-4DF5-971A-36C2D917341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43428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B69B6A-11F3-C1B6-1EDA-3135281B3EE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74692" y="6019257"/>
            <a:ext cx="1307016" cy="77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32442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610">
          <p15:clr>
            <a:srgbClr val="5ACBF0"/>
          </p15:clr>
        </p15:guide>
        <p15:guide id="7" pos="1795">
          <p15:clr>
            <a:srgbClr val="5ACBF0"/>
          </p15:clr>
        </p15:guide>
        <p15:guide id="8" pos="3035">
          <p15:clr>
            <a:srgbClr val="5ACBF0"/>
          </p15:clr>
        </p15:guide>
        <p15:guide id="9" pos="3221">
          <p15:clr>
            <a:srgbClr val="5ACBF0"/>
          </p15:clr>
        </p15:guide>
        <p15:guide id="10" pos="4461">
          <p15:clr>
            <a:srgbClr val="5ACBF0"/>
          </p15:clr>
        </p15:guide>
        <p15:guide id="11" pos="5890">
          <p15:clr>
            <a:srgbClr val="5ACBF0"/>
          </p15:clr>
        </p15:guide>
        <p15:guide id="12" orient="horz" pos="1436">
          <p15:clr>
            <a:srgbClr val="5ACBF0"/>
          </p15:clr>
        </p15:guide>
        <p15:guide id="13" pos="4646">
          <p15:clr>
            <a:srgbClr val="5ACBF0"/>
          </p15:clr>
        </p15:guide>
        <p15:guide id="14" pos="6072">
          <p15:clr>
            <a:srgbClr val="5ACBF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23ABDE-B02A-3F1E-AA58-463ED4C21B3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74692" y="6019257"/>
            <a:ext cx="1307016" cy="77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17252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eft side 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2875002"/>
            <a:ext cx="4127692" cy="1107996"/>
          </a:xfrm>
        </p:spPr>
        <p:txBody>
          <a:bodyPr wrap="square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8741BF-D9C2-1181-68EA-8EDB6ACA62A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74692" y="6019257"/>
            <a:ext cx="1307016" cy="77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6267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2" orient="horz" pos="2160">
          <p15:clr>
            <a:srgbClr val="5ACBF0"/>
          </p15:clr>
        </p15:guide>
        <p15:guide id="33" pos="2976">
          <p15:clr>
            <a:srgbClr val="5ACBF0"/>
          </p15:clr>
        </p15:guide>
        <p15:guide id="34" pos="3336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ll title - half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457200"/>
            <a:ext cx="5508419" cy="372410"/>
          </a:xfrm>
        </p:spPr>
        <p:txBody>
          <a:bodyPr tIns="64008"/>
          <a:lstStyle>
            <a:lvl1pPr>
              <a:defRPr sz="2000" spc="0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6D453B-3073-58F7-694F-9512BD804CC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74692" y="6019257"/>
            <a:ext cx="1307016" cy="77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33344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8963"/>
            <a:ext cx="4158362" cy="2535236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Title square photo layout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0"/>
            <a:ext cx="4162425" cy="2733497"/>
          </a:xfrm>
        </p:spPr>
        <p:txBody>
          <a:bodyPr/>
          <a:lstStyle>
            <a:lvl1pPr marL="0" indent="0">
              <a:buNone/>
              <a:defRPr sz="22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18FD0C-FA99-4937-92CD-5CF7F279CD8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BDF4B0-32EF-4DA8-9A83-B73DD8310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32744721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7" orient="horz" pos="1968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92DE97-5F35-4963-AC7A-96FEB9806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4159950" cy="5683249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09A47B-FEF5-47F3-B2DD-A73E7C323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92596816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5" orient="horz" pos="2160">
          <p15:clr>
            <a:srgbClr val="5ACBF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E2C6C6-B442-4DE7-9C6C-405B90053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979738"/>
            <a:ext cx="4163125" cy="3289300"/>
          </a:xfrm>
        </p:spPr>
        <p:txBody>
          <a:bodyPr anchor="t"/>
          <a:lstStyle>
            <a:lvl1pPr>
              <a:defRPr sz="2800"/>
            </a:lvl1pPr>
          </a:lstStyle>
          <a:p>
            <a:r>
              <a:rPr lang="en-US"/>
              <a:t>Square photo layout with smaller text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BEAA94-C151-43DE-8A5A-09E8A930427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2F1290-9237-4BEE-AAAC-6708F2862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36388858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3" orient="horz" pos="1877">
          <p15:clr>
            <a:srgbClr val="5ACBF0"/>
          </p15:clr>
        </p15:guide>
        <p15:guide id="4" pos="3731">
          <p15:clr>
            <a:srgbClr val="C35EA4"/>
          </p15:clr>
        </p15:guide>
        <p15:guide id="5" pos="2993">
          <p15:clr>
            <a:srgbClr val="5ACBF0"/>
          </p15:clr>
        </p15:guide>
        <p15:guide id="6" pos="3547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157216"/>
            <a:ext cx="11018520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28016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996C37-D0C9-4349-A860-B639C4EB9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65432860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499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-2381" y="228600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37160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6FDE6F-0F4B-446A-A51F-494FB0996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12290008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40">
          <p15:clr>
            <a:srgbClr val="5ACBF0"/>
          </p15:clr>
        </p15:guide>
        <p15:guide id="6" orient="horz" pos="720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7DCA08-1117-4B11-AEFD-AAB2B3354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5367528" cy="347472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1860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39255" y="2025650"/>
            <a:ext cx="5367528" cy="3474720"/>
          </a:xfrm>
          <a:blipFill>
            <a:blip r:embed="rId3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F59E09-7602-42B9-AB0C-9D1365A9E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85682386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  <p15:guide id="8" orient="horz" pos="3464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3474720" cy="3474720"/>
          </a:xfrm>
          <a:blipFill>
            <a:blip r:embed="rId2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8640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358640" y="2025650"/>
            <a:ext cx="3474720" cy="3474720"/>
          </a:xfrm>
          <a:blipFill>
            <a:blip r:embed="rId3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4351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32063" y="2025650"/>
            <a:ext cx="3474720" cy="3474720"/>
          </a:xfrm>
          <a:blipFill>
            <a:blip r:embed="rId4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B36921-D927-4BA6-8891-8AEE97849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313571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3465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2532888" cy="253288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908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413908" y="2025650"/>
            <a:ext cx="2532888" cy="253288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5204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45204" y="2025650"/>
            <a:ext cx="2532888" cy="2532888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6500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073895" y="2025650"/>
            <a:ext cx="2532888" cy="2532888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F56B00-AAD4-4F4F-8228-B6CF8367D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99186953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2993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2870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5334000"/>
            <a:ext cx="4892040" cy="9350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6062472" cy="280720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14744" y="5334000"/>
            <a:ext cx="4892040" cy="93821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6129528" y="2286000"/>
            <a:ext cx="6062472" cy="280720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AE597A-BE1E-6B1F-960D-A90DC954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416613830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4" orient="horz" pos="3209">
          <p15:clr>
            <a:srgbClr val="5ACBF0"/>
          </p15:clr>
        </p15:guide>
        <p15:guide id="5" pos="3826">
          <p15:clr>
            <a:srgbClr val="5ACBF0"/>
          </p15:clr>
        </p15:guide>
        <p15:guide id="6" pos="3859">
          <p15:clr>
            <a:srgbClr val="5ACBF0"/>
          </p15:clr>
        </p15:guide>
        <p15:guide id="11" pos="1910">
          <p15:clr>
            <a:srgbClr val="5ACBF0"/>
          </p15:clr>
        </p15:guide>
        <p15:guide id="12" pos="5770">
          <p15:clr>
            <a:srgbClr val="5ACBF0"/>
          </p15:clr>
        </p15:guide>
        <p15:guide id="13" orient="horz" pos="3360">
          <p15:clr>
            <a:srgbClr val="5ACBF0"/>
          </p15:clr>
        </p15:guide>
        <p15:guide id="14" orient="horz">
          <p15:clr>
            <a:srgbClr val="5ACBF0"/>
          </p15:clr>
        </p15:guide>
        <p15:guide id="15" pos="3451">
          <p15:clr>
            <a:srgbClr val="5ACBF0"/>
          </p15:clr>
        </p15:guide>
        <p15:guide id="16" pos="4229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285292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4023360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69536" y="4799409"/>
            <a:ext cx="285292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084320" y="2286000"/>
            <a:ext cx="4023360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53856" y="4799410"/>
            <a:ext cx="285292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68640" y="2286000"/>
            <a:ext cx="4023360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B999C7-F5A8-46A6-92C5-AA3BE4E26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73682457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2534">
          <p15:clr>
            <a:srgbClr val="5ACBF0"/>
          </p15:clr>
        </p15:guide>
        <p15:guide id="6" pos="2573">
          <p15:clr>
            <a:srgbClr val="5ACBF0"/>
          </p15:clr>
        </p15:guide>
        <p15:guide id="8" pos="5109">
          <p15:clr>
            <a:srgbClr val="5ACBF0"/>
          </p15:clr>
        </p15:guide>
        <p15:guide id="9" pos="5145">
          <p15:clr>
            <a:srgbClr val="5ACBF0"/>
          </p15:clr>
        </p15:guide>
        <p15:guide id="11" pos="1266">
          <p15:clr>
            <a:srgbClr val="5ACBF0"/>
          </p15:clr>
        </p15:guide>
        <p15:guide id="12" pos="3840">
          <p15:clr>
            <a:srgbClr val="5ACBF0"/>
          </p15:clr>
        </p15:guide>
        <p15:guide id="13" pos="6414">
          <p15:clr>
            <a:srgbClr val="5ACBF0"/>
          </p15:clr>
        </p15:guide>
        <p15:guide id="14" orient="horz" pos="1074">
          <p15:clr>
            <a:srgbClr val="5ACBF0"/>
          </p15:clr>
        </p15:guide>
        <p15:guide id="15" pos="2168">
          <p15:clr>
            <a:srgbClr val="5ACBF0"/>
          </p15:clr>
        </p15:guide>
        <p15:guide id="16" pos="2944">
          <p15:clr>
            <a:srgbClr val="5ACBF0"/>
          </p15:clr>
        </p15:guide>
        <p15:guide id="17" pos="4738">
          <p15:clr>
            <a:srgbClr val="5ACBF0"/>
          </p15:clr>
        </p15:guide>
        <p15:guide id="18" pos="5514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1828800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999232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49472" y="4799409"/>
            <a:ext cx="1828800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064256" y="2286000"/>
            <a:ext cx="2999232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13728" y="4799410"/>
            <a:ext cx="1828800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128512" y="2286000"/>
            <a:ext cx="2999232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777984" y="4799409"/>
            <a:ext cx="1828800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192768" y="2286000"/>
            <a:ext cx="2999232" cy="22860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801018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1890">
          <p15:clr>
            <a:srgbClr val="5ACBF0"/>
          </p15:clr>
        </p15:guide>
        <p15:guide id="6" pos="1930">
          <p15:clr>
            <a:srgbClr val="5ACBF0"/>
          </p15:clr>
        </p15:guide>
        <p15:guide id="7" pos="5749">
          <p15:clr>
            <a:srgbClr val="5ACBF0"/>
          </p15:clr>
        </p15:guide>
        <p15:guide id="8" pos="3820">
          <p15:clr>
            <a:srgbClr val="5ACBF0"/>
          </p15:clr>
        </p15:guide>
        <p15:guide id="9" pos="3860">
          <p15:clr>
            <a:srgbClr val="5ACBF0"/>
          </p15:clr>
        </p15:guide>
        <p15:guide id="10" pos="5789">
          <p15:clr>
            <a:srgbClr val="5ACBF0"/>
          </p15:clr>
        </p15:guide>
        <p15:guide id="11" pos="944">
          <p15:clr>
            <a:srgbClr val="5ACBF0"/>
          </p15:clr>
        </p15:guide>
        <p15:guide id="12" pos="2876">
          <p15:clr>
            <a:srgbClr val="5ACBF0"/>
          </p15:clr>
        </p15:guide>
        <p15:guide id="13" pos="4807">
          <p15:clr>
            <a:srgbClr val="5ACBF0"/>
          </p15:clr>
        </p15:guide>
        <p15:guide id="14" pos="6736">
          <p15:clr>
            <a:srgbClr val="5ACBF0"/>
          </p15:clr>
        </p15:guide>
        <p15:guide id="15" orient="horz">
          <p15:clr>
            <a:srgbClr val="5ACBF0"/>
          </p15:clr>
        </p15:guide>
        <p15:guide id="16" pos="1524">
          <p15:clr>
            <a:srgbClr val="5ACBF0"/>
          </p15:clr>
        </p15:guide>
        <p15:guide id="17" pos="2298">
          <p15:clr>
            <a:srgbClr val="5ACBF0"/>
          </p15:clr>
        </p15:guide>
        <p15:guide id="18" pos="3450">
          <p15:clr>
            <a:srgbClr val="5ACBF0"/>
          </p15:clr>
        </p15:guide>
        <p15:guide id="19" pos="4230">
          <p15:clr>
            <a:srgbClr val="5ACBF0"/>
          </p15:clr>
        </p15:guide>
        <p15:guide id="20" pos="5380">
          <p15:clr>
            <a:srgbClr val="5ACBF0"/>
          </p15:clr>
        </p15:guide>
        <p15:guide id="21" pos="6156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92608" y="4800600"/>
            <a:ext cx="180136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386584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43962" y="4799409"/>
            <a:ext cx="180136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2451354" y="2286000"/>
            <a:ext cx="2386584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95316" y="4799410"/>
            <a:ext cx="180136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4902708" y="2286000"/>
            <a:ext cx="2386584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646670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7354062" y="2286000"/>
            <a:ext cx="2386584" cy="22860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5B1B6F72-F14C-40F1-8B29-8620AA34DC6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098024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D682C7-20D7-4ED0-99A7-C8530DAC861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9805416" y="2286000"/>
            <a:ext cx="2386584" cy="2286000"/>
          </a:xfrm>
          <a:blipFill>
            <a:blip r:embed="rId6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83674216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8" pos="4631">
          <p15:clr>
            <a:srgbClr val="5ACBF0"/>
          </p15:clr>
        </p15:guide>
        <p15:guide id="9" pos="4593">
          <p15:clr>
            <a:srgbClr val="5ACBF0"/>
          </p15:clr>
        </p15:guide>
        <p15:guide id="10" pos="6134">
          <p15:clr>
            <a:srgbClr val="5ACBF0"/>
          </p15:clr>
        </p15:guide>
        <p15:guide id="11" pos="1323">
          <p15:clr>
            <a:srgbClr val="5ACBF0"/>
          </p15:clr>
        </p15:guide>
        <p15:guide id="12" pos="2865">
          <p15:clr>
            <a:srgbClr val="5ACBF0"/>
          </p15:clr>
        </p15:guide>
        <p15:guide id="13" pos="4815">
          <p15:clr>
            <a:srgbClr val="5ACBF0"/>
          </p15:clr>
        </p15:guide>
        <p15:guide id="14" pos="6361">
          <p15:clr>
            <a:srgbClr val="5ACBF0"/>
          </p15:clr>
        </p15:guide>
        <p15:guide id="15" orient="horz">
          <p15:clr>
            <a:srgbClr val="5ACBF0"/>
          </p15:clr>
        </p15:guide>
        <p15:guide id="16" pos="1727">
          <p15:clr>
            <a:srgbClr val="5ACBF0"/>
          </p15:clr>
        </p15:guide>
        <p15:guide id="17" pos="2294">
          <p15:clr>
            <a:srgbClr val="5ACBF0"/>
          </p15:clr>
        </p15:guide>
        <p15:guide id="18" pos="3273">
          <p15:clr>
            <a:srgbClr val="5ACBF0"/>
          </p15:clr>
        </p15:guide>
        <p15:guide id="19" pos="4411">
          <p15:clr>
            <a:srgbClr val="5ACBF0"/>
          </p15:clr>
        </p15:guide>
        <p15:guide id="21" pos="6179">
          <p15:clr>
            <a:srgbClr val="5ACBF0"/>
          </p15:clr>
        </p15:guide>
        <p15:guide id="22" pos="1501">
          <p15:clr>
            <a:srgbClr val="5ACBF0"/>
          </p15:clr>
        </p15:guide>
        <p15:guide id="23" pos="1543">
          <p15:clr>
            <a:srgbClr val="5ACBF0"/>
          </p15:clr>
        </p15:guide>
        <p15:guide id="24" pos="3049">
          <p15:clr>
            <a:srgbClr val="5ACBF0"/>
          </p15:clr>
        </p15:guide>
        <p15:guide id="25" pos="3088">
          <p15:clr>
            <a:srgbClr val="5ACBF0"/>
          </p15:clr>
        </p15:guide>
        <p15:guide id="26" pos="5954">
          <p15:clr>
            <a:srgbClr val="5ACBF0"/>
          </p15:clr>
        </p15:guide>
        <p15:guide id="27" pos="3840">
          <p15:clr>
            <a:srgbClr val="5ACBF0"/>
          </p15:clr>
        </p15:guide>
        <p15:guide id="28" pos="5386">
          <p15:clr>
            <a:srgbClr val="5ACBF0"/>
          </p15:clr>
        </p15:guide>
        <p15:guide id="29" pos="753">
          <p15:clr>
            <a:srgbClr val="5ACBF0"/>
          </p15:clr>
        </p15:guide>
        <p15:guide id="30" pos="6927">
          <p15:clr>
            <a:srgbClr val="5ACBF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8962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2037906" y="2286000"/>
            <a:ext cx="2313432" cy="231343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37906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4939284" y="2286000"/>
            <a:ext cx="2313432" cy="231343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939284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7840663" y="2286000"/>
            <a:ext cx="2313432" cy="2313432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40663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6AFB7A-35B4-4881-AB50-D11248216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6123621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3840">
          <p15:clr>
            <a:srgbClr val="5ACBF0"/>
          </p15:clr>
        </p15:guide>
        <p15:guide id="4" pos="1283">
          <p15:clr>
            <a:srgbClr val="5ACBF0"/>
          </p15:clr>
        </p15:guide>
        <p15:guide id="5" pos="5666">
          <p15:clr>
            <a:srgbClr val="5ACBF0"/>
          </p15:clr>
        </p15:guide>
        <p15:guide id="6" pos="2741">
          <p15:clr>
            <a:srgbClr val="5ACBF0"/>
          </p15:clr>
        </p15:guide>
        <p15:guide id="7" pos="2012">
          <p15:clr>
            <a:srgbClr val="5ACBF0"/>
          </p15:clr>
        </p15:guide>
        <p15:guide id="8" pos="3109">
          <p15:clr>
            <a:srgbClr val="5ACBF0"/>
          </p15:clr>
        </p15:guide>
        <p15:guide id="9" pos="4570">
          <p15:clr>
            <a:srgbClr val="5ACBF0"/>
          </p15:clr>
        </p15:guide>
        <p15:guide id="11" pos="6397">
          <p15:clr>
            <a:srgbClr val="5ACBF0"/>
          </p15:clr>
        </p15:guide>
        <p15:guide id="12" orient="horz" pos="1440">
          <p15:clr>
            <a:srgbClr val="5ACBF0"/>
          </p15:clr>
        </p15:guide>
        <p15:guide id="13" pos="4938">
          <p15:clr>
            <a:srgbClr val="5ACBF0"/>
          </p15:clr>
        </p15:guide>
        <p15:guide id="14" orient="horz" pos="2894">
          <p15:clr>
            <a:srgbClr val="5ACBF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2313432" cy="231343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3487250" y="2286000"/>
            <a:ext cx="2313432" cy="231343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8725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6390300" y="2286000"/>
            <a:ext cx="2313432" cy="2313432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03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9293351" y="2286000"/>
            <a:ext cx="2313432" cy="2313432"/>
          </a:xfrm>
          <a:prstGeom prst="ellipse">
            <a:avLst/>
          </a:prstGeom>
          <a:blipFill>
            <a:blip r:embed="rId5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93351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78389390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4025">
          <p15:clr>
            <a:srgbClr val="5ACBF0"/>
          </p15:clr>
        </p15:guide>
        <p15:guide id="5" pos="5854">
          <p15:clr>
            <a:srgbClr val="5ACBF0"/>
          </p15:clr>
        </p15:guide>
        <p15:guide id="7" pos="3654">
          <p15:clr>
            <a:srgbClr val="5ACBF0"/>
          </p15:clr>
        </p15:guide>
        <p15:guide id="8" pos="2195">
          <p15:clr>
            <a:srgbClr val="5ACBF0"/>
          </p15:clr>
        </p15:guide>
        <p15:guide id="10" pos="2926">
          <p15:clr>
            <a:srgbClr val="5ACBF0"/>
          </p15:clr>
        </p15:guide>
        <p15:guide id="11" pos="4756">
          <p15:clr>
            <a:srgbClr val="5ACBF0"/>
          </p15:clr>
        </p15:guide>
        <p15:guide id="12" pos="6581">
          <p15:clr>
            <a:srgbClr val="5ACBF0"/>
          </p15:clr>
        </p15:guide>
        <p15:guide id="13" pos="1097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26">
          <p15:clr>
            <a:srgbClr val="5ACBF0"/>
          </p15:clr>
        </p15:guide>
        <p15:guide id="18" pos="5483">
          <p15:clr>
            <a:srgbClr val="5ACBF0"/>
          </p15:clr>
        </p15:guide>
        <p15:guide id="19" orient="horz" pos="2898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1737360" cy="1737360"/>
          </a:xfrm>
          <a:prstGeom prst="ellipse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2905506" y="2286000"/>
            <a:ext cx="1737360" cy="1737360"/>
          </a:xfrm>
          <a:prstGeom prst="ellipse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05506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5227320" y="2286000"/>
            <a:ext cx="1737360" cy="1737360"/>
          </a:xfrm>
          <a:prstGeom prst="ellipse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27320" y="4235451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7548118" y="2286000"/>
            <a:ext cx="1737360" cy="1737360"/>
          </a:xfrm>
          <a:prstGeom prst="ellipse">
            <a:avLst/>
          </a:prstGeom>
          <a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insert44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548118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4DC3400-0B11-4EA0-9B8D-6FADE6964F37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 bwMode="ltGray">
          <a:xfrm>
            <a:off x="9869423" y="2286000"/>
            <a:ext cx="1737360" cy="1737360"/>
          </a:xfrm>
          <a:prstGeom prst="ellipse">
            <a:avLst/>
          </a:prstGeom>
          <a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33C357E-ECC0-485F-9033-5D4DEC8774B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869423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65728226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2664">
          <p15:clr>
            <a:srgbClr val="5ACBF0"/>
          </p15:clr>
        </p15:guide>
        <p15:guide id="3" pos="6216">
          <p15:clr>
            <a:srgbClr val="5ACBF0"/>
          </p15:clr>
        </p15:guide>
        <p15:guide id="5" pos="5850">
          <p15:clr>
            <a:srgbClr val="5ACBF0"/>
          </p15:clr>
        </p15:guide>
        <p15:guide id="7" pos="4392">
          <p15:clr>
            <a:srgbClr val="5ACBF0"/>
          </p15:clr>
        </p15:guide>
        <p15:guide id="8" pos="3292">
          <p15:clr>
            <a:srgbClr val="5ACBF0"/>
          </p15:clr>
        </p15:guide>
        <p15:guide id="10" pos="2926">
          <p15:clr>
            <a:srgbClr val="5ACBF0"/>
          </p15:clr>
        </p15:guide>
        <p15:guide id="11" pos="4754">
          <p15:clr>
            <a:srgbClr val="5ACBF0"/>
          </p15:clr>
        </p15:guide>
        <p15:guide id="13" pos="1464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30">
          <p15:clr>
            <a:srgbClr val="5ACBF0"/>
          </p15:clr>
        </p15:guide>
        <p15:guide id="16" orient="horz" pos="2533">
          <p15:clr>
            <a:srgbClr val="5ACBF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veloper Code Layout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636FE-845C-418D-82A1-1DA6DB73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2D46E0-16CE-40B0-8623-F82D5D410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1436688"/>
            <a:ext cx="12192000" cy="542131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4977AB6-1D7E-4858-A2EA-BF86577C39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43668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2099310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tabLst>
                <a:tab pos="344488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tabLst>
                <a:tab pos="569913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tabLst>
                <a:tab pos="8001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tabLst>
                <a:tab pos="10287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684861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1322">
          <p15:clr>
            <a:srgbClr val="5ACBF0"/>
          </p15:clr>
        </p15:guide>
        <p15:guide id="2" orient="horz" pos="905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Bottom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390" y="1230681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2827138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82713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3491219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36576392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1776">
          <p15:clr>
            <a:srgbClr val="5ACBF0"/>
          </p15:clr>
        </p15:guide>
        <p15:guide id="5" orient="horz" pos="2197">
          <p15:clr>
            <a:srgbClr val="5ACBF0"/>
          </p15:clr>
        </p15:guide>
        <p15:guide id="6" orient="horz" pos="773">
          <p15:clr>
            <a:srgbClr val="5ACBF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Top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0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224580"/>
            <a:ext cx="11018520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660508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1152" y="4996505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6928592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2661">
          <p15:clr>
            <a:srgbClr val="5ACBF0"/>
          </p15:clr>
        </p15:guide>
        <p15:guide id="5" orient="horz" pos="3147">
          <p15:clr>
            <a:srgbClr val="5ACBF0"/>
          </p15:clr>
        </p15:guide>
        <p15:guide id="6" orient="horz" pos="419">
          <p15:clr>
            <a:srgbClr val="5ACBF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Right s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2BB27-7DA5-4478-8C18-C1FFEE20AA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4040887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8965" y="1338139"/>
            <a:ext cx="4040185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205984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11763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00725" y="709187"/>
            <a:ext cx="5801961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18578402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45">
          <p15:clr>
            <a:srgbClr val="5ACBF0"/>
          </p15:clr>
        </p15:guide>
        <p15:guide id="4" orient="horz" pos="843">
          <p15:clr>
            <a:srgbClr val="5ACBF0"/>
          </p15:clr>
        </p15:guide>
        <p15:guide id="7" pos="3283">
          <p15:clr>
            <a:srgbClr val="5ACBF0"/>
          </p15:clr>
        </p15:guide>
        <p15:guide id="8" pos="3654">
          <p15:clr>
            <a:srgbClr val="5ACBF0"/>
          </p15:clr>
        </p15:guide>
        <p15:guide id="9" pos="2916">
          <p15:clr>
            <a:srgbClr val="5ACBF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Left s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2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B14A7D-C409-4A7C-9D82-A2E5DBB8AB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5549" y="457200"/>
            <a:ext cx="4031233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199" y="706011"/>
            <a:ext cx="5819775" cy="369332"/>
          </a:xfrm>
        </p:spPr>
        <p:txBody>
          <a:bodyPr/>
          <a:lstStyle>
            <a:lvl1pPr marL="0" indent="0">
              <a:buNone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75550" y="1336675"/>
            <a:ext cx="4033838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39864169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36">
          <p15:clr>
            <a:srgbClr val="5ACBF0"/>
          </p15:clr>
        </p15:guide>
        <p15:guide id="4" orient="horz" pos="839">
          <p15:clr>
            <a:srgbClr val="5ACBF0"/>
          </p15:clr>
        </p15:guide>
        <p15:guide id="6" pos="4402">
          <p15:clr>
            <a:srgbClr val="5ACBF0"/>
          </p15:clr>
        </p15:guide>
        <p15:guide id="7" pos="4034">
          <p15:clr>
            <a:srgbClr val="5ACBF0"/>
          </p15:clr>
        </p15:guide>
        <p15:guide id="8" pos="4772">
          <p15:clr>
            <a:srgbClr val="5ACBF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64008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rgbClr val="000FFF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640080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92B67C-E6F5-5E0B-D0DD-351EF9355C5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74692" y="6019257"/>
            <a:ext cx="1307016" cy="77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0318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 2">
    <p:bg>
      <p:bgPr>
        <a:solidFill>
          <a:srgbClr val="D7D2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8127639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667512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rgbClr val="000FFF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9DBEA-5037-3989-110D-63F3EC5C973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85216" y="273912"/>
            <a:ext cx="1307016" cy="77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556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3846281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8535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5260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log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 descr="This is a copyright notice that should be included on the final slide."/>
          <p:cNvSpPr txBox="1">
            <a:spLocks noChangeArrowheads="1"/>
          </p:cNvSpPr>
          <p:nvPr/>
        </p:nvSpPr>
        <p:spPr bwMode="blackWhite">
          <a:xfrm>
            <a:off x="584200" y="6161316"/>
            <a:ext cx="4482124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solidFill>
                  <a:schemeClr val="tx1"/>
                </a:soli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5" name="MS logo white - EMF" descr="Microsoft logo white text version">
            <a:extLst>
              <a:ext uri="{FF2B5EF4-FFF2-40B4-BE49-F238E27FC236}">
                <a16:creationId xmlns:a16="http://schemas.microsoft.com/office/drawing/2014/main" id="{70D3778F-A717-44C8-9013-FF206B15DD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5197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ck Notes slide Layou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 b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6606D-2DF9-48CD-BBE9-B751BF55C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584200" y="1436688"/>
            <a:ext cx="11018838" cy="2215991"/>
          </a:xfrm>
        </p:spPr>
        <p:txBody>
          <a:bodyPr>
            <a:spAutoFit/>
          </a:bodyPr>
          <a:lstStyle>
            <a:lvl1pPr>
              <a:defRPr sz="36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Next slide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269038"/>
            <a:ext cx="12192001" cy="588963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45720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solidFill>
                  <a:srgbClr val="000000"/>
                </a:soli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/>
              <a:t>Next:</a:t>
            </a:r>
          </a:p>
        </p:txBody>
      </p:sp>
    </p:spTree>
    <p:extLst>
      <p:ext uri="{BB962C8B-B14F-4D97-AF65-F5344CB8AC3E}">
        <p14:creationId xmlns:p14="http://schemas.microsoft.com/office/powerpoint/2010/main" val="40654741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288">
          <p15:clr>
            <a:srgbClr val="5ACBF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530C24-163F-15BF-3D01-A8CA8BF26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056137"/>
      </p:ext>
    </p:extLst>
  </p:cSld>
  <p:clrMapOvr>
    <a:masterClrMapping/>
  </p:clrMapOvr>
  <p:transition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i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EB811E0-B33A-BBFB-1572-0865CD9739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584200" y="1746705"/>
            <a:ext cx="5577840" cy="1107996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Segoe Sans Display Semibold" pitchFamily="2" charset="0"/>
                <a:ea typeface="+mn-ea"/>
                <a:cs typeface="Segoe Sans Display Semibold" pitchFamily="2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 dirty="0"/>
              <a:t>Event name or presentation title 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E5239529-9FBA-2DF5-0EC8-B9A8A03AB75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84200" y="3283323"/>
            <a:ext cx="5577840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lang="en-US" sz="1800" kern="1200" spc="0" baseline="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The Software of </a:t>
            </a:r>
            <a:r>
              <a:rPr lang="en-US" dirty="0" err="1"/>
              <a:t>Tomorrrow</a:t>
            </a:r>
            <a:r>
              <a:rPr lang="en-US" dirty="0"/>
              <a:t> – Delivered Today.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1BE55F-45EA-0EF1-794A-A0D4F6E518D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74692" y="6019257"/>
            <a:ext cx="1307016" cy="7779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9DE24C2-C0E0-7ABB-6D28-04A86D3AB6B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84200" y="311903"/>
            <a:ext cx="1366950" cy="813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230062"/>
      </p:ext>
    </p:extLst>
  </p:cSld>
  <p:clrMapOvr>
    <a:masterClrMapping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584200" y="2425781"/>
            <a:ext cx="5577840" cy="1107996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Segoe Sans Display Semibold" pitchFamily="2" charset="0"/>
                <a:ea typeface="+mn-ea"/>
                <a:cs typeface="Segoe Sans Display Semibold" pitchFamily="2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84200" y="3962399"/>
            <a:ext cx="5577840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lang="en-US" sz="1800" kern="1200" spc="0" baseline="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The Software of </a:t>
            </a:r>
            <a:r>
              <a:rPr lang="en-US" dirty="0" err="1"/>
              <a:t>Tomorrrow</a:t>
            </a:r>
            <a:r>
              <a:rPr lang="en-US" dirty="0"/>
              <a:t> – Delivered Today.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F581CD-B69D-FD84-E4CE-B6199EF9077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84200" y="247973"/>
            <a:ext cx="1366950" cy="813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791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18223"/>
            <a:ext cx="9144000" cy="615553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9490CC-4FE3-700D-548F-33BAEEB487B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84200" y="480447"/>
            <a:ext cx="1366950" cy="813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971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5100"/>
            <a:ext cx="11018838" cy="48339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9662A5-6E2F-47B0-9B6E-E87983D37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882783-BC42-5658-D5AE-BED6E67358C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35147" y="5959098"/>
            <a:ext cx="1366950" cy="813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1492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Non-bulle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2308324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07A47C-950A-D08C-7CA1-B83467EF7BB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35147" y="5959098"/>
            <a:ext cx="1366950" cy="813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61658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Non-bulle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E9CDCB4-03E1-4763-B83E-A1334BCDB0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97171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5088EA-BB6B-9CF1-E8C9-8C708AD2804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35147" y="5959098"/>
            <a:ext cx="1366950" cy="813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8207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with Subhead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D525736-DEE8-4391-8135-23DE064005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E90344-0294-48E2-AAF0-601BB99500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66750" indent="-152400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B4F729D4-B1F1-45F2-A06A-40234B19C8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F896FB-325C-4849-B372-8DF0D6C056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97625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85800" indent="-136525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DD17DB-4DD6-812E-8402-8C84B933F6F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35147" y="5959098"/>
            <a:ext cx="1366950" cy="813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93915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Content with Subhead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2759870-0BEA-44DC-A414-1C70D04E35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FEF95FA-F121-4653-B60A-0D068C34546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88963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327262A-D327-4189-AD22-BAD67CF4AB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47F8EAA9-0E64-4589-A234-BC31685BE7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94451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7CBEB8-AFEF-362F-CB36-DC00FA4C6C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65A37A-89E1-05D3-BA84-39C314D9EBE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35147" y="5959098"/>
            <a:ext cx="1366950" cy="813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90282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Bullet with Subtitle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B20F198-3776-433D-85A8-C2B6AC6235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7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97BC59AA-6CF8-4091-8008-21AA9AD8E8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5217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22263" indent="-150813">
              <a:defRPr lang="en-US" sz="1800" dirty="0"/>
            </a:lvl2pPr>
            <a:lvl3pPr marL="466725" indent="-138113">
              <a:defRPr lang="en-US" dirty="0"/>
            </a:lvl3pPr>
            <a:lvl4pPr marL="595313" indent="-128588">
              <a:defRPr lang="en-US" dirty="0"/>
            </a:lvl4pPr>
            <a:lvl5pPr marL="731838" indent="-1222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ECED387-BA3E-49B2-8F1E-0E371E09E0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63796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6B26A1CD-81F9-4C2F-896F-E69757C665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63796" y="238413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9263A4B-A9A8-4CE5-96A8-6F6EC365E51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42375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205743D-F71A-4647-9BE4-2900BDA2582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42375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4D015C-464B-083D-FE44-A80C4C7E9F4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35147" y="5959098"/>
            <a:ext cx="1366950" cy="813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44051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1506">
          <p15:clr>
            <a:srgbClr val="5ACBF0"/>
          </p15:clr>
        </p15:guide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430">
          <p15:clr>
            <a:srgbClr val="5ACBF0"/>
          </p15:clr>
        </p15:guide>
        <p15:guide id="7" pos="2811">
          <p15:clr>
            <a:srgbClr val="5ACBF0"/>
          </p15:clr>
        </p15:guide>
        <p15:guide id="8" pos="4871">
          <p15:clr>
            <a:srgbClr val="5ACBF0"/>
          </p15:clr>
        </p15:guide>
        <p15:guide id="9" pos="5251">
          <p15:clr>
            <a:srgbClr val="5ACBF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lumn Bullet with Subtitle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125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13125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4208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4208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3133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73133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95FE20-5D0F-5148-33CD-21E54ECBC0C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35147" y="5959098"/>
            <a:ext cx="1366950" cy="813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5665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436">
          <p15:clr>
            <a:srgbClr val="5ACBF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Column Bullet with Subtitle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4200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07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49007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13814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13814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78621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78621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40485AC-5036-400C-92C3-D3E9EC0252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43428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90290A2-7689-4DF5-971A-36C2D917341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43428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3EB6C2-2784-3909-1112-A4CB02FD5E1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35147" y="5959098"/>
            <a:ext cx="1366950" cy="813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86421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610">
          <p15:clr>
            <a:srgbClr val="5ACBF0"/>
          </p15:clr>
        </p15:guide>
        <p15:guide id="7" pos="1795">
          <p15:clr>
            <a:srgbClr val="5ACBF0"/>
          </p15:clr>
        </p15:guide>
        <p15:guide id="8" pos="3035">
          <p15:clr>
            <a:srgbClr val="5ACBF0"/>
          </p15:clr>
        </p15:guide>
        <p15:guide id="9" pos="3221">
          <p15:clr>
            <a:srgbClr val="5ACBF0"/>
          </p15:clr>
        </p15:guide>
        <p15:guide id="10" pos="4461">
          <p15:clr>
            <a:srgbClr val="5ACBF0"/>
          </p15:clr>
        </p15:guide>
        <p15:guide id="11" pos="5890">
          <p15:clr>
            <a:srgbClr val="5ACBF0"/>
          </p15:clr>
        </p15:guide>
        <p15:guide id="12" orient="horz" pos="1436">
          <p15:clr>
            <a:srgbClr val="5ACBF0"/>
          </p15:clr>
        </p15:guide>
        <p15:guide id="13" pos="4646">
          <p15:clr>
            <a:srgbClr val="5ACBF0"/>
          </p15:clr>
        </p15:guide>
        <p15:guide id="14" pos="6072">
          <p15:clr>
            <a:srgbClr val="5ACBF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BC75CB-C95D-E17E-E33C-9C75ADB8407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35147" y="5959098"/>
            <a:ext cx="1366950" cy="813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92201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eft side 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2875002"/>
            <a:ext cx="4127692" cy="1107996"/>
          </a:xfrm>
        </p:spPr>
        <p:txBody>
          <a:bodyPr wrap="square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D8A81E-1AFE-CB99-6564-E7EEDE9AAF7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35147" y="5959098"/>
            <a:ext cx="1366950" cy="813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93653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2" orient="horz" pos="2160">
          <p15:clr>
            <a:srgbClr val="5ACBF0"/>
          </p15:clr>
        </p15:guide>
        <p15:guide id="33" pos="2976">
          <p15:clr>
            <a:srgbClr val="5ACBF0"/>
          </p15:clr>
        </p15:guide>
        <p15:guide id="34" pos="3336">
          <p15:clr>
            <a:srgbClr val="5ACBF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ll title - half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457200"/>
            <a:ext cx="5508419" cy="372410"/>
          </a:xfrm>
        </p:spPr>
        <p:txBody>
          <a:bodyPr tIns="64008"/>
          <a:lstStyle>
            <a:lvl1pPr>
              <a:defRPr sz="2000" spc="0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CA4C18-717E-1E62-CFF9-A4ED2F889F6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35147" y="5959098"/>
            <a:ext cx="1366950" cy="813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22349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8963"/>
            <a:ext cx="4158362" cy="2535236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Title square photo layout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0"/>
            <a:ext cx="4162425" cy="2733497"/>
          </a:xfrm>
        </p:spPr>
        <p:txBody>
          <a:bodyPr/>
          <a:lstStyle>
            <a:lvl1pPr marL="0" indent="0">
              <a:buNone/>
              <a:defRPr sz="22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18FD0C-FA99-4937-92CD-5CF7F279CD8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BDF4B0-32EF-4DA8-9A83-B73DD8310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51772316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7" orient="horz" pos="1968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92DE97-5F35-4963-AC7A-96FEB9806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4159950" cy="5683249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09A47B-FEF5-47F3-B2DD-A73E7C323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64226294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5" orient="horz" pos="2160">
          <p15:clr>
            <a:srgbClr val="5ACBF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E2C6C6-B442-4DE7-9C6C-405B90053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979738"/>
            <a:ext cx="4163125" cy="3289300"/>
          </a:xfrm>
        </p:spPr>
        <p:txBody>
          <a:bodyPr anchor="t"/>
          <a:lstStyle>
            <a:lvl1pPr>
              <a:defRPr sz="2800"/>
            </a:lvl1pPr>
          </a:lstStyle>
          <a:p>
            <a:r>
              <a:rPr lang="en-US"/>
              <a:t>Square photo layout with smaller text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BEAA94-C151-43DE-8A5A-09E8A930427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2F1290-9237-4BEE-AAAC-6708F2862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65264823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3" orient="horz" pos="1877">
          <p15:clr>
            <a:srgbClr val="5ACBF0"/>
          </p15:clr>
        </p15:guide>
        <p15:guide id="4" pos="3731">
          <p15:clr>
            <a:srgbClr val="C35EA4"/>
          </p15:clr>
        </p15:guide>
        <p15:guide id="5" pos="2993">
          <p15:clr>
            <a:srgbClr val="5ACBF0"/>
          </p15:clr>
        </p15:guide>
        <p15:guide id="6" pos="3547">
          <p15:clr>
            <a:srgbClr val="A4A3A4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ow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/>
          </p:nvPr>
        </p:nvSpPr>
        <p:spPr bwMode="ltGray">
          <a:xfrm>
            <a:off x="0" y="3657600"/>
            <a:ext cx="12192000" cy="3200400"/>
          </a:xfrm>
          <a:gradFill flip="none" rotWithShape="1">
            <a:gsLst>
              <a:gs pos="4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</p:spPr>
        <p:txBody>
          <a:bodyPr lIns="585216" tIns="585216" rIns="585216" bIns="585216" anchor="b" anchorCtr="0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F619C2-B134-493A-AB9F-5DE39C929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34353198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304">
          <p15:clr>
            <a:srgbClr val="5ACBF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-3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  <a:tileRect/>
          </a:gradFill>
        </p:spPr>
        <p:txBody>
          <a:bodyPr lIns="585216" tIns="585216" rIns="585216" bIns="585216" anchor="ctr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4894F6-B50F-43E1-83FC-4F2200B2F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76525697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3576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righ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6522720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lIns="585216" tIns="585216" rIns="585216" bIns="585216" anchor="ctr">
            <a:noAutofit/>
          </a:bodyPr>
          <a:lstStyle>
            <a:lvl1pPr algn="r"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29011D-E3B4-416F-9D7F-7A99AE49F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73084417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4105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157216"/>
            <a:ext cx="11018520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28016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996C37-D0C9-4349-A860-B639C4EB9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67957656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499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-2381" y="228600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37160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6FDE6F-0F4B-446A-A51F-494FB0996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01431763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40">
          <p15:clr>
            <a:srgbClr val="5ACBF0"/>
          </p15:clr>
        </p15:guide>
        <p15:guide id="6" orient="horz" pos="720">
          <p15:clr>
            <a:srgbClr val="5ACBF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7DCA08-1117-4B11-AEFD-AAB2B3354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5367528" cy="347472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1860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39255" y="2025650"/>
            <a:ext cx="5367528" cy="3474720"/>
          </a:xfrm>
          <a:blipFill>
            <a:blip r:embed="rId3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F59E09-7602-42B9-AB0C-9D1365A9E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92754542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  <p15:guide id="8" orient="horz" pos="3464">
          <p15:clr>
            <a:srgbClr val="5ACBF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3474720" cy="3474720"/>
          </a:xfrm>
          <a:blipFill>
            <a:blip r:embed="rId2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8640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358640" y="2025650"/>
            <a:ext cx="3474720" cy="3474720"/>
          </a:xfrm>
          <a:blipFill>
            <a:blip r:embed="rId3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4351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32063" y="2025650"/>
            <a:ext cx="3474720" cy="3474720"/>
          </a:xfrm>
          <a:blipFill>
            <a:blip r:embed="rId4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B36921-D927-4BA6-8891-8AEE97849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5339366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3465">
          <p15:clr>
            <a:srgbClr val="5ACBF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2532888" cy="253288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908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413908" y="2025650"/>
            <a:ext cx="2532888" cy="253288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5204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45204" y="2025650"/>
            <a:ext cx="2532888" cy="2532888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6500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073895" y="2025650"/>
            <a:ext cx="2532888" cy="2532888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F56B00-AAD4-4F4F-8228-B6CF8367D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15940904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2993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2870">
          <p15:clr>
            <a:srgbClr val="5ACBF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5334000"/>
            <a:ext cx="4892040" cy="9350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6062472" cy="280720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14744" y="5334000"/>
            <a:ext cx="4892040" cy="93821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6129528" y="2286000"/>
            <a:ext cx="6062472" cy="280720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AE597A-BE1E-6B1F-960D-A90DC954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6435983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4" orient="horz" pos="3209">
          <p15:clr>
            <a:srgbClr val="5ACBF0"/>
          </p15:clr>
        </p15:guide>
        <p15:guide id="5" pos="3826">
          <p15:clr>
            <a:srgbClr val="5ACBF0"/>
          </p15:clr>
        </p15:guide>
        <p15:guide id="6" pos="3859">
          <p15:clr>
            <a:srgbClr val="5ACBF0"/>
          </p15:clr>
        </p15:guide>
        <p15:guide id="11" pos="1910">
          <p15:clr>
            <a:srgbClr val="5ACBF0"/>
          </p15:clr>
        </p15:guide>
        <p15:guide id="12" pos="5770">
          <p15:clr>
            <a:srgbClr val="5ACBF0"/>
          </p15:clr>
        </p15:guide>
        <p15:guide id="13" orient="horz" pos="3360">
          <p15:clr>
            <a:srgbClr val="5ACBF0"/>
          </p15:clr>
        </p15:guide>
        <p15:guide id="14" orient="horz">
          <p15:clr>
            <a:srgbClr val="5ACBF0"/>
          </p15:clr>
        </p15:guide>
        <p15:guide id="15" pos="3451">
          <p15:clr>
            <a:srgbClr val="5ACBF0"/>
          </p15:clr>
        </p15:guide>
        <p15:guide id="16" pos="4229">
          <p15:clr>
            <a:srgbClr val="5ACBF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285292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4023360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69536" y="4799409"/>
            <a:ext cx="285292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084320" y="2286000"/>
            <a:ext cx="4023360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53856" y="4799410"/>
            <a:ext cx="285292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68640" y="2286000"/>
            <a:ext cx="4023360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B999C7-F5A8-46A6-92C5-AA3BE4E26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10247878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2534">
          <p15:clr>
            <a:srgbClr val="5ACBF0"/>
          </p15:clr>
        </p15:guide>
        <p15:guide id="6" pos="2573">
          <p15:clr>
            <a:srgbClr val="5ACBF0"/>
          </p15:clr>
        </p15:guide>
        <p15:guide id="8" pos="5109">
          <p15:clr>
            <a:srgbClr val="5ACBF0"/>
          </p15:clr>
        </p15:guide>
        <p15:guide id="9" pos="5145">
          <p15:clr>
            <a:srgbClr val="5ACBF0"/>
          </p15:clr>
        </p15:guide>
        <p15:guide id="11" pos="1266">
          <p15:clr>
            <a:srgbClr val="5ACBF0"/>
          </p15:clr>
        </p15:guide>
        <p15:guide id="12" pos="3840">
          <p15:clr>
            <a:srgbClr val="5ACBF0"/>
          </p15:clr>
        </p15:guide>
        <p15:guide id="13" pos="6414">
          <p15:clr>
            <a:srgbClr val="5ACBF0"/>
          </p15:clr>
        </p15:guide>
        <p15:guide id="14" orient="horz" pos="1074">
          <p15:clr>
            <a:srgbClr val="5ACBF0"/>
          </p15:clr>
        </p15:guide>
        <p15:guide id="15" pos="2168">
          <p15:clr>
            <a:srgbClr val="5ACBF0"/>
          </p15:clr>
        </p15:guide>
        <p15:guide id="16" pos="2944">
          <p15:clr>
            <a:srgbClr val="5ACBF0"/>
          </p15:clr>
        </p15:guide>
        <p15:guide id="17" pos="4738">
          <p15:clr>
            <a:srgbClr val="5ACBF0"/>
          </p15:clr>
        </p15:guide>
        <p15:guide id="18" pos="5514">
          <p15:clr>
            <a:srgbClr val="5ACBF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1828800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999232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49472" y="4799409"/>
            <a:ext cx="1828800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064256" y="2286000"/>
            <a:ext cx="2999232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13728" y="4799410"/>
            <a:ext cx="1828800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128512" y="2286000"/>
            <a:ext cx="2999232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777984" y="4799409"/>
            <a:ext cx="1828800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192768" y="2286000"/>
            <a:ext cx="2999232" cy="22860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22886318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1890">
          <p15:clr>
            <a:srgbClr val="5ACBF0"/>
          </p15:clr>
        </p15:guide>
        <p15:guide id="6" pos="1930">
          <p15:clr>
            <a:srgbClr val="5ACBF0"/>
          </p15:clr>
        </p15:guide>
        <p15:guide id="7" pos="5749">
          <p15:clr>
            <a:srgbClr val="5ACBF0"/>
          </p15:clr>
        </p15:guide>
        <p15:guide id="8" pos="3820">
          <p15:clr>
            <a:srgbClr val="5ACBF0"/>
          </p15:clr>
        </p15:guide>
        <p15:guide id="9" pos="3860">
          <p15:clr>
            <a:srgbClr val="5ACBF0"/>
          </p15:clr>
        </p15:guide>
        <p15:guide id="10" pos="5789">
          <p15:clr>
            <a:srgbClr val="5ACBF0"/>
          </p15:clr>
        </p15:guide>
        <p15:guide id="11" pos="944">
          <p15:clr>
            <a:srgbClr val="5ACBF0"/>
          </p15:clr>
        </p15:guide>
        <p15:guide id="12" pos="2876">
          <p15:clr>
            <a:srgbClr val="5ACBF0"/>
          </p15:clr>
        </p15:guide>
        <p15:guide id="13" pos="4807">
          <p15:clr>
            <a:srgbClr val="5ACBF0"/>
          </p15:clr>
        </p15:guide>
        <p15:guide id="14" pos="6736">
          <p15:clr>
            <a:srgbClr val="5ACBF0"/>
          </p15:clr>
        </p15:guide>
        <p15:guide id="15" orient="horz">
          <p15:clr>
            <a:srgbClr val="5ACBF0"/>
          </p15:clr>
        </p15:guide>
        <p15:guide id="16" pos="1524">
          <p15:clr>
            <a:srgbClr val="5ACBF0"/>
          </p15:clr>
        </p15:guide>
        <p15:guide id="17" pos="2298">
          <p15:clr>
            <a:srgbClr val="5ACBF0"/>
          </p15:clr>
        </p15:guide>
        <p15:guide id="18" pos="3450">
          <p15:clr>
            <a:srgbClr val="5ACBF0"/>
          </p15:clr>
        </p15:guide>
        <p15:guide id="19" pos="4230">
          <p15:clr>
            <a:srgbClr val="5ACBF0"/>
          </p15:clr>
        </p15:guide>
        <p15:guide id="20" pos="5380">
          <p15:clr>
            <a:srgbClr val="5ACBF0"/>
          </p15:clr>
        </p15:guide>
        <p15:guide id="21" pos="6156">
          <p15:clr>
            <a:srgbClr val="5ACBF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92608" y="4800600"/>
            <a:ext cx="180136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386584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43962" y="4799409"/>
            <a:ext cx="180136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2451354" y="2286000"/>
            <a:ext cx="2386584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95316" y="4799410"/>
            <a:ext cx="180136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4902708" y="2286000"/>
            <a:ext cx="2386584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646670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7354062" y="2286000"/>
            <a:ext cx="2386584" cy="22860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5B1B6F72-F14C-40F1-8B29-8620AA34DC6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098024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D682C7-20D7-4ED0-99A7-C8530DAC861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9805416" y="2286000"/>
            <a:ext cx="2386584" cy="2286000"/>
          </a:xfrm>
          <a:blipFill>
            <a:blip r:embed="rId6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58037413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8" pos="4631">
          <p15:clr>
            <a:srgbClr val="5ACBF0"/>
          </p15:clr>
        </p15:guide>
        <p15:guide id="9" pos="4593">
          <p15:clr>
            <a:srgbClr val="5ACBF0"/>
          </p15:clr>
        </p15:guide>
        <p15:guide id="10" pos="6134">
          <p15:clr>
            <a:srgbClr val="5ACBF0"/>
          </p15:clr>
        </p15:guide>
        <p15:guide id="11" pos="1323">
          <p15:clr>
            <a:srgbClr val="5ACBF0"/>
          </p15:clr>
        </p15:guide>
        <p15:guide id="12" pos="2865">
          <p15:clr>
            <a:srgbClr val="5ACBF0"/>
          </p15:clr>
        </p15:guide>
        <p15:guide id="13" pos="4815">
          <p15:clr>
            <a:srgbClr val="5ACBF0"/>
          </p15:clr>
        </p15:guide>
        <p15:guide id="14" pos="6361">
          <p15:clr>
            <a:srgbClr val="5ACBF0"/>
          </p15:clr>
        </p15:guide>
        <p15:guide id="15" orient="horz">
          <p15:clr>
            <a:srgbClr val="5ACBF0"/>
          </p15:clr>
        </p15:guide>
        <p15:guide id="16" pos="1727">
          <p15:clr>
            <a:srgbClr val="5ACBF0"/>
          </p15:clr>
        </p15:guide>
        <p15:guide id="17" pos="2294">
          <p15:clr>
            <a:srgbClr val="5ACBF0"/>
          </p15:clr>
        </p15:guide>
        <p15:guide id="18" pos="3273">
          <p15:clr>
            <a:srgbClr val="5ACBF0"/>
          </p15:clr>
        </p15:guide>
        <p15:guide id="19" pos="4411">
          <p15:clr>
            <a:srgbClr val="5ACBF0"/>
          </p15:clr>
        </p15:guide>
        <p15:guide id="21" pos="6179">
          <p15:clr>
            <a:srgbClr val="5ACBF0"/>
          </p15:clr>
        </p15:guide>
        <p15:guide id="22" pos="1501">
          <p15:clr>
            <a:srgbClr val="5ACBF0"/>
          </p15:clr>
        </p15:guide>
        <p15:guide id="23" pos="1543">
          <p15:clr>
            <a:srgbClr val="5ACBF0"/>
          </p15:clr>
        </p15:guide>
        <p15:guide id="24" pos="3049">
          <p15:clr>
            <a:srgbClr val="5ACBF0"/>
          </p15:clr>
        </p15:guide>
        <p15:guide id="25" pos="3088">
          <p15:clr>
            <a:srgbClr val="5ACBF0"/>
          </p15:clr>
        </p15:guide>
        <p15:guide id="26" pos="5954">
          <p15:clr>
            <a:srgbClr val="5ACBF0"/>
          </p15:clr>
        </p15:guide>
        <p15:guide id="27" pos="3840">
          <p15:clr>
            <a:srgbClr val="5ACBF0"/>
          </p15:clr>
        </p15:guide>
        <p15:guide id="28" pos="5386">
          <p15:clr>
            <a:srgbClr val="5ACBF0"/>
          </p15:clr>
        </p15:guide>
        <p15:guide id="29" pos="753">
          <p15:clr>
            <a:srgbClr val="5ACBF0"/>
          </p15:clr>
        </p15:guide>
        <p15:guide id="30" pos="6927">
          <p15:clr>
            <a:srgbClr val="5ACBF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8962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2037906" y="2286000"/>
            <a:ext cx="2313432" cy="231343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37906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4939284" y="2286000"/>
            <a:ext cx="2313432" cy="231343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939284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7840663" y="2286000"/>
            <a:ext cx="2313432" cy="2313432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40663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6AFB7A-35B4-4881-AB50-D11248216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97461767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3840">
          <p15:clr>
            <a:srgbClr val="5ACBF0"/>
          </p15:clr>
        </p15:guide>
        <p15:guide id="4" pos="1283">
          <p15:clr>
            <a:srgbClr val="5ACBF0"/>
          </p15:clr>
        </p15:guide>
        <p15:guide id="5" pos="5666">
          <p15:clr>
            <a:srgbClr val="5ACBF0"/>
          </p15:clr>
        </p15:guide>
        <p15:guide id="6" pos="2741">
          <p15:clr>
            <a:srgbClr val="5ACBF0"/>
          </p15:clr>
        </p15:guide>
        <p15:guide id="7" pos="2012">
          <p15:clr>
            <a:srgbClr val="5ACBF0"/>
          </p15:clr>
        </p15:guide>
        <p15:guide id="8" pos="3109">
          <p15:clr>
            <a:srgbClr val="5ACBF0"/>
          </p15:clr>
        </p15:guide>
        <p15:guide id="9" pos="4570">
          <p15:clr>
            <a:srgbClr val="5ACBF0"/>
          </p15:clr>
        </p15:guide>
        <p15:guide id="11" pos="6397">
          <p15:clr>
            <a:srgbClr val="5ACBF0"/>
          </p15:clr>
        </p15:guide>
        <p15:guide id="12" orient="horz" pos="1440">
          <p15:clr>
            <a:srgbClr val="5ACBF0"/>
          </p15:clr>
        </p15:guide>
        <p15:guide id="13" pos="4938">
          <p15:clr>
            <a:srgbClr val="5ACBF0"/>
          </p15:clr>
        </p15:guide>
        <p15:guide id="14" orient="horz" pos="2894">
          <p15:clr>
            <a:srgbClr val="5ACBF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2313432" cy="231343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3487250" y="2286000"/>
            <a:ext cx="2313432" cy="231343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8725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6390300" y="2286000"/>
            <a:ext cx="2313432" cy="2313432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03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9293351" y="2286000"/>
            <a:ext cx="2313432" cy="2313432"/>
          </a:xfrm>
          <a:prstGeom prst="ellipse">
            <a:avLst/>
          </a:prstGeom>
          <a:blipFill>
            <a:blip r:embed="rId5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93351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419336055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4025">
          <p15:clr>
            <a:srgbClr val="5ACBF0"/>
          </p15:clr>
        </p15:guide>
        <p15:guide id="5" pos="5854">
          <p15:clr>
            <a:srgbClr val="5ACBF0"/>
          </p15:clr>
        </p15:guide>
        <p15:guide id="7" pos="3654">
          <p15:clr>
            <a:srgbClr val="5ACBF0"/>
          </p15:clr>
        </p15:guide>
        <p15:guide id="8" pos="2195">
          <p15:clr>
            <a:srgbClr val="5ACBF0"/>
          </p15:clr>
        </p15:guide>
        <p15:guide id="10" pos="2926">
          <p15:clr>
            <a:srgbClr val="5ACBF0"/>
          </p15:clr>
        </p15:guide>
        <p15:guide id="11" pos="4756">
          <p15:clr>
            <a:srgbClr val="5ACBF0"/>
          </p15:clr>
        </p15:guide>
        <p15:guide id="12" pos="6581">
          <p15:clr>
            <a:srgbClr val="5ACBF0"/>
          </p15:clr>
        </p15:guide>
        <p15:guide id="13" pos="1097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26">
          <p15:clr>
            <a:srgbClr val="5ACBF0"/>
          </p15:clr>
        </p15:guide>
        <p15:guide id="18" pos="5483">
          <p15:clr>
            <a:srgbClr val="5ACBF0"/>
          </p15:clr>
        </p15:guide>
        <p15:guide id="19" orient="horz" pos="2898">
          <p15:clr>
            <a:srgbClr val="5ACBF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1737360" cy="1737360"/>
          </a:xfrm>
          <a:prstGeom prst="ellipse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2905506" y="2286000"/>
            <a:ext cx="1737360" cy="1737360"/>
          </a:xfrm>
          <a:prstGeom prst="ellipse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05506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5227320" y="2286000"/>
            <a:ext cx="1737360" cy="1737360"/>
          </a:xfrm>
          <a:prstGeom prst="ellipse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27320" y="4235451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7548118" y="2286000"/>
            <a:ext cx="1737360" cy="1737360"/>
          </a:xfrm>
          <a:prstGeom prst="ellipse">
            <a:avLst/>
          </a:prstGeom>
          <a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insert44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548118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4DC3400-0B11-4EA0-9B8D-6FADE6964F37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 bwMode="ltGray">
          <a:xfrm>
            <a:off x="9869423" y="2286000"/>
            <a:ext cx="1737360" cy="1737360"/>
          </a:xfrm>
          <a:prstGeom prst="ellipse">
            <a:avLst/>
          </a:prstGeom>
          <a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33C357E-ECC0-485F-9033-5D4DEC8774B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869423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36313127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2664">
          <p15:clr>
            <a:srgbClr val="5ACBF0"/>
          </p15:clr>
        </p15:guide>
        <p15:guide id="3" pos="6216">
          <p15:clr>
            <a:srgbClr val="5ACBF0"/>
          </p15:clr>
        </p15:guide>
        <p15:guide id="5" pos="5850">
          <p15:clr>
            <a:srgbClr val="5ACBF0"/>
          </p15:clr>
        </p15:guide>
        <p15:guide id="7" pos="4392">
          <p15:clr>
            <a:srgbClr val="5ACBF0"/>
          </p15:clr>
        </p15:guide>
        <p15:guide id="8" pos="3292">
          <p15:clr>
            <a:srgbClr val="5ACBF0"/>
          </p15:clr>
        </p15:guide>
        <p15:guide id="10" pos="2926">
          <p15:clr>
            <a:srgbClr val="5ACBF0"/>
          </p15:clr>
        </p15:guide>
        <p15:guide id="11" pos="4754">
          <p15:clr>
            <a:srgbClr val="5ACBF0"/>
          </p15:clr>
        </p15:guide>
        <p15:guide id="13" pos="1464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30">
          <p15:clr>
            <a:srgbClr val="5ACBF0"/>
          </p15:clr>
        </p15:guide>
        <p15:guide id="16" orient="horz" pos="2533">
          <p15:clr>
            <a:srgbClr val="5ACBF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216" y="2309812"/>
            <a:ext cx="3182027" cy="3959225"/>
          </a:xfrm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E9DBFD9-3E1E-4F19-AF15-56780F9C79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56100" y="2309812"/>
            <a:ext cx="7253288" cy="3959223"/>
          </a:xfrm>
        </p:spPr>
        <p:txBody>
          <a:bodyPr anchor="t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5216" y="2019300"/>
            <a:ext cx="3182112" cy="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9D8AF80-CAD5-4055-80AD-0B31EBCB52A9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1A9F7D-F14E-4BCE-9EB4-D9EF47B67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4523" y="2019300"/>
            <a:ext cx="7254865" cy="0"/>
          </a:xfrm>
          <a:prstGeom prst="line">
            <a:avLst/>
          </a:prstGeom>
          <a:ln w="19050">
            <a:solidFill>
              <a:schemeClr val="tx1">
                <a:alpha val="3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747303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pos="2376">
          <p15:clr>
            <a:srgbClr val="5ACBF0"/>
          </p15:clr>
        </p15:guide>
        <p15:guide id="32" orient="horz" pos="1455">
          <p15:clr>
            <a:srgbClr val="5ACBF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8"/>
            <a:ext cx="3182027" cy="568325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585788"/>
            <a:ext cx="6667500" cy="5683249"/>
          </a:xfrm>
        </p:spPr>
        <p:txBody>
          <a:bodyPr anchor="ctr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356100" y="2578100"/>
            <a:ext cx="0" cy="170180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1DC2181-37AB-40A3-B61C-1DE7DBB57D63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6623114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2160">
          <p15:clr>
            <a:srgbClr val="5ACBF0"/>
          </p15:clr>
        </p15:guide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636FE-845C-418D-82A1-1DA6DB73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2D46E0-16CE-40B0-8623-F82D5D410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1436688"/>
            <a:ext cx="12192000" cy="542131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4977AB6-1D7E-4858-A2EA-BF86577C39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43668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2099310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tabLst>
                <a:tab pos="344488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tabLst>
                <a:tab pos="569913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tabLst>
                <a:tab pos="8001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tabLst>
                <a:tab pos="10287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7610199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322">
          <p15:clr>
            <a:srgbClr val="5ACBF0"/>
          </p15:clr>
        </p15:guide>
        <p15:guide id="2" orient="horz" pos="905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390" y="1230681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2827138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82713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3491219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37694826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1776">
          <p15:clr>
            <a:srgbClr val="5ACBF0"/>
          </p15:clr>
        </p15:guide>
        <p15:guide id="5" orient="horz" pos="2197">
          <p15:clr>
            <a:srgbClr val="5ACBF0"/>
          </p15:clr>
        </p15:guide>
        <p15:guide id="6" orient="horz" pos="773">
          <p15:clr>
            <a:srgbClr val="5ACBF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0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224580"/>
            <a:ext cx="11018520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660508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1152" y="4996505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315480499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2661">
          <p15:clr>
            <a:srgbClr val="5ACBF0"/>
          </p15:clr>
        </p15:guide>
        <p15:guide id="5" orient="horz" pos="3147">
          <p15:clr>
            <a:srgbClr val="5ACBF0"/>
          </p15:clr>
        </p15:guide>
        <p15:guide id="6" orient="horz" pos="419">
          <p15:clr>
            <a:srgbClr val="5ACBF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Right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2BB27-7DA5-4478-8C18-C1FFEE20AA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4040887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8965" y="1338139"/>
            <a:ext cx="4040185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205984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11763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00725" y="709187"/>
            <a:ext cx="5801961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28432662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45">
          <p15:clr>
            <a:srgbClr val="5ACBF0"/>
          </p15:clr>
        </p15:guide>
        <p15:guide id="4" orient="horz" pos="843">
          <p15:clr>
            <a:srgbClr val="5ACBF0"/>
          </p15:clr>
        </p15:guide>
        <p15:guide id="7" pos="3283">
          <p15:clr>
            <a:srgbClr val="5ACBF0"/>
          </p15:clr>
        </p15:guide>
        <p15:guide id="8" pos="3654">
          <p15:clr>
            <a:srgbClr val="5ACBF0"/>
          </p15:clr>
        </p15:guide>
        <p15:guide id="9" pos="2916">
          <p15:clr>
            <a:srgbClr val="5ACBF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Left s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2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B14A7D-C409-4A7C-9D82-A2E5DBB8AB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5549" y="457200"/>
            <a:ext cx="4031233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199" y="706011"/>
            <a:ext cx="5819775" cy="369332"/>
          </a:xfrm>
        </p:spPr>
        <p:txBody>
          <a:bodyPr/>
          <a:lstStyle>
            <a:lvl1pPr marL="0" indent="0">
              <a:buNone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75550" y="1336675"/>
            <a:ext cx="4033838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78140108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36">
          <p15:clr>
            <a:srgbClr val="5ACBF0"/>
          </p15:clr>
        </p15:guide>
        <p15:guide id="4" orient="horz" pos="839">
          <p15:clr>
            <a:srgbClr val="5ACBF0"/>
          </p15:clr>
        </p15:guide>
        <p15:guide id="6" pos="4402">
          <p15:clr>
            <a:srgbClr val="5ACBF0"/>
          </p15:clr>
        </p15:guide>
        <p15:guide id="7" pos="4034">
          <p15:clr>
            <a:srgbClr val="5ACBF0"/>
          </p15:clr>
        </p15:guide>
        <p15:guide id="8" pos="4772">
          <p15:clr>
            <a:srgbClr val="5ACBF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64008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Segoe Sans Display Semibold" pitchFamily="2" charset="0"/>
                <a:ea typeface="+mn-ea"/>
                <a:cs typeface="Segoe Sans Display Semibold" pitchFamily="2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640080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F1AE2D-0727-6228-C84F-7ADA770D4AC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9120" y="178230"/>
            <a:ext cx="1366950" cy="813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6676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559631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667512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Segoe Sans Display Semibold" pitchFamily="2" charset="0"/>
                <a:ea typeface="+mn-ea"/>
                <a:cs typeface="Segoe Sans Display Semibold" pitchFamily="2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 dirty="0"/>
              <a:t>Section title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511A24-B0D0-EA80-E49A-CDCA025B390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85216" y="178230"/>
            <a:ext cx="1366950" cy="813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9858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673743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137863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83141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log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 descr="This is a copyright notice that should be included on the final slide."/>
          <p:cNvSpPr txBox="1">
            <a:spLocks noChangeArrowheads="1"/>
          </p:cNvSpPr>
          <p:nvPr/>
        </p:nvSpPr>
        <p:spPr bwMode="blackWhite">
          <a:xfrm>
            <a:off x="584200" y="6161316"/>
            <a:ext cx="4482124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solidFill>
                  <a:schemeClr val="tx1"/>
                </a:soli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5" name="MS logo white - EMF" descr="Microsoft logo white text version">
            <a:extLst>
              <a:ext uri="{FF2B5EF4-FFF2-40B4-BE49-F238E27FC236}">
                <a16:creationId xmlns:a16="http://schemas.microsoft.com/office/drawing/2014/main" id="{70D3778F-A717-44C8-9013-FF206B15DD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5808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ck Note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 b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6606D-2DF9-48CD-BBE9-B751BF55C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584200" y="1436688"/>
            <a:ext cx="11018838" cy="2215991"/>
          </a:xfrm>
        </p:spPr>
        <p:txBody>
          <a:bodyPr>
            <a:spAutoFit/>
          </a:bodyPr>
          <a:lstStyle>
            <a:lvl1pPr>
              <a:defRPr sz="36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Next slide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269038"/>
            <a:ext cx="12192001" cy="588963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45720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solidFill>
                  <a:srgbClr val="000000"/>
                </a:soli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/>
              <a:t>Next:</a:t>
            </a:r>
          </a:p>
        </p:txBody>
      </p:sp>
    </p:spTree>
    <p:extLst>
      <p:ext uri="{BB962C8B-B14F-4D97-AF65-F5344CB8AC3E}">
        <p14:creationId xmlns:p14="http://schemas.microsoft.com/office/powerpoint/2010/main" val="405231095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288">
          <p15:clr>
            <a:srgbClr val="5ACBF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530C24-163F-15BF-3D01-A8CA8BF26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929718"/>
      </p:ext>
    </p:extLst>
  </p:cSld>
  <p:clrMapOvr>
    <a:masterClrMapping/>
  </p:clrMapOvr>
  <p:transition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theme" Target="../theme/theme1.xml"/><Relationship Id="rId45" Type="http://schemas.openxmlformats.org/officeDocument/2006/relationships/image" Target="../media/image1.sv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8.xml"/><Relationship Id="rId6" Type="http://schemas.openxmlformats.org/officeDocument/2006/relationships/slideLayout" Target="../slideLayouts/slideLayout49.xml"/><Relationship Id="rId7" Type="http://schemas.openxmlformats.org/officeDocument/2006/relationships/slideLayout" Target="../slideLayouts/slideLayout50.xml"/><Relationship Id="rId8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54.xml"/><Relationship Id="rId12" Type="http://schemas.openxmlformats.org/officeDocument/2006/relationships/slideLayout" Target="../slideLayouts/slideLayout55.xml"/><Relationship Id="rId13" Type="http://schemas.openxmlformats.org/officeDocument/2006/relationships/slideLayout" Target="../slideLayouts/slideLayout56.xml"/><Relationship Id="rId14" Type="http://schemas.openxmlformats.org/officeDocument/2006/relationships/slideLayout" Target="../slideLayouts/slideLayout57.xml"/><Relationship Id="rId15" Type="http://schemas.openxmlformats.org/officeDocument/2006/relationships/slideLayout" Target="../slideLayouts/slideLayout58.xml"/><Relationship Id="rId16" Type="http://schemas.openxmlformats.org/officeDocument/2006/relationships/slideLayout" Target="../slideLayouts/slideLayout59.xml"/><Relationship Id="rId17" Type="http://schemas.openxmlformats.org/officeDocument/2006/relationships/slideLayout" Target="../slideLayouts/slideLayout60.xml"/><Relationship Id="rId18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62.xml"/><Relationship Id="rId20" Type="http://schemas.openxmlformats.org/officeDocument/2006/relationships/slideLayout" Target="../slideLayouts/slideLayout63.xml"/><Relationship Id="rId21" Type="http://schemas.openxmlformats.org/officeDocument/2006/relationships/slideLayout" Target="../slideLayouts/slideLayout64.xml"/><Relationship Id="rId22" Type="http://schemas.openxmlformats.org/officeDocument/2006/relationships/slideLayout" Target="../slideLayouts/slideLayout65.xml"/><Relationship Id="rId23" Type="http://schemas.openxmlformats.org/officeDocument/2006/relationships/slideLayout" Target="../slideLayouts/slideLayout66.xml"/><Relationship Id="rId24" Type="http://schemas.openxmlformats.org/officeDocument/2006/relationships/slideLayout" Target="../slideLayouts/slideLayout67.xml"/><Relationship Id="rId25" Type="http://schemas.openxmlformats.org/officeDocument/2006/relationships/slideLayout" Target="../slideLayouts/slideLayout68.xml"/><Relationship Id="rId26" Type="http://schemas.openxmlformats.org/officeDocument/2006/relationships/slideLayout" Target="../slideLayouts/slideLayout69.xml"/><Relationship Id="rId27" Type="http://schemas.openxmlformats.org/officeDocument/2006/relationships/slideLayout" Target="../slideLayouts/slideLayout70.xml"/><Relationship Id="rId28" Type="http://schemas.openxmlformats.org/officeDocument/2006/relationships/slideLayout" Target="../slideLayouts/slideLayout71.xml"/><Relationship Id="rId29" Type="http://schemas.openxmlformats.org/officeDocument/2006/relationships/slideLayout" Target="../slideLayouts/slideLayout72.xml"/><Relationship Id="rId30" Type="http://schemas.openxmlformats.org/officeDocument/2006/relationships/slideLayout" Target="../slideLayouts/slideLayout73.xml"/><Relationship Id="rId31" Type="http://schemas.openxmlformats.org/officeDocument/2006/relationships/slideLayout" Target="../slideLayouts/slideLayout74.xml"/><Relationship Id="rId32" Type="http://schemas.openxmlformats.org/officeDocument/2006/relationships/slideLayout" Target="../slideLayouts/slideLayout75.xml"/><Relationship Id="rId33" Type="http://schemas.openxmlformats.org/officeDocument/2006/relationships/slideLayout" Target="../slideLayouts/slideLayout76.xml"/><Relationship Id="rId34" Type="http://schemas.openxmlformats.org/officeDocument/2006/relationships/slideLayout" Target="../slideLayouts/slideLayout77.xml"/><Relationship Id="rId35" Type="http://schemas.openxmlformats.org/officeDocument/2006/relationships/slideLayout" Target="../slideLayouts/slideLayout78.xml"/><Relationship Id="rId36" Type="http://schemas.openxmlformats.org/officeDocument/2006/relationships/slideLayout" Target="../slideLayouts/slideLayout79.xml"/><Relationship Id="rId37" Type="http://schemas.openxmlformats.org/officeDocument/2006/relationships/slideLayout" Target="../slideLayouts/slideLayout80.xml"/><Relationship Id="rId38" Type="http://schemas.openxmlformats.org/officeDocument/2006/relationships/slideLayout" Target="../slideLayouts/slideLayout81.xml"/><Relationship Id="rId39" Type="http://schemas.openxmlformats.org/officeDocument/2006/relationships/slideLayout" Target="../slideLayouts/slideLayout82.xml"/><Relationship Id="rId40" Type="http://schemas.openxmlformats.org/officeDocument/2006/relationships/slideLayout" Target="../slideLayouts/slideLayout83.xml"/><Relationship Id="rId41" Type="http://schemas.openxmlformats.org/officeDocument/2006/relationships/slideLayout" Target="../slideLayouts/slideLayout84.xml"/><Relationship Id="rId42" Type="http://schemas.openxmlformats.org/officeDocument/2006/relationships/slideLayout" Target="../slideLayouts/slideLayout85.xml"/><Relationship Id="rId43" Type="http://schemas.openxmlformats.org/officeDocument/2006/relationships/slideLayout" Target="../slideLayouts/slideLayout86.xml"/><Relationship Id="rId44" Type="http://schemas.openxmlformats.org/officeDocument/2006/relationships/slideLayout" Target="../slideLayouts/slideLayout87.xml"/><Relationship Id="rId45" Type="http://schemas.openxmlformats.org/officeDocument/2006/relationships/slideLayout" Target="../slideLayouts/slideLayout88.xml"/><Relationship Id="rId46" Type="http://schemas.openxmlformats.org/officeDocument/2006/relationships/slideLayout" Target="../slideLayouts/slideLayout89.xml"/><Relationship Id="rId47" Type="http://schemas.openxmlformats.org/officeDocument/2006/relationships/slideLayout" Target="../slideLayouts/slideLayout90.xml"/><Relationship Id="rId48" Type="http://schemas.openxmlformats.org/officeDocument/2006/relationships/slideLayout" Target="../slideLayouts/slideLayout91.xml"/><Relationship Id="rId49" Type="http://schemas.openxmlformats.org/officeDocument/2006/relationships/theme" Target="../theme/theme2.xml"/><Relationship Id="rId50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44" name="Graphic 143">
            <a:extLst>
              <a:ext uri="{FF2B5EF4-FFF2-40B4-BE49-F238E27FC236}">
                <a16:creationId xmlns:a16="http://schemas.microsoft.com/office/drawing/2014/main" id="{55FCE7D5-5796-0746-3173-EB75FBE85E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rcRect/>
          <a:stretch/>
        </p:blipFill>
        <p:spPr>
          <a:xfrm rot="5400000">
            <a:off x="9509919" y="2743200"/>
            <a:ext cx="68580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689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607" r:id="rId1"/>
    <p:sldLayoutId id="2147485450" r:id="rId2"/>
    <p:sldLayoutId id="2147485451" r:id="rId3"/>
    <p:sldLayoutId id="2147485452" r:id="rId4"/>
    <p:sldLayoutId id="2147485453" r:id="rId5"/>
    <p:sldLayoutId id="2147485455" r:id="rId6"/>
    <p:sldLayoutId id="2147485456" r:id="rId7"/>
    <p:sldLayoutId id="2147485457" r:id="rId8"/>
    <p:sldLayoutId id="2147485458" r:id="rId9"/>
    <p:sldLayoutId id="2147485459" r:id="rId10"/>
    <p:sldLayoutId id="2147485460" r:id="rId11"/>
    <p:sldLayoutId id="2147485461" r:id="rId12"/>
    <p:sldLayoutId id="2147485462" r:id="rId13"/>
    <p:sldLayoutId id="2147485463" r:id="rId14"/>
    <p:sldLayoutId id="2147485464" r:id="rId15"/>
    <p:sldLayoutId id="2147485465" r:id="rId16"/>
    <p:sldLayoutId id="2147485466" r:id="rId17"/>
    <p:sldLayoutId id="2147485470" r:id="rId18"/>
    <p:sldLayoutId id="2147485471" r:id="rId19"/>
    <p:sldLayoutId id="2147485472" r:id="rId20"/>
    <p:sldLayoutId id="2147485473" r:id="rId21"/>
    <p:sldLayoutId id="2147485474" r:id="rId22"/>
    <p:sldLayoutId id="2147485475" r:id="rId23"/>
    <p:sldLayoutId id="2147485476" r:id="rId24"/>
    <p:sldLayoutId id="2147485477" r:id="rId25"/>
    <p:sldLayoutId id="2147485478" r:id="rId26"/>
    <p:sldLayoutId id="2147485479" r:id="rId27"/>
    <p:sldLayoutId id="2147485480" r:id="rId28"/>
    <p:sldLayoutId id="2147485481" r:id="rId29"/>
    <p:sldLayoutId id="2147485484" r:id="rId30"/>
    <p:sldLayoutId id="2147485485" r:id="rId31"/>
    <p:sldLayoutId id="2147485486" r:id="rId32"/>
    <p:sldLayoutId id="2147485487" r:id="rId33"/>
    <p:sldLayoutId id="2147485488" r:id="rId34"/>
    <p:sldLayoutId id="2147485489" r:id="rId35"/>
    <p:sldLayoutId id="2147485490" r:id="rId36"/>
    <p:sldLayoutId id="2147485491" r:id="rId37"/>
    <p:sldLayoutId id="2147485492" r:id="rId38"/>
    <p:sldLayoutId id="2147485493" r:id="rId39"/>
    <p:sldLayoutId id="2147485494" r:id="rId40"/>
    <p:sldLayoutId id="2147485495" r:id="rId41"/>
    <p:sldLayoutId id="2147485496" r:id="rId42"/>
    <p:sldLayoutId id="2147485603" r:id="rId43"/>
  </p:sldLayoutIdLst>
  <p:transition>
    <p:fade/>
  </p:transition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36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  <p15:guide id="31" orient="horz" pos="400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44" name="Graphic 143">
            <a:extLst>
              <a:ext uri="{FF2B5EF4-FFF2-40B4-BE49-F238E27FC236}">
                <a16:creationId xmlns:a16="http://schemas.microsoft.com/office/drawing/2014/main" id="{55FCE7D5-5796-0746-3173-EB75FBE85E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/>
        </p:blipFill>
        <p:spPr>
          <a:xfrm rot="5400000">
            <a:off x="9509919" y="2743200"/>
            <a:ext cx="68580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6317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5601" r:id="rId1"/>
    <p:sldLayoutId id="2147485554" r:id="rId2"/>
    <p:sldLayoutId id="2147485555" r:id="rId3"/>
    <p:sldLayoutId id="2147485556" r:id="rId4"/>
    <p:sldLayoutId id="2147485557" r:id="rId5"/>
    <p:sldLayoutId id="2147485559" r:id="rId6"/>
    <p:sldLayoutId id="2147485560" r:id="rId7"/>
    <p:sldLayoutId id="2147485561" r:id="rId8"/>
    <p:sldLayoutId id="2147485562" r:id="rId9"/>
    <p:sldLayoutId id="2147485563" r:id="rId10"/>
    <p:sldLayoutId id="2147485564" r:id="rId11"/>
    <p:sldLayoutId id="2147485565" r:id="rId12"/>
    <p:sldLayoutId id="2147485566" r:id="rId13"/>
    <p:sldLayoutId id="2147485567" r:id="rId14"/>
    <p:sldLayoutId id="2147485568" r:id="rId15"/>
    <p:sldLayoutId id="2147485569" r:id="rId16"/>
    <p:sldLayoutId id="2147485570" r:id="rId17"/>
    <p:sldLayoutId id="2147485571" r:id="rId18"/>
    <p:sldLayoutId id="2147485572" r:id="rId19"/>
    <p:sldLayoutId id="2147485573" r:id="rId20"/>
    <p:sldLayoutId id="2147485574" r:id="rId21"/>
    <p:sldLayoutId id="2147485575" r:id="rId22"/>
    <p:sldLayoutId id="2147485576" r:id="rId23"/>
    <p:sldLayoutId id="2147485577" r:id="rId24"/>
    <p:sldLayoutId id="2147485578" r:id="rId25"/>
    <p:sldLayoutId id="2147485579" r:id="rId26"/>
    <p:sldLayoutId id="2147485580" r:id="rId27"/>
    <p:sldLayoutId id="2147485581" r:id="rId28"/>
    <p:sldLayoutId id="2147485582" r:id="rId29"/>
    <p:sldLayoutId id="2147485583" r:id="rId30"/>
    <p:sldLayoutId id="2147485584" r:id="rId31"/>
    <p:sldLayoutId id="2147485585" r:id="rId32"/>
    <p:sldLayoutId id="2147485586" r:id="rId33"/>
    <p:sldLayoutId id="2147485587" r:id="rId34"/>
    <p:sldLayoutId id="2147485588" r:id="rId35"/>
    <p:sldLayoutId id="2147485589" r:id="rId36"/>
    <p:sldLayoutId id="2147485590" r:id="rId37"/>
    <p:sldLayoutId id="2147485591" r:id="rId38"/>
    <p:sldLayoutId id="2147485592" r:id="rId39"/>
    <p:sldLayoutId id="2147485593" r:id="rId40"/>
    <p:sldLayoutId id="2147485594" r:id="rId41"/>
    <p:sldLayoutId id="2147485595" r:id="rId42"/>
    <p:sldLayoutId id="2147485596" r:id="rId43"/>
    <p:sldLayoutId id="2147485597" r:id="rId44"/>
    <p:sldLayoutId id="2147485598" r:id="rId45"/>
    <p:sldLayoutId id="2147485599" r:id="rId46"/>
    <p:sldLayoutId id="2147485600" r:id="rId47"/>
    <p:sldLayoutId id="2147485602" r:id="rId48"/>
  </p:sldLayoutIdLst>
  <p:transition>
    <p:fade/>
  </p:transition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36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  <p15:guide id="31" orient="horz" pos="4008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8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9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0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8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arxiv.org/abs/2210.03629" TargetMode="External"/><Relationship Id="rId4" Type="http://schemas.openxmlformats.org/officeDocument/2006/relationships/hyperlink" Target="https://arxiv.org/abs/2303.11366" TargetMode="External"/><Relationship Id="rId5" Type="http://schemas.openxmlformats.org/officeDocument/2006/relationships/hyperlink" Target="https://docs.github.com/en/copilot/concepts/agents/about-copilot-cli" TargetMode="External"/><Relationship Id="rId6" Type="http://schemas.openxmlformats.org/officeDocument/2006/relationships/hyperlink" Target="https://support.claude.com/en/articles/11145838-use-claude-code-with-your-pro-or-max-plan" TargetMode="External"/><Relationship Id="rId7" Type="http://schemas.openxmlformats.org/officeDocument/2006/relationships/hyperlink" Target="https://agentskills.io" TargetMode="External"/><Relationship Id="rId8" Type="http://schemas.openxmlformats.org/officeDocument/2006/relationships/hyperlink" Target="https://learn.microsoft.com/en-us/azure/foundry/agents/overview" TargetMode="Externa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s://learn.microsoft.com/en-us/agent-framework/support/upgrade/python-2026-significant-changes" TargetMode="External"/><Relationship Id="rId4" Type="http://schemas.openxmlformats.org/officeDocument/2006/relationships/hyperlink" Target="https://docs.langchain.com/oss/python/releases/langchain-v1" TargetMode="External"/><Relationship Id="rId5" Type="http://schemas.openxmlformats.org/officeDocument/2006/relationships/hyperlink" Target="https://openai.com/index/the-next-evolution-of-the-agents-sdk/" TargetMode="External"/><Relationship Id="rId6" Type="http://schemas.openxmlformats.org/officeDocument/2006/relationships/hyperlink" Target="https://pydantic.dev/docs/ai/mcp/overview/" TargetMode="External"/><Relationship Id="rId7" Type="http://schemas.openxmlformats.org/officeDocument/2006/relationships/hyperlink" Target="https://learn.microsoft.com/en-us/agent-framework/workflows/orchestrations/sequential" TargetMode="External"/><Relationship Id="rId8" Type="http://schemas.openxmlformats.org/officeDocument/2006/relationships/hyperlink" Target="https://cursor.com/docs/subagents" TargetMode="External"/><Relationship Id="rId9" Type="http://schemas.openxmlformats.org/officeDocument/2006/relationships/hyperlink" Target="https://developers.openai.com/codex/subagents" TargetMode="External"/><Relationship Id="rId10" Type="http://schemas.openxmlformats.org/officeDocument/2006/relationships/hyperlink" Target="https://block.github.io/goose/blog/2025/09/26/subagents-vs-subrecipes/" TargetMode="External"/><Relationship Id="rId11" Type="http://schemas.openxmlformats.org/officeDocument/2006/relationships/hyperlink" Target="https://learn.microsoft.com/en-us/azure/foundry/agents/concepts/hosted-agents" TargetMode="Externa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s://learn.microsoft.com/en-us/azure/foundry/concepts/authentication-authorization-foundry" TargetMode="External"/><Relationship Id="rId4" Type="http://schemas.openxmlformats.org/officeDocument/2006/relationships/hyperlink" Target="https://opentelemetry.io/blog/2026/genai-observability/" TargetMode="External"/><Relationship Id="rId5" Type="http://schemas.openxmlformats.org/officeDocument/2006/relationships/hyperlink" Target="https://learn.microsoft.com/en-us/azure/api-management/llm-token-limit-policy" TargetMode="External"/><Relationship Id="rId6" Type="http://schemas.openxmlformats.org/officeDocument/2006/relationships/hyperlink" Target="https://simonwillison.net/series/prompt-injection" TargetMode="External"/><Relationship Id="rId7" Type="http://schemas.openxmlformats.org/officeDocument/2006/relationships/hyperlink" Target="https://www.langchain.com/blog/building-a-harness-with-jev" TargetMode="External"/><Relationship Id="rId8" Type="http://schemas.openxmlformats.org/officeDocument/2006/relationships/hyperlink" Target="https://github.blog/changelog/2026-07-30-github-models-is-now-retired/" TargetMode="External"/><Relationship Id="rId9" Type="http://schemas.openxmlformats.org/officeDocument/2006/relationships/hyperlink" Target="https://blog.modelcontextprotocol.io/posts/2026-07-28/" TargetMode="External"/><Relationship Id="rId10" Type="http://schemas.openxmlformats.org/officeDocument/2006/relationships/hyperlink" Target="https://developers.openai.com/api/docs/deprecations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</a:rPr>
              <a:t>Building Stuff</a:t>
            </a:r>
            <a:br/>
            <a:r>
              <a:rPr sz="3600" b="1">
                <a:solidFill>
                  <a:srgbClr val="FFFFFF"/>
                </a:solidFill>
              </a:rPr>
              <a:t>with GenAI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sz="1800">
                <a:solidFill>
                  <a:srgbClr val="C8D0E8"/>
                </a:solidFill>
              </a:rPr>
              <a:t>Segment 3 — The world of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5120640"/>
            <a:ext cx="5486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</a:rPr>
              <a:t>A loop, a runtime, then a team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9AA6C2"/>
                </a:solidFill>
              </a:rPr>
              <a:t>daenet — an ACP Digital company · 2026</a:t>
            </a:r>
          </a:p>
        </p:txBody>
      </p:sp>
      <p:pic>
        <p:nvPicPr>
          <p:cNvPr id="5" name="Picture 4" descr="div_titl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868680"/>
            <a:ext cx="2971800" cy="4892040"/>
          </a:xfrm>
          <a:prstGeom prst="roundRect">
            <a:avLst>
              <a:gd name="adj" fmla="val 4000"/>
            </a:avLst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/>
              <a:t>Where we are in the day: Segment 3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0058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8661C5"/>
                </a:solidFill>
              </a:rPr>
              <a:t>SEGMENT 3 · THE WORLD OF AGENTS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" y="1783080"/>
            <a:ext cx="822960" cy="2359152"/>
          </a:xfrm>
          <a:prstGeom prst="roundRect">
            <a:avLst>
              <a:gd name="adj" fmla="val 12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 i="0">
                <a:solidFill>
                  <a:srgbClr val="6B6B6B"/>
                </a:solidFill>
              </a:rPr>
              <a:t>Keys</a:t>
            </a:r>
          </a:p>
          <a:p>
            <a:pPr algn="ctr"/>
            <a:r>
              <a:rPr sz="1000" b="1" i="0">
                <a:solidFill>
                  <a:srgbClr val="6B6B6B"/>
                </a:solidFill>
              </a:rPr>
              <a:t>+ setup</a:t>
            </a:r>
          </a:p>
          <a:p>
            <a:pPr algn="ctr"/>
            <a:r>
              <a:rPr sz="1000" b="1" i="0">
                <a:solidFill>
                  <a:srgbClr val="6B6B6B"/>
                </a:solidFill>
              </a:rPr>
              <a:t>clinic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81328" y="1783080"/>
            <a:ext cx="1595627" cy="960120"/>
          </a:xfrm>
          <a:prstGeom prst="roundRect">
            <a:avLst>
              <a:gd name="adj" fmla="val 12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0" i="0">
                <a:solidFill>
                  <a:srgbClr val="6B6B6B"/>
                </a:solidFill>
              </a:rPr>
              <a:t>SEGMENT 1</a:t>
            </a:r>
          </a:p>
          <a:p>
            <a:pPr algn="ctr"/>
            <a:r>
              <a:rPr sz="1200" b="1" i="0">
                <a:solidFill>
                  <a:srgbClr val="6B6B6B"/>
                </a:solidFill>
              </a:rPr>
              <a:t>Foundations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81328" y="2852928"/>
            <a:ext cx="1595627" cy="356615"/>
          </a:xfrm>
          <a:prstGeom prst="roundRect">
            <a:avLst>
              <a:gd name="adj" fmla="val 12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0" i="0">
                <a:solidFill>
                  <a:srgbClr val="6B6B6B"/>
                </a:solidFill>
              </a:rPr>
              <a:t>talk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81328" y="3282696"/>
            <a:ext cx="1595627" cy="356615"/>
          </a:xfrm>
          <a:prstGeom prst="roundRect">
            <a:avLst>
              <a:gd name="adj" fmla="val 12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0" i="0">
                <a:solidFill>
                  <a:srgbClr val="6B6B6B"/>
                </a:solidFill>
              </a:rPr>
              <a:t>live demos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81328" y="3712463"/>
            <a:ext cx="1595627" cy="356615"/>
          </a:xfrm>
          <a:prstGeom prst="roundRect">
            <a:avLst>
              <a:gd name="adj" fmla="val 12000"/>
            </a:avLst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0" i="0">
                <a:solidFill>
                  <a:srgbClr val="6B6B6B"/>
                </a:solidFill>
              </a:rPr>
              <a:t>Lab 1 · hands-on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0108" y="1783080"/>
            <a:ext cx="310896" cy="2359152"/>
          </a:xfrm>
          <a:prstGeom prst="roundRect">
            <a:avLst>
              <a:gd name="adj" fmla="val 12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 vert="vert270"/>
          <a:lstStyle/>
          <a:p>
            <a:pPr algn="ctr"/>
            <a:r>
              <a:rPr sz="1000" b="0" i="0">
                <a:solidFill>
                  <a:srgbClr val="6B6B6B"/>
                </a:solidFill>
              </a:rPr>
              <a:t>break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34156" y="1783080"/>
            <a:ext cx="1595627" cy="960120"/>
          </a:xfrm>
          <a:prstGeom prst="roundRect">
            <a:avLst>
              <a:gd name="adj" fmla="val 12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0" i="0">
                <a:solidFill>
                  <a:srgbClr val="6B6B6B"/>
                </a:solidFill>
              </a:rPr>
              <a:t>SEGMENT 2</a:t>
            </a:r>
          </a:p>
          <a:p>
            <a:pPr algn="ctr"/>
            <a:r>
              <a:rPr sz="1200" b="1" i="0">
                <a:solidFill>
                  <a:srgbClr val="6B6B6B"/>
                </a:solidFill>
              </a:rPr>
              <a:t>Integrating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34156" y="2852928"/>
            <a:ext cx="1595627" cy="356615"/>
          </a:xfrm>
          <a:prstGeom prst="roundRect">
            <a:avLst>
              <a:gd name="adj" fmla="val 12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0" i="0">
                <a:solidFill>
                  <a:srgbClr val="6B6B6B"/>
                </a:solidFill>
              </a:rPr>
              <a:t>talk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34156" y="3282696"/>
            <a:ext cx="1595627" cy="356615"/>
          </a:xfrm>
          <a:prstGeom prst="roundRect">
            <a:avLst>
              <a:gd name="adj" fmla="val 12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0" i="0">
                <a:solidFill>
                  <a:srgbClr val="6B6B6B"/>
                </a:solidFill>
              </a:rPr>
              <a:t>live demos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34156" y="3712463"/>
            <a:ext cx="1595627" cy="356615"/>
          </a:xfrm>
          <a:prstGeom prst="roundRect">
            <a:avLst>
              <a:gd name="adj" fmla="val 12000"/>
            </a:avLst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0" i="0">
                <a:solidFill>
                  <a:srgbClr val="6B6B6B"/>
                </a:solidFill>
              </a:rPr>
              <a:t>Lab 2 · 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02936" y="1783080"/>
            <a:ext cx="420624" cy="2359152"/>
          </a:xfrm>
          <a:prstGeom prst="roundRect">
            <a:avLst>
              <a:gd name="adj" fmla="val 12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 vert="vert270"/>
          <a:lstStyle/>
          <a:p>
            <a:pPr algn="ctr"/>
            <a:r>
              <a:rPr sz="1000" b="0" i="0">
                <a:solidFill>
                  <a:srgbClr val="6B6B6B"/>
                </a:solidFill>
              </a:rPr>
              <a:t>lunch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96712" y="1783080"/>
            <a:ext cx="1595627" cy="960120"/>
          </a:xfrm>
          <a:prstGeom prst="roundRect">
            <a:avLst>
              <a:gd name="adj" fmla="val 12000"/>
            </a:avLst>
          </a:prstGeom>
          <a:solidFill>
            <a:srgbClr val="866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SEGMENT 3</a:t>
            </a:r>
          </a:p>
          <a:p>
            <a:pPr algn="ctr"/>
            <a:r>
              <a:rPr sz="1200" b="1" i="0">
                <a:solidFill>
                  <a:srgbClr val="FFFFFF"/>
                </a:solidFill>
              </a:rPr>
              <a:t>The world of agents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96712" y="2852928"/>
            <a:ext cx="1595627" cy="356615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0" i="0">
                <a:solidFill>
                  <a:srgbClr val="1F1F1F"/>
                </a:solidFill>
              </a:rPr>
              <a:t>talk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96712" y="3282696"/>
            <a:ext cx="1595627" cy="356615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0" i="0">
                <a:solidFill>
                  <a:srgbClr val="1F1F1F"/>
                </a:solidFill>
              </a:rPr>
              <a:t>live demos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96712" y="3712463"/>
            <a:ext cx="1595627" cy="356615"/>
          </a:xfrm>
          <a:prstGeom prst="roundRect">
            <a:avLst>
              <a:gd name="adj" fmla="val 12000"/>
            </a:avLst>
          </a:prstGeom>
          <a:solidFill>
            <a:srgbClr val="866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Lab 3 · hands-on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00166" y="1444752"/>
            <a:ext cx="1188720" cy="246888"/>
          </a:xfrm>
          <a:prstGeom prst="roundRect">
            <a:avLst>
              <a:gd name="adj" fmla="val 50000"/>
            </a:avLst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1" i="0">
                <a:solidFill>
                  <a:srgbClr val="2A446F"/>
                </a:solidFill>
              </a:rPr>
              <a:t>YOU ARE HERE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65492" y="1783080"/>
            <a:ext cx="310896" cy="2359152"/>
          </a:xfrm>
          <a:prstGeom prst="roundRect">
            <a:avLst>
              <a:gd name="adj" fmla="val 12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 vert="vert270"/>
          <a:lstStyle/>
          <a:p>
            <a:pPr algn="ctr"/>
            <a:r>
              <a:rPr sz="1000" b="0" i="0">
                <a:solidFill>
                  <a:srgbClr val="6B6B6B"/>
                </a:solidFill>
              </a:rPr>
              <a:t>break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49540" y="1783080"/>
            <a:ext cx="1595627" cy="960120"/>
          </a:xfrm>
          <a:prstGeom prst="roundRect">
            <a:avLst>
              <a:gd name="adj" fmla="val 12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0" i="0">
                <a:solidFill>
                  <a:srgbClr val="6B6B6B"/>
                </a:solidFill>
              </a:rPr>
              <a:t>SEGMENT 4</a:t>
            </a:r>
          </a:p>
          <a:p>
            <a:pPr algn="ctr"/>
            <a:r>
              <a:rPr sz="1200" b="1" i="0">
                <a:solidFill>
                  <a:srgbClr val="6B6B6B"/>
                </a:solidFill>
              </a:rPr>
              <a:t>Local AI, media &amp; beyond the West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49540" y="2852928"/>
            <a:ext cx="1595627" cy="356615"/>
          </a:xfrm>
          <a:prstGeom prst="roundRect">
            <a:avLst>
              <a:gd name="adj" fmla="val 12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0" i="0">
                <a:solidFill>
                  <a:srgbClr val="6B6B6B"/>
                </a:solidFill>
              </a:rPr>
              <a:t>talk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49540" y="3282696"/>
            <a:ext cx="1595627" cy="356615"/>
          </a:xfrm>
          <a:prstGeom prst="roundRect">
            <a:avLst>
              <a:gd name="adj" fmla="val 12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0" i="0">
                <a:solidFill>
                  <a:srgbClr val="6B6B6B"/>
                </a:solidFill>
              </a:rPr>
              <a:t>live demos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49540" y="3712463"/>
            <a:ext cx="1595627" cy="356615"/>
          </a:xfrm>
          <a:prstGeom prst="roundRect">
            <a:avLst>
              <a:gd name="adj" fmla="val 12000"/>
            </a:avLst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0" i="0">
                <a:solidFill>
                  <a:srgbClr val="6B6B6B"/>
                </a:solidFill>
              </a:rPr>
              <a:t>Lab 4 · hands-on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18319" y="1783080"/>
            <a:ext cx="822960" cy="2359152"/>
          </a:xfrm>
          <a:prstGeom prst="roundRect">
            <a:avLst>
              <a:gd name="adj" fmla="val 12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 i="0">
                <a:solidFill>
                  <a:srgbClr val="6B6B6B"/>
                </a:solidFill>
              </a:rPr>
              <a:t>Close</a:t>
            </a:r>
          </a:p>
          <a:p>
            <a:pPr algn="ctr"/>
            <a:r>
              <a:rPr sz="1000" b="1" i="0">
                <a:solidFill>
                  <a:srgbClr val="6B6B6B"/>
                </a:solidFill>
              </a:rPr>
              <a:t>+ recap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5216" y="4462272"/>
            <a:ext cx="4846320" cy="1234440"/>
          </a:xfrm>
          <a:prstGeom prst="roundRect">
            <a:avLst>
              <a:gd name="adj" fmla="val 6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86384" y="4626864"/>
            <a:ext cx="444398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8661C5"/>
                </a:solidFill>
              </a:rPr>
              <a:t>TODAY’S LAB · CORE + STRETCH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" y="5084064"/>
            <a:ext cx="444398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2A446F"/>
                </a:solidFill>
              </a:rPr>
              <a:t>Lab 3 — Two agents and a workflow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B6B6B"/>
                </a:solidFill>
              </a:rPr>
              <a:t>labs/03-agents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0" y="4544568"/>
            <a:ext cx="1143000" cy="384048"/>
          </a:xfrm>
          <a:prstGeom prst="roundRect">
            <a:avLst>
              <a:gd name="adj" fmla="val 1200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CORE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0" y="4992624"/>
            <a:ext cx="1143000" cy="347472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2A446F"/>
                </a:solidFill>
              </a:rPr>
              <a:t>STRETCH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4617720"/>
            <a:ext cx="32918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2A446F"/>
                </a:solidFill>
              </a:rPr>
              <a:t>Core lab</a:t>
            </a:r>
            <a:r>
              <a:rPr sz="1500" b="0" i="0">
                <a:solidFill>
                  <a:srgbClr val="2A446F"/>
                </a:solidFill>
              </a:rPr>
              <a:t> — the part everyone finishes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B6B6B"/>
                </a:solidFill>
              </a:rPr>
              <a:t>stretch goals keep the fast ones busy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5216" y="6355080"/>
            <a:ext cx="8321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</a:rPr>
              <a:t>Sources: Workshop plan v001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/>
              <a:t>Reminder: your key, your endpoint, your fallback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0058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8661C5"/>
                </a:solidFill>
              </a:rPr>
              <a:t>SEGMENT 3 · THE WORLD OF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37160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B6B6B"/>
                </a:solidFill>
              </a:rPr>
              <a:t>labs/.env — FROM YOUR HANDOUT CARD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5216" y="1645920"/>
            <a:ext cx="5760720" cy="1554480"/>
          </a:xfrm>
          <a:prstGeom prst="roundRect">
            <a:avLst>
              <a:gd name="adj" fmla="val 3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157216" y="1755648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FFB900"/>
                </a:solidFill>
                <a:latin typeface="Consolas"/>
              </a:rPr>
              <a:t>labs/.env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029968"/>
            <a:ext cx="5394959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>
                <a:solidFill>
                  <a:srgbClr val="E8EEF7"/>
                </a:solidFill>
                <a:latin typeface="Consolas"/>
              </a:rPr>
              <a:t>GENAI_BASE_URL=https://&lt;gateway-from-your-card&gt;/openai/v1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E8EEF7"/>
                </a:solidFill>
                <a:latin typeface="Consolas"/>
              </a:rPr>
              <a:t>GENAI_API_KEY=&lt;your-personal-key&gt;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E8EEF7"/>
                </a:solidFill>
                <a:latin typeface="Consolas"/>
              </a:rPr>
              <a:t>GENAI_KEY_HEADER=api-key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E8EEF7"/>
                </a:solidFill>
                <a:latin typeface="Consolas"/>
              </a:rPr>
              <a:t>GENAI_MODEL=gpt-5-mini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645920"/>
            <a:ext cx="3657599" cy="1554480"/>
          </a:xfrm>
          <a:prstGeom prst="roundRect">
            <a:avLst>
              <a:gd name="adj" fmla="val 6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784848" y="1810512"/>
            <a:ext cx="325526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A7F5C"/>
                </a:solidFill>
              </a:rPr>
              <a:t>NO NETWORK? SAME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84848" y="2267712"/>
            <a:ext cx="3255263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F1F1F"/>
                </a:solidFill>
              </a:rPr>
              <a:t>Ollama, model qwen3.5:4b: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1F1F1F"/>
                </a:solidFill>
                <a:latin typeface="Consolas"/>
              </a:rPr>
              <a:t>GENAI_BASE_URL=http://localhost:11434/v1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F1F1F"/>
                </a:solidFill>
              </a:rPr>
              <a:t>— or the instructor’s offline mock.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" y="3474720"/>
            <a:ext cx="3096767" cy="1143000"/>
          </a:xfrm>
          <a:prstGeom prst="roundRect">
            <a:avLst>
              <a:gd name="adj" fmla="val 6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86384" y="3639312"/>
            <a:ext cx="2694431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C52B2B"/>
                </a:solidFill>
              </a:rPr>
              <a:t>401 · KEY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4096511"/>
            <a:ext cx="269443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1F1F"/>
                </a:solidFill>
              </a:rPr>
              <a:t>Key missing or wrong — check labs/.env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64864" y="3474720"/>
            <a:ext cx="3096767" cy="1143000"/>
          </a:xfrm>
          <a:prstGeom prst="roundRect">
            <a:avLst>
              <a:gd name="adj" fmla="val 6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066031" y="3639312"/>
            <a:ext cx="2694431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86A10"/>
                </a:solidFill>
              </a:rPr>
              <a:t>403 · QUOTA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6031" y="4096511"/>
            <a:ext cx="269443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1F1F"/>
                </a:solidFill>
              </a:rPr>
              <a:t>Today’s quota is used up — ask us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44511" y="3474720"/>
            <a:ext cx="3096767" cy="1143000"/>
          </a:xfrm>
          <a:prstGeom prst="roundRect">
            <a:avLst>
              <a:gd name="adj" fmla="val 6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345680" y="3639312"/>
            <a:ext cx="2694431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078D4"/>
                </a:solidFill>
              </a:rPr>
              <a:t>429 · TOO FAST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45680" y="4096511"/>
            <a:ext cx="269443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1F1F"/>
                </a:solidFill>
              </a:rPr>
              <a:t>Tokens per minute used up — wait, it resets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" y="4983480"/>
            <a:ext cx="965606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8661C5"/>
                </a:solidFill>
              </a:rPr>
              <a:t>Everything in labs/03-agents reads these settings — nothing else to configure.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" y="6355080"/>
            <a:ext cx="8321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</a:rPr>
              <a:t>Sources: labs/.env.example · labs/00-setup/SETUP.md · Gateway policy attendee-policy.xml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FFFFFF"/>
                </a:solidFill>
              </a:rPr>
              <a:t>The world of agents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sz="1800">
                <a:solidFill>
                  <a:srgbClr val="C8D0E8"/>
                </a:solidFill>
              </a:rPr>
              <a:t>A loop, a runtime, then a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874519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B900"/>
                </a:solidFill>
              </a:rPr>
              <a:t>SEGMENT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4434840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9AA6C2"/>
                </a:solidFill>
              </a:rPr>
              <a:t>simple agents, teams, runtimes, safety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50749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9AA6C2"/>
                </a:solidFill>
              </a:rPr>
              <a:t>Talk · live demos · hands-on Lab 3</a:t>
            </a:r>
          </a:p>
        </p:txBody>
      </p:sp>
      <p:pic>
        <p:nvPicPr>
          <p:cNvPr id="7" name="Picture 6" descr="div_s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868680"/>
            <a:ext cx="2971800" cy="4892040"/>
          </a:xfrm>
          <a:prstGeom prst="roundRect">
            <a:avLst>
              <a:gd name="adj" fmla="val 4000"/>
            </a:avLst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The spine, third pass: the loop and the workflow light 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0058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8661C5"/>
                </a:solidFill>
              </a:rPr>
              <a:t>SEGMENT 3 · THE WORLD OF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325880"/>
            <a:ext cx="965606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A446F"/>
                </a:solidFill>
              </a:rPr>
              <a:t>Segment 3 adds two blocks. Everything to their left is what the agent stands 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5216" y="1920240"/>
            <a:ext cx="1046987" cy="914400"/>
          </a:xfrm>
          <a:prstGeom prst="roundRect">
            <a:avLst>
              <a:gd name="adj" fmla="val 12000"/>
            </a:avLst>
          </a:prstGeom>
          <a:solidFill>
            <a:srgbClr val="D6E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2A446F"/>
                </a:solidFill>
              </a:rPr>
              <a:t>tokens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68779" y="2377440"/>
            <a:ext cx="109728" cy="0"/>
          </a:xfrm>
          <a:prstGeom prst="line">
            <a:avLst/>
          </a:prstGeom>
          <a:ln w="22225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815084" y="1920240"/>
            <a:ext cx="1046987" cy="914400"/>
          </a:xfrm>
          <a:prstGeom prst="roundRect">
            <a:avLst>
              <a:gd name="adj" fmla="val 12000"/>
            </a:avLst>
          </a:prstGeom>
          <a:solidFill>
            <a:srgbClr val="D6E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2A446F"/>
                </a:solidFill>
              </a:rPr>
              <a:t>chat API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98648" y="2377440"/>
            <a:ext cx="109728" cy="0"/>
          </a:xfrm>
          <a:prstGeom prst="line">
            <a:avLst/>
          </a:prstGeom>
          <a:ln w="22225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044951" y="1920240"/>
            <a:ext cx="1046987" cy="914400"/>
          </a:xfrm>
          <a:prstGeom prst="roundRect">
            <a:avLst>
              <a:gd name="adj" fmla="val 12000"/>
            </a:avLst>
          </a:prstGeom>
          <a:solidFill>
            <a:srgbClr val="D6E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2A446F"/>
                </a:solidFill>
              </a:rPr>
              <a:t>structured output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128515" y="2377440"/>
            <a:ext cx="109729" cy="0"/>
          </a:xfrm>
          <a:prstGeom prst="line">
            <a:avLst/>
          </a:prstGeom>
          <a:ln w="22225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274819" y="1920240"/>
            <a:ext cx="1046987" cy="914400"/>
          </a:xfrm>
          <a:prstGeom prst="roundRect">
            <a:avLst>
              <a:gd name="adj" fmla="val 12000"/>
            </a:avLst>
          </a:prstGeom>
          <a:solidFill>
            <a:srgbClr val="D6E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2A446F"/>
                </a:solidFill>
              </a:rPr>
              <a:t>tools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358383" y="2377440"/>
            <a:ext cx="109728" cy="0"/>
          </a:xfrm>
          <a:prstGeom prst="line">
            <a:avLst/>
          </a:prstGeom>
          <a:ln w="22225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04687" y="1920240"/>
            <a:ext cx="1046987" cy="914400"/>
          </a:xfrm>
          <a:prstGeom prst="roundRect">
            <a:avLst>
              <a:gd name="adj" fmla="val 12000"/>
            </a:avLst>
          </a:prstGeom>
          <a:solidFill>
            <a:srgbClr val="D6E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2A446F"/>
                </a:solidFill>
              </a:rPr>
              <a:t>MCP / skills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588251" y="2377440"/>
            <a:ext cx="109728" cy="0"/>
          </a:xfrm>
          <a:prstGeom prst="line">
            <a:avLst/>
          </a:prstGeom>
          <a:ln w="22225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734555" y="1920240"/>
            <a:ext cx="1046987" cy="914400"/>
          </a:xfrm>
          <a:prstGeom prst="roundRect">
            <a:avLst>
              <a:gd name="adj" fmla="val 1200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agent loop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818119" y="2377440"/>
            <a:ext cx="109728" cy="0"/>
          </a:xfrm>
          <a:prstGeom prst="line">
            <a:avLst/>
          </a:prstGeom>
          <a:ln w="22225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964423" y="1920240"/>
            <a:ext cx="1046987" cy="914400"/>
          </a:xfrm>
          <a:prstGeom prst="roundRect">
            <a:avLst>
              <a:gd name="adj" fmla="val 1200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workflow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047987" y="2377440"/>
            <a:ext cx="109728" cy="0"/>
          </a:xfrm>
          <a:prstGeom prst="line">
            <a:avLst/>
          </a:prstGeom>
          <a:ln w="22225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194292" y="1920240"/>
            <a:ext cx="1046987" cy="914400"/>
          </a:xfrm>
          <a:prstGeom prst="roundRect">
            <a:avLst>
              <a:gd name="adj" fmla="val 12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6B6B6B"/>
                </a:solidFill>
              </a:rPr>
              <a:t>media pipeline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04687" y="2944368"/>
            <a:ext cx="1046987" cy="36576"/>
          </a:xfrm>
          <a:prstGeom prst="rect">
            <a:avLst/>
          </a:prstGeom>
          <a:solidFill>
            <a:srgbClr val="00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184647" y="3017520"/>
            <a:ext cx="16870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008B8B"/>
                </a:solidFill>
              </a:rPr>
              <a:t>its tools (Segment 2)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34555" y="2944368"/>
            <a:ext cx="2276856" cy="36576"/>
          </a:xfrm>
          <a:prstGeom prst="rect">
            <a:avLst/>
          </a:prstGeom>
          <a:solidFill>
            <a:srgbClr val="866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734555" y="3017520"/>
            <a:ext cx="22768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8661C5"/>
                </a:solidFill>
              </a:rPr>
              <a:t>this segment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" y="3675887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6B6B6B"/>
                </a:solidFill>
              </a:rPr>
              <a:t>THIS SEGMENT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5216" y="4023360"/>
            <a:ext cx="1711756" cy="658368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1F1F1F"/>
                </a:solidFill>
              </a:rPr>
              <a:t>What an agent is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333548" y="4352544"/>
            <a:ext cx="201168" cy="0"/>
          </a:xfrm>
          <a:prstGeom prst="line">
            <a:avLst/>
          </a:prstGeom>
          <a:ln w="22225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2571292" y="4023360"/>
            <a:ext cx="1711756" cy="658368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1F1F1F"/>
                </a:solidFill>
              </a:rPr>
              <a:t>Agents you already have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319625" y="4352544"/>
            <a:ext cx="201168" cy="0"/>
          </a:xfrm>
          <a:prstGeom prst="line">
            <a:avLst/>
          </a:prstGeom>
          <a:ln w="22225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557369" y="4023360"/>
            <a:ext cx="1711756" cy="658368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1F1F1F"/>
                </a:solidFill>
              </a:rPr>
              <a:t>Agents in code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305702" y="4352544"/>
            <a:ext cx="201168" cy="0"/>
          </a:xfrm>
          <a:prstGeom prst="line">
            <a:avLst/>
          </a:prstGeom>
          <a:ln w="22225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543446" y="4023360"/>
            <a:ext cx="1711756" cy="658368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1F1F1F"/>
                </a:solidFill>
              </a:rPr>
              <a:t>Teams in production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291779" y="4352544"/>
            <a:ext cx="201168" cy="0"/>
          </a:xfrm>
          <a:prstGeom prst="line">
            <a:avLst/>
          </a:prstGeom>
          <a:ln w="22225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529523" y="4023360"/>
            <a:ext cx="1711756" cy="658368"/>
          </a:xfrm>
          <a:prstGeom prst="roundRect">
            <a:avLst>
              <a:gd name="adj" fmla="val 12000"/>
            </a:avLst>
          </a:prstGeom>
          <a:solidFill>
            <a:srgbClr val="866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Lab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5216" y="5440680"/>
            <a:ext cx="965606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078D4"/>
                </a:solidFill>
              </a:rPr>
              <a:t>An agent = the Segment 1 tool loop + a runtime. A team = agents + a workflow.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/>
              <a:t>An agent is a loop that decides when to stop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0058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8661C5"/>
                </a:solidFill>
              </a:rPr>
              <a:t>SEGMENT 3 · THE WORLD OF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325880"/>
            <a:ext cx="965606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A446F"/>
                </a:solidFill>
              </a:rPr>
              <a:t>The Segment 1 tool loop — plus a plan, a memory and a stop rule.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28900" y="2048255"/>
            <a:ext cx="1783080" cy="658368"/>
          </a:xfrm>
          <a:prstGeom prst="roundRect">
            <a:avLst>
              <a:gd name="adj" fmla="val 1200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model plans</a:t>
            </a:r>
          </a:p>
          <a:p>
            <a:pPr algn="ctr"/>
            <a:r>
              <a:rPr sz="1200" b="1" i="0">
                <a:solidFill>
                  <a:srgbClr val="FFFFFF"/>
                </a:solidFill>
              </a:rPr>
              <a:t>the next step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49140" y="3236976"/>
            <a:ext cx="1783080" cy="658368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1F1F1F"/>
                </a:solidFill>
              </a:rPr>
              <a:t>asks for</a:t>
            </a:r>
          </a:p>
          <a:p>
            <a:pPr algn="ctr"/>
            <a:r>
              <a:rPr sz="1200" b="1" i="0">
                <a:solidFill>
                  <a:srgbClr val="1F1F1F"/>
                </a:solidFill>
              </a:rPr>
              <a:t>a tool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28900" y="4425696"/>
            <a:ext cx="1783080" cy="658368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1F1F1F"/>
                </a:solidFill>
              </a:rPr>
              <a:t>your code</a:t>
            </a:r>
          </a:p>
          <a:p>
            <a:pPr algn="ctr"/>
            <a:r>
              <a:rPr sz="1200" b="1" i="0">
                <a:solidFill>
                  <a:srgbClr val="1F1F1F"/>
                </a:solidFill>
              </a:rPr>
              <a:t>runs 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8660" y="3236976"/>
            <a:ext cx="1783080" cy="658368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1F1F1F"/>
                </a:solidFill>
              </a:rPr>
              <a:t>result goes</a:t>
            </a:r>
          </a:p>
          <a:p>
            <a:pPr algn="ctr"/>
            <a:r>
              <a:rPr sz="1200" b="1" i="0">
                <a:solidFill>
                  <a:srgbClr val="1F1F1F"/>
                </a:solidFill>
              </a:rPr>
              <a:t>into memory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40825" y="2761487"/>
            <a:ext cx="679469" cy="420625"/>
          </a:xfrm>
          <a:prstGeom prst="line">
            <a:avLst/>
          </a:prstGeom>
          <a:ln w="22225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140825" y="3950208"/>
            <a:ext cx="679469" cy="420624"/>
          </a:xfrm>
          <a:prstGeom prst="line">
            <a:avLst/>
          </a:prstGeom>
          <a:ln w="22225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2220585" y="3950208"/>
            <a:ext cx="679469" cy="420624"/>
          </a:xfrm>
          <a:prstGeom prst="line">
            <a:avLst/>
          </a:prstGeom>
          <a:ln w="22225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2220585" y="2761487"/>
            <a:ext cx="679469" cy="420625"/>
          </a:xfrm>
          <a:prstGeom prst="line">
            <a:avLst/>
          </a:prstGeom>
          <a:ln w="22225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ctagon 12"/>
          <p:cNvSpPr/>
          <p:nvPr/>
        </p:nvSpPr>
        <p:spPr>
          <a:xfrm>
            <a:off x="2770632" y="3108960"/>
            <a:ext cx="1499616" cy="914400"/>
          </a:xfrm>
          <a:prstGeom prst="octagon">
            <a:avLst/>
          </a:prstGeom>
          <a:solidFill>
            <a:srgbClr val="C5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stop?</a:t>
            </a:r>
          </a:p>
          <a:p>
            <a:pPr algn="ctr"/>
            <a:r>
              <a:rPr sz="1100" b="0" i="0">
                <a:solidFill>
                  <a:srgbClr val="FFFFFF"/>
                </a:solidFill>
              </a:rPr>
              <a:t>answer, budget</a:t>
            </a:r>
          </a:p>
          <a:p>
            <a:pPr algn="ctr"/>
            <a:r>
              <a:rPr sz="1100" b="0" i="0">
                <a:solidFill>
                  <a:srgbClr val="FFFFFF"/>
                </a:solidFill>
              </a:rPr>
              <a:t>or goal</a:t>
            </a:r>
          </a:p>
        </p:txBody>
      </p:sp>
      <p:pic>
        <p:nvPicPr>
          <p:cNvPr id="14" name="Picture 13" descr="s3_agent_loop_runn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783080"/>
            <a:ext cx="3017520" cy="3017520"/>
          </a:xfrm>
          <a:prstGeom prst="roundRect">
            <a:avLst>
              <a:gd name="adj" fmla="val 4000"/>
            </a:avLst>
          </a:prstGeom>
        </p:spPr>
      </p:pic>
      <p:sp>
        <p:nvSpPr>
          <p:cNvPr id="15" name="TextBox 14"/>
          <p:cNvSpPr txBox="1"/>
          <p:nvPr/>
        </p:nvSpPr>
        <p:spPr>
          <a:xfrm>
            <a:off x="585216" y="5440680"/>
            <a:ext cx="965606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078D4"/>
                </a:solidFill>
              </a:rPr>
              <a:t>Autonomy is a dial, not a switch: you decide how many of these choices the model makes.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" y="6355080"/>
            <a:ext cx="8321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</a:rPr>
              <a:t>Sources: LLM 101 (Day of Data 2026) slides 58–65 · Yao et al. 2022, ReAct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What the runtime owns — and what you’re really paying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0058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8661C5"/>
                </a:solidFill>
              </a:rPr>
              <a:t>SEGMENT 3 · THE WORLD OF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37160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8661C5"/>
                </a:solidFill>
              </a:rPr>
              <a:t>THE RUNTIME: EIGHT JOBS AROUND ONE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5216" y="1737360"/>
            <a:ext cx="1889760" cy="1051560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2A446F"/>
                </a:solidFill>
              </a:rPr>
              <a:t>system prompt</a:t>
            </a:r>
          </a:p>
          <a:p>
            <a:pPr algn="ctr"/>
            <a:r>
              <a:rPr sz="1200" b="0" i="0">
                <a:solidFill>
                  <a:srgbClr val="2A446F"/>
                </a:solidFill>
              </a:rPr>
              <a:t>who it is, what it may 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12136" y="1737360"/>
            <a:ext cx="1889760" cy="1051560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2A446F"/>
                </a:solidFill>
              </a:rPr>
              <a:t>tools</a:t>
            </a:r>
          </a:p>
          <a:p>
            <a:pPr algn="ctr"/>
            <a:r>
              <a:rPr sz="1200" b="0" i="0">
                <a:solidFill>
                  <a:srgbClr val="2A446F"/>
                </a:solidFill>
              </a:rPr>
              <a:t>the list + JSON schemas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39056" y="1737360"/>
            <a:ext cx="1889760" cy="1051560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2A446F"/>
                </a:solidFill>
              </a:rPr>
              <a:t>memory</a:t>
            </a:r>
          </a:p>
          <a:p>
            <a:pPr algn="ctr"/>
            <a:r>
              <a:rPr sz="1200" b="0" i="0">
                <a:solidFill>
                  <a:srgbClr val="2A446F"/>
                </a:solidFill>
              </a:rPr>
              <a:t>session, transcript, compaction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2926080"/>
            <a:ext cx="1889760" cy="1051560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2A446F"/>
                </a:solidFill>
              </a:rPr>
              <a:t>sandbox</a:t>
            </a:r>
          </a:p>
          <a:p>
            <a:pPr algn="ctr"/>
            <a:r>
              <a:rPr sz="1200" b="0" i="0">
                <a:solidFill>
                  <a:srgbClr val="2A446F"/>
                </a:solidFill>
              </a:rPr>
              <a:t>where tool code runs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12136" y="2926080"/>
            <a:ext cx="1889760" cy="1051560"/>
          </a:xfrm>
          <a:prstGeom prst="roundRect">
            <a:avLst>
              <a:gd name="adj" fmla="val 1200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the model</a:t>
            </a:r>
          </a:p>
          <a:p>
            <a:pPr algn="ctr"/>
            <a:r>
              <a:rPr sz="1300" b="0" i="0">
                <a:solidFill>
                  <a:srgbClr val="FFFFFF"/>
                </a:solidFill>
              </a:rPr>
              <a:t>one request in,</a:t>
            </a:r>
          </a:p>
          <a:p>
            <a:pPr algn="ctr"/>
            <a:r>
              <a:rPr sz="1300" b="0" i="0">
                <a:solidFill>
                  <a:srgbClr val="FFFFFF"/>
                </a:solidFill>
              </a:rPr>
              <a:t>one answer out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39056" y="2926080"/>
            <a:ext cx="1889760" cy="1051560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2A446F"/>
                </a:solidFill>
              </a:rPr>
              <a:t>budget</a:t>
            </a:r>
          </a:p>
          <a:p>
            <a:pPr algn="ctr"/>
            <a:r>
              <a:rPr sz="1200" b="0" i="0">
                <a:solidFill>
                  <a:srgbClr val="2A446F"/>
                </a:solidFill>
              </a:rPr>
              <a:t>max steps, tokens, 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" y="4114800"/>
            <a:ext cx="1889760" cy="1051560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2A446F"/>
                </a:solidFill>
              </a:rPr>
              <a:t>retries</a:t>
            </a:r>
          </a:p>
          <a:p>
            <a:pPr algn="ctr"/>
            <a:r>
              <a:rPr sz="1200" b="0" i="0">
                <a:solidFill>
                  <a:srgbClr val="2A446F"/>
                </a:solidFill>
              </a:rPr>
              <a:t>timeouts, 429s, fallbacks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12136" y="4114800"/>
            <a:ext cx="1889760" cy="1051560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2A446F"/>
                </a:solidFill>
              </a:rPr>
              <a:t>human in the loop</a:t>
            </a:r>
          </a:p>
          <a:p>
            <a:pPr algn="ctr"/>
            <a:r>
              <a:rPr sz="1200" b="0" i="0">
                <a:solidFill>
                  <a:srgbClr val="2A446F"/>
                </a:solidFill>
              </a:rPr>
              <a:t>approve before acting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39056" y="4114800"/>
            <a:ext cx="1889760" cy="1051560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2A446F"/>
                </a:solidFill>
              </a:rPr>
              <a:t>tracing</a:t>
            </a:r>
          </a:p>
          <a:p>
            <a:pPr algn="ctr"/>
            <a:r>
              <a:rPr sz="1200" b="0" i="0">
                <a:solidFill>
                  <a:srgbClr val="2A446F"/>
                </a:solidFill>
              </a:rPr>
              <a:t>what ran, what it cost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2280" y="1737360"/>
            <a:ext cx="3337560" cy="1572768"/>
          </a:xfrm>
          <a:prstGeom prst="roundRect">
            <a:avLst>
              <a:gd name="adj" fmla="val 6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013448" y="1901952"/>
            <a:ext cx="29352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8661C5"/>
                </a:solidFill>
              </a:rPr>
              <a:t>AS A LIBRARY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3448" y="2359152"/>
            <a:ext cx="2935224" cy="795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F1F1F"/>
                </a:solidFill>
              </a:rPr>
              <a:t>You run it: Agent Framework, LangGraph, AI SDK — Lab 3.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12280" y="3456432"/>
            <a:ext cx="3337560" cy="1709928"/>
          </a:xfrm>
          <a:prstGeom prst="roundRect">
            <a:avLst>
              <a:gd name="adj" fmla="val 6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013448" y="3621024"/>
            <a:ext cx="29352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078D4"/>
                </a:solidFill>
              </a:rPr>
              <a:t>AS A PRODUCT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3448" y="4078224"/>
            <a:ext cx="2935224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F1F1F"/>
                </a:solidFill>
              </a:rPr>
              <a:t>They run it: Claude Code, Copilot, Foundry Agent Service.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" y="5440680"/>
            <a:ext cx="965606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078D4"/>
                </a:solidFill>
              </a:rPr>
              <a:t>You swap the model in one line — the runtime is what you’re really paying for.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" y="6355080"/>
            <a:ext cx="8321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</a:rPr>
              <a:t>Sources: LLM 101 (Day of Data 2026) slides 58–65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Four reasoning patterns: ReAct, Reflexion, verifier, planner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0058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8661C5"/>
                </a:solidFill>
              </a:rPr>
              <a:t>SEGMENT 3 · THE WORLD OF AGENTS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" y="1417320"/>
            <a:ext cx="2276856" cy="457200"/>
          </a:xfrm>
          <a:prstGeom prst="roundRect">
            <a:avLst>
              <a:gd name="adj" fmla="val 12000"/>
            </a:avLst>
          </a:prstGeom>
          <a:solidFill>
            <a:srgbClr val="866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ReAct · 2022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4944" y="2103120"/>
            <a:ext cx="1819655" cy="475488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2A446F"/>
                </a:solidFill>
              </a:rPr>
              <a:t>reason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04772" y="2606039"/>
            <a:ext cx="0" cy="155449"/>
          </a:xfrm>
          <a:prstGeom prst="line">
            <a:avLst/>
          </a:prstGeom>
          <a:ln w="22225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94944" y="2788920"/>
            <a:ext cx="1819655" cy="475488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0" i="0">
                <a:solidFill>
                  <a:srgbClr val="2A446F"/>
                </a:solidFill>
              </a:rPr>
              <a:t>act: call a tool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604772" y="3291839"/>
            <a:ext cx="0" cy="155449"/>
          </a:xfrm>
          <a:prstGeom prst="line">
            <a:avLst/>
          </a:prstGeom>
          <a:ln w="22225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94944" y="3474720"/>
            <a:ext cx="1819655" cy="475488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0" i="0">
                <a:solidFill>
                  <a:srgbClr val="2A446F"/>
                </a:solidFill>
              </a:rPr>
              <a:t>observe the result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42032" y="3712463"/>
            <a:ext cx="155448" cy="0"/>
          </a:xfrm>
          <a:prstGeom prst="line">
            <a:avLst/>
          </a:prstGeom>
          <a:ln w="15875">
            <a:solidFill>
              <a:srgbClr val="8661C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697480" y="2340863"/>
            <a:ext cx="0" cy="1371600"/>
          </a:xfrm>
          <a:prstGeom prst="line">
            <a:avLst/>
          </a:prstGeom>
          <a:ln w="15875">
            <a:solidFill>
              <a:srgbClr val="8661C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2551176" y="2340863"/>
            <a:ext cx="146304" cy="0"/>
          </a:xfrm>
          <a:prstGeom prst="line">
            <a:avLst/>
          </a:prstGeom>
          <a:ln w="15875">
            <a:solidFill>
              <a:srgbClr val="8661C5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85216" y="4114800"/>
            <a:ext cx="227685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1F1F"/>
                </a:solidFill>
              </a:rPr>
              <a:t>The grandparent of every agent loop.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44952" y="1417320"/>
            <a:ext cx="2276856" cy="457200"/>
          </a:xfrm>
          <a:prstGeom prst="roundRect">
            <a:avLst>
              <a:gd name="adj" fmla="val 12000"/>
            </a:avLst>
          </a:prstGeom>
          <a:solidFill>
            <a:srgbClr val="866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Reflexion · 2023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54680" y="2103120"/>
            <a:ext cx="1819655" cy="475488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2A446F"/>
                </a:solidFill>
              </a:rPr>
              <a:t>try the task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064508" y="2606039"/>
            <a:ext cx="0" cy="155449"/>
          </a:xfrm>
          <a:prstGeom prst="line">
            <a:avLst/>
          </a:prstGeom>
          <a:ln w="22225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154680" y="2788920"/>
            <a:ext cx="1819655" cy="475488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0" i="0">
                <a:solidFill>
                  <a:srgbClr val="2A446F"/>
                </a:solidFill>
              </a:rPr>
              <a:t>fail → write a critique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064508" y="3291839"/>
            <a:ext cx="0" cy="155449"/>
          </a:xfrm>
          <a:prstGeom prst="line">
            <a:avLst/>
          </a:prstGeom>
          <a:ln w="22225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154680" y="3474720"/>
            <a:ext cx="1819655" cy="475488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0" i="0">
                <a:solidFill>
                  <a:srgbClr val="2A446F"/>
                </a:solidFill>
              </a:rPr>
              <a:t>retry with the critique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01768" y="3712463"/>
            <a:ext cx="155448" cy="0"/>
          </a:xfrm>
          <a:prstGeom prst="line">
            <a:avLst/>
          </a:prstGeom>
          <a:ln w="15875">
            <a:solidFill>
              <a:srgbClr val="8661C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5157216" y="2340863"/>
            <a:ext cx="0" cy="1371600"/>
          </a:xfrm>
          <a:prstGeom prst="line">
            <a:avLst/>
          </a:prstGeom>
          <a:ln w="15875">
            <a:solidFill>
              <a:srgbClr val="8661C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5010912" y="2340863"/>
            <a:ext cx="146304" cy="0"/>
          </a:xfrm>
          <a:prstGeom prst="line">
            <a:avLst/>
          </a:prstGeom>
          <a:ln w="15875">
            <a:solidFill>
              <a:srgbClr val="8661C5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044952" y="4114800"/>
            <a:ext cx="227685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1F1F"/>
                </a:solidFill>
              </a:rPr>
              <a:t>Learns from its own failed attempt.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04688" y="1417320"/>
            <a:ext cx="2276856" cy="457200"/>
          </a:xfrm>
          <a:prstGeom prst="roundRect">
            <a:avLst>
              <a:gd name="adj" fmla="val 12000"/>
            </a:avLst>
          </a:prstGeom>
          <a:solidFill>
            <a:srgbClr val="866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Verifier loop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14416" y="2103120"/>
            <a:ext cx="1819655" cy="475488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2A446F"/>
                </a:solidFill>
              </a:rPr>
              <a:t>draft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524244" y="2606039"/>
            <a:ext cx="0" cy="155449"/>
          </a:xfrm>
          <a:prstGeom prst="line">
            <a:avLst/>
          </a:prstGeom>
          <a:ln w="22225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614416" y="2788920"/>
            <a:ext cx="1819655" cy="475488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0" i="0">
                <a:solidFill>
                  <a:srgbClr val="2A446F"/>
                </a:solidFill>
              </a:rPr>
              <a:t>check: tests, schema, critic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524244" y="3291839"/>
            <a:ext cx="0" cy="155449"/>
          </a:xfrm>
          <a:prstGeom prst="line">
            <a:avLst/>
          </a:prstGeom>
          <a:ln w="22225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614416" y="3474720"/>
            <a:ext cx="1819655" cy="475488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0" i="0">
                <a:solidFill>
                  <a:srgbClr val="2A446F"/>
                </a:solidFill>
              </a:rPr>
              <a:t>revise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461503" y="3712463"/>
            <a:ext cx="155448" cy="0"/>
          </a:xfrm>
          <a:prstGeom prst="line">
            <a:avLst/>
          </a:prstGeom>
          <a:ln w="15875">
            <a:solidFill>
              <a:srgbClr val="8661C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7616951" y="2340863"/>
            <a:ext cx="0" cy="1371600"/>
          </a:xfrm>
          <a:prstGeom prst="line">
            <a:avLst/>
          </a:prstGeom>
          <a:ln w="15875">
            <a:solidFill>
              <a:srgbClr val="8661C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7470647" y="2340863"/>
            <a:ext cx="146304" cy="0"/>
          </a:xfrm>
          <a:prstGeom prst="line">
            <a:avLst/>
          </a:prstGeom>
          <a:ln w="15875">
            <a:solidFill>
              <a:srgbClr val="8661C5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504688" y="4114800"/>
            <a:ext cx="227685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1F1F"/>
                </a:solidFill>
              </a:rPr>
              <a:t>Lab 3’s writer + critic is one.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64424" y="1417320"/>
            <a:ext cx="2276856" cy="457200"/>
          </a:xfrm>
          <a:prstGeom prst="roundRect">
            <a:avLst>
              <a:gd name="adj" fmla="val 12000"/>
            </a:avLst>
          </a:prstGeom>
          <a:solidFill>
            <a:srgbClr val="866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Plan-then-execute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74152" y="2103120"/>
            <a:ext cx="1819655" cy="475488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2A446F"/>
                </a:solidFill>
              </a:rPr>
              <a:t>plan the steps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983980" y="2606039"/>
            <a:ext cx="0" cy="155449"/>
          </a:xfrm>
          <a:prstGeom prst="line">
            <a:avLst/>
          </a:prstGeom>
          <a:ln w="22225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8074152" y="2788920"/>
            <a:ext cx="1819655" cy="475488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0" i="0">
                <a:solidFill>
                  <a:srgbClr val="2A446F"/>
                </a:solidFill>
              </a:rPr>
              <a:t>execute one by one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983980" y="3291839"/>
            <a:ext cx="0" cy="155449"/>
          </a:xfrm>
          <a:prstGeom prst="line">
            <a:avLst/>
          </a:prstGeom>
          <a:ln w="22225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8074152" y="3474720"/>
            <a:ext cx="1819655" cy="475488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0" i="0">
                <a:solidFill>
                  <a:srgbClr val="2A446F"/>
                </a:solidFill>
              </a:rPr>
              <a:t>re-plan on failure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921240" y="3712463"/>
            <a:ext cx="155448" cy="0"/>
          </a:xfrm>
          <a:prstGeom prst="line">
            <a:avLst/>
          </a:prstGeom>
          <a:ln w="15875">
            <a:solidFill>
              <a:srgbClr val="8661C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0076688" y="2340863"/>
            <a:ext cx="0" cy="1371600"/>
          </a:xfrm>
          <a:prstGeom prst="line">
            <a:avLst/>
          </a:prstGeom>
          <a:ln w="15875">
            <a:solidFill>
              <a:srgbClr val="8661C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9930384" y="2340863"/>
            <a:ext cx="146304" cy="0"/>
          </a:xfrm>
          <a:prstGeom prst="line">
            <a:avLst/>
          </a:prstGeom>
          <a:ln w="15875">
            <a:solidFill>
              <a:srgbClr val="8661C5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964424" y="4114800"/>
            <a:ext cx="227685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1F1F"/>
                </a:solidFill>
              </a:rPr>
              <a:t>Magentic’s planner keeps a task ledger.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5216" y="5440680"/>
            <a:ext cx="965606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078D4"/>
                </a:solidFill>
              </a:rPr>
              <a:t>Reasoning models bake some of this in — you still decide when to plan, verify, retry.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5216" y="6355080"/>
            <a:ext cx="8321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</a:rPr>
              <a:t>Sources: Yao et al. 2022, ReAct · Shinn et al. 2023, Reflexion · LLM 101 (Day of Data 2026) slides 58–65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/>
              <a:t>When not to build an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0058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8661C5"/>
                </a:solidFill>
              </a:rPr>
              <a:t>SEGMENT 3 · THE WORLD OF AGENTS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" y="1463040"/>
            <a:ext cx="3749039" cy="731520"/>
          </a:xfrm>
          <a:prstGeom prst="roundRect">
            <a:avLst>
              <a:gd name="adj" fmla="val 12000"/>
            </a:avLst>
          </a:prstGeom>
          <a:solidFill>
            <a:srgbClr val="2A4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Do you know the steps in advance?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463040"/>
            <a:ext cx="5212079" cy="731520"/>
          </a:xfrm>
          <a:prstGeom prst="roundRect">
            <a:avLst>
              <a:gd name="adj" fmla="val 12000"/>
            </a:avLst>
          </a:prstGeom>
          <a:solidFill>
            <a:srgbClr val="00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Workflow</a:t>
            </a:r>
            <a:r>
              <a:rPr sz="1400" b="0" i="0">
                <a:solidFill>
                  <a:srgbClr val="FFFFFF"/>
                </a:solidFill>
              </a:rPr>
              <a:t> — code fixes the order, the LLM fills the fuzzy steps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79975" y="1828800"/>
            <a:ext cx="603505" cy="0"/>
          </a:xfrm>
          <a:prstGeom prst="line">
            <a:avLst/>
          </a:prstGeom>
          <a:ln w="25400">
            <a:solidFill>
              <a:srgbClr val="2A446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17136" y="148132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A7F5C"/>
                </a:solidFill>
              </a:rPr>
              <a:t>yes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59736" y="2231136"/>
            <a:ext cx="0" cy="429768"/>
          </a:xfrm>
          <a:prstGeom prst="line">
            <a:avLst/>
          </a:prstGeom>
          <a:ln w="25400">
            <a:solidFill>
              <a:srgbClr val="2A446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596896" y="232257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52B2B"/>
                </a:solidFill>
              </a:rPr>
              <a:t>no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" y="2697480"/>
            <a:ext cx="3749039" cy="731520"/>
          </a:xfrm>
          <a:prstGeom prst="roundRect">
            <a:avLst>
              <a:gd name="adj" fmla="val 12000"/>
            </a:avLst>
          </a:prstGeom>
          <a:solidFill>
            <a:srgbClr val="2A4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Is it one call, maybe with one tool?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697480"/>
            <a:ext cx="5212079" cy="731520"/>
          </a:xfrm>
          <a:prstGeom prst="roundRect">
            <a:avLst>
              <a:gd name="adj" fmla="val 1200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Function call</a:t>
            </a:r>
            <a:r>
              <a:rPr sz="1400" b="0" i="0">
                <a:solidFill>
                  <a:srgbClr val="FFFFFF"/>
                </a:solidFill>
              </a:rPr>
              <a:t> — the Segment 1 tool loop, one or two round trips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379975" y="3063240"/>
            <a:ext cx="603505" cy="0"/>
          </a:xfrm>
          <a:prstGeom prst="line">
            <a:avLst/>
          </a:prstGeom>
          <a:ln w="25400">
            <a:solidFill>
              <a:srgbClr val="2A446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17136" y="271576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A7F5C"/>
                </a:solidFill>
              </a:rPr>
              <a:t>yes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459736" y="3465576"/>
            <a:ext cx="0" cy="429768"/>
          </a:xfrm>
          <a:prstGeom prst="line">
            <a:avLst/>
          </a:prstGeom>
          <a:ln w="25400">
            <a:solidFill>
              <a:srgbClr val="2A446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596896" y="355701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52B2B"/>
                </a:solidFill>
              </a:rPr>
              <a:t>no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5216" y="3931920"/>
            <a:ext cx="3749039" cy="731520"/>
          </a:xfrm>
          <a:prstGeom prst="roundRect">
            <a:avLst>
              <a:gd name="adj" fmla="val 12000"/>
            </a:avLst>
          </a:prstGeom>
          <a:solidFill>
            <a:srgbClr val="2A4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Does it need judgement across many tools?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931920"/>
            <a:ext cx="5212079" cy="731520"/>
          </a:xfrm>
          <a:prstGeom prst="roundRect">
            <a:avLst>
              <a:gd name="adj" fmla="val 12000"/>
            </a:avLst>
          </a:prstGeom>
          <a:solidFill>
            <a:srgbClr val="866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Agent</a:t>
            </a:r>
            <a:r>
              <a:rPr sz="1400" b="0" i="0">
                <a:solidFill>
                  <a:srgbClr val="FFFFFF"/>
                </a:solidFill>
              </a:rPr>
              <a:t> — the model picks the steps; you set budget and permissions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379975" y="4297680"/>
            <a:ext cx="603505" cy="0"/>
          </a:xfrm>
          <a:prstGeom prst="line">
            <a:avLst/>
          </a:prstGeom>
          <a:ln w="25400">
            <a:solidFill>
              <a:srgbClr val="2A446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17136" y="3950207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A7F5C"/>
                </a:solidFill>
              </a:rPr>
              <a:t>yes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" y="4718304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1">
                <a:solidFill>
                  <a:srgbClr val="6B6B6B"/>
                </a:solidFill>
              </a:rPr>
              <a:t>no → a workflow or a single call is enough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" y="5440680"/>
            <a:ext cx="965606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078D4"/>
                </a:solidFill>
              </a:rPr>
              <a:t>The cost line: an agent pays tokens × steps — every step resends the transcript.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Agents you already have: six coding agents on your laptop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0058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8661C5"/>
                </a:solidFill>
              </a:rPr>
              <a:t>SEGMENT 3 · THE WORLD OF AGENTS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58200" y="987552"/>
            <a:ext cx="1783080" cy="237744"/>
          </a:xfrm>
          <a:prstGeom prst="roundRect">
            <a:avLst>
              <a:gd name="adj" fmla="val 50000"/>
            </a:avLst>
          </a:prstGeom>
          <a:solidFill>
            <a:srgbClr val="D6E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1" i="0">
                <a:solidFill>
                  <a:srgbClr val="2A446F"/>
                </a:solidFill>
              </a:rPr>
              <a:t>as of June 2026 (LLM 101)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5216" y="1417320"/>
          <a:ext cx="9656064" cy="3008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697480"/>
                <a:gridCol w="1828800"/>
                <a:gridCol w="2980944"/>
              </a:tblGrid>
              <a:tr h="42976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Agent</a:t>
                      </a:r>
                    </a:p>
                  </a:txBody>
                  <a:tcPr>
                    <a:solidFill>
                      <a:srgbClr val="2A44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Runs in</a:t>
                      </a:r>
                    </a:p>
                  </a:txBody>
                  <a:tcPr>
                    <a:solidFill>
                      <a:srgbClr val="2A44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Models</a:t>
                      </a:r>
                    </a:p>
                  </a:txBody>
                  <a:tcPr>
                    <a:solidFill>
                      <a:srgbClr val="2A44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What stands out</a:t>
                      </a:r>
                    </a:p>
                  </a:txBody>
                  <a:tcPr>
                    <a:solidFill>
                      <a:srgbClr val="2A446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Claude Code · Anthropic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terminal, 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Claude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CLAUDE.md, hooks, sub-agents, plugins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Copilot CLI · GitHub</a:t>
                      </a:r>
                    </a:p>
                  </a:txBody>
                  <a:tcPr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terminal</a:t>
                      </a:r>
                    </a:p>
                  </a:txBody>
                  <a:tcPr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many vendors (/model)</a:t>
                      </a:r>
                    </a:p>
                  </a:txBody>
                  <a:tcPr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AGENTS.md, custom agents, /fleet</a:t>
                      </a:r>
                    </a:p>
                  </a:txBody>
                  <a:tcPr>
                    <a:solidFill>
                      <a:srgbClr val="F3F4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Codex CLI · OpenAI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terminal, VS Code, Cursor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OpenAI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open source; sandbox profiles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Cursor</a:t>
                      </a:r>
                    </a:p>
                  </a:txBody>
                  <a:tcPr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its own IDE</a:t>
                      </a:r>
                    </a:p>
                  </a:txBody>
                  <a:tcPr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many vendors</a:t>
                      </a:r>
                    </a:p>
                  </a:txBody>
                  <a:tcPr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the polished IDE; Bugbot reviews</a:t>
                      </a:r>
                    </a:p>
                  </a:txBody>
                  <a:tcPr>
                    <a:solidFill>
                      <a:srgbClr val="F3F4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Aider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terminal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any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git-first: one commit per change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Cline</a:t>
                      </a:r>
                    </a:p>
                  </a:txBody>
                  <a:tcPr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VS Code, JetBrains, Neovim</a:t>
                      </a:r>
                    </a:p>
                  </a:txBody>
                  <a:tcPr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any</a:t>
                      </a:r>
                    </a:p>
                  </a:txBody>
                  <a:tcPr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model-agnostic, in your editor</a:t>
                      </a:r>
                    </a:p>
                  </a:txBody>
                  <a:tcPr>
                    <a:solidFill>
                      <a:srgbClr val="F3F4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85216" y="4590288"/>
            <a:ext cx="965606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F1F1F"/>
                </a:solidFill>
              </a:rPr>
              <a:t>Try one today:</a:t>
            </a:r>
            <a:r>
              <a:rPr sz="1300" b="0" i="0">
                <a:solidFill>
                  <a:srgbClr val="1F1F1F"/>
                </a:solidFill>
              </a:rPr>
              <a:t> Copilot CLI — every Copilot plan incl. Free (AI credits) · Claude Code — a Claude Pro, Max, Team or Enterprise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5440680"/>
            <a:ext cx="965606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078D4"/>
                </a:solidFill>
              </a:rPr>
              <a:t>Same loop, different harness — your MCP server and SKILL.md plug into most.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6355080"/>
            <a:ext cx="8321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</a:rPr>
              <a:t>Sources: LLM 101 slides 104–115 (June 2026) · GitHub Docs: about Copilot CLI · Claude Help: Claude Code with Pro/Max · agentskills.io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/>
              <a:t>Beyond code: Cowork, computer use and AI browsers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0058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8661C5"/>
                </a:solidFill>
              </a:rPr>
              <a:t>SEGMENT 3 · THE WORLD OF AGENTS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58200" y="987552"/>
            <a:ext cx="1783080" cy="237744"/>
          </a:xfrm>
          <a:prstGeom prst="roundRect">
            <a:avLst>
              <a:gd name="adj" fmla="val 50000"/>
            </a:avLst>
          </a:prstGeom>
          <a:solidFill>
            <a:srgbClr val="D6E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1" i="0">
                <a:solidFill>
                  <a:srgbClr val="2A446F"/>
                </a:solidFill>
              </a:rPr>
              <a:t>as of June 2026 (LLM 101)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5216" y="1417320"/>
            <a:ext cx="3096767" cy="2103120"/>
          </a:xfrm>
          <a:prstGeom prst="roundRect">
            <a:avLst>
              <a:gd name="adj" fmla="val 6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86384" y="1581912"/>
            <a:ext cx="2694431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8661C5"/>
                </a:solidFill>
              </a:rPr>
              <a:t>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039112"/>
            <a:ext cx="2694431" cy="1325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F1F1F"/>
                </a:solidFill>
              </a:rPr>
              <a:t>Claude Cowork · Microsoft Copilot Cowork: the coding agent’s loop in your daily apps.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64864" y="1417320"/>
            <a:ext cx="3096767" cy="2103120"/>
          </a:xfrm>
          <a:prstGeom prst="roundRect">
            <a:avLst>
              <a:gd name="adj" fmla="val 6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066031" y="1581912"/>
            <a:ext cx="2694431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078D4"/>
                </a:solidFill>
              </a:rPr>
              <a:t>COMPUTER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6031" y="2039112"/>
            <a:ext cx="2694431" cy="1325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F1F1F"/>
                </a:solidFill>
              </a:rPr>
              <a:t>Screenshot → click or type → new screenshot: the same loop, pixels as the tool.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44511" y="1417320"/>
            <a:ext cx="3096767" cy="2103120"/>
          </a:xfrm>
          <a:prstGeom prst="roundRect">
            <a:avLst>
              <a:gd name="adj" fmla="val 6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345680" y="1581912"/>
            <a:ext cx="2694431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08B8B"/>
                </a:solidFill>
              </a:rPr>
              <a:t>AI BROWSERS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45680" y="2039112"/>
            <a:ext cx="2694431" cy="1325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F1F1F"/>
                </a:solidFill>
              </a:rPr>
              <a:t>Claude in Chrome · ChatGPT Atlas · Perplexity Comet · Dia · Brave Leo: no shell, but every page is untrusted.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" y="3749039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52B2B"/>
                </a:solidFill>
              </a:rPr>
              <a:t>WHAT THEY CAN’T DO YET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" y="4041648"/>
            <a:ext cx="3096767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5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 i="0">
                <a:solidFill>
                  <a:srgbClr val="1F1F1F"/>
                </a:solidFill>
              </a:rPr>
              <a:t>be fast</a:t>
            </a:r>
            <a:r>
              <a:rPr sz="1300" b="0" i="0">
                <a:solidFill>
                  <a:srgbClr val="1F1F1F"/>
                </a:solidFill>
              </a:rPr>
              <a:t> — seconds per step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64864" y="4041648"/>
            <a:ext cx="3096767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5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 i="0">
                <a:solidFill>
                  <a:srgbClr val="1F1F1F"/>
                </a:solidFill>
              </a:rPr>
              <a:t>trust what they read</a:t>
            </a:r>
            <a:r>
              <a:rPr sz="1300" b="0" i="0">
                <a:solidFill>
                  <a:srgbClr val="1F1F1F"/>
                </a:solidFill>
              </a:rPr>
              <a:t> — pages inject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44511" y="4041648"/>
            <a:ext cx="3096767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5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 i="0">
                <a:solidFill>
                  <a:srgbClr val="1F1F1F"/>
                </a:solidFill>
              </a:rPr>
              <a:t>act alone</a:t>
            </a:r>
            <a:r>
              <a:rPr sz="1300" b="0" i="0">
                <a:solidFill>
                  <a:srgbClr val="1F1F1F"/>
                </a:solidFill>
              </a:rPr>
              <a:t> — payments ask you first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" y="5440680"/>
            <a:ext cx="965606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078D4"/>
                </a:solidFill>
              </a:rPr>
              <a:t>When there is no API, the screen becomes the tool.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" y="6355080"/>
            <a:ext cx="8321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</a:rPr>
              <a:t>Sources: LLM 101 slides 106, 122–123 (June 2026) · Foundry Agent Service overview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Demo: Copilot CLI and Claude Code doing the same task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0058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8661C5"/>
                </a:solidFill>
              </a:rPr>
              <a:t>DEMO · SEGMENT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" y="137160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866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828800"/>
            <a:ext cx="3931920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2A446F"/>
                </a:solidFill>
              </a:rPr>
              <a:t>Two agents you already have, your Segment 2 MCP server and SKILL.md, one question.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4343400"/>
            <a:ext cx="3931920" cy="27432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Isosceles Triangle 6"/>
          <p:cNvSpPr/>
          <p:nvPr/>
        </p:nvSpPr>
        <p:spPr>
          <a:xfrm rot="5400000">
            <a:off x="859536" y="4590288"/>
            <a:ext cx="713232" cy="713232"/>
          </a:xfrm>
          <a:prstGeom prst="triangle">
            <a:avLst/>
          </a:prstGeom>
          <a:solidFill>
            <a:srgbClr val="866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093976" y="4553712"/>
            <a:ext cx="24231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2A446F"/>
                </a:solidFill>
              </a:rPr>
              <a:t>live on the instructor laptop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6B6B6B"/>
                </a:solidFill>
              </a:rPr>
              <a:t>you watch — the lab comes later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800600" y="1417320"/>
            <a:ext cx="27432" cy="43434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029200" y="1417320"/>
            <a:ext cx="512064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1F1F1F"/>
                </a:solidFill>
              </a:rPr>
              <a:t>1. Two terminals, one repo, kestrel-docs MCP in both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1F1F1F"/>
                </a:solidFill>
              </a:rPr>
              <a:t>2. Ask both: “Can I fly a K-2 Sparrow at night at 100 m?”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1F1F1F"/>
                </a:solidFill>
              </a:rPr>
              <a:t>3. The SKILL.md kicks in: search first, chunk ids cited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1F1F1F"/>
                </a:solidFill>
              </a:rPr>
              <a:t>4. Compare plans and approvals: same loop, two harnesses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4069080"/>
            <a:ext cx="5120640" cy="917448"/>
          </a:xfrm>
          <a:prstGeom prst="roundRect">
            <a:avLst>
              <a:gd name="adj" fmla="val 6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230368" y="4233672"/>
            <a:ext cx="471830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52B2B"/>
                </a:solidFill>
              </a:rPr>
              <a:t>IF IT BREAKS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0368" y="4690872"/>
            <a:ext cx="47183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F1F1F"/>
                </a:solidFill>
              </a:rPr>
              <a:t>Recorded terminal runs of both agents (demos/S3-D4/fallback/)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" y="6355080"/>
            <a:ext cx="8321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</a:rPr>
              <a:t>Sources: GitHub Docs: about Copilot CLI · Lab 2 eval (labs/02-rag-mcp)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Cloud agents and personal runtimes: the runtime is the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0058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8661C5"/>
                </a:solidFill>
              </a:rPr>
              <a:t>SEGMENT 3 · THE WORLD OF AGENTS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58200" y="987552"/>
            <a:ext cx="1783080" cy="237744"/>
          </a:xfrm>
          <a:prstGeom prst="roundRect">
            <a:avLst>
              <a:gd name="adj" fmla="val 50000"/>
            </a:avLst>
          </a:prstGeom>
          <a:solidFill>
            <a:srgbClr val="D6E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1" i="0">
                <a:solidFill>
                  <a:srgbClr val="2A446F"/>
                </a:solidFill>
              </a:rPr>
              <a:t>as of June 2026 (LLM 101)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5216" y="1417320"/>
            <a:ext cx="3096767" cy="2743200"/>
          </a:xfrm>
          <a:prstGeom prst="roundRect">
            <a:avLst>
              <a:gd name="adj" fmla="val 6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86384" y="1581912"/>
            <a:ext cx="2694431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078D4"/>
                </a:solidFill>
              </a:rPr>
              <a:t>ON YOUR LAPTOP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039112"/>
            <a:ext cx="2694431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1F1F"/>
                </a:solidFill>
              </a:rPr>
              <a:t>Claude Code · Copilot CLI · Aider · Goose
You watch it; it uses your files and keys.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64864" y="1417320"/>
            <a:ext cx="3096767" cy="2743200"/>
          </a:xfrm>
          <a:prstGeom prst="roundRect">
            <a:avLst>
              <a:gd name="adj" fmla="val 6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066031" y="1581912"/>
            <a:ext cx="2694431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8661C5"/>
                </a:solidFill>
              </a:rPr>
              <a:t>ON YOUR SERVER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6031" y="2039112"/>
            <a:ext cx="2694431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1F1F"/>
                </a:solidFill>
              </a:rPr>
              <a:t>OpenClaw · Hermes Agent · Letta
Always on, remembers, answers in your messengers.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44511" y="1417320"/>
            <a:ext cx="3096767" cy="2743200"/>
          </a:xfrm>
          <a:prstGeom prst="roundRect">
            <a:avLst>
              <a:gd name="adj" fmla="val 6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345680" y="1581912"/>
            <a:ext cx="2694431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08B8B"/>
                </a:solidFill>
              </a:rPr>
              <a:t>IN THE VENDOR’S CLOUD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45680" y="2039112"/>
            <a:ext cx="2694431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1F1F"/>
                </a:solidFill>
              </a:rPr>
              <a:t>Devin · Codex Web · Copilot cloud agent · Jules · OpenHands
Give it a goal, come back to a pull request.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68096" y="4526280"/>
            <a:ext cx="9290304" cy="0"/>
          </a:xfrm>
          <a:prstGeom prst="line">
            <a:avLst/>
          </a:prstGeom>
          <a:ln w="254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68096" y="461772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1">
                <a:solidFill>
                  <a:srgbClr val="6B6B6B"/>
                </a:solidFill>
              </a:rPr>
              <a:t>you watch every step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599" y="461772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1">
                <a:solidFill>
                  <a:srgbClr val="6B6B6B"/>
                </a:solidFill>
              </a:rPr>
              <a:t>you review the 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" y="5440680"/>
            <a:ext cx="965606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078D4"/>
                </a:solidFill>
              </a:rPr>
              <a:t>The runtime is the product — the model inside is swappable in almost all of them.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" y="6355080"/>
            <a:ext cx="8321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</a:rPr>
              <a:t>Sources: LLM 101 slides 104–115 (June 2026) · agentskills.io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A simple agent in Microsoft Agent Framework — 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0058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8661C5"/>
                </a:solidFill>
              </a:rPr>
              <a:t>SEGMENT 3 · THE WORLD OF AGENTS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" y="1325880"/>
            <a:ext cx="9656063" cy="1085087"/>
          </a:xfrm>
          <a:prstGeom prst="roundRect">
            <a:avLst>
              <a:gd name="adj" fmla="val 3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052559" y="1408176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FFB900"/>
                </a:solidFill>
                <a:latin typeface="Consolas"/>
              </a:rPr>
              <a:t>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1408176"/>
            <a:ext cx="810158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9AA6C2"/>
                </a:solidFill>
                <a:latin typeface="Consolas"/>
              </a:rPr>
              <a:t>lab3_common.py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691640"/>
            <a:ext cx="9473184" cy="646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HEADERS = {"api-key": KEY} if os.getenv("GENAI_KEY_HEADER", "api-key") == "api-key" else None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def chat_client(model: str | None = None) -&gt; OpenAIChatCompletionClient: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    return OpenAIChatCompletionClient(model=model or os.environ["GENAI_MODEL"], api_key=KEY,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                                      base_url=os.environ["GENAI_BASE_URL"], default_headers=HEADERS)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2484120"/>
            <a:ext cx="9656063" cy="2761488"/>
          </a:xfrm>
          <a:prstGeom prst="roundRect">
            <a:avLst>
              <a:gd name="adj" fmla="val 3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052559" y="2566416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FFB900"/>
                </a:solidFill>
                <a:latin typeface="Consolas"/>
              </a:rPr>
              <a:t>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566416"/>
            <a:ext cx="810158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9AA6C2"/>
                </a:solidFill>
                <a:latin typeface="Consolas"/>
              </a:rPr>
              <a:t>01_agent.py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2849880"/>
            <a:ext cx="9473184" cy="2322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from agent_framework import Agent, tool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@tool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def get_weather(city: str) -&gt; str: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    """Current weather for a city (temperature in Celsius and sky)."""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    temp, sky = FAKE_WEATHER.get(city.lower(), (20, "unknown"))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    return json.dumps({"city": city, "temp_c": temp, "sky": sky})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agent = Agent(client=chat_client(), name="WeatherAgent", default_options=OPTIONS,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              instructions="You are a travel assistant. Use the tools for facts; answer in one or two sentences.",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              tools=[get_weather, to_fahrenheit])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session = agent.create_session()</a:t>
            </a:r>
            <a:r>
              <a:rPr sz="1000" b="0">
                <a:solidFill>
                  <a:srgbClr val="8FA1B7"/>
                </a:solidFill>
                <a:latin typeface="Consolas"/>
              </a:rPr>
              <a:t>                      # the conversation memory lives here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for question in ["What's the weather in Mannheim?", "And what is that in Fahrenheit?", "Which city did I ask about?"]: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    response = await agent.run(question, session=session)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    print(f"&gt; {question}\n  {response.text.strip()}")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5440680"/>
            <a:ext cx="965606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078D4"/>
                </a:solidFill>
              </a:rPr>
              <a:t>OpenAIChatCompletionClient: every endpoint today · OpenAIChatClient: Responses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6355080"/>
            <a:ext cx="8321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</a:rPr>
              <a:t>Sources: Lab 3 (labs/03-agents, tested 2026-09-22/23) · Snippet verification 2026-09-22 · MAF Python 2026 changes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The same agent in C# — Microsoft.Agents.AI on IChatClient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0058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8661C5"/>
                </a:solidFill>
              </a:rPr>
              <a:t>SEGMENT 3 · THE WORLD OF AGENTS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" y="1325880"/>
            <a:ext cx="9656063" cy="932688"/>
          </a:xfrm>
          <a:prstGeom prst="roundRect">
            <a:avLst>
              <a:gd name="adj" fmla="val 3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052559" y="1408176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FFB900"/>
                </a:solidFill>
                <a:latin typeface="Consolas"/>
              </a:rPr>
              <a:t>C#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1408176"/>
            <a:ext cx="810158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9AA6C2"/>
                </a:solidFill>
                <a:latin typeface="Consolas"/>
              </a:rPr>
              <a:t>01_agent.cs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691640"/>
            <a:ext cx="9473184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var clientOptions = new OpenAIClientOptions { Endpoint = new Uri(Env("GENAI_BASE_URL")) };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if ((Environment.GetEnvironmentVariable("GENAI_KEY_HEADER") ?? "api-key") == "api-key")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    clientOptions.AddPolicy(new HeaderPolicy("api-key", key), PipelinePosition.PerCall);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2350008"/>
            <a:ext cx="9656063" cy="2456688"/>
          </a:xfrm>
          <a:prstGeom prst="roundRect">
            <a:avLst>
              <a:gd name="adj" fmla="val 3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052559" y="2432303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FFB900"/>
                </a:solidFill>
                <a:latin typeface="Consolas"/>
              </a:rPr>
              <a:t>C#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432303"/>
            <a:ext cx="810158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9AA6C2"/>
                </a:solidFill>
                <a:latin typeface="Consolas"/>
              </a:rPr>
              <a:t>01_agent.cs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2715768"/>
            <a:ext cx="9473184" cy="2017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[Description("Convert Celsius to Fahrenheit.")]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object ToFahrenheit(double celsius) =&gt; new { fahrenheit = Math.Round(celsius * 9 / 5 + 32, 1) };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AIAgent agent = chatClient.AsAIAgent(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    name: "WeatherAgent",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    instructions: "You are a travel assistant. Use the tools for facts; answer in one or two sentences.",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    tools: [AIFunctionFactory.Create(GetWeather, "get_weather"), AIFunctionFactory.Create(ToFahrenheit, "to_fahrenheit")]);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AgentSession session = await agent.CreateSessionAsync();</a:t>
            </a:r>
            <a:r>
              <a:rPr sz="1000" b="0">
                <a:solidFill>
                  <a:srgbClr val="8FA1B7"/>
                </a:solidFill>
                <a:latin typeface="Consolas"/>
              </a:rPr>
              <a:t>       // the conversation memory lives here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foreach (string question in questions)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{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    AgentResponse response = await agent.RunAsync(question, session);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    Console.WriteLine($"&gt; {question}\n  {response.Text.Trim()}");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5440680"/>
            <a:ext cx="965606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078D4"/>
                </a:solidFill>
              </a:rPr>
              <a:t>IChatClient (Microsoft.Extensions.AI) is the abstraction — MAF adds the agent on top.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6355080"/>
            <a:ext cx="8321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</a:rPr>
              <a:t>Sources: Lab 3 (labs/03-agents, tested 2026-09-22/23) · Snippet verification 2026-09-22 · Framework landscape 2026-09-19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Same task in LangChain 1.x: create_agent is a LangGraph graph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0058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8661C5"/>
                </a:solidFill>
              </a:rPr>
              <a:t>SEGMENT 3 · THE WORLD OF AGENTS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" y="1325880"/>
            <a:ext cx="6766560" cy="2913888"/>
          </a:xfrm>
          <a:prstGeom prst="roundRect">
            <a:avLst>
              <a:gd name="adj" fmla="val 3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163056" y="1408176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FFB900"/>
                </a:solidFill>
                <a:latin typeface="Consolas"/>
              </a:rPr>
              <a:t>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1408176"/>
            <a:ext cx="5212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9AA6C2"/>
                </a:solidFill>
                <a:latin typeface="Consolas"/>
              </a:rPr>
              <a:t>v3_langchain_agent.py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691640"/>
            <a:ext cx="6583680" cy="2474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from langchain.agents import create_agent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from langchain_openai import ChatOpenAI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from langchain_core.tools import tool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llm = ChatOpenAI(model=MODEL, base_url=BASE, api_key=KEY, default_headers=headers)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@tool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def get_weather(city: str) -&gt; str: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    """Get the current weather for a city."""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    return json.dumps({"city": city, "temp_c": 27, "sky": "sunny"})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agent = create_agent(model=llm, tools=[get_weather], system_prompt="Answer briefly.")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out = agent.invoke({"messages": [{"role": "user", "content": "Weather in Paris?"}]})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msgs = out["messages"]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print("turns:", len(msgs), "| types:", [type(m).__name__ for m in msgs])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print("FINAL:", msgs[-1].content)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37160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8661C5"/>
                </a:solidFill>
              </a:rPr>
              <a:t>invoke() RETURNS THE TRANSCRIPT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737360"/>
            <a:ext cx="2651760" cy="566928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2A446F"/>
                </a:solidFill>
              </a:rPr>
              <a:t>HumanMessage</a:t>
            </a:r>
          </a:p>
          <a:p>
            <a:pPr algn="ctr"/>
            <a:r>
              <a:rPr sz="1200" b="0" i="0">
                <a:solidFill>
                  <a:srgbClr val="2A446F"/>
                </a:solidFill>
              </a:rPr>
              <a:t>“Weather in Paris?”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823960" y="2322576"/>
            <a:ext cx="0" cy="128015"/>
          </a:xfrm>
          <a:prstGeom prst="line">
            <a:avLst/>
          </a:prstGeom>
          <a:ln w="22225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498079" y="2468880"/>
            <a:ext cx="2651760" cy="566928"/>
          </a:xfrm>
          <a:prstGeom prst="roundRect">
            <a:avLst>
              <a:gd name="adj" fmla="val 12000"/>
            </a:avLst>
          </a:prstGeom>
          <a:solidFill>
            <a:srgbClr val="866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AIMessage</a:t>
            </a:r>
          </a:p>
          <a:p>
            <a:pPr algn="ctr"/>
            <a:r>
              <a:rPr sz="1200" b="0" i="0">
                <a:solidFill>
                  <a:srgbClr val="FFFFFF"/>
                </a:solidFill>
              </a:rPr>
              <a:t>tool_calls: get_weather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823960" y="3054096"/>
            <a:ext cx="0" cy="128016"/>
          </a:xfrm>
          <a:prstGeom prst="line">
            <a:avLst/>
          </a:prstGeom>
          <a:ln w="22225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498079" y="3200400"/>
            <a:ext cx="2651760" cy="566928"/>
          </a:xfrm>
          <a:prstGeom prst="roundRect">
            <a:avLst>
              <a:gd name="adj" fmla="val 12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1F1F1F"/>
                </a:solidFill>
              </a:rPr>
              <a:t>ToolMessage</a:t>
            </a:r>
          </a:p>
          <a:p>
            <a:pPr algn="ctr"/>
            <a:r>
              <a:rPr sz="1200" b="0" i="0">
                <a:solidFill>
                  <a:srgbClr val="1F1F1F"/>
                </a:solidFill>
              </a:rPr>
              <a:t>{"temp_c": 27, …}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823960" y="3785615"/>
            <a:ext cx="0" cy="128017"/>
          </a:xfrm>
          <a:prstGeom prst="line">
            <a:avLst/>
          </a:prstGeom>
          <a:ln w="22225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498079" y="3931920"/>
            <a:ext cx="2651760" cy="566928"/>
          </a:xfrm>
          <a:prstGeom prst="roundRect">
            <a:avLst>
              <a:gd name="adj" fmla="val 1200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AIMessage</a:t>
            </a:r>
          </a:p>
          <a:p>
            <a:pPr algn="ctr"/>
            <a:r>
              <a:rPr sz="1200" b="0" i="0">
                <a:solidFill>
                  <a:srgbClr val="FFFFFF"/>
                </a:solidFill>
              </a:rPr>
              <a:t>the final answer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" y="4526280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1F1F"/>
                </a:solidFill>
              </a:rPr>
              <a:t>It’s a graph:</a:t>
            </a:r>
            <a:r>
              <a:rPr sz="1400" b="0" i="0">
                <a:solidFill>
                  <a:srgbClr val="1F1F1F"/>
                </a:solidFill>
              </a:rPr>
              <a:t> create_agent(…, checkpointer=InMemorySaver()) adds memory per thread_id and pause/resume for human approval.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" y="5440680"/>
            <a:ext cx="965606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078D4"/>
                </a:solidFill>
              </a:rPr>
              <a:t>Same loop, third framework: the transcript is Human → AI(tool_calls) → Tool → AI.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" y="6355080"/>
            <a:ext cx="8321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</a:rPr>
              <a:t>Sources: Snippet verification 2026-09-22 · LangChain v1 release notes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Four more agent SDKs — one row each, not one slide each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0058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8661C5"/>
                </a:solidFill>
              </a:rPr>
              <a:t>SEGMENT 3 · THE WORLD OF AGENTS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8435" y="987552"/>
            <a:ext cx="1272844" cy="237744"/>
          </a:xfrm>
          <a:prstGeom prst="roundRect">
            <a:avLst>
              <a:gd name="adj" fmla="val 50000"/>
            </a:avLst>
          </a:prstGeom>
          <a:solidFill>
            <a:srgbClr val="D6E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1" i="0">
                <a:solidFill>
                  <a:srgbClr val="2A446F"/>
                </a:solidFill>
              </a:rPr>
              <a:t>as of 2026-09-22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5216" y="1417320"/>
          <a:ext cx="9656064" cy="3118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063240"/>
                <a:gridCol w="2057400"/>
                <a:gridCol w="1152144"/>
                <a:gridCol w="1554480"/>
              </a:tblGrid>
              <a:tr h="4114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SDK</a:t>
                      </a:r>
                    </a:p>
                  </a:txBody>
                  <a:tcPr>
                    <a:solidFill>
                      <a:srgbClr val="2A44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The agent in one line</a:t>
                      </a:r>
                    </a:p>
                  </a:txBody>
                  <a:tcPr>
                    <a:solidFill>
                      <a:srgbClr val="2A44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Tools</a:t>
                      </a:r>
                    </a:p>
                  </a:txBody>
                  <a:tcPr>
                    <a:solidFill>
                      <a:srgbClr val="2A44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MCP</a:t>
                      </a:r>
                    </a:p>
                  </a:txBody>
                  <a:tcPr>
                    <a:solidFill>
                      <a:srgbClr val="2A44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Languages</a:t>
                      </a:r>
                    </a:p>
                  </a:txBody>
                  <a:tcPr>
                    <a:solidFill>
                      <a:srgbClr val="2A446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PydanticAI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Agent(model, instructions=…) → run_sync() → typed .output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@agent.tool_plain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Python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OpenAI Agents SDK</a:t>
                      </a:r>
                    </a:p>
                  </a:txBody>
                  <a:tcPr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agents with explicit handoffs; a harness with sandboxes</a:t>
                      </a:r>
                    </a:p>
                  </a:txBody>
                  <a:tcPr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files, shell/patch, skills</a:t>
                      </a:r>
                    </a:p>
                  </a:txBody>
                  <a:tcPr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Python, TS</a:t>
                      </a:r>
                    </a:p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(harness: Python)</a:t>
                      </a:r>
                    </a:p>
                  </a:txBody>
                  <a:tcPr>
                    <a:solidFill>
                      <a:srgbClr val="F3F4F8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Claude Agent SDK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Claude Code’s loop as a library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built-in tools, hooks, sub-agents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Python, 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Vercel AI SDK 7</a:t>
                      </a:r>
                    </a:p>
                  </a:txBody>
                  <a:tcPr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new ToolLoopAgent({ …, stopWhen: isStepCount(n) })</a:t>
                      </a:r>
                    </a:p>
                  </a:txBody>
                  <a:tcPr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tool({ inputSchema, execute })</a:t>
                      </a:r>
                    </a:p>
                  </a:txBody>
                  <a:tcPr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@ai-sdk/mcp</a:t>
                      </a:r>
                    </a:p>
                  </a:txBody>
                  <a:tcPr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TypeScript</a:t>
                      </a:r>
                    </a:p>
                  </a:txBody>
                  <a:tcPr>
                    <a:solidFill>
                      <a:srgbClr val="F3F4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85216" y="4681728"/>
            <a:ext cx="965606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</a:rPr>
              <a:t>No Agent Framework for TypeScript: the TS track uses AI SDK 7.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5440680"/>
            <a:ext cx="965606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078D4"/>
                </a:solidFill>
              </a:rPr>
              <a:t>Same ideas in every SDK: a loop, tools, typed output, MCP. Pick by language and taste.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6355080"/>
            <a:ext cx="8321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</a:rPr>
              <a:t>Sources: Snippet verification 2026-09-22 · Framework landscape 2026-09-19 · OpenAI Agents SDK harness (2026-04-15) · Pydantic AI docs: MCP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Agents on non-OpenAI models: swap the deployment 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0058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8661C5"/>
                </a:solidFill>
              </a:rPr>
              <a:t>SEGMENT 3 · THE WORLD OF AGENTS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" y="2148840"/>
            <a:ext cx="2148840" cy="1188720"/>
          </a:xfrm>
          <a:prstGeom prst="roundRect">
            <a:avLst>
              <a:gd name="adj" fmla="val 12000"/>
            </a:avLst>
          </a:prstGeom>
          <a:solidFill>
            <a:srgbClr val="866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the Lab 3 agent</a:t>
            </a:r>
          </a:p>
          <a:p>
            <a:pPr algn="ctr"/>
            <a:r>
              <a:rPr sz="1300" b="0" i="0">
                <a:solidFill>
                  <a:srgbClr val="FFFFFF"/>
                </a:solidFill>
              </a:rPr>
              <a:t>same code,</a:t>
            </a:r>
          </a:p>
          <a:p>
            <a:pPr algn="ctr"/>
            <a:r>
              <a:rPr sz="1300" b="0" i="0">
                <a:solidFill>
                  <a:srgbClr val="FFFFFF"/>
                </a:solidFill>
              </a:rPr>
              <a:t>same tools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1417320"/>
            <a:ext cx="2926080" cy="457200"/>
          </a:xfrm>
          <a:prstGeom prst="roundRect">
            <a:avLst>
              <a:gd name="adj" fmla="val 1200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gpt-5-mini</a:t>
            </a:r>
            <a:r>
              <a:rPr sz="1200" b="0" i="0">
                <a:solidFill>
                  <a:srgbClr val="FFFFFF"/>
                </a:solidFill>
              </a:rPr>
              <a:t> · Foundry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2779776" y="1645920"/>
            <a:ext cx="512064" cy="1097280"/>
          </a:xfrm>
          <a:prstGeom prst="line">
            <a:avLst/>
          </a:prstGeom>
          <a:ln w="15875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337560" y="1965960"/>
            <a:ext cx="2926080" cy="457200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200" b="1" i="0">
                <a:solidFill>
                  <a:srgbClr val="2A446F"/>
                </a:solidFill>
              </a:rPr>
              <a:t>DeepSeek-V3.2</a:t>
            </a:r>
            <a:r>
              <a:rPr sz="1200" b="0" i="0">
                <a:solidFill>
                  <a:srgbClr val="2A446F"/>
                </a:solidFill>
              </a:rPr>
              <a:t> · Foundry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779776" y="2194560"/>
            <a:ext cx="512064" cy="548640"/>
          </a:xfrm>
          <a:prstGeom prst="line">
            <a:avLst/>
          </a:prstGeom>
          <a:ln w="15875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337560" y="2514600"/>
            <a:ext cx="2926080" cy="457200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200" b="1" i="0">
                <a:solidFill>
                  <a:srgbClr val="2A446F"/>
                </a:solidFill>
              </a:rPr>
              <a:t>Kimi-K2.6</a:t>
            </a:r>
            <a:r>
              <a:rPr sz="1200" b="0" i="0">
                <a:solidFill>
                  <a:srgbClr val="2A446F"/>
                </a:solidFill>
              </a:rPr>
              <a:t> · Foundry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79776" y="2743200"/>
            <a:ext cx="512064" cy="0"/>
          </a:xfrm>
          <a:prstGeom prst="line">
            <a:avLst/>
          </a:prstGeom>
          <a:ln w="15875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337560" y="3063239"/>
            <a:ext cx="2926080" cy="457200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200" b="1" i="0">
                <a:solidFill>
                  <a:srgbClr val="2A446F"/>
                </a:solidFill>
              </a:rPr>
              <a:t>grok-4.1-fast</a:t>
            </a:r>
            <a:r>
              <a:rPr sz="1200" b="0" i="0">
                <a:solidFill>
                  <a:srgbClr val="2A446F"/>
                </a:solidFill>
              </a:rPr>
              <a:t> · Foundry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79776" y="2743200"/>
            <a:ext cx="512064" cy="548639"/>
          </a:xfrm>
          <a:prstGeom prst="line">
            <a:avLst/>
          </a:prstGeom>
          <a:ln w="15875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337560" y="3611880"/>
            <a:ext cx="2926080" cy="457200"/>
          </a:xfrm>
          <a:prstGeom prst="roundRect">
            <a:avLst>
              <a:gd name="adj" fmla="val 12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200" b="1" i="0">
                <a:solidFill>
                  <a:srgbClr val="1F1F1F"/>
                </a:solidFill>
              </a:rPr>
              <a:t>qwen3.5:4b</a:t>
            </a:r>
            <a:r>
              <a:rPr sz="1200" b="0" i="0">
                <a:solidFill>
                  <a:srgbClr val="1F1F1F"/>
                </a:solidFill>
              </a:rPr>
              <a:t> · Ollama, your laptop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79776" y="2743200"/>
            <a:ext cx="512064" cy="1097280"/>
          </a:xfrm>
          <a:prstGeom prst="line">
            <a:avLst/>
          </a:prstGeom>
          <a:ln w="15875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85216" y="4279392"/>
            <a:ext cx="5678424" cy="810768"/>
          </a:xfrm>
          <a:prstGeom prst="roundRect">
            <a:avLst>
              <a:gd name="adj" fmla="val 3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074920" y="4361688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FFB900"/>
                </a:solidFill>
                <a:latin typeface="Consolas"/>
              </a:rPr>
              <a:t>ENV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4361688"/>
            <a:ext cx="412394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9AA6C2"/>
                </a:solidFill>
                <a:latin typeface="Consolas"/>
              </a:rPr>
              <a:t>labs/.env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" y="4645152"/>
            <a:ext cx="5495544" cy="371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E8EEF7"/>
                </a:solidFill>
                <a:latin typeface="Consolas"/>
              </a:rPr>
              <a:t>GENAI_MODEL=gpt-5-mini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E8EEF7"/>
                </a:solidFill>
                <a:latin typeface="Consolas"/>
              </a:rPr>
              <a:t>GENAI_MODEL_2=DeepSeek-V3.2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29400" y="1417320"/>
            <a:ext cx="3520440" cy="3672840"/>
          </a:xfrm>
          <a:prstGeom prst="roundRect">
            <a:avLst>
              <a:gd name="adj" fmla="val 6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830568" y="1581912"/>
            <a:ext cx="311810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52B2B"/>
                </a:solidFill>
              </a:rPr>
              <a:t>WHAT SMALL MODELS DID IN OUR RUNS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2039112"/>
            <a:ext cx="3118104" cy="289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56032">
              <a:spcAft>
                <a:spcPts val="1400"/>
              </a:spcAft>
              <a:buClr>
                <a:srgbClr val="0078D4"/>
              </a:buClr>
              <a:buChar char="•"/>
            </a:pPr>
            <a:r>
              <a:rPr sz="1600" b="0" i="0">
                <a:solidFill>
                  <a:srgbClr val="1F1F1F"/>
                </a:solidFill>
              </a:rPr>
              <a:t>asked for two tools at once — and invented the second argument</a:t>
            </a:r>
          </a:p>
          <a:p>
            <a:pPr algn="l" marL="256032" indent="-256032">
              <a:spcAft>
                <a:spcPts val="1400"/>
              </a:spcAft>
              <a:buClr>
                <a:srgbClr val="0078D4"/>
              </a:buClr>
              <a:buChar char="•"/>
            </a:pPr>
            <a:r>
              <a:rPr sz="1600" b="0" i="0">
                <a:solidFill>
                  <a:srgbClr val="1F1F1F"/>
                </a:solidFill>
              </a:rPr>
              <a:t>read “HH:MM” in a schema field description as a suggestion</a:t>
            </a:r>
          </a:p>
          <a:p>
            <a:pPr algn="l" marL="256032" indent="-256032">
              <a:spcAft>
                <a:spcPts val="1400"/>
              </a:spcAft>
              <a:buClr>
                <a:srgbClr val="0078D4"/>
              </a:buClr>
              <a:buChar char="•"/>
            </a:pPr>
            <a:r>
              <a:rPr sz="1600" b="0" i="0">
                <a:solidFill>
                  <a:srgbClr val="1F1F1F"/>
                </a:solidFill>
              </a:rPr>
              <a:t>said “yes” — then quoted the limit that says no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" y="5440680"/>
            <a:ext cx="965606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078D4"/>
                </a:solidFill>
              </a:rPr>
              <a:t>Compare brains on your task: which models call the tool, and which ones guess?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" y="6355080"/>
            <a:ext cx="8321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</a:rPr>
              <a:t>Sources: Model catalog §10 (checked 2026-09-21) · Foundry provisioning plan §2–3 · Snippet verification 2026-09-22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/>
              <a:t>MCP is how the agent gets the Segment 2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0058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8661C5"/>
                </a:solidFill>
              </a:rPr>
              <a:t>SEGMENT 3 · THE WORLD OF AGENTS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" y="1325880"/>
            <a:ext cx="9656063" cy="1847088"/>
          </a:xfrm>
          <a:prstGeom prst="roundRect">
            <a:avLst>
              <a:gd name="adj" fmla="val 3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052559" y="1408176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FFB900"/>
                </a:solidFill>
                <a:latin typeface="Consolas"/>
              </a:rPr>
              <a:t>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1408176"/>
            <a:ext cx="810158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9AA6C2"/>
                </a:solidFill>
                <a:latin typeface="Consolas"/>
              </a:rPr>
              <a:t>lab3_common.py + 02_agent_with_mcp.py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691640"/>
            <a:ext cx="9473184" cy="1408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return MCPStdioTool(name="kestrel_docs", command=sys.executable, args=[str(LAB2_SERVER)],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                    env=dict(os.environ),</a:t>
            </a:r>
            <a:r>
              <a:rPr sz="1000" b="0">
                <a:solidFill>
                  <a:srgbClr val="8FA1B7"/>
                </a:solidFill>
                <a:latin typeface="Consolas"/>
              </a:rPr>
              <a:t>      # stdio children get a minimal environment otherwise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                    load_prompts=False)</a:t>
            </a:r>
            <a:r>
              <a:rPr sz="1000" b="0">
                <a:solidFill>
                  <a:srgbClr val="8FA1B7"/>
                </a:solidFill>
                <a:latin typeface="Consolas"/>
              </a:rPr>
              <a:t>        # only the tools, not the server's prompt templates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async with kestrel_docs_tool() as docs:</a:t>
            </a:r>
            <a:r>
              <a:rPr sz="1000" b="0">
                <a:solidFill>
                  <a:srgbClr val="8FA1B7"/>
                </a:solidFill>
                <a:latin typeface="Consolas"/>
              </a:rPr>
              <a:t>               # starts 04_mcp_server.py, lists its tools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    agent = Agent(client=chat_client(), name="KestrelSupport", tools=[docs], default_options=OPTIONS,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                  instructions="You answer questions about Kestrel Drone Logistics. Always call search_docs "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                               "first and cite the chunk ids you used, like (kestrel_operations_handbook#2). "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                               "If the documents do not answer the question, say so.")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3264408"/>
            <a:ext cx="9656063" cy="1237488"/>
          </a:xfrm>
          <a:prstGeom prst="roundRect">
            <a:avLst>
              <a:gd name="adj" fmla="val 3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052559" y="3346703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FFB900"/>
                </a:solidFill>
                <a:latin typeface="Consolas"/>
              </a:rPr>
              <a:t>C#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3346703"/>
            <a:ext cx="810158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9AA6C2"/>
                </a:solidFill>
                <a:latin typeface="Consolas"/>
              </a:rPr>
              <a:t>02_agent_with_mcp.cs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3630168"/>
            <a:ext cx="9473184" cy="798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await using McpClient docs = await McpClient.CreateAsync(new StdioClientTransport(new StdioClientTransportOptions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{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    Name = "kestrel_docs", Command = "dotnet", Arguments = ["run", "--file", server, "--no-build"],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}));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IList&lt;McpClientTool&gt; docsTools = await docs.ListToolsAsync();</a:t>
            </a:r>
            <a:r>
              <a:rPr sz="1000" b="0">
                <a:solidFill>
                  <a:srgbClr val="8FA1B7"/>
                </a:solidFill>
                <a:latin typeface="Consolas"/>
              </a:rPr>
              <a:t>   // McpClientTool IS an AIFunction: tools only, no prompts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" y="4611624"/>
            <a:ext cx="1711756" cy="420624"/>
          </a:xfrm>
          <a:prstGeom prst="roundRect">
            <a:avLst>
              <a:gd name="adj" fmla="val 12000"/>
            </a:avLst>
          </a:prstGeom>
          <a:solidFill>
            <a:srgbClr val="866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agent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333548" y="4821936"/>
            <a:ext cx="201168" cy="0"/>
          </a:xfrm>
          <a:prstGeom prst="line">
            <a:avLst/>
          </a:prstGeom>
          <a:ln w="22225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571292" y="4611624"/>
            <a:ext cx="1711756" cy="420624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1F1F1F"/>
                </a:solidFill>
              </a:rPr>
              <a:t>MCP client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319625" y="4821936"/>
            <a:ext cx="201168" cy="0"/>
          </a:xfrm>
          <a:prstGeom prst="line">
            <a:avLst/>
          </a:prstGeom>
          <a:ln w="22225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557369" y="4611624"/>
            <a:ext cx="1711756" cy="420624"/>
          </a:xfrm>
          <a:prstGeom prst="roundRect">
            <a:avLst>
              <a:gd name="adj" fmla="val 12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1F1F1F"/>
                </a:solidFill>
              </a:rPr>
              <a:t>stdio (child process)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305702" y="4821936"/>
            <a:ext cx="201168" cy="0"/>
          </a:xfrm>
          <a:prstGeom prst="line">
            <a:avLst/>
          </a:prstGeom>
          <a:ln w="22225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543446" y="4611624"/>
            <a:ext cx="1711756" cy="420624"/>
          </a:xfrm>
          <a:prstGeom prst="roundRect">
            <a:avLst>
              <a:gd name="adj" fmla="val 12000"/>
            </a:avLst>
          </a:prstGeom>
          <a:solidFill>
            <a:srgbClr val="00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Lab 2 server: search_docs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291779" y="4821936"/>
            <a:ext cx="201168" cy="0"/>
          </a:xfrm>
          <a:prstGeom prst="line">
            <a:avLst/>
          </a:prstGeom>
          <a:ln w="22225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529523" y="4611624"/>
            <a:ext cx="1711756" cy="420624"/>
          </a:xfrm>
          <a:prstGeom prst="roundRect">
            <a:avLst>
              <a:gd name="adj" fmla="val 12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1F1F1F"/>
                </a:solidFill>
              </a:rPr>
              <a:t>build/index.json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" y="5440680"/>
            <a:ext cx="965606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078D4"/>
                </a:solidFill>
              </a:rPr>
              <a:t>No adapter code: the MCP server’s tools become the agent’s tools — in both languages.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" y="6355080"/>
            <a:ext cx="8321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</a:rPr>
              <a:t>Sources: Lab 3 (labs/03-agents, tested 2026-09-22/23) · Snippet verification 2026-09-22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/>
              <a:t>Teams: five orchestration patterns you can 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0058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8661C5"/>
                </a:solidFill>
              </a:rPr>
              <a:t>SEGMENT 3 · THE WORLD OF AGENTS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" y="1371600"/>
            <a:ext cx="1821484" cy="214884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94944" y="1463040"/>
            <a:ext cx="16020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8661C5"/>
                </a:solidFill>
              </a:rPr>
              <a:t>Sequential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" y="2157984"/>
            <a:ext cx="384048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 i="0">
                <a:solidFill>
                  <a:srgbClr val="2A446F"/>
                </a:solidFill>
              </a:rPr>
              <a:t>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03020" y="2157984"/>
            <a:ext cx="384048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 i="0">
                <a:solidFill>
                  <a:srgbClr val="2A446F"/>
                </a:solidFill>
              </a:rPr>
              <a:t>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47088" y="2157984"/>
            <a:ext cx="384048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 i="0">
                <a:solidFill>
                  <a:srgbClr val="2A446F"/>
                </a:solidFill>
              </a:rPr>
              <a:t>C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170432" y="2286000"/>
            <a:ext cx="105156" cy="0"/>
          </a:xfrm>
          <a:prstGeom prst="line">
            <a:avLst/>
          </a:prstGeom>
          <a:ln w="15875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714500" y="2286000"/>
            <a:ext cx="105156" cy="0"/>
          </a:xfrm>
          <a:prstGeom prst="line">
            <a:avLst/>
          </a:prstGeom>
          <a:ln w="15875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94944" y="2834640"/>
            <a:ext cx="16020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1F1F"/>
                </a:solidFill>
              </a:rPr>
              <a:t>fixed order; each sees the transcript so far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43860" y="1371600"/>
            <a:ext cx="1821484" cy="214884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53588" y="1463040"/>
            <a:ext cx="16020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8661C5"/>
                </a:solidFill>
              </a:rPr>
              <a:t>Concurrent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62732" y="2167128"/>
            <a:ext cx="365760" cy="23774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 i="0">
                <a:solidFill>
                  <a:srgbClr val="2A446F"/>
                </a:solidFill>
              </a:rPr>
              <a:t>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70808" y="1819656"/>
            <a:ext cx="365760" cy="23774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 i="0">
                <a:solidFill>
                  <a:srgbClr val="2A446F"/>
                </a:solidFill>
              </a:rPr>
              <a:t>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70808" y="2167128"/>
            <a:ext cx="365760" cy="23774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 i="0">
                <a:solidFill>
                  <a:srgbClr val="2A446F"/>
                </a:solidFill>
              </a:rPr>
              <a:t>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70808" y="2514600"/>
            <a:ext cx="365760" cy="23774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 i="0">
                <a:solidFill>
                  <a:srgbClr val="2A446F"/>
                </a:solidFill>
              </a:rPr>
              <a:t>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78884" y="2167128"/>
            <a:ext cx="365760" cy="237744"/>
          </a:xfrm>
          <a:prstGeom prst="roundRect">
            <a:avLst>
              <a:gd name="adj" fmla="val 20000"/>
            </a:avLst>
          </a:prstGeom>
          <a:solidFill>
            <a:srgbClr val="866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Σ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3055924" y="2058706"/>
            <a:ext cx="187452" cy="107115"/>
          </a:xfrm>
          <a:prstGeom prst="line">
            <a:avLst/>
          </a:prstGeom>
          <a:ln w="127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664000" y="2058706"/>
            <a:ext cx="187452" cy="107115"/>
          </a:xfrm>
          <a:prstGeom prst="line">
            <a:avLst/>
          </a:prstGeom>
          <a:ln w="127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055924" y="2286000"/>
            <a:ext cx="187452" cy="0"/>
          </a:xfrm>
          <a:prstGeom prst="line">
            <a:avLst/>
          </a:prstGeom>
          <a:ln w="127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664000" y="2286000"/>
            <a:ext cx="187452" cy="0"/>
          </a:xfrm>
          <a:prstGeom prst="line">
            <a:avLst/>
          </a:prstGeom>
          <a:ln w="127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055924" y="2406178"/>
            <a:ext cx="187452" cy="107115"/>
          </a:xfrm>
          <a:prstGeom prst="line">
            <a:avLst/>
          </a:prstGeom>
          <a:ln w="127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664000" y="2406178"/>
            <a:ext cx="187452" cy="107115"/>
          </a:xfrm>
          <a:prstGeom prst="line">
            <a:avLst/>
          </a:prstGeom>
          <a:ln w="127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653588" y="2834640"/>
            <a:ext cx="16020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1F1F"/>
                </a:solidFill>
              </a:rPr>
              <a:t>same input in parallel, results merged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02505" y="1371600"/>
            <a:ext cx="1821484" cy="214884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612233" y="1463040"/>
            <a:ext cx="16020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8661C5"/>
                </a:solidFill>
              </a:rPr>
              <a:t>Handoff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21961" y="2157984"/>
            <a:ext cx="384048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 i="0">
                <a:solidFill>
                  <a:srgbClr val="2A446F"/>
                </a:solidFill>
              </a:rPr>
              <a:t>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27801" y="1847088"/>
            <a:ext cx="384048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 i="0">
                <a:solidFill>
                  <a:srgbClr val="2A446F"/>
                </a:solidFill>
              </a:rPr>
              <a:t>B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727801" y="2468879"/>
            <a:ext cx="384048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 i="0">
                <a:solidFill>
                  <a:srgbClr val="2A446F"/>
                </a:solidFill>
              </a:rPr>
              <a:t>C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5133441" y="2042935"/>
            <a:ext cx="566928" cy="175233"/>
          </a:xfrm>
          <a:prstGeom prst="line">
            <a:avLst/>
          </a:prstGeom>
          <a:ln w="15875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133441" y="2353831"/>
            <a:ext cx="566928" cy="175233"/>
          </a:xfrm>
          <a:prstGeom prst="line">
            <a:avLst/>
          </a:prstGeom>
          <a:ln w="15875">
            <a:solidFill>
              <a:srgbClr val="6B6B6B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612233" y="2834640"/>
            <a:ext cx="16020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1F1F"/>
                </a:solidFill>
              </a:rPr>
              <a:t>an agent passes the task to a specialist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61150" y="1371600"/>
            <a:ext cx="1821484" cy="214884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570878" y="1463040"/>
            <a:ext cx="16020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8661C5"/>
                </a:solidFill>
              </a:rPr>
              <a:t>Group chat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78954" y="2176272"/>
            <a:ext cx="384048" cy="256032"/>
          </a:xfrm>
          <a:prstGeom prst="roundRect">
            <a:avLst>
              <a:gd name="adj" fmla="val 20000"/>
            </a:avLst>
          </a:prstGeom>
          <a:solidFill>
            <a:srgbClr val="866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178954" y="1773936"/>
            <a:ext cx="384048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 i="0">
                <a:solidFill>
                  <a:srgbClr val="2A446F"/>
                </a:solidFill>
              </a:rPr>
              <a:t>A</a:t>
            </a:r>
          </a:p>
        </p:txBody>
      </p:sp>
      <p:cxnSp>
        <p:nvCxnSpPr>
          <p:cNvPr id="38" name="Connector 37"/>
          <p:cNvCxnSpPr/>
          <p:nvPr/>
        </p:nvCxnSpPr>
        <p:spPr>
          <a:xfrm flipV="1">
            <a:off x="7370978" y="2057400"/>
            <a:ext cx="0" cy="91440"/>
          </a:xfrm>
          <a:prstGeom prst="line">
            <a:avLst/>
          </a:prstGeom>
          <a:ln w="127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6630314" y="2432303"/>
            <a:ext cx="384048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 i="0">
                <a:solidFill>
                  <a:srgbClr val="2A446F"/>
                </a:solidFill>
              </a:rPr>
              <a:t>B</a:t>
            </a:r>
          </a:p>
        </p:txBody>
      </p:sp>
      <p:cxnSp>
        <p:nvCxnSpPr>
          <p:cNvPr id="40" name="Connector 39"/>
          <p:cNvCxnSpPr/>
          <p:nvPr/>
        </p:nvCxnSpPr>
        <p:spPr>
          <a:xfrm flipH="1">
            <a:off x="7041794" y="2406700"/>
            <a:ext cx="109728" cy="51207"/>
          </a:xfrm>
          <a:prstGeom prst="line">
            <a:avLst/>
          </a:prstGeom>
          <a:ln w="127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7727594" y="2432303"/>
            <a:ext cx="384048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 i="0">
                <a:solidFill>
                  <a:srgbClr val="2A446F"/>
                </a:solidFill>
              </a:rPr>
              <a:t>C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590434" y="2406700"/>
            <a:ext cx="109728" cy="51207"/>
          </a:xfrm>
          <a:prstGeom prst="line">
            <a:avLst/>
          </a:prstGeom>
          <a:ln w="127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570878" y="2834640"/>
            <a:ext cx="16020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1F1F"/>
                </a:solidFill>
              </a:rPr>
              <a:t>a manager picks who speaks next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419795" y="1371600"/>
            <a:ext cx="1821484" cy="214884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8529523" y="1463040"/>
            <a:ext cx="16020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8661C5"/>
                </a:solidFill>
              </a:rPr>
              <a:t>Magentic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643823" y="1837944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866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plan + ledger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634679" y="2487168"/>
            <a:ext cx="384048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 i="0">
                <a:solidFill>
                  <a:srgbClr val="2A446F"/>
                </a:solidFill>
              </a:rPr>
              <a:t>A</a:t>
            </a:r>
          </a:p>
        </p:txBody>
      </p:sp>
      <p:cxnSp>
        <p:nvCxnSpPr>
          <p:cNvPr id="48" name="Connector 47"/>
          <p:cNvCxnSpPr/>
          <p:nvPr/>
        </p:nvCxnSpPr>
        <p:spPr>
          <a:xfrm flipH="1">
            <a:off x="8948840" y="2139696"/>
            <a:ext cx="251460" cy="320040"/>
          </a:xfrm>
          <a:prstGeom prst="line">
            <a:avLst/>
          </a:prstGeom>
          <a:ln w="127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9137599" y="2487168"/>
            <a:ext cx="384048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 i="0">
                <a:solidFill>
                  <a:srgbClr val="2A446F"/>
                </a:solidFill>
              </a:rPr>
              <a:t>B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9329623" y="2139696"/>
            <a:ext cx="0" cy="320040"/>
          </a:xfrm>
          <a:prstGeom prst="line">
            <a:avLst/>
          </a:prstGeom>
          <a:ln w="127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9640519" y="2487168"/>
            <a:ext cx="384048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 i="0">
                <a:solidFill>
                  <a:srgbClr val="2A446F"/>
                </a:solidFill>
              </a:rPr>
              <a:t>C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9458945" y="2139696"/>
            <a:ext cx="251460" cy="320040"/>
          </a:xfrm>
          <a:prstGeom prst="line">
            <a:avLst/>
          </a:prstGeom>
          <a:ln w="127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8529523" y="2834640"/>
            <a:ext cx="16020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1F1F"/>
                </a:solidFill>
              </a:rPr>
              <a:t>a planner keeps a task ledger, re-plans</a:t>
            </a:r>
          </a:p>
        </p:txBody>
      </p:sp>
      <p:graphicFrame>
        <p:nvGraphicFramePr>
          <p:cNvPr id="54" name="Table 53"/>
          <p:cNvGraphicFramePr>
            <a:graphicFrameLocks noGrp="1"/>
          </p:cNvGraphicFramePr>
          <p:nvPr/>
        </p:nvGraphicFramePr>
        <p:xfrm>
          <a:off x="585216" y="3703320"/>
          <a:ext cx="6446520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2606040"/>
                <a:gridCol w="2606040"/>
              </a:tblGrid>
              <a:tr h="31089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Pattern</a:t>
                      </a:r>
                    </a:p>
                  </a:txBody>
                  <a:tcPr>
                    <a:solidFill>
                      <a:srgbClr val="2A44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Python class in</a:t>
                      </a:r>
                    </a:p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agent_framework.orchestrations</a:t>
                      </a:r>
                    </a:p>
                  </a:txBody>
                  <a:tcPr>
                    <a:solidFill>
                      <a:srgbClr val="2A44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C# method on</a:t>
                      </a:r>
                    </a:p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AgentWorkflowBuilder</a:t>
                      </a:r>
                    </a:p>
                  </a:txBody>
                  <a:tcPr>
                    <a:solidFill>
                      <a:srgbClr val="2A446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</a:rPr>
                        <a:t>sequential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</a:rPr>
                        <a:t>SequentialBuilder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</a:rPr>
                        <a:t>BuildSequential(…)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</a:rPr>
                        <a:t>concurrent</a:t>
                      </a:r>
                    </a:p>
                  </a:txBody>
                  <a:tcPr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</a:rPr>
                        <a:t>ConcurrentBuilder</a:t>
                      </a:r>
                    </a:p>
                  </a:txBody>
                  <a:tcPr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</a:rPr>
                        <a:t>BuildConcurrent(…)</a:t>
                      </a:r>
                    </a:p>
                  </a:txBody>
                  <a:tcPr>
                    <a:solidFill>
                      <a:srgbClr val="F3F4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</a:rPr>
                        <a:t>handoff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</a:rPr>
                        <a:t>HandoffBuilder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</a:rPr>
                        <a:t>CreateHandoffBuilderWith(…)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</a:rPr>
                        <a:t>group chat</a:t>
                      </a:r>
                    </a:p>
                  </a:txBody>
                  <a:tcPr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</a:rPr>
                        <a:t>GroupChatBuilder</a:t>
                      </a:r>
                    </a:p>
                  </a:txBody>
                  <a:tcPr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</a:rPr>
                        <a:t>CreateGroupChatBuilderWith(…)</a:t>
                      </a:r>
                    </a:p>
                  </a:txBody>
                  <a:tcPr>
                    <a:solidFill>
                      <a:srgbClr val="F3F4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</a:rPr>
                        <a:t>Magentic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</a:rPr>
                        <a:t>MagenticBuilder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</a:rPr>
                        <a:t>CreateMagenticBuilderWith(…)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5" name="Picture 54" descr="s3_robot_orchestr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3703320"/>
            <a:ext cx="2880360" cy="1920240"/>
          </a:xfrm>
          <a:prstGeom prst="roundRect">
            <a:avLst>
              <a:gd name="adj" fmla="val 4000"/>
            </a:avLst>
          </a:prstGeom>
        </p:spPr>
      </p:pic>
      <p:sp>
        <p:nvSpPr>
          <p:cNvPr id="56" name="TextBox 55"/>
          <p:cNvSpPr txBox="1"/>
          <p:nvPr/>
        </p:nvSpPr>
        <p:spPr>
          <a:xfrm>
            <a:off x="585216" y="6355080"/>
            <a:ext cx="8321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</a:rPr>
              <a:t>Sources: Snippet verification 2026-09-22 · Framework landscape 2026-09-19 · MAF docs: sequential orchestration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/>
              <a:t>A two-agent workflow in Microsoft Agent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0058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8661C5"/>
                </a:solidFill>
              </a:rPr>
              <a:t>SEGMENT 3 · THE WORLD OF AGENTS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" y="1325880"/>
            <a:ext cx="2208275" cy="365760"/>
          </a:xfrm>
          <a:prstGeom prst="roundRect">
            <a:avLst>
              <a:gd name="adj" fmla="val 12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1F1F1F"/>
                </a:solidFill>
              </a:rPr>
              <a:t>customer question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830068" y="1508760"/>
            <a:ext cx="201167" cy="0"/>
          </a:xfrm>
          <a:prstGeom prst="line">
            <a:avLst/>
          </a:prstGeom>
          <a:ln w="22225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067811" y="1325880"/>
            <a:ext cx="2208275" cy="365760"/>
          </a:xfrm>
          <a:prstGeom prst="roundRect">
            <a:avLst>
              <a:gd name="adj" fmla="val 12000"/>
            </a:avLst>
          </a:prstGeom>
          <a:solidFill>
            <a:srgbClr val="866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researcher + MCP tool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312664" y="1508760"/>
            <a:ext cx="201167" cy="0"/>
          </a:xfrm>
          <a:prstGeom prst="line">
            <a:avLst/>
          </a:prstGeom>
          <a:ln w="22225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550407" y="1325880"/>
            <a:ext cx="2208275" cy="365760"/>
          </a:xfrm>
          <a:prstGeom prst="roundRect">
            <a:avLst>
              <a:gd name="adj" fmla="val 12000"/>
            </a:avLst>
          </a:prstGeom>
          <a:solidFill>
            <a:srgbClr val="866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writer: 80-word reply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95259" y="1508760"/>
            <a:ext cx="201168" cy="0"/>
          </a:xfrm>
          <a:prstGeom prst="line">
            <a:avLst/>
          </a:prstGeom>
          <a:ln w="22225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033003" y="1325880"/>
            <a:ext cx="2208275" cy="365760"/>
          </a:xfrm>
          <a:prstGeom prst="roundRect">
            <a:avLst>
              <a:gd name="adj" fmla="val 12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1F1F1F"/>
                </a:solidFill>
              </a:rPr>
              <a:t>answer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" y="1801368"/>
            <a:ext cx="9656063" cy="1847088"/>
          </a:xfrm>
          <a:prstGeom prst="roundRect">
            <a:avLst>
              <a:gd name="adj" fmla="val 3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052559" y="1883664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FFB900"/>
                </a:solidFill>
                <a:latin typeface="Consolas"/>
              </a:rPr>
              <a:t>PYTHON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1883664"/>
            <a:ext cx="810158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9AA6C2"/>
                </a:solidFill>
                <a:latin typeface="Consolas"/>
              </a:rPr>
              <a:t>03_workflow.py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2167128"/>
            <a:ext cx="9473184" cy="1408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researcher = Agent(client=client, name="researcher", tools=[docs], default_options=OPTIONS,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                   instructions="Find the facts needed to answer the customer. Call search_docs. Return a "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                                "bullet list of facts, each with the chunk id it came from. No prose.")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writer = Agent(client=client, name="writer", default_options=OPTIONS, middleware=[handoffs_as_user("writer")],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               instructions="You write replies to Kestrel customers: friendly, at most 80 words, only facts "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                            "from the researcher's notes, no chunk ids in the text.")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workflow = SequentialBuilder(participants=[researcher, writer], intermediate_output_from=[researcher]).build()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result = await workflow.run(TASK)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print("WRITER:\n" + (result.get_outputs()[-1].text or "(empty reply - see handoffs_as_user in lab3_common.py)"))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" y="3739896"/>
            <a:ext cx="9656063" cy="1847088"/>
          </a:xfrm>
          <a:prstGeom prst="roundRect">
            <a:avLst>
              <a:gd name="adj" fmla="val 3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052559" y="3822191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FFB900"/>
                </a:solidFill>
                <a:latin typeface="Consolas"/>
              </a:rPr>
              <a:t>C#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3822191"/>
            <a:ext cx="810158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9AA6C2"/>
                </a:solidFill>
                <a:latin typeface="Consolas"/>
              </a:rPr>
              <a:t>03_workflow.cs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" y="4105656"/>
            <a:ext cx="9473184" cy="1408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researcher = chatClient.AsAIAgent(name: "researcher", tools: [.. docsTools],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    instructions: "Find the facts needed to answer the customer. Call search_docs. Return a bullet list of facts, " +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                  "each with the chunk id it came from. No prose.");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writer = chatClient.AsAIAgent(name: "writer",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    instructions: "You write replies to Kestrel customers: friendly, at most 80 words, only facts from the researcher's " +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                  "notes, no chunk ids in the text.");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Workflow workflow = AgentWorkflowBuilder.BuildSequential(researcher, writer);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AgentResponse result = await workflow.AsAIAgent(name: "support-reply", includeExceptionDetails: true).RunAsync(task);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" y="6355080"/>
            <a:ext cx="8321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</a:rPr>
              <a:t>Sources: Lab 3 (labs/03-agents, tested 2026-09-22/23) · Snippet verification 2026-09-22 · MAF docs: sequential orchestration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Demo: MAF researcher → writer with the Lab 2 MCP tool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0058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8661C5"/>
                </a:solidFill>
              </a:rPr>
              <a:t>DEMO · SEGMENT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" y="137160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866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828800"/>
            <a:ext cx="3931920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2A446F"/>
                </a:solidFill>
              </a:rPr>
              <a:t>Two agents, one MCP tool, one workflow — Python live, then the C# twin.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4343400"/>
            <a:ext cx="3931920" cy="27432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Isosceles Triangle 6"/>
          <p:cNvSpPr/>
          <p:nvPr/>
        </p:nvSpPr>
        <p:spPr>
          <a:xfrm rot="5400000">
            <a:off x="859536" y="4590288"/>
            <a:ext cx="713232" cy="713232"/>
          </a:xfrm>
          <a:prstGeom prst="triangle">
            <a:avLst/>
          </a:prstGeom>
          <a:solidFill>
            <a:srgbClr val="866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093976" y="4553712"/>
            <a:ext cx="24231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2A446F"/>
                </a:solidFill>
              </a:rPr>
              <a:t>live on the instructor laptop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6B6B6B"/>
                </a:solidFill>
              </a:rPr>
              <a:t>you watch — the lab comes later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800600" y="1417320"/>
            <a:ext cx="27432" cy="43434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029200" y="1417320"/>
            <a:ext cx="5120640" cy="23698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1F1F1F"/>
                </a:solidFill>
              </a:rPr>
              <a:t>1. Run python 03_workflow.py: the researcher calls search_docs over MCP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1F1F1F"/>
                </a:solidFill>
              </a:rPr>
              <a:t>2. Read the cited notes, then the writer’s 80-word reply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1F1F1F"/>
                </a:solidFill>
              </a:rPr>
              <a:t>3. C# twin: dotnet run --file 03_workflow.cs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1F1F1F"/>
                </a:solidFill>
              </a:rPr>
              <a:t>4. DevUI (07_devui.py): click through every step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1F1F1F"/>
                </a:solidFill>
              </a:rPr>
              <a:t>5. MOCK_LOG: the hand-off as assistant (Py) vs user (C#) turn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4061460"/>
            <a:ext cx="5120640" cy="1085088"/>
          </a:xfrm>
          <a:prstGeom prst="roundRect">
            <a:avLst>
              <a:gd name="adj" fmla="val 6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230368" y="4226051"/>
            <a:ext cx="471830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52B2B"/>
                </a:solidFill>
              </a:rPr>
              <a:t>IF IT BREAKS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0368" y="4683251"/>
            <a:ext cx="4718303" cy="307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F1F1F"/>
                </a:solidFill>
              </a:rPr>
              <a:t>Recorded terminal run + DevUI/trace screenshot (demos/S3-D1/fallback/)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" y="6355080"/>
            <a:ext cx="8321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</a:rPr>
              <a:t>Sources: Lab 3 (labs/03-agents, tested 2026-09-22/23) · Snippet verification 2026-09-22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The same team as a LangGraph graph — with checkpoints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0058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8661C5"/>
                </a:solidFill>
              </a:rPr>
              <a:t>SEGMENT 3 · THE WORLD OF AGENTS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" y="1325880"/>
            <a:ext cx="5943600" cy="2609087"/>
          </a:xfrm>
          <a:prstGeom prst="roundRect">
            <a:avLst>
              <a:gd name="adj" fmla="val 3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340096" y="1408176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FFB900"/>
                </a:solidFill>
                <a:latin typeface="Consolas"/>
              </a:rPr>
              <a:t>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1408176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9AA6C2"/>
                </a:solidFill>
                <a:latin typeface="Consolas"/>
              </a:rPr>
              <a:t>06_langgraph.py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691640"/>
            <a:ext cx="5760720" cy="2170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graph = StateGraph(State)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graph.add_node("research", research)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graph.add_node("write", write)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graph.add_node("human_review", human_review)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graph.add_edge(START, "research")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graph.add_edge("research", "write")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graph.add_edge("write", "human_review")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app = graph.compile(checkpointer=InMemorySaver())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def human_review(state: State) -&gt; Command: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    decision = interrupt({"draft": state["draft"]})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    if str(decision).strip().lower() in ("", "approve", "ok", "y", "yes"):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        return Command(goto=END)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    return Command(goto="write", update={"feedback": str(decision)})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12280" y="1417320"/>
            <a:ext cx="1783080" cy="420624"/>
          </a:xfrm>
          <a:prstGeom prst="roundRect">
            <a:avLst>
              <a:gd name="adj" fmla="val 12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1F1F1F"/>
                </a:solidFill>
              </a:rPr>
              <a:t>START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03820" y="1856232"/>
            <a:ext cx="0" cy="137160"/>
          </a:xfrm>
          <a:prstGeom prst="line">
            <a:avLst/>
          </a:prstGeom>
          <a:ln w="22225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812280" y="2011680"/>
            <a:ext cx="1783080" cy="420624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2A446F"/>
                </a:solidFill>
              </a:rPr>
              <a:t>research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03820" y="2450592"/>
            <a:ext cx="0" cy="137160"/>
          </a:xfrm>
          <a:prstGeom prst="line">
            <a:avLst/>
          </a:prstGeom>
          <a:ln w="22225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812280" y="2606040"/>
            <a:ext cx="1783080" cy="420624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2A446F"/>
                </a:solidFill>
              </a:rPr>
              <a:t>write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703820" y="3044952"/>
            <a:ext cx="0" cy="137160"/>
          </a:xfrm>
          <a:prstGeom prst="line">
            <a:avLst/>
          </a:prstGeom>
          <a:ln w="22225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812280" y="3200400"/>
            <a:ext cx="1783080" cy="512064"/>
          </a:xfrm>
          <a:prstGeom prst="roundRect">
            <a:avLst>
              <a:gd name="adj" fmla="val 12000"/>
            </a:avLst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2A446F"/>
                </a:solidFill>
              </a:rPr>
              <a:t>human_review</a:t>
            </a:r>
          </a:p>
          <a:p>
            <a:pPr algn="ctr"/>
            <a:r>
              <a:rPr sz="1200" b="1" i="0">
                <a:solidFill>
                  <a:srgbClr val="2A446F"/>
                </a:solidFill>
              </a:rPr>
              <a:t>interrupt()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03820" y="3730752"/>
            <a:ext cx="0" cy="182880"/>
          </a:xfrm>
          <a:prstGeom prst="line">
            <a:avLst/>
          </a:prstGeom>
          <a:ln w="22225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812280" y="3931920"/>
            <a:ext cx="1783080" cy="420624"/>
          </a:xfrm>
          <a:prstGeom prst="roundRect">
            <a:avLst>
              <a:gd name="adj" fmla="val 12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1F1F1F"/>
                </a:solidFill>
              </a:rPr>
              <a:t>END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22792" y="3456432"/>
            <a:ext cx="228600" cy="0"/>
          </a:xfrm>
          <a:prstGeom prst="line">
            <a:avLst/>
          </a:prstGeom>
          <a:ln w="15875">
            <a:solidFill>
              <a:srgbClr val="8661C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8851392" y="2816352"/>
            <a:ext cx="0" cy="640080"/>
          </a:xfrm>
          <a:prstGeom prst="line">
            <a:avLst/>
          </a:prstGeom>
          <a:ln w="15875">
            <a:solidFill>
              <a:srgbClr val="8661C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8631936" y="2816352"/>
            <a:ext cx="219456" cy="0"/>
          </a:xfrm>
          <a:prstGeom prst="line">
            <a:avLst/>
          </a:prstGeom>
          <a:ln w="15875">
            <a:solidFill>
              <a:srgbClr val="8661C5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906256" y="285292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8661C5"/>
                </a:solidFill>
              </a:rPr>
              <a:t>feedback</a:t>
            </a:r>
          </a:p>
        </p:txBody>
      </p:sp>
      <p:sp>
        <p:nvSpPr>
          <p:cNvPr id="21" name="Can 20"/>
          <p:cNvSpPr/>
          <p:nvPr/>
        </p:nvSpPr>
        <p:spPr>
          <a:xfrm>
            <a:off x="9253728" y="1481328"/>
            <a:ext cx="896112" cy="960120"/>
          </a:xfrm>
          <a:prstGeom prst="can">
            <a:avLst/>
          </a:prstGeom>
          <a:solidFill>
            <a:srgbClr val="D6E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 i="0">
                <a:solidFill>
                  <a:srgbClr val="2A446F"/>
                </a:solidFill>
              </a:rPr>
              <a:t>saved</a:t>
            </a:r>
          </a:p>
          <a:p>
            <a:pPr algn="ctr"/>
            <a:r>
              <a:rPr sz="1000" b="0" i="0">
                <a:solidFill>
                  <a:srgbClr val="2A446F"/>
                </a:solidFill>
              </a:rPr>
              <a:t>state per</a:t>
            </a:r>
          </a:p>
          <a:p>
            <a:pPr algn="ctr"/>
            <a:r>
              <a:rPr sz="1000" b="0" i="0">
                <a:solidFill>
                  <a:srgbClr val="2A446F"/>
                </a:solidFill>
              </a:rPr>
              <a:t>thread_id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8631936" y="2194560"/>
            <a:ext cx="603504" cy="27432"/>
          </a:xfrm>
          <a:prstGeom prst="line">
            <a:avLst/>
          </a:prstGeom>
          <a:ln w="12700">
            <a:solidFill>
              <a:srgbClr val="6B6B6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85216" y="4434840"/>
            <a:ext cx="965606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1F1F"/>
                </a:solidFill>
              </a:rPr>
              <a:t>Deep Agents</a:t>
            </a:r>
            <a:r>
              <a:rPr sz="1400" b="0" i="0">
                <a:solidFill>
                  <a:srgbClr val="1F1F1F"/>
                </a:solidFill>
              </a:rPr>
              <a:t> — LangChain’s batteries-included harness on create_agent: files, memory, compaction, sub-agents, permissions.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" y="5440680"/>
            <a:ext cx="965606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078D4"/>
                </a:solidFill>
              </a:rPr>
              <a:t>MAF: declare a pattern. LangGraph: draw the graph. Checkpoints make either resumable.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" y="6355080"/>
            <a:ext cx="8321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</a:rPr>
              <a:t>Sources: Lab 3 (labs/03-agents, tested 2026-09-22/23) · Snippet verification 2026-09-22 · Framework landscape 2026-09-19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/>
              <a:t>Demo: the same task in LangGraph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0058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8661C5"/>
                </a:solidFill>
              </a:rPr>
              <a:t>DEMO · SEGMENT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" y="137160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866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828800"/>
            <a:ext cx="3931920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2A446F"/>
                </a:solidFill>
              </a:rPr>
              <a:t>The same researcher → writer as an explicit graph: it pauses for your approval and resumes from a checkpoint.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4343400"/>
            <a:ext cx="3931920" cy="27432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Isosceles Triangle 6"/>
          <p:cNvSpPr/>
          <p:nvPr/>
        </p:nvSpPr>
        <p:spPr>
          <a:xfrm rot="5400000">
            <a:off x="859536" y="4590288"/>
            <a:ext cx="713232" cy="713232"/>
          </a:xfrm>
          <a:prstGeom prst="triangle">
            <a:avLst/>
          </a:prstGeom>
          <a:solidFill>
            <a:srgbClr val="866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093976" y="4553712"/>
            <a:ext cx="24231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2A446F"/>
                </a:solidFill>
              </a:rPr>
              <a:t>live on the instructor laptop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6B6B6B"/>
                </a:solidFill>
              </a:rPr>
              <a:t>you watch — the lab comes later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800600" y="1417320"/>
            <a:ext cx="27432" cy="43434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029200" y="1417320"/>
            <a:ext cx="512064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1F1F1F"/>
                </a:solidFill>
              </a:rPr>
              <a:t>1. Run python 06_langgraph.py: research → write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1F1F1F"/>
                </a:solidFill>
              </a:rPr>
              <a:t>2. The graph stops at human_review: read the draft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1F1F1F"/>
                </a:solidFill>
              </a:rPr>
              <a:t>3. Type feedback → it loops back to write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1F1F1F"/>
                </a:solidFill>
              </a:rPr>
              <a:t>4. Type “approve” → END; the checkpoints stay per thread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3383280"/>
            <a:ext cx="5120640" cy="917448"/>
          </a:xfrm>
          <a:prstGeom prst="roundRect">
            <a:avLst>
              <a:gd name="adj" fmla="val 6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230368" y="3547872"/>
            <a:ext cx="471830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52B2B"/>
                </a:solidFill>
              </a:rPr>
              <a:t>IF IT BREAKS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0368" y="4005072"/>
            <a:ext cx="47183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F1F1F"/>
                </a:solidFill>
              </a:rPr>
              <a:t>Recorded run (demos/S3-D2/fallback/)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" y="6355080"/>
            <a:ext cx="8321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</a:rPr>
              <a:t>Sources: Lab 3 (labs/03-agents, tested 2026-09-22/23)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/>
              <a:t>Sub-agents inside the tools you already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0058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8661C5"/>
                </a:solidFill>
              </a:rPr>
              <a:t>SEGMENT 3 · THE WORLD OF AGENTS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17320" y="1463040"/>
            <a:ext cx="2697480" cy="640080"/>
          </a:xfrm>
          <a:prstGeom prst="roundRect">
            <a:avLst>
              <a:gd name="adj" fmla="val 12000"/>
            </a:avLst>
          </a:prstGeom>
          <a:solidFill>
            <a:srgbClr val="2A4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main agent</a:t>
            </a:r>
          </a:p>
          <a:p>
            <a:pPr algn="ctr"/>
            <a:r>
              <a:rPr sz="1300" b="0" i="0">
                <a:solidFill>
                  <a:srgbClr val="FFFFFF"/>
                </a:solidFill>
              </a:rPr>
              <a:t>plans and delegates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5216" y="2926080"/>
            <a:ext cx="1389888" cy="731520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2A446F"/>
                </a:solidFill>
              </a:rPr>
              <a:t>reviewer</a:t>
            </a:r>
          </a:p>
          <a:p>
            <a:pPr algn="ctr"/>
            <a:r>
              <a:rPr sz="1200" b="0" i="0">
                <a:solidFill>
                  <a:srgbClr val="2A446F"/>
                </a:solidFill>
              </a:rPr>
              <a:t>Read, Grep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1097280" y="2130552"/>
            <a:ext cx="965834" cy="768096"/>
          </a:xfrm>
          <a:prstGeom prst="line">
            <a:avLst/>
          </a:prstGeom>
          <a:ln w="1905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1463039" y="2130552"/>
            <a:ext cx="965835" cy="768096"/>
          </a:xfrm>
          <a:prstGeom prst="line">
            <a:avLst/>
          </a:prstGeom>
          <a:ln w="15875">
            <a:solidFill>
              <a:srgbClr val="8661C5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139696" y="2926080"/>
            <a:ext cx="1389888" cy="731520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2A446F"/>
                </a:solidFill>
              </a:rPr>
              <a:t>test-writer</a:t>
            </a:r>
          </a:p>
          <a:p>
            <a:pPr algn="ctr"/>
            <a:r>
              <a:rPr sz="1200" b="0" i="0">
                <a:solidFill>
                  <a:srgbClr val="2A446F"/>
                </a:solidFill>
              </a:rPr>
              <a:t>Read, Edit, Bash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07183" y="2130552"/>
            <a:ext cx="44576" cy="768096"/>
          </a:xfrm>
          <a:prstGeom prst="line">
            <a:avLst/>
          </a:prstGeom>
          <a:ln w="1905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 flipV="1">
            <a:off x="2972943" y="2130552"/>
            <a:ext cx="44577" cy="768096"/>
          </a:xfrm>
          <a:prstGeom prst="line">
            <a:avLst/>
          </a:prstGeom>
          <a:ln w="15875">
            <a:solidFill>
              <a:srgbClr val="8661C5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694176" y="2926080"/>
            <a:ext cx="1389888" cy="731520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2A446F"/>
                </a:solidFill>
              </a:rPr>
              <a:t>doc-writer</a:t>
            </a:r>
          </a:p>
          <a:p>
            <a:pPr algn="ctr"/>
            <a:r>
              <a:rPr sz="1200" b="0" i="0">
                <a:solidFill>
                  <a:srgbClr val="2A446F"/>
                </a:solidFill>
              </a:rPr>
              <a:t>Read, Edit, Write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51250" y="2130552"/>
            <a:ext cx="1054990" cy="768096"/>
          </a:xfrm>
          <a:prstGeom prst="line">
            <a:avLst/>
          </a:prstGeom>
          <a:ln w="1905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 flipV="1">
            <a:off x="3517010" y="2130552"/>
            <a:ext cx="1054990" cy="768096"/>
          </a:xfrm>
          <a:prstGeom prst="line">
            <a:avLst/>
          </a:prstGeom>
          <a:ln w="15875">
            <a:solidFill>
              <a:srgbClr val="8661C5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85216" y="221284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B6B6B"/>
                </a:solidFill>
              </a:rPr>
              <a:t>delegates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194560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8661C5"/>
                </a:solidFill>
              </a:rPr>
              <a:t>one summary 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" y="3931920"/>
            <a:ext cx="4572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F1F1F"/>
                </a:solidFill>
              </a:rPr>
              <a:t>Files in Claude Code, Copilot, Cursor and Codex; goose starts them from the prompt.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257800" y="1463040"/>
          <a:ext cx="4892039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920240"/>
                <a:gridCol w="1874519"/>
              </a:tblGrid>
              <a:tr h="502920">
                <a:tc>
                  <a:txBody>
                    <a:bodyPr/>
                    <a:lstStyle/>
                    <a:p/>
                  </a:txBody>
                  <a:tcPr>
                    <a:solidFill>
                      <a:srgbClr val="2A44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In a coding agent</a:t>
                      </a:r>
                    </a:p>
                  </a:txBody>
                  <a:tcPr>
                    <a:solidFill>
                      <a:srgbClr val="2A44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In code (Lab 3)</a:t>
                      </a:r>
                    </a:p>
                  </a:txBody>
                  <a:tcPr>
                    <a:solidFill>
                      <a:srgbClr val="2A446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1F1F"/>
                          </a:solidFill>
                        </a:rPr>
                        <a:t>defined 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one file per role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one Agent per role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1F1F"/>
                          </a:solidFill>
                        </a:rPr>
                        <a:t>tools</a:t>
                      </a:r>
                    </a:p>
                  </a:txBody>
                  <a:tcPr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listed in the file</a:t>
                      </a:r>
                    </a:p>
                  </a:txBody>
                  <a:tcPr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tools=[…] per agent</a:t>
                      </a:r>
                    </a:p>
                  </a:txBody>
                  <a:tcPr>
                    <a:solidFill>
                      <a:srgbClr val="F3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1F1F"/>
                          </a:solidFill>
                        </a:rPr>
                        <a:t>context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a fresh context each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the shared transcript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1F1F"/>
                          </a:solidFill>
                        </a:rPr>
                        <a:t>results</a:t>
                      </a:r>
                    </a:p>
                  </a:txBody>
                  <a:tcPr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one summary back</a:t>
                      </a:r>
                    </a:p>
                  </a:txBody>
                  <a:tcPr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the next agent’s turn</a:t>
                      </a:r>
                    </a:p>
                  </a:txBody>
                  <a:tcPr>
                    <a:solidFill>
                      <a:srgbClr val="F3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1F1F"/>
                          </a:solidFill>
                        </a:rPr>
                        <a:t>order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the main agent decides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the workflow decides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85216" y="5440680"/>
            <a:ext cx="965606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078D4"/>
                </a:solidFill>
              </a:rPr>
              <a:t>A “team” can be three Markdown files — no framework, no orchestration code.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" y="6355080"/>
            <a:ext cx="8321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</a:rPr>
              <a:t>Sources: LLM 101 slides 90–93 (June 2026) · Cursor docs: subagents · Codex docs: subagents · goose: subagents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Foundry Agent Service: prompt, hosted and ephemeral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0058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8661C5"/>
                </a:solidFill>
              </a:rPr>
              <a:t>SEGMENT 3 · THE WORLD OF AGENTS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8435" y="987552"/>
            <a:ext cx="1272844" cy="237744"/>
          </a:xfrm>
          <a:prstGeom prst="roundRect">
            <a:avLst>
              <a:gd name="adj" fmla="val 50000"/>
            </a:avLst>
          </a:prstGeom>
          <a:solidFill>
            <a:srgbClr val="D6E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1" i="0">
                <a:solidFill>
                  <a:srgbClr val="2A446F"/>
                </a:solidFill>
              </a:rPr>
              <a:t>as of 2026-09-19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5216" y="1417320"/>
            <a:ext cx="3096767" cy="1920240"/>
          </a:xfrm>
          <a:prstGeom prst="roundRect">
            <a:avLst>
              <a:gd name="adj" fmla="val 6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86384" y="1581912"/>
            <a:ext cx="2694431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078D4"/>
                </a:solidFill>
              </a:rPr>
              <a:t>PROMPT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039112"/>
            <a:ext cx="2694431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1F1F"/>
                </a:solidFill>
              </a:rPr>
              <a:t>Configuration only: model, instructions, tools. Nothing to host.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64864" y="1417320"/>
            <a:ext cx="3096767" cy="1920240"/>
          </a:xfrm>
          <a:prstGeom prst="roundRect">
            <a:avLst>
              <a:gd name="adj" fmla="val 6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066031" y="1581912"/>
            <a:ext cx="2694431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8661C5"/>
                </a:solidFill>
              </a:rPr>
              <a:t>HOSTED AGENTS · GA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6031" y="2039112"/>
            <a:ext cx="2694431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1F1F"/>
                </a:solidFill>
              </a:rPr>
              <a:t>Your code in a container, Python or C#, any framework. A sandbox per session, an Entra identity, auto-scale.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44511" y="1417320"/>
            <a:ext cx="3096767" cy="1920240"/>
          </a:xfrm>
          <a:prstGeom prst="roundRect">
            <a:avLst>
              <a:gd name="adj" fmla="val 6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345680" y="1581912"/>
            <a:ext cx="2694431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08B8B"/>
                </a:solidFill>
              </a:rPr>
              <a:t>EPHEMERAL AGENTS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45680" y="2039112"/>
            <a:ext cx="2694431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1F1F"/>
                </a:solidFill>
              </a:rPr>
              <a:t>Created on the fly through the Responses API.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" y="35204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8661C5"/>
                </a:solidFill>
              </a:rPr>
              <a:t>A HOSTED AGENT CAN RUN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" y="3822191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2A446F"/>
                </a:solidFill>
              </a:rPr>
              <a:t>Agent Framework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78024" y="3822191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2A446F"/>
                </a:solidFill>
              </a:rPr>
              <a:t>LangGraph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70831" y="3822191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2A446F"/>
                </a:solidFill>
              </a:rPr>
              <a:t>Semantic Kernel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5216" y="4279392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2A446F"/>
                </a:solidFill>
              </a:rPr>
              <a:t>OpenAI Agents SDK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78024" y="4279392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2A446F"/>
                </a:solidFill>
              </a:rPr>
              <a:t>Claude Agent SDK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1" y="4279392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2A446F"/>
                </a:solidFill>
              </a:rPr>
              <a:t>GitHub Copilot SDK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263640" y="4233672"/>
            <a:ext cx="365760" cy="0"/>
          </a:xfrm>
          <a:prstGeom prst="line">
            <a:avLst/>
          </a:prstGeom>
          <a:ln w="28575">
            <a:solidFill>
              <a:srgbClr val="8661C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720840" y="3822191"/>
            <a:ext cx="3429000" cy="822960"/>
          </a:xfrm>
          <a:prstGeom prst="roundRect">
            <a:avLst>
              <a:gd name="adj" fmla="val 12000"/>
            </a:avLst>
          </a:prstGeom>
          <a:solidFill>
            <a:srgbClr val="866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one hosted agent endpoint</a:t>
            </a:r>
          </a:p>
          <a:p>
            <a:pPr algn="ctr"/>
            <a:r>
              <a:rPr sz="1300" b="0" i="0">
                <a:solidFill>
                  <a:srgbClr val="FFFFFF"/>
                </a:solidFill>
              </a:rPr>
              <a:t>connected agents · A2A v1.0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" y="5440680"/>
            <a:ext cx="965606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078D4"/>
                </a:solidFill>
              </a:rPr>
              <a:t>Beyond OpenAI, inside Azure: the runtime doesn’t care whose SDK built the loop.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" y="6355080"/>
            <a:ext cx="8321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</a:rPr>
              <a:t>Sources: Framework landscape 2026-09-19 · Foundry hosted agents · Foundry Agent Service overview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Deploying an agent = shipping a container with a loop inside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0058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8661C5"/>
                </a:solidFill>
              </a:rPr>
              <a:t>SEGMENT 3 · THE WORLD OF AGENTS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" y="1463040"/>
            <a:ext cx="1711756" cy="914400"/>
          </a:xfrm>
          <a:prstGeom prst="roundRect">
            <a:avLst>
              <a:gd name="adj" fmla="val 12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1F1F1F"/>
                </a:solidFill>
              </a:rPr>
              <a:t>agent code</a:t>
            </a:r>
          </a:p>
          <a:p>
            <a:pPr algn="ctr"/>
            <a:r>
              <a:rPr sz="1200" b="0" i="0">
                <a:solidFill>
                  <a:srgbClr val="1F1F1F"/>
                </a:solidFill>
              </a:rPr>
              <a:t>MAF, LangGraph …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333548" y="1920240"/>
            <a:ext cx="201168" cy="0"/>
          </a:xfrm>
          <a:prstGeom prst="line">
            <a:avLst/>
          </a:prstGeom>
          <a:ln w="22225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571292" y="1463040"/>
            <a:ext cx="1711756" cy="914400"/>
          </a:xfrm>
          <a:prstGeom prst="roundRect">
            <a:avLst>
              <a:gd name="adj" fmla="val 12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1F1F1F"/>
                </a:solidFill>
              </a:rPr>
              <a:t>container image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319625" y="1920240"/>
            <a:ext cx="201168" cy="0"/>
          </a:xfrm>
          <a:prstGeom prst="line">
            <a:avLst/>
          </a:prstGeom>
          <a:ln w="22225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57369" y="1463040"/>
            <a:ext cx="1711756" cy="914400"/>
          </a:xfrm>
          <a:prstGeom prst="roundRect">
            <a:avLst>
              <a:gd name="adj" fmla="val 12000"/>
            </a:avLst>
          </a:prstGeom>
          <a:solidFill>
            <a:srgbClr val="866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hosted agent</a:t>
            </a:r>
          </a:p>
          <a:p>
            <a:pPr algn="ctr"/>
            <a:r>
              <a:rPr sz="1200" b="0" i="0">
                <a:solidFill>
                  <a:srgbClr val="FFFFFF"/>
                </a:solidFill>
              </a:rPr>
              <a:t>in a Foundry project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305702" y="1920240"/>
            <a:ext cx="201168" cy="0"/>
          </a:xfrm>
          <a:prstGeom prst="line">
            <a:avLst/>
          </a:prstGeom>
          <a:ln w="22225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543446" y="1463040"/>
            <a:ext cx="1711756" cy="914400"/>
          </a:xfrm>
          <a:prstGeom prst="roundRect">
            <a:avLst>
              <a:gd name="adj" fmla="val 12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1F1F1F"/>
                </a:solidFill>
              </a:rPr>
              <a:t>endpoint</a:t>
            </a:r>
          </a:p>
          <a:p>
            <a:pPr algn="ctr"/>
            <a:r>
              <a:rPr sz="1200" b="0" i="0">
                <a:solidFill>
                  <a:srgbClr val="1F1F1F"/>
                </a:solidFill>
              </a:rPr>
              <a:t>Responses API, A2A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91779" y="1920240"/>
            <a:ext cx="201168" cy="0"/>
          </a:xfrm>
          <a:prstGeom prst="line">
            <a:avLst/>
          </a:prstGeom>
          <a:ln w="22225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529523" y="1463040"/>
            <a:ext cx="1711756" cy="914400"/>
          </a:xfrm>
          <a:prstGeom prst="roundRect">
            <a:avLst>
              <a:gd name="adj" fmla="val 12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1F1F1F"/>
                </a:solidFill>
              </a:rPr>
              <a:t>your app</a:t>
            </a:r>
          </a:p>
          <a:p>
            <a:pPr algn="ctr"/>
            <a:r>
              <a:rPr sz="1200" b="0" i="0">
                <a:solidFill>
                  <a:srgbClr val="1F1F1F"/>
                </a:solidFill>
              </a:rPr>
              <a:t>Teams, M365 Copilot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26974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8661C5"/>
                </a:solidFill>
              </a:rPr>
              <a:t>WHAT FOUNDRY ADDS AROUND YOUR LOOP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" y="3017520"/>
            <a:ext cx="1821484" cy="1417320"/>
          </a:xfrm>
          <a:prstGeom prst="roundRect">
            <a:avLst>
              <a:gd name="adj" fmla="val 6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86384" y="3182112"/>
            <a:ext cx="141914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8661C5"/>
                </a:solidFill>
              </a:rPr>
              <a:t>IDENTITY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3639312"/>
            <a:ext cx="141914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1F1F"/>
                </a:solidFill>
              </a:rPr>
              <a:t>an Entra agent identity per agent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43860" y="3017520"/>
            <a:ext cx="1821484" cy="1417320"/>
          </a:xfrm>
          <a:prstGeom prst="roundRect">
            <a:avLst>
              <a:gd name="adj" fmla="val 6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2745028" y="3182112"/>
            <a:ext cx="141914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8661C5"/>
                </a:solidFill>
              </a:rPr>
              <a:t>SANDBOX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5028" y="3639312"/>
            <a:ext cx="141914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1F1F"/>
                </a:solidFill>
              </a:rPr>
              <a:t>a VM per session, persistent $HOME and /files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02505" y="3017520"/>
            <a:ext cx="1821484" cy="1417320"/>
          </a:xfrm>
          <a:prstGeom prst="roundRect">
            <a:avLst>
              <a:gd name="adj" fmla="val 6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703673" y="3182112"/>
            <a:ext cx="141914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8661C5"/>
                </a:solidFill>
              </a:rPr>
              <a:t>SCALE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3673" y="3639312"/>
            <a:ext cx="141914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1F1F"/>
                </a:solidFill>
              </a:rPr>
              <a:t>auto-scale, down to zero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61150" y="3017520"/>
            <a:ext cx="1821484" cy="1417320"/>
          </a:xfrm>
          <a:prstGeom prst="roundRect">
            <a:avLst>
              <a:gd name="adj" fmla="val 6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662318" y="3182112"/>
            <a:ext cx="141914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8661C5"/>
                </a:solidFill>
              </a:rPr>
              <a:t>TRACES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2318" y="3639312"/>
            <a:ext cx="141914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1F1F"/>
                </a:solidFill>
              </a:rPr>
              <a:t>spans into Application Insights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19795" y="3017520"/>
            <a:ext cx="1821484" cy="1417320"/>
          </a:xfrm>
          <a:prstGeom prst="roundRect">
            <a:avLst>
              <a:gd name="adj" fmla="val 6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620963" y="3182112"/>
            <a:ext cx="141914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8661C5"/>
                </a:solidFill>
              </a:rPr>
              <a:t>SAFETY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20963" y="3639312"/>
            <a:ext cx="141914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1F1F"/>
                </a:solidFill>
              </a:rPr>
              <a:t>content filters on every model call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" y="4645152"/>
            <a:ext cx="965606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6B6B6B"/>
                </a:solidFill>
              </a:rPr>
              <a:t>Caveat: agent endpoints are Entra-only — key holders need APIM in front.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5216" y="5440680"/>
            <a:ext cx="965606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078D4"/>
                </a:solidFill>
              </a:rPr>
              <a:t>The same loop you ran on your laptop — Foundry adds identity, isolation, scale and traces.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216" y="6355080"/>
            <a:ext cx="8321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</a:rPr>
              <a:t>Sources: Foundry hosted agents · Framework landscape 2026-09-19 · Foundry access research 2026-09-19 · Foundry authentication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Demo: deploy the workflow as a Foundry hosted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0058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8661C5"/>
                </a:solidFill>
              </a:rPr>
              <a:t>DEMO · SEGMENT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" y="137160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866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828800"/>
            <a:ext cx="3931920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2A446F"/>
                </a:solidFill>
              </a:rPr>
              <a:t>The Lab 3 workflow, unchanged, in a container — now a hosted agent with an identity and traces.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4343400"/>
            <a:ext cx="3931920" cy="27432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Isosceles Triangle 6"/>
          <p:cNvSpPr/>
          <p:nvPr/>
        </p:nvSpPr>
        <p:spPr>
          <a:xfrm rot="5400000">
            <a:off x="859536" y="4590288"/>
            <a:ext cx="713232" cy="713232"/>
          </a:xfrm>
          <a:prstGeom prst="triangle">
            <a:avLst/>
          </a:prstGeom>
          <a:solidFill>
            <a:srgbClr val="866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093976" y="4553712"/>
            <a:ext cx="24231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2A446F"/>
                </a:solidFill>
              </a:rPr>
              <a:t>live on the instructor laptop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6B6B6B"/>
                </a:solidFill>
              </a:rPr>
              <a:t>you watch — the lab comes later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800600" y="1417320"/>
            <a:ext cx="27432" cy="43434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029200" y="1417320"/>
            <a:ext cx="5120640" cy="194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1F1F1F"/>
                </a:solidFill>
              </a:rPr>
              <a:t>1. The 03_workflow code, packaged as a container image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1F1F1F"/>
                </a:solidFill>
              </a:rPr>
              <a:t>2. Create the hosted agent in the instructor’s Foundry project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1F1F1F"/>
                </a:solidFill>
              </a:rPr>
              <a:t>3. Call it from the lab script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1F1F1F"/>
                </a:solidFill>
              </a:rPr>
              <a:t>4. Open the run’s trace in Application Insights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1F1F1F"/>
                </a:solidFill>
              </a:rPr>
              <a:t>5. Show the agent’s Entra identity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3634740"/>
            <a:ext cx="5120640" cy="1085088"/>
          </a:xfrm>
          <a:prstGeom prst="roundRect">
            <a:avLst>
              <a:gd name="adj" fmla="val 6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230368" y="3799332"/>
            <a:ext cx="471830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52B2B"/>
                </a:solidFill>
              </a:rPr>
              <a:t>IF IT BREAKS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0368" y="4256532"/>
            <a:ext cx="4718303" cy="307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F1F1F"/>
                </a:solidFill>
              </a:rPr>
              <a:t>Screenshots of the hosted-agent page and the trace (demos/S3-D3/fallback/)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" y="6355080"/>
            <a:ext cx="8321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</a:rPr>
              <a:t>Sources: Foundry hosted agents · Foundry access research 2026-09-19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Observability: OTel GenAI spans are the common language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0058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8661C5"/>
                </a:solidFill>
              </a:rPr>
              <a:t>SEGMENT 3 · THE WORLD OF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49961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A446F"/>
                </a:solidFill>
                <a:latin typeface="Consolas"/>
              </a:rPr>
              <a:t>invoke_agent WeatherAgent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481328"/>
            <a:ext cx="3657600" cy="292608"/>
          </a:xfrm>
          <a:prstGeom prst="roundRect">
            <a:avLst>
              <a:gd name="adj" fmla="val 20000"/>
            </a:avLst>
          </a:prstGeom>
          <a:solidFill>
            <a:srgbClr val="866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13816" y="192938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A446F"/>
                </a:solidFill>
                <a:latin typeface="Consolas"/>
              </a:rPr>
              <a:t>chat gpt-5-mini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02152" y="1911095"/>
            <a:ext cx="1463039" cy="292608"/>
          </a:xfrm>
          <a:prstGeom prst="roundRect">
            <a:avLst>
              <a:gd name="adj" fmla="val 2000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tokens in · 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" y="23591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A446F"/>
                </a:solidFill>
                <a:latin typeface="Consolas"/>
              </a:rPr>
              <a:t>execute_tool get_weather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74920" y="2340864"/>
            <a:ext cx="365760" cy="292608"/>
          </a:xfrm>
          <a:prstGeom prst="roundRect">
            <a:avLst>
              <a:gd name="adj" fmla="val 20000"/>
            </a:avLst>
          </a:prstGeom>
          <a:solidFill>
            <a:srgbClr val="00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513832" y="236829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008B8B"/>
                </a:solidFill>
                <a:latin typeface="Consolas"/>
              </a:rPr>
              <a:t>args: {"city": …}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" y="27889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A446F"/>
                </a:solidFill>
                <a:latin typeface="Consolas"/>
              </a:rPr>
              <a:t>chat gpt-5-mini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50408" y="2770632"/>
            <a:ext cx="1463040" cy="292608"/>
          </a:xfrm>
          <a:prstGeom prst="roundRect">
            <a:avLst>
              <a:gd name="adj" fmla="val 2000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tokens in · out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429000" y="3273552"/>
            <a:ext cx="3657600" cy="0"/>
          </a:xfrm>
          <a:prstGeom prst="line">
            <a:avLst/>
          </a:prstGeom>
          <a:ln w="127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355080" y="33101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B6B6B"/>
                </a:solidFill>
              </a:rPr>
              <a:t>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1417320"/>
            <a:ext cx="2834640" cy="2103120"/>
          </a:xfrm>
          <a:prstGeom prst="roundRect">
            <a:avLst>
              <a:gd name="adj" fmla="val 6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516368" y="1581912"/>
            <a:ext cx="243230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8661C5"/>
                </a:solidFill>
              </a:rPr>
              <a:t>ON EVERY SPAN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16368" y="2039112"/>
            <a:ext cx="2432304" cy="1325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F1F1F"/>
                </a:solidFill>
                <a:latin typeface="Consolas"/>
              </a:rPr>
              <a:t>gen_ai.request.model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F1F1F"/>
                </a:solidFill>
                <a:latin typeface="Consolas"/>
              </a:rPr>
              <a:t>gen_ai.usage.input_tokens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F1F1F"/>
                </a:solidFill>
                <a:latin typeface="Consolas"/>
              </a:rPr>
              <a:t>gen_ai.usage.output_tokens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F1F1F"/>
                </a:solidFill>
                <a:latin typeface="Consolas"/>
              </a:rPr>
              <a:t>gen_ai.tool.call.arguments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5216" y="3703320"/>
            <a:ext cx="9656063" cy="627888"/>
          </a:xfrm>
          <a:prstGeom prst="roundRect">
            <a:avLst>
              <a:gd name="adj" fmla="val 3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052559" y="3785615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FFB900"/>
                </a:solidFill>
                <a:latin typeface="Consolas"/>
              </a:rPr>
              <a:t>PYTHON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" y="3785615"/>
            <a:ext cx="810158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9AA6C2"/>
                </a:solidFill>
                <a:latin typeface="Consolas"/>
              </a:rPr>
              <a:t>05_tracing.py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" y="4069080"/>
            <a:ext cx="9473184" cy="188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configure_otel_providers(exporters=[OneLinePerSpan()], enable_sensitive_data=True, service_name="bsgai-lab3")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5216" y="4404360"/>
            <a:ext cx="9656063" cy="627888"/>
          </a:xfrm>
          <a:prstGeom prst="roundRect">
            <a:avLst>
              <a:gd name="adj" fmla="val 3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052559" y="4486656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FFB900"/>
                </a:solidFill>
                <a:latin typeface="Consolas"/>
              </a:rPr>
              <a:t>C#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" y="4486656"/>
            <a:ext cx="810158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9AA6C2"/>
                </a:solidFill>
                <a:latin typeface="Consolas"/>
              </a:rPr>
              <a:t>05_tracing.cs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" y="4770120"/>
            <a:ext cx="9473184" cy="188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E8EEF7"/>
                </a:solidFill>
                <a:latin typeface="Consolas"/>
              </a:rPr>
              <a:t>agent = agent.AsBuilder().UseOpenTelemetry(Source, configure: o =&gt; o.EnableSensitiveData = true).Build();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" y="5440680"/>
            <a:ext cx="965606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078D4"/>
                </a:solidFill>
              </a:rPr>
              <a:t>Same spans to App Insights, Aspire or Langfuse: set OTEL_EXPORTER_OTLP_ENDPOINT — no code change.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" y="6355080"/>
            <a:ext cx="8321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</a:rPr>
              <a:t>Sources: Lab 3 (labs/03-agents, tested 2026-09-22/23) · Snippet verification 2026-09-22 · OpenTelemetry: GenAI observability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/>
              <a:t>Cost and limits: steps × tokens ×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0058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8661C5"/>
                </a:solidFill>
              </a:rPr>
              <a:t>SEGMENT 3 · THE WORLD OF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417320"/>
            <a:ext cx="2788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6B6B6B"/>
                </a:solidFill>
              </a:rPr>
              <a:t>ONE CALL · 2,000 TOKENS IN + 600 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719072"/>
            <a:ext cx="2788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2A446F"/>
                </a:solidFill>
              </a:rPr>
              <a:t>$0.0017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74136" y="1764792"/>
            <a:ext cx="457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6B6B6B"/>
                </a:solidFill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31335" y="1417320"/>
            <a:ext cx="2788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6B6B6B"/>
                </a:solidFill>
              </a:rPr>
              <a:t>TEAM RUN · 2 AGENTS × 5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31335" y="1719072"/>
            <a:ext cx="2788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8661C5"/>
                </a:solidFill>
              </a:rPr>
              <a:t>$0.017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242316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F1F1F"/>
                </a:solidFill>
              </a:rPr>
              <a:t>gpt-5-mini at $0.25 in / $2 out per 1M tokens; 2,000 + 600 per call is the day’s planning assumption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3200400"/>
            <a:ext cx="2788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6B6B6B"/>
                </a:solidFill>
              </a:rPr>
              <a:t>YOUR KEY · TOKENS PER 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3502152"/>
            <a:ext cx="2788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2A446F"/>
                </a:solidFill>
              </a:rPr>
              <a:t>500k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74136" y="3547872"/>
            <a:ext cx="457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6B6B6B"/>
                </a:solidFill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31335" y="3200400"/>
            <a:ext cx="2788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6B6B6B"/>
                </a:solidFill>
              </a:rPr>
              <a:t>TEAM RUNS PER DAY · ~26k TOKENS EACH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31335" y="3502152"/>
            <a:ext cx="2788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C52B2B"/>
                </a:solidFill>
              </a:rPr>
              <a:t>≈ 19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812280" y="1463040"/>
          <a:ext cx="33375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2286000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Cap</a:t>
                      </a:r>
                    </a:p>
                  </a:txBody>
                  <a:tcPr>
                    <a:solidFill>
                      <a:srgbClr val="2A44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How</a:t>
                      </a:r>
                    </a:p>
                  </a:txBody>
                  <a:tcPr>
                    <a:solidFill>
                      <a:srgbClr val="2A446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</a:rPr>
                        <a:t>max steps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</a:rPr>
                        <a:t>isStepCount(5) · max_rounds=5 · MaximumIterationCount =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</a:rPr>
                        <a:t>token budget</a:t>
                      </a:r>
                    </a:p>
                  </a:txBody>
                  <a:tcPr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</a:rPr>
                        <a:t>per run: stop or compact the transcript</a:t>
                      </a:r>
                    </a:p>
                  </a:txBody>
                  <a:tcPr>
                    <a:solidFill>
                      <a:srgbClr val="F3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</a:rPr>
                        <a:t>per key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</a:rPr>
                        <a:t>20k tokens / min · 500k / day (APIM)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812280" y="3703320"/>
            <a:ext cx="33375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F1F1F"/>
                </a:solidFill>
              </a:rPr>
              <a:t>And 20k tokens per minute per key: a fast team run meets HTTP 429 — let the SDK retry.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" y="5440680"/>
            <a:ext cx="965606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078D4"/>
                </a:solidFill>
              </a:rPr>
              <a:t>Cost scales with steps × tokens × agents — cap all three.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" y="6355080"/>
            <a:ext cx="8321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</a:rPr>
              <a:t>Sources: Model catalog §1 (checked 2026-09-21) · Foundry provisioning plan §2–3 · Foundry access research 2026-09-19 · APIM llm-token-limit policy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Multi-hop security: the injection arrives through a sub-agent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0058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8661C5"/>
                </a:solidFill>
              </a:rPr>
              <a:t>SEGMENT 3 · THE WORLD OF AGENTS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" y="1645920"/>
            <a:ext cx="2105406" cy="914400"/>
          </a:xfrm>
          <a:prstGeom prst="roundRect">
            <a:avLst>
              <a:gd name="adj" fmla="val 12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 i="0">
                <a:solidFill>
                  <a:srgbClr val="1F1F1F"/>
                </a:solidFill>
              </a:rPr>
              <a:t>a web page or PDF</a:t>
            </a:r>
          </a:p>
          <a:p>
            <a:pPr algn="ctr"/>
            <a:r>
              <a:rPr sz="1300" b="0" i="0">
                <a:solidFill>
                  <a:srgbClr val="1F1F1F"/>
                </a:solidFill>
              </a:rPr>
              <a:t>with a hidden instruction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27198" y="2103120"/>
            <a:ext cx="338328" cy="0"/>
          </a:xfrm>
          <a:prstGeom prst="line">
            <a:avLst/>
          </a:prstGeom>
          <a:ln w="22225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102102" y="1645920"/>
            <a:ext cx="2105406" cy="914400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 i="0">
                <a:solidFill>
                  <a:srgbClr val="1F1F1F"/>
                </a:solidFill>
              </a:rPr>
              <a:t>researcher agent</a:t>
            </a:r>
          </a:p>
          <a:p>
            <a:pPr algn="ctr"/>
            <a:r>
              <a:rPr sz="1300" b="0" i="0">
                <a:solidFill>
                  <a:srgbClr val="1F1F1F"/>
                </a:solidFill>
              </a:rPr>
              <a:t>copies it into its notes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44084" y="2103120"/>
            <a:ext cx="338328" cy="0"/>
          </a:xfrm>
          <a:prstGeom prst="line">
            <a:avLst/>
          </a:prstGeom>
          <a:ln w="22225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618988" y="1645920"/>
            <a:ext cx="2105406" cy="914400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 i="0">
                <a:solidFill>
                  <a:srgbClr val="1F1F1F"/>
                </a:solidFill>
              </a:rPr>
              <a:t>writer agent</a:t>
            </a:r>
          </a:p>
          <a:p>
            <a:pPr algn="ctr"/>
            <a:r>
              <a:rPr sz="1300" b="0" i="0">
                <a:solidFill>
                  <a:srgbClr val="1F1F1F"/>
                </a:solidFill>
              </a:rPr>
              <a:t>trusts the notes, can send mail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60969" y="2103120"/>
            <a:ext cx="338329" cy="0"/>
          </a:xfrm>
          <a:prstGeom prst="line">
            <a:avLst/>
          </a:prstGeom>
          <a:ln w="22225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135874" y="1645920"/>
            <a:ext cx="2105406" cy="914400"/>
          </a:xfrm>
          <a:prstGeom prst="roundRect">
            <a:avLst>
              <a:gd name="adj" fmla="val 12000"/>
            </a:avLst>
          </a:prstGeom>
          <a:solidFill>
            <a:srgbClr val="C5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your data leaves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16302" y="137160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C52B2B"/>
                </a:solidFill>
              </a:rPr>
              <a:t>hop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3188" y="137160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C52B2B"/>
                </a:solidFill>
              </a:rPr>
              <a:t>hop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2651760"/>
            <a:ext cx="210540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8661C5"/>
                </a:solidFill>
              </a:rPr>
              <a:t>UNTRUSTED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2102" y="2651760"/>
            <a:ext cx="210540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8661C5"/>
                </a:solidFill>
              </a:rPr>
              <a:t>PRIVATE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18988" y="2651760"/>
            <a:ext cx="210540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8661C5"/>
                </a:solidFill>
              </a:rPr>
              <a:t>A WAY 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" y="3063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A7F5C"/>
                </a:solidFill>
              </a:rPr>
              <a:t>CUT ONE LEG PER AGENT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" y="3383280"/>
            <a:ext cx="2311146" cy="1554480"/>
          </a:xfrm>
          <a:prstGeom prst="roundRect">
            <a:avLst>
              <a:gd name="adj" fmla="val 6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86384" y="3547872"/>
            <a:ext cx="190881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A7F5C"/>
                </a:solidFill>
              </a:rPr>
              <a:t>ALLOW-LIST PER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4005072"/>
            <a:ext cx="190881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1F1F"/>
                </a:solidFill>
              </a:rPr>
              <a:t>a read-only researcher; only one agent may send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33522" y="3383280"/>
            <a:ext cx="2311146" cy="1554480"/>
          </a:xfrm>
          <a:prstGeom prst="roundRect">
            <a:avLst>
              <a:gd name="adj" fmla="val 6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3234690" y="3547872"/>
            <a:ext cx="190881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A7F5C"/>
                </a:solidFill>
              </a:rPr>
              <a:t>SANDBOX THE SHELL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34690" y="4005072"/>
            <a:ext cx="190881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1F1F"/>
                </a:solidFill>
              </a:rPr>
              <a:t>Bash and code run in a container, not in your $HOME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1827" y="3383280"/>
            <a:ext cx="2311146" cy="1554480"/>
          </a:xfrm>
          <a:prstGeom prst="roundRect">
            <a:avLst>
              <a:gd name="adj" fmla="val 6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682995" y="3547872"/>
            <a:ext cx="190881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A7F5C"/>
                </a:solidFill>
              </a:rPr>
              <a:t>LABEL, DON’T OBEY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82995" y="4005072"/>
            <a:ext cx="190881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1F1F"/>
                </a:solidFill>
              </a:rPr>
              <a:t>other agents’ output is data, not instructions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30133" y="3383280"/>
            <a:ext cx="2311146" cy="1554480"/>
          </a:xfrm>
          <a:prstGeom prst="roundRect">
            <a:avLst>
              <a:gd name="adj" fmla="val 6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131302" y="3547872"/>
            <a:ext cx="190881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A7F5C"/>
                </a:solidFill>
              </a:rPr>
              <a:t>APPROVE THE EXITS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1302" y="4005072"/>
            <a:ext cx="190881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1F1F"/>
                </a:solidFill>
              </a:rPr>
              <a:t>a human OKs sends, posts, payments, deletes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" y="5440680"/>
            <a:ext cx="965606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078D4"/>
                </a:solidFill>
              </a:rPr>
              <a:t>No single agent holds all three legs of the trifecta — the team does.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5216" y="6355080"/>
            <a:ext cx="8321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</a:rPr>
              <a:t>Sources: LLM 101 slides 67–68 · Willison: prompt injection series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/>
              <a:t>Guard the dangerous tool call before it runs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0058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8661C5"/>
                </a:solidFill>
              </a:rPr>
              <a:t>SEGMENT 3 · THE WORLD OF AGENTS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" y="1572768"/>
            <a:ext cx="2103120" cy="1051560"/>
          </a:xfrm>
          <a:prstGeom prst="roundRect">
            <a:avLst>
              <a:gd name="adj" fmla="val 12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 i="0">
                <a:solidFill>
                  <a:srgbClr val="1F1F1F"/>
                </a:solidFill>
              </a:rPr>
              <a:t>agent wants to run</a:t>
            </a:r>
          </a:p>
          <a:p>
            <a:pPr algn="ctr"/>
            <a:r>
              <a:rPr sz="1300" b="1" i="0">
                <a:solidFill>
                  <a:srgbClr val="1F1F1F"/>
                </a:solidFill>
              </a:rPr>
              <a:t>Bash: rm -rf build/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24912" y="2103120"/>
            <a:ext cx="256032" cy="0"/>
          </a:xfrm>
          <a:prstGeom prst="line">
            <a:avLst/>
          </a:prstGeom>
          <a:ln w="25400">
            <a:solidFill>
              <a:srgbClr val="2A446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017520" y="1444752"/>
            <a:ext cx="2011680" cy="1316736"/>
          </a:xfrm>
          <a:prstGeom prst="roundRect">
            <a:avLst>
              <a:gd name="adj" fmla="val 12000"/>
            </a:avLst>
          </a:prstGeom>
          <a:solidFill>
            <a:srgbClr val="2A4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guard</a:t>
            </a:r>
          </a:p>
          <a:p>
            <a:pPr algn="ctr"/>
            <a:r>
              <a:rPr sz="1400" b="0" i="0">
                <a:solidFill>
                  <a:srgbClr val="FFFFFF"/>
                </a:solidFill>
              </a:rPr>
              <a:t>scores the call</a:t>
            </a:r>
          </a:p>
          <a:p>
            <a:pPr algn="ctr"/>
            <a:r>
              <a:rPr sz="1400" b="0" i="0">
                <a:solidFill>
                  <a:srgbClr val="FFFFFF"/>
                </a:solidFill>
              </a:rPr>
              <a:t>before it runs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40680" y="1417320"/>
            <a:ext cx="1691640" cy="402336"/>
          </a:xfrm>
          <a:prstGeom prst="roundRect">
            <a:avLst>
              <a:gd name="adj" fmla="val 50000"/>
            </a:avLst>
          </a:prstGeom>
          <a:solidFill>
            <a:srgbClr val="2A7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ALLOW · low risk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5065776" y="1618488"/>
            <a:ext cx="338328" cy="484632"/>
          </a:xfrm>
          <a:prstGeom prst="line">
            <a:avLst/>
          </a:prstGeom>
          <a:ln w="1905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40680" y="1920240"/>
            <a:ext cx="1691640" cy="402336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2A446F"/>
                </a:solidFill>
              </a:rPr>
              <a:t>ASK · unsure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65776" y="2103120"/>
            <a:ext cx="338328" cy="18288"/>
          </a:xfrm>
          <a:prstGeom prst="line">
            <a:avLst/>
          </a:prstGeom>
          <a:ln w="1905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440680" y="2423160"/>
            <a:ext cx="1691640" cy="402336"/>
          </a:xfrm>
          <a:prstGeom prst="roundRect">
            <a:avLst>
              <a:gd name="adj" fmla="val 50000"/>
            </a:avLst>
          </a:prstGeom>
          <a:solidFill>
            <a:srgbClr val="C5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DENY · destructive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65776" y="2103120"/>
            <a:ext cx="338328" cy="521208"/>
          </a:xfrm>
          <a:prstGeom prst="line">
            <a:avLst/>
          </a:prstGeom>
          <a:ln w="1905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s3_tool_checkpoin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417320"/>
            <a:ext cx="2743200" cy="2743200"/>
          </a:xfrm>
          <a:prstGeom prst="roundRect">
            <a:avLst>
              <a:gd name="adj" fmla="val 4000"/>
            </a:avLst>
          </a:prstGeom>
        </p:spPr>
      </p:pic>
      <p:sp>
        <p:nvSpPr>
          <p:cNvPr id="14" name="TextBox 13"/>
          <p:cNvSpPr txBox="1"/>
          <p:nvPr/>
        </p:nvSpPr>
        <p:spPr>
          <a:xfrm>
            <a:off x="585216" y="30175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8661C5"/>
                </a:solidFill>
              </a:rPr>
              <a:t>WHO SCORES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" y="3291840"/>
            <a:ext cx="2103120" cy="1874519"/>
          </a:xfrm>
          <a:prstGeom prst="roundRect">
            <a:avLst>
              <a:gd name="adj" fmla="val 6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86384" y="3456432"/>
            <a:ext cx="170078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8661C5"/>
                </a:solidFill>
              </a:rPr>
              <a:t>DECISION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3913632"/>
            <a:ext cx="1700784" cy="1097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1F1F"/>
                </a:solidFill>
              </a:rPr>
              <a:t>Jev: state + question → a calibrated yes/no. API only, waitlist.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25496" y="3291840"/>
            <a:ext cx="2103120" cy="1874519"/>
          </a:xfrm>
          <a:prstGeom prst="roundRect">
            <a:avLst>
              <a:gd name="adj" fmla="val 6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3026664" y="3456432"/>
            <a:ext cx="170078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078D4"/>
                </a:solidFill>
              </a:rPr>
              <a:t>LOCAL LOGPROBS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26664" y="3913632"/>
            <a:ext cx="1700784" cy="1097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1F1F"/>
                </a:solidFill>
              </a:rPr>
              <a:t>Ask any local model “destructive?” and read P(yes). No key, no cost.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65776" y="3291840"/>
            <a:ext cx="2103120" cy="1874519"/>
          </a:xfrm>
          <a:prstGeom prst="roundRect">
            <a:avLst>
              <a:gd name="adj" fmla="val 6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266944" y="3456432"/>
            <a:ext cx="170078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08B8B"/>
                </a:solidFill>
              </a:rPr>
              <a:t>RULES FIRST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66944" y="3913632"/>
            <a:ext cx="1700784" cy="1097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1F1F"/>
                </a:solidFill>
              </a:rPr>
              <a:t>A hard deny list (rm -rf, sudo) and an allow-list decide before any model.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" y="5440680"/>
            <a:ext cx="965606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078D4"/>
                </a:solidFill>
              </a:rPr>
              <a:t>A scorer can be fooled too — keep a hard deny list and a sandbox underneath.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" y="6355080"/>
            <a:ext cx="8321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</a:rPr>
              <a:t>Sources: Model catalog §4 (checked 2026-09-21) · Jev / System One research 2026-09-21 · LangChain: a harness with Jev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/>
              <a:t>Evaluating agents: trajectories, not just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0058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8661C5"/>
                </a:solidFill>
              </a:rPr>
              <a:t>SEGMENT 3 · THE WORLD OF AGENTS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" y="1417320"/>
            <a:ext cx="2311146" cy="1188720"/>
          </a:xfrm>
          <a:prstGeom prst="roundRect">
            <a:avLst>
              <a:gd name="adj" fmla="val 6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86384" y="1581912"/>
            <a:ext cx="190881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8661C5"/>
                </a:solidFill>
              </a:rPr>
              <a:t>TASK SUCCESS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039112"/>
            <a:ext cx="190881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1F1F"/>
                </a:solidFill>
              </a:rPr>
              <a:t>did it solve the golden task?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33522" y="1417320"/>
            <a:ext cx="2311146" cy="1188720"/>
          </a:xfrm>
          <a:prstGeom prst="roundRect">
            <a:avLst>
              <a:gd name="adj" fmla="val 6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234690" y="1581912"/>
            <a:ext cx="190881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8661C5"/>
                </a:solidFill>
              </a:rPr>
              <a:t>TOOL-CALL PRECISION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34690" y="2039112"/>
            <a:ext cx="190881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1F1F"/>
                </a:solidFill>
              </a:rPr>
              <a:t>right tool, right arguments, no extra calls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1827" y="1417320"/>
            <a:ext cx="2311146" cy="1188720"/>
          </a:xfrm>
          <a:prstGeom prst="roundRect">
            <a:avLst>
              <a:gd name="adj" fmla="val 6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682995" y="1581912"/>
            <a:ext cx="190881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8661C5"/>
                </a:solidFill>
              </a:rPr>
              <a:t>STEPS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82995" y="2039112"/>
            <a:ext cx="190881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1F1F"/>
                </a:solidFill>
              </a:rPr>
              <a:t>how many loop turns it took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30133" y="1417320"/>
            <a:ext cx="2311146" cy="1188720"/>
          </a:xfrm>
          <a:prstGeom prst="roundRect">
            <a:avLst>
              <a:gd name="adj" fmla="val 6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131302" y="1581912"/>
            <a:ext cx="190881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8661C5"/>
                </a:solidFill>
              </a:rPr>
              <a:t>COST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1302" y="2039112"/>
            <a:ext cx="190881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1F1F"/>
                </a:solidFill>
              </a:rPr>
              <a:t>tokens × price, per run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" y="2926079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A7F5C"/>
                </a:solidFill>
              </a:rPr>
              <a:t>golden path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" y="342900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52B2B"/>
                </a:solidFill>
              </a:rPr>
              <a:t>this run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48840" y="2880360"/>
            <a:ext cx="2240280" cy="365760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 i="0">
                <a:solidFill>
                  <a:srgbClr val="2A446F"/>
                </a:solidFill>
                <a:latin typeface="Consolas"/>
              </a:rPr>
              <a:t>search_docs("night flight")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416552" y="3063240"/>
            <a:ext cx="201168" cy="0"/>
          </a:xfrm>
          <a:prstGeom prst="line">
            <a:avLst/>
          </a:prstGeom>
          <a:ln w="22225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663440" y="2880360"/>
            <a:ext cx="2240280" cy="365760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 i="0">
                <a:solidFill>
                  <a:srgbClr val="2A446F"/>
                </a:solidFill>
                <a:latin typeface="Consolas"/>
              </a:rPr>
              <a:t>answer + (handbook#2)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48840" y="3383280"/>
            <a:ext cx="2240280" cy="365760"/>
          </a:xfrm>
          <a:prstGeom prst="roundRect">
            <a:avLst>
              <a:gd name="adj" fmla="val 12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 i="0">
                <a:solidFill>
                  <a:srgbClr val="2A446F"/>
                </a:solidFill>
                <a:latin typeface="Consolas"/>
              </a:rPr>
              <a:t>search_docs("night flight")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416552" y="3566160"/>
            <a:ext cx="201168" cy="0"/>
          </a:xfrm>
          <a:prstGeom prst="line">
            <a:avLst/>
          </a:prstGeom>
          <a:ln w="22225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663440" y="3383280"/>
            <a:ext cx="2240280" cy="365760"/>
          </a:xfrm>
          <a:prstGeom prst="roundRect">
            <a:avLst>
              <a:gd name="adj" fmla="val 12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 i="0">
                <a:solidFill>
                  <a:srgbClr val="2A446F"/>
                </a:solidFill>
                <a:latin typeface="Consolas"/>
              </a:rPr>
              <a:t>search_docs("night flight")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931152" y="3566160"/>
            <a:ext cx="201168" cy="0"/>
          </a:xfrm>
          <a:prstGeom prst="line">
            <a:avLst/>
          </a:prstGeom>
          <a:ln w="22225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178040" y="3383280"/>
            <a:ext cx="2240280" cy="365760"/>
          </a:xfrm>
          <a:prstGeom prst="roundRect">
            <a:avLst>
              <a:gd name="adj" fmla="val 12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 i="0">
                <a:solidFill>
                  <a:srgbClr val="2A446F"/>
                </a:solidFill>
                <a:latin typeface="Consolas"/>
              </a:rPr>
              <a:t>answer, no citation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336499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C52B2B"/>
                </a:solidFill>
              </a:rPr>
              <a:t>✗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5216" y="4206240"/>
            <a:ext cx="2173985" cy="566928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1F1F1F"/>
                </a:solidFill>
              </a:rPr>
              <a:t>golden tasks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795777" y="4489703"/>
            <a:ext cx="246888" cy="0"/>
          </a:xfrm>
          <a:prstGeom prst="line">
            <a:avLst/>
          </a:prstGeom>
          <a:ln w="22225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079241" y="4206240"/>
            <a:ext cx="2173985" cy="566928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1F1F1F"/>
                </a:solidFill>
              </a:rPr>
              <a:t>run the agent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289803" y="4489703"/>
            <a:ext cx="246888" cy="0"/>
          </a:xfrm>
          <a:prstGeom prst="line">
            <a:avLst/>
          </a:prstGeom>
          <a:ln w="22225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5573267" y="4206240"/>
            <a:ext cx="2173985" cy="566928"/>
          </a:xfrm>
          <a:prstGeom prst="roundRect">
            <a:avLst>
              <a:gd name="adj" fmla="val 12000"/>
            </a:avLst>
          </a:prstGeom>
          <a:solidFill>
            <a:srgbClr val="866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score the trajectory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783829" y="4489703"/>
            <a:ext cx="246888" cy="0"/>
          </a:xfrm>
          <a:prstGeom prst="line">
            <a:avLst/>
          </a:prstGeom>
          <a:ln w="22225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067294" y="4206240"/>
            <a:ext cx="2173985" cy="566928"/>
          </a:xfrm>
          <a:prstGeom prst="roundRect">
            <a:avLst>
              <a:gd name="adj" fmla="val 12000"/>
            </a:avLst>
          </a:prstGeom>
          <a:solidFill>
            <a:srgbClr val="2A4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gate in CI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5216" y="5440680"/>
            <a:ext cx="965606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078D4"/>
                </a:solidFill>
              </a:rPr>
              <a:t>Grade the path, not only the answer — and run the golden tasks on every change.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5216" y="6355080"/>
            <a:ext cx="8321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</a:rPr>
              <a:t>Sources: Framework landscape 2026-09-19 · Lab 2 eval (labs/02-rag-mcp)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/>
              <a:t>This slide is already out of 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0058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B900"/>
                </a:solidFill>
              </a:rPr>
              <a:t>SEGMENT 3 · THE WORLD OF AGENTS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4971" y="987552"/>
            <a:ext cx="1556308" cy="237744"/>
          </a:xfrm>
          <a:prstGeom prst="roundRect">
            <a:avLst>
              <a:gd name="adj" fmla="val 50000"/>
            </a:avLst>
          </a:prstGeom>
          <a:solidFill>
            <a:srgbClr val="D6E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1" i="0">
                <a:solidFill>
                  <a:srgbClr val="2A446F"/>
                </a:solidFill>
              </a:rPr>
              <a:t>deck built 2026-09-23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463040"/>
            <a:ext cx="548640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1" i="0">
                <a:solidFill>
                  <a:srgbClr val="FFFFFF"/>
                </a:solidFill>
              </a:rPr>
              <a:t>Everything in this segment is dated.</a:t>
            </a:r>
          </a:p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FFB900"/>
                </a:solidFill>
              </a:rPr>
              <a:t>CHANGED THIS YEAR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</a:rPr>
              <a:t>GitHub Models retired — 2026-07-30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</a:rPr>
              <a:t>MCP spec 2026-07-28: stateless, no sessions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</a:rPr>
              <a:t>Assistants API shut down — 2026-08-26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</a:rPr>
              <a:t>MAF Python: ChatAgent → Agent, threads → sessions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</a:rPr>
              <a:t>AI SDK 7: stepCountIs → isStepCount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463040"/>
            <a:ext cx="3886200" cy="3017520"/>
          </a:xfrm>
          <a:prstGeom prst="roundRect">
            <a:avLst>
              <a:gd name="adj" fmla="val 6000"/>
            </a:avLst>
          </a:prstGeom>
          <a:solidFill>
            <a:srgbClr val="141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64807" y="1627632"/>
            <a:ext cx="348386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B900"/>
                </a:solidFill>
              </a:rPr>
              <a:t>HOW TO STAY CURRENT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64807" y="2084832"/>
            <a:ext cx="3483864" cy="2240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</a:rPr>
              <a:t>1  Re-run the verified snippets:</a:t>
            </a:r>
          </a:p>
          <a:p>
            <a:pPr algn="l">
              <a:spcAft>
                <a:spcPts val="1000"/>
              </a:spcAft>
            </a:pPr>
            <a:r>
              <a:rPr sz="1100" b="0" i="0">
                <a:solidFill>
                  <a:srgbClr val="FFB900"/>
                </a:solidFill>
                <a:latin typeface="Consolas"/>
              </a:rPr>
              <a:t>labs/_verified_snippets/run_all.sh --real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FFFFFF"/>
                </a:solidFill>
              </a:rPr>
              <a:t>2  Refresh the model catalog with the genai-landscape-research skill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FFFFFF"/>
                </a:solidFill>
              </a:rPr>
              <a:t>3  Every fact here has a URL and a date: see the 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5440680"/>
            <a:ext cx="965606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B900"/>
                </a:solidFill>
              </a:rPr>
              <a:t>Check the date before you copy the code.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6355080"/>
            <a:ext cx="8321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9AA6C2"/>
                </a:solidFill>
              </a:rPr>
              <a:t>Sources: GitHub Models retired · MCP spec 2026-07-28 · OpenAI API deprecations · MAF Python 2026 changes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/>
              <a:t>Lab 3 — Two agents and a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0058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8661C5"/>
                </a:solidFill>
              </a:rPr>
              <a:t>HANDS-ON LAB · SEGMENT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" y="137160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866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YOUR 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783080"/>
            <a:ext cx="4206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2A446F"/>
                </a:solidFill>
              </a:rPr>
              <a:t>Give an agent your Lab 2 MCP server, chain two agents into a workflow, add a critic — and look inside.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" y="3063240"/>
            <a:ext cx="4206240" cy="1234440"/>
          </a:xfrm>
          <a:prstGeom prst="roundRect">
            <a:avLst>
              <a:gd name="adj" fmla="val 6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86384" y="3227832"/>
            <a:ext cx="380390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A7F5C"/>
                </a:solidFill>
              </a:rPr>
              <a:t>CHECKPOINT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3685032"/>
            <a:ext cx="380390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F1F1F"/>
                </a:solidFill>
              </a:rPr>
              <a:t>A traced two-agent run over your Lab 2 docs: cited notes, then a short customer reply.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" y="4434840"/>
            <a:ext cx="4206240" cy="1325880"/>
          </a:xfrm>
          <a:prstGeom prst="roundRect">
            <a:avLst>
              <a:gd name="adj" fmla="val 6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86384" y="4599431"/>
            <a:ext cx="380390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8661C5"/>
                </a:solidFill>
              </a:rPr>
              <a:t>STRETCH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5056631"/>
            <a:ext cx="380390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F1F1F"/>
                </a:solidFill>
              </a:rPr>
              <a:t>LangGraph + checkpoints (06) · DevUI (07) · TypeScript: AI SDK 7 ToolLoopAgent · the same agent on DeepSeek, Kimi or Ollama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1417320"/>
            <a:ext cx="5074920" cy="1816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1F1F1F"/>
                </a:solidFill>
              </a:rPr>
              <a:t>1. Agent + tools + a session — 01_agent (core)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1F1F1F"/>
                </a:solidFill>
              </a:rPr>
              <a:t>2. Agent + your MCP server — 02_agent_with_mcp (core)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1F1F1F"/>
                </a:solidFill>
              </a:rPr>
              <a:t>3. Researcher → writer — 03_workflow, TODO 1 (core)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1F1F1F"/>
                </a:solidFill>
              </a:rPr>
              <a:t>4. A critic: fixed order + APPROVED exit — 04_critic, TODO 2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1F1F1F"/>
                </a:solidFill>
              </a:rPr>
              <a:t>5. Tracing to the console — 05_tracing, TODO 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4920" y="3507740"/>
            <a:ext cx="5074920" cy="110744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276088" y="3672332"/>
            <a:ext cx="4663440" cy="833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A446F"/>
                </a:solidFill>
              </a:rPr>
              <a:t>Code: labs/03-agents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1F1F1F"/>
                </a:solidFill>
              </a:rPr>
              <a:t>Fallback: Ollama qwen3.5:4b (GENAI_REASONING_EFFORT=none) or the instructor mock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47980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8661C5"/>
                </a:solidFill>
              </a:rPr>
              <a:t>PICK ONE STACK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74920" y="5090668"/>
            <a:ext cx="1609344" cy="310896"/>
          </a:xfrm>
          <a:prstGeom prst="roundRect">
            <a:avLst>
              <a:gd name="adj" fmla="val 50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2A446F"/>
                </a:solidFill>
              </a:rPr>
              <a:t>PYTHON · MAF 1.19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93992" y="5090668"/>
            <a:ext cx="1609344" cy="310896"/>
          </a:xfrm>
          <a:prstGeom prst="roundRect">
            <a:avLst>
              <a:gd name="adj" fmla="val 50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2A446F"/>
                </a:solidFill>
              </a:rPr>
              <a:t>C# · MAF 1.22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13063" y="5090668"/>
            <a:ext cx="1609344" cy="310896"/>
          </a:xfrm>
          <a:prstGeom prst="roundRect">
            <a:avLst>
              <a:gd name="adj" fmla="val 50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2A446F"/>
                </a:solidFill>
              </a:rPr>
              <a:t>TS · AI SDK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" y="6355080"/>
            <a:ext cx="8321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</a:rPr>
              <a:t>Sources: Lab 3 (labs/03-agents, tested 2026-09-22/23)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/>
              <a:t>Three things to keep from Segment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0058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8661C5"/>
                </a:solidFill>
              </a:rPr>
              <a:t>SEGMENT 3 · THE WORLD OF AGENTS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" y="1463040"/>
            <a:ext cx="3066287" cy="2514600"/>
          </a:xfrm>
          <a:prstGeom prst="roundRect">
            <a:avLst>
              <a:gd name="adj" fmla="val 6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786384" y="1664208"/>
            <a:ext cx="457200" cy="457200"/>
          </a:xfrm>
          <a:prstGeom prst="ellipse">
            <a:avLst/>
          </a:prstGeom>
          <a:solidFill>
            <a:srgbClr val="866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286000"/>
            <a:ext cx="26639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8661C5"/>
                </a:solidFill>
              </a:rPr>
              <a:t>A LOOP WITH A RUNTIME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697480"/>
            <a:ext cx="2663952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F1F1F"/>
                </a:solidFill>
              </a:rPr>
              <a:t>An agent is the Segment 1 tool loop plus a runtime that owns budget, memory, tools and permissions.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80104" y="1463040"/>
            <a:ext cx="3066287" cy="2514600"/>
          </a:xfrm>
          <a:prstGeom prst="roundRect">
            <a:avLst>
              <a:gd name="adj" fmla="val 6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4081271" y="1664208"/>
            <a:ext cx="457200" cy="457200"/>
          </a:xfrm>
          <a:prstGeom prst="ellipse">
            <a:avLst/>
          </a:prstGeom>
          <a:solidFill>
            <a:srgbClr val="866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81271" y="2286000"/>
            <a:ext cx="26639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8661C5"/>
                </a:solidFill>
              </a:rPr>
              <a:t>TEAMS HAVE NAMES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81271" y="2697480"/>
            <a:ext cx="2663952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F1F1F"/>
                </a:solidFill>
              </a:rPr>
              <a:t>Sequential, concurrent, handoff, group chat, Magentic — pick the pattern first, then the framework.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74991" y="1463040"/>
            <a:ext cx="3066287" cy="2514600"/>
          </a:xfrm>
          <a:prstGeom prst="roundRect">
            <a:avLst>
              <a:gd name="adj" fmla="val 6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7376160" y="1664208"/>
            <a:ext cx="457200" cy="457200"/>
          </a:xfrm>
          <a:prstGeom prst="ellipse">
            <a:avLst/>
          </a:prstGeom>
          <a:solidFill>
            <a:srgbClr val="866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76160" y="2286000"/>
            <a:ext cx="26639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8661C5"/>
                </a:solidFill>
              </a:rPr>
              <a:t>GUARD AND TRACE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76160" y="2697480"/>
            <a:ext cx="2663952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F1F1F"/>
                </a:solidFill>
              </a:rPr>
              <a:t>Check the dangerous tool call before it runs; OTel spans show what every step cost.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5216" y="4297680"/>
            <a:ext cx="9656063" cy="960120"/>
          </a:xfrm>
          <a:prstGeom prst="roundRect">
            <a:avLst>
              <a:gd name="adj" fmla="val 12000"/>
            </a:avLst>
          </a:prstGeom>
          <a:solidFill>
            <a:srgbClr val="E86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59536" y="438912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</a:rPr>
              <a:t>NEXT · SEGMENT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4681728"/>
            <a:ext cx="910742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</a:rPr>
              <a:t>Local AI, media &amp; beyond the West</a:t>
            </a:r>
            <a:r>
              <a:rPr sz="1800" b="0" i="0">
                <a:solidFill>
                  <a:srgbClr val="FFFFFF"/>
                </a:solidFill>
              </a:rPr>
              <a:t> — slot machine → instrument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" y="6355080"/>
            <a:ext cx="8321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</a:rPr>
              <a:t>Sources: Narrative plan v001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sz="1800">
                <a:solidFill>
                  <a:srgbClr val="C8D0E8"/>
                </a:solidFill>
              </a:rPr>
              <a:t>daenet — an ACP Digital company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5120640"/>
            <a:ext cx="5486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</a:rPr>
              <a:t>Every source of today: appendix A-01 (References).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9AA6C2"/>
                </a:solidFill>
              </a:rPr>
              <a:t>Building Stuff with GenAI · the open-minded workshop beyond OpenAI</a:t>
            </a:r>
          </a:p>
        </p:txBody>
      </p:sp>
      <p:pic>
        <p:nvPicPr>
          <p:cNvPr id="5" name="Picture 4" descr="div_titl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868680"/>
            <a:ext cx="2971800" cy="4892040"/>
          </a:xfrm>
          <a:prstGeom prst="roundRect">
            <a:avLst>
              <a:gd name="adj" fmla="val 4000"/>
            </a:avLst>
          </a:prstGeom>
        </p:spPr>
      </p:pic>
      <p:sp>
        <p:nvSpPr>
          <p:cNvPr id="6" name="Rounded Rectangle 5"/>
          <p:cNvSpPr/>
          <p:nvPr/>
        </p:nvSpPr>
        <p:spPr>
          <a:xfrm>
            <a:off x="585216" y="4434840"/>
            <a:ext cx="5120640" cy="548640"/>
          </a:xfrm>
          <a:prstGeom prst="roundRect">
            <a:avLst>
              <a:gd name="adj" fmla="val 8000"/>
            </a:avLst>
          </a:prstGeom>
          <a:solidFill>
            <a:srgbClr val="141E46"/>
          </a:solidFill>
          <a:ln w="12700">
            <a:solidFill>
              <a:srgbClr val="9AA6C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0" i="1">
                <a:solidFill>
                  <a:srgbClr val="9AA6C2"/>
                </a:solidFill>
              </a:rPr>
              <a:t>CONTACT · E-MAIL · QR — to be added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FFFFFF"/>
                </a:solidFill>
              </a:rPr>
              <a:t>Appendix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sz="1800">
                <a:solidFill>
                  <a:srgbClr val="C8D0E8"/>
                </a:solidFill>
              </a:rPr>
              <a:t>Reference slides — not presented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874519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B900"/>
                </a:solidFill>
              </a:rPr>
              <a:t>BUILDING STUFF WITH GENAI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50749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9AA6C2"/>
                </a:solidFill>
              </a:rPr>
              <a:t>Facts as of 2026-09-21 · built 2026-09-23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14300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B900"/>
                </a:solidFill>
              </a:rPr>
              <a:t>IN THIS APPENDIX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554480"/>
            <a:ext cx="292608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FFFFFF"/>
                </a:solidFill>
              </a:rPr>
              <a:t>A-01</a:t>
            </a:r>
            <a:r>
              <a:rPr sz="1300" b="0" i="0">
                <a:solidFill>
                  <a:srgbClr val="FFFFFF"/>
                </a:solidFill>
              </a:rPr>
              <a:t>   References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/>
              <a:t>Every source cited in this deck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0058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78D4"/>
                </a:solidFill>
              </a:rPr>
              <a:t>APPENDIX · SOURCES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5216" y="1371600"/>
          <a:ext cx="9656064" cy="3157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3240"/>
                <a:gridCol w="3931920"/>
                <a:gridCol w="868680"/>
                <a:gridCol w="1792224"/>
              </a:tblGrid>
              <a:tr h="22555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 marL="54864" marR="54864" marT="32004" marB="32004" anchor="ctr">
                    <a:solidFill>
                      <a:srgbClr val="2A44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Link</a:t>
                      </a:r>
                    </a:p>
                  </a:txBody>
                  <a:tcPr marL="54864" marR="54864" marT="32004" marB="32004" anchor="ctr">
                    <a:solidFill>
                      <a:srgbClr val="2A44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Checked</a:t>
                      </a:r>
                    </a:p>
                  </a:txBody>
                  <a:tcPr marL="54864" marR="54864" marT="32004" marB="32004" anchor="ctr">
                    <a:solidFill>
                      <a:srgbClr val="2A44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Used on</a:t>
                      </a:r>
                    </a:p>
                  </a:txBody>
                  <a:tcPr marL="54864" marR="54864" marT="32004" marB="32004" anchor="ctr">
                    <a:solidFill>
                      <a:srgbClr val="2A446F"/>
                    </a:solidFill>
                  </a:tcPr>
                </a:tc>
              </a:tr>
              <a:tr h="225551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Workshop plan v001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00_Workshop_Plan.md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2026‑09‑22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F-04-S3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</a:tr>
              <a:tr h="225551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labs/.env.example</a:t>
                      </a:r>
                    </a:p>
                  </a:txBody>
                  <a:tcPr marL="54864" marR="54864" marT="32004" marB="32004" anchor="t"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labs/.env.example</a:t>
                      </a:r>
                    </a:p>
                  </a:txBody>
                  <a:tcPr marL="54864" marR="54864" marT="32004" marB="32004" anchor="t"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2026‑09‑23</a:t>
                      </a:r>
                    </a:p>
                  </a:txBody>
                  <a:tcPr marL="54864" marR="54864" marT="32004" marB="32004" anchor="t"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F-05-S3</a:t>
                      </a:r>
                    </a:p>
                  </a:txBody>
                  <a:tcPr marL="54864" marR="54864" marT="32004" marB="32004" anchor="t">
                    <a:solidFill>
                      <a:srgbClr val="F3F4F8"/>
                    </a:solidFill>
                  </a:tcPr>
                </a:tc>
              </a:tr>
              <a:tr h="225551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labs/00-setup/SETUP.md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labs/00-setup/SETUP.md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2026‑09‑23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F-05-S3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</a:tr>
              <a:tr h="225551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Gateway policy attendee-policy.xml</a:t>
                      </a:r>
                    </a:p>
                  </a:txBody>
                  <a:tcPr marL="54864" marR="54864" marT="32004" marB="32004" anchor="t"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infra/policies/attendee-policy.xml</a:t>
                      </a:r>
                    </a:p>
                  </a:txBody>
                  <a:tcPr marL="54864" marR="54864" marT="32004" marB="32004" anchor="t"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2026‑09‑19</a:t>
                      </a:r>
                    </a:p>
                  </a:txBody>
                  <a:tcPr marL="54864" marR="54864" marT="32004" marB="32004" anchor="t"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F-05-S3</a:t>
                      </a:r>
                    </a:p>
                  </a:txBody>
                  <a:tcPr marL="54864" marR="54864" marT="32004" marB="32004" anchor="t">
                    <a:solidFill>
                      <a:srgbClr val="F3F4F8"/>
                    </a:solidFill>
                  </a:tcPr>
                </a:tc>
              </a:tr>
              <a:tr h="225551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LLM 101 (Day of Data 2026) slides 58–65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LLM_101_100.pptx (Day of Data 2026)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2026‑09‑23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S3‑02, S3‑03, S3‑04 +5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</a:tr>
              <a:tr h="225551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Yao et al. 2022, ReAct</a:t>
                      </a:r>
                    </a:p>
                  </a:txBody>
                  <a:tcPr marL="54864" marR="54864" marT="32004" marB="32004" anchor="t"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  <a:hlinkClick r:id="rId3"/>
                        </a:rPr>
                        <a:t>arxiv.org/abs/2210.03629</a:t>
                      </a:r>
                    </a:p>
                  </a:txBody>
                  <a:tcPr marL="54864" marR="54864" marT="32004" marB="32004" anchor="t"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2026‑09‑23</a:t>
                      </a:r>
                    </a:p>
                  </a:txBody>
                  <a:tcPr marL="54864" marR="54864" marT="32004" marB="32004" anchor="t"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S3‑02, S3‑04</a:t>
                      </a:r>
                    </a:p>
                  </a:txBody>
                  <a:tcPr marL="54864" marR="54864" marT="32004" marB="32004" anchor="t">
                    <a:solidFill>
                      <a:srgbClr val="F3F4F8"/>
                    </a:solidFill>
                  </a:tcPr>
                </a:tc>
              </a:tr>
              <a:tr h="225551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Shinn et al. 2023, Reflexion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  <a:hlinkClick r:id="rId4"/>
                        </a:rPr>
                        <a:t>arxiv.org/abs/2303.11366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2026‑09‑23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S3‑04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</a:tr>
              <a:tr h="225551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GitHub Docs: about Copilot CLI</a:t>
                      </a:r>
                    </a:p>
                  </a:txBody>
                  <a:tcPr marL="54864" marR="54864" marT="32004" marB="32004" anchor="t"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  <a:hlinkClick r:id="rId5"/>
                        </a:rPr>
                        <a:t>docs.github.com/en/copilot/concepts/agent…bout-copilot-cli</a:t>
                      </a:r>
                    </a:p>
                  </a:txBody>
                  <a:tcPr marL="54864" marR="54864" marT="32004" marB="32004" anchor="t"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2026‑09‑19</a:t>
                      </a:r>
                    </a:p>
                  </a:txBody>
                  <a:tcPr marL="54864" marR="54864" marT="32004" marB="32004" anchor="t"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S3‑06, S3-D4</a:t>
                      </a:r>
                    </a:p>
                  </a:txBody>
                  <a:tcPr marL="54864" marR="54864" marT="32004" marB="32004" anchor="t">
                    <a:solidFill>
                      <a:srgbClr val="F3F4F8"/>
                    </a:solidFill>
                  </a:tcPr>
                </a:tc>
              </a:tr>
              <a:tr h="225551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Claude Help: Claude Code with Pro/Max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  <a:hlinkClick r:id="rId6"/>
                        </a:rPr>
                        <a:t>support.claude.com/en/articles/11145838-u…-pro-or-max-plan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2026‑09‑19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S3‑06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</a:tr>
              <a:tr h="225551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agentskills.io</a:t>
                      </a:r>
                    </a:p>
                  </a:txBody>
                  <a:tcPr marL="54864" marR="54864" marT="32004" marB="32004" anchor="t"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  <a:hlinkClick r:id="rId7"/>
                        </a:rPr>
                        <a:t>agentskills.io</a:t>
                      </a:r>
                    </a:p>
                  </a:txBody>
                  <a:tcPr marL="54864" marR="54864" marT="32004" marB="32004" anchor="t"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2026‑09‑19</a:t>
                      </a:r>
                    </a:p>
                  </a:txBody>
                  <a:tcPr marL="54864" marR="54864" marT="32004" marB="32004" anchor="t"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S3‑06, S3‑08</a:t>
                      </a:r>
                    </a:p>
                  </a:txBody>
                  <a:tcPr marL="54864" marR="54864" marT="32004" marB="32004" anchor="t">
                    <a:solidFill>
                      <a:srgbClr val="F3F4F8"/>
                    </a:solidFill>
                  </a:tcPr>
                </a:tc>
              </a:tr>
              <a:tr h="225551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Foundry Agent Service overview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  <a:hlinkClick r:id="rId8"/>
                        </a:rPr>
                        <a:t>learn.microsoft.com/en-us/azure/foundry/agents/overview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2026‑09‑19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S3‑07, S3‑19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</a:tr>
              <a:tr h="225551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Lab 2 eval (labs/02-rag-mcp)</a:t>
                      </a:r>
                    </a:p>
                  </a:txBody>
                  <a:tcPr marL="54864" marR="54864" marT="32004" marB="32004" anchor="t"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labs/02-rag-mcp/README.md</a:t>
                      </a:r>
                    </a:p>
                  </a:txBody>
                  <a:tcPr marL="54864" marR="54864" marT="32004" marB="32004" anchor="t"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2026‑09‑22</a:t>
                      </a:r>
                    </a:p>
                  </a:txBody>
                  <a:tcPr marL="54864" marR="54864" marT="32004" marB="32004" anchor="t"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S3-D4, S3‑25</a:t>
                      </a:r>
                    </a:p>
                  </a:txBody>
                  <a:tcPr marL="54864" marR="54864" marT="32004" marB="32004" anchor="t">
                    <a:solidFill>
                      <a:srgbClr val="F3F4F8"/>
                    </a:solidFill>
                  </a:tcPr>
                </a:tc>
              </a:tr>
              <a:tr h="225551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Lab 3 (labs/03-agents, tested 2026‑09‑22/23)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labs/03-agents/README.md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2026‑09‑23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S3‑09, S3‑10, S3‑14 +6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/>
              <a:t>Every source cited in this deck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0058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78D4"/>
                </a:solidFill>
              </a:rPr>
              <a:t>APPENDIX · SOURCES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5216" y="1371600"/>
          <a:ext cx="9656064" cy="3157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3240"/>
                <a:gridCol w="3931920"/>
                <a:gridCol w="868680"/>
                <a:gridCol w="1792224"/>
              </a:tblGrid>
              <a:tr h="22555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 marL="54864" marR="54864" marT="32004" marB="32004" anchor="ctr">
                    <a:solidFill>
                      <a:srgbClr val="2A44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Link</a:t>
                      </a:r>
                    </a:p>
                  </a:txBody>
                  <a:tcPr marL="54864" marR="54864" marT="32004" marB="32004" anchor="ctr">
                    <a:solidFill>
                      <a:srgbClr val="2A44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Checked</a:t>
                      </a:r>
                    </a:p>
                  </a:txBody>
                  <a:tcPr marL="54864" marR="54864" marT="32004" marB="32004" anchor="ctr">
                    <a:solidFill>
                      <a:srgbClr val="2A44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Used on</a:t>
                      </a:r>
                    </a:p>
                  </a:txBody>
                  <a:tcPr marL="54864" marR="54864" marT="32004" marB="32004" anchor="ctr">
                    <a:solidFill>
                      <a:srgbClr val="2A446F"/>
                    </a:solidFill>
                  </a:tcPr>
                </a:tc>
              </a:tr>
              <a:tr h="225551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Snippet verification 2026‑09‑22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research/2026‑09‑22_framework-snippet-verification.md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2026‑09‑22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S3‑09, S3‑10, S3‑11 +8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</a:tr>
              <a:tr h="225551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MAF Python 2026 changes</a:t>
                      </a:r>
                    </a:p>
                  </a:txBody>
                  <a:tcPr marL="54864" marR="54864" marT="32004" marB="32004" anchor="t"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  <a:hlinkClick r:id="rId3"/>
                        </a:rPr>
                        <a:t>learn.microsoft.com/en-us/agent-framework…nificant-changes</a:t>
                      </a:r>
                    </a:p>
                  </a:txBody>
                  <a:tcPr marL="54864" marR="54864" marT="32004" marB="32004" anchor="t"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2026‑09‑19</a:t>
                      </a:r>
                    </a:p>
                  </a:txBody>
                  <a:tcPr marL="54864" marR="54864" marT="32004" marB="32004" anchor="t"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S3‑09, S3‑26</a:t>
                      </a:r>
                    </a:p>
                  </a:txBody>
                  <a:tcPr marL="54864" marR="54864" marT="32004" marB="32004" anchor="t">
                    <a:solidFill>
                      <a:srgbClr val="F3F4F8"/>
                    </a:solidFill>
                  </a:tcPr>
                </a:tc>
              </a:tr>
              <a:tr h="225551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Framework landscape 2026‑09‑19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research/2026‑09‑19_framework-landscape.md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2026‑09‑19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S3‑10, S3‑12, S3‑15 +4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</a:tr>
              <a:tr h="225551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LangChain v1 release notes</a:t>
                      </a:r>
                    </a:p>
                  </a:txBody>
                  <a:tcPr marL="54864" marR="54864" marT="32004" marB="32004" anchor="t"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  <a:hlinkClick r:id="rId4"/>
                        </a:rPr>
                        <a:t>docs.langchain.com/oss/python/releases/langchain-v1</a:t>
                      </a:r>
                    </a:p>
                  </a:txBody>
                  <a:tcPr marL="54864" marR="54864" marT="32004" marB="32004" anchor="t"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2026‑09‑19</a:t>
                      </a:r>
                    </a:p>
                  </a:txBody>
                  <a:tcPr marL="54864" marR="54864" marT="32004" marB="32004" anchor="t"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S3‑11</a:t>
                      </a:r>
                    </a:p>
                  </a:txBody>
                  <a:tcPr marL="54864" marR="54864" marT="32004" marB="32004" anchor="t">
                    <a:solidFill>
                      <a:srgbClr val="F3F4F8"/>
                    </a:solidFill>
                  </a:tcPr>
                </a:tc>
              </a:tr>
              <a:tr h="225551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OpenAI Agents SDK harness (2026‑04‑15)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  <a:hlinkClick r:id="rId5"/>
                        </a:rPr>
                        <a:t>openai.com/index/the-next-evolution-of-the-agents-sdk/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2026‑09‑23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S3‑12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</a:tr>
              <a:tr h="225551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Pydantic AI docs: MCP</a:t>
                      </a:r>
                    </a:p>
                  </a:txBody>
                  <a:tcPr marL="54864" marR="54864" marT="32004" marB="32004" anchor="t"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  <a:hlinkClick r:id="rId6"/>
                        </a:rPr>
                        <a:t>pydantic.dev/docs/ai/mcp/overview/</a:t>
                      </a:r>
                    </a:p>
                  </a:txBody>
                  <a:tcPr marL="54864" marR="54864" marT="32004" marB="32004" anchor="t"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2026‑09‑23</a:t>
                      </a:r>
                    </a:p>
                  </a:txBody>
                  <a:tcPr marL="54864" marR="54864" marT="32004" marB="32004" anchor="t"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S3‑12</a:t>
                      </a:r>
                    </a:p>
                  </a:txBody>
                  <a:tcPr marL="54864" marR="54864" marT="32004" marB="32004" anchor="t">
                    <a:solidFill>
                      <a:srgbClr val="F3F4F8"/>
                    </a:solidFill>
                  </a:tcPr>
                </a:tc>
              </a:tr>
              <a:tr h="225551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Model catalog §10 (checked 2026‑09‑21)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05_Model_Catalog_2026‑09.md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2026‑09‑21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S3‑13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</a:tr>
              <a:tr h="225551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Foundry provisioning plan §2–3</a:t>
                      </a:r>
                    </a:p>
                  </a:txBody>
                  <a:tcPr marL="54864" marR="54864" marT="32004" marB="32004" anchor="t"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01_Foundry_Provisioning_Plan.md</a:t>
                      </a:r>
                    </a:p>
                  </a:txBody>
                  <a:tcPr marL="54864" marR="54864" marT="32004" marB="32004" anchor="t"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2026‑09‑19</a:t>
                      </a:r>
                    </a:p>
                  </a:txBody>
                  <a:tcPr marL="54864" marR="54864" marT="32004" marB="32004" anchor="t"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S3‑13, S3‑22</a:t>
                      </a:r>
                    </a:p>
                  </a:txBody>
                  <a:tcPr marL="54864" marR="54864" marT="32004" marB="32004" anchor="t">
                    <a:solidFill>
                      <a:srgbClr val="F3F4F8"/>
                    </a:solidFill>
                  </a:tcPr>
                </a:tc>
              </a:tr>
              <a:tr h="225551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MAF docs: sequential orchestration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  <a:hlinkClick r:id="rId7"/>
                        </a:rPr>
                        <a:t>learn.microsoft.com/en-us/agent-framework…tions/sequential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2026‑09‑19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S3‑15, S3‑16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</a:tr>
              <a:tr h="225551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Cursor docs: subagents</a:t>
                      </a:r>
                    </a:p>
                  </a:txBody>
                  <a:tcPr marL="54864" marR="54864" marT="32004" marB="32004" anchor="t"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  <a:hlinkClick r:id="rId8"/>
                        </a:rPr>
                        <a:t>cursor.com/docs/subagents</a:t>
                      </a:r>
                    </a:p>
                  </a:txBody>
                  <a:tcPr marL="54864" marR="54864" marT="32004" marB="32004" anchor="t"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2026‑09‑23</a:t>
                      </a:r>
                    </a:p>
                  </a:txBody>
                  <a:tcPr marL="54864" marR="54864" marT="32004" marB="32004" anchor="t"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S3‑18</a:t>
                      </a:r>
                    </a:p>
                  </a:txBody>
                  <a:tcPr marL="54864" marR="54864" marT="32004" marB="32004" anchor="t">
                    <a:solidFill>
                      <a:srgbClr val="F3F4F8"/>
                    </a:solidFill>
                  </a:tcPr>
                </a:tc>
              </a:tr>
              <a:tr h="225551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Codex docs: subagents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  <a:hlinkClick r:id="rId9"/>
                        </a:rPr>
                        <a:t>developers.openai.com/codex/subagents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2026‑09‑23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S3‑18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</a:tr>
              <a:tr h="225551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goose: subagents</a:t>
                      </a:r>
                    </a:p>
                  </a:txBody>
                  <a:tcPr marL="54864" marR="54864" marT="32004" marB="32004" anchor="t"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  <a:hlinkClick r:id="rId10"/>
                        </a:rPr>
                        <a:t>block.github.io/goose/blog/2025/09/26/sub…s-vs-subrecipes/</a:t>
                      </a:r>
                    </a:p>
                  </a:txBody>
                  <a:tcPr marL="54864" marR="54864" marT="32004" marB="32004" anchor="t"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2026‑09‑23</a:t>
                      </a:r>
                    </a:p>
                  </a:txBody>
                  <a:tcPr marL="54864" marR="54864" marT="32004" marB="32004" anchor="t"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S3‑18</a:t>
                      </a:r>
                    </a:p>
                  </a:txBody>
                  <a:tcPr marL="54864" marR="54864" marT="32004" marB="32004" anchor="t">
                    <a:solidFill>
                      <a:srgbClr val="F3F4F8"/>
                    </a:solidFill>
                  </a:tcPr>
                </a:tc>
              </a:tr>
              <a:tr h="225551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Foundry hosted agents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  <a:hlinkClick r:id="rId11"/>
                        </a:rPr>
                        <a:t>learn.microsoft.com/en-us/azure/foundry/a…ts/hosted-agents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2026‑09‑19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S3‑19, S3‑20, S3-D3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/>
              <a:t>Every source cited in this deck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0058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78D4"/>
                </a:solidFill>
              </a:rPr>
              <a:t>APPENDIX · SOURCES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5216" y="1371600"/>
          <a:ext cx="9656064" cy="3157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3240"/>
                <a:gridCol w="3931920"/>
                <a:gridCol w="868680"/>
                <a:gridCol w="1792224"/>
              </a:tblGrid>
              <a:tr h="22555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 marL="54864" marR="54864" marT="32004" marB="32004" anchor="ctr">
                    <a:solidFill>
                      <a:srgbClr val="2A44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Link</a:t>
                      </a:r>
                    </a:p>
                  </a:txBody>
                  <a:tcPr marL="54864" marR="54864" marT="32004" marB="32004" anchor="ctr">
                    <a:solidFill>
                      <a:srgbClr val="2A44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Checked</a:t>
                      </a:r>
                    </a:p>
                  </a:txBody>
                  <a:tcPr marL="54864" marR="54864" marT="32004" marB="32004" anchor="ctr">
                    <a:solidFill>
                      <a:srgbClr val="2A44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Used on</a:t>
                      </a:r>
                    </a:p>
                  </a:txBody>
                  <a:tcPr marL="54864" marR="54864" marT="32004" marB="32004" anchor="ctr">
                    <a:solidFill>
                      <a:srgbClr val="2A446F"/>
                    </a:solidFill>
                  </a:tcPr>
                </a:tc>
              </a:tr>
              <a:tr h="225551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Foundry access research 2026‑09‑19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research/2026‑09‑19_foundry-access-for-workshop.md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2026‑09‑19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S3‑20, S3-D3, S3‑22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</a:tr>
              <a:tr h="225551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Foundry authentication</a:t>
                      </a:r>
                    </a:p>
                  </a:txBody>
                  <a:tcPr marL="54864" marR="54864" marT="32004" marB="32004" anchor="t"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  <a:hlinkClick r:id="rId3"/>
                        </a:rPr>
                        <a:t>learn.microsoft.com/en-us/azure/foundry/c…rization-foundry</a:t>
                      </a:r>
                    </a:p>
                  </a:txBody>
                  <a:tcPr marL="54864" marR="54864" marT="32004" marB="32004" anchor="t"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2026‑09‑19</a:t>
                      </a:r>
                    </a:p>
                  </a:txBody>
                  <a:tcPr marL="54864" marR="54864" marT="32004" marB="32004" anchor="t"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S3‑20</a:t>
                      </a:r>
                    </a:p>
                  </a:txBody>
                  <a:tcPr marL="54864" marR="54864" marT="32004" marB="32004" anchor="t">
                    <a:solidFill>
                      <a:srgbClr val="F3F4F8"/>
                    </a:solidFill>
                  </a:tcPr>
                </a:tc>
              </a:tr>
              <a:tr h="225551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OpenTelemetry: GenAI observability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  <a:hlinkClick r:id="rId4"/>
                        </a:rPr>
                        <a:t>opentelemetry.io/blog/2026/genai-observability/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2026‑09‑19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S3‑21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</a:tr>
              <a:tr h="225551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Model catalog §1 (checked 2026‑09‑21)</a:t>
                      </a:r>
                    </a:p>
                  </a:txBody>
                  <a:tcPr marL="54864" marR="54864" marT="32004" marB="32004" anchor="t"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05_Model_Catalog_2026‑09.md</a:t>
                      </a:r>
                    </a:p>
                  </a:txBody>
                  <a:tcPr marL="54864" marR="54864" marT="32004" marB="32004" anchor="t"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2026‑09‑21</a:t>
                      </a:r>
                    </a:p>
                  </a:txBody>
                  <a:tcPr marL="54864" marR="54864" marT="32004" marB="32004" anchor="t"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S3‑22</a:t>
                      </a:r>
                    </a:p>
                  </a:txBody>
                  <a:tcPr marL="54864" marR="54864" marT="32004" marB="32004" anchor="t">
                    <a:solidFill>
                      <a:srgbClr val="F3F4F8"/>
                    </a:solidFill>
                  </a:tcPr>
                </a:tc>
              </a:tr>
              <a:tr h="225551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APIM llm-token-limit policy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  <a:hlinkClick r:id="rId5"/>
                        </a:rPr>
                        <a:t>learn.microsoft.com/en-us/azure/api-manag…ken-limit-policy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2026‑09‑19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S3‑22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</a:tr>
              <a:tr h="225551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Willison: prompt injection series</a:t>
                      </a:r>
                    </a:p>
                  </a:txBody>
                  <a:tcPr marL="54864" marR="54864" marT="32004" marB="32004" anchor="t"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  <a:hlinkClick r:id="rId6"/>
                        </a:rPr>
                        <a:t>simonwillison.net/series/prompt-injection</a:t>
                      </a:r>
                    </a:p>
                  </a:txBody>
                  <a:tcPr marL="54864" marR="54864" marT="32004" marB="32004" anchor="t"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2026‑09‑23</a:t>
                      </a:r>
                    </a:p>
                  </a:txBody>
                  <a:tcPr marL="54864" marR="54864" marT="32004" marB="32004" anchor="t"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S3‑23</a:t>
                      </a:r>
                    </a:p>
                  </a:txBody>
                  <a:tcPr marL="54864" marR="54864" marT="32004" marB="32004" anchor="t">
                    <a:solidFill>
                      <a:srgbClr val="F3F4F8"/>
                    </a:solidFill>
                  </a:tcPr>
                </a:tc>
              </a:tr>
              <a:tr h="225551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Model catalog §4 (checked 2026‑09‑21)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05_Model_Catalog_2026‑09.md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2026‑09‑21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S3‑24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</a:tr>
              <a:tr h="225551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Jev / System One research 2026‑09‑21</a:t>
                      </a:r>
                    </a:p>
                  </a:txBody>
                  <a:tcPr marL="54864" marR="54864" marT="32004" marB="32004" anchor="t"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research/2026‑09‑21_jev-system-one-models.md</a:t>
                      </a:r>
                    </a:p>
                  </a:txBody>
                  <a:tcPr marL="54864" marR="54864" marT="32004" marB="32004" anchor="t"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2026‑09‑21</a:t>
                      </a:r>
                    </a:p>
                  </a:txBody>
                  <a:tcPr marL="54864" marR="54864" marT="32004" marB="32004" anchor="t"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S3‑24</a:t>
                      </a:r>
                    </a:p>
                  </a:txBody>
                  <a:tcPr marL="54864" marR="54864" marT="32004" marB="32004" anchor="t">
                    <a:solidFill>
                      <a:srgbClr val="F3F4F8"/>
                    </a:solidFill>
                  </a:tcPr>
                </a:tc>
              </a:tr>
              <a:tr h="225551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LangChain: a harness with Jev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  <a:hlinkClick r:id="rId7"/>
                        </a:rPr>
                        <a:t>langchain.com/blog/building-a-harness-with-jev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2026‑09‑21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S3‑24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</a:tr>
              <a:tr h="225551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GitHub Models retired</a:t>
                      </a:r>
                    </a:p>
                  </a:txBody>
                  <a:tcPr marL="54864" marR="54864" marT="32004" marB="32004" anchor="t"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  <a:hlinkClick r:id="rId8"/>
                        </a:rPr>
                        <a:t>github.blog/changelog/2026‑07‑30-github-m…-is-now-retired/</a:t>
                      </a:r>
                    </a:p>
                  </a:txBody>
                  <a:tcPr marL="54864" marR="54864" marT="32004" marB="32004" anchor="t"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2026‑09‑19</a:t>
                      </a:r>
                    </a:p>
                  </a:txBody>
                  <a:tcPr marL="54864" marR="54864" marT="32004" marB="32004" anchor="t"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S3‑26</a:t>
                      </a:r>
                    </a:p>
                  </a:txBody>
                  <a:tcPr marL="54864" marR="54864" marT="32004" marB="32004" anchor="t">
                    <a:solidFill>
                      <a:srgbClr val="F3F4F8"/>
                    </a:solidFill>
                  </a:tcPr>
                </a:tc>
              </a:tr>
              <a:tr h="225551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MCP spec 2026‑07‑28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  <a:hlinkClick r:id="rId9"/>
                        </a:rPr>
                        <a:t>blog.modelcontextprotocol.io/posts/2026‑07‑28/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2026‑09‑19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S3‑26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</a:tr>
              <a:tr h="225551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OpenAI API deprecations</a:t>
                      </a:r>
                    </a:p>
                  </a:txBody>
                  <a:tcPr marL="54864" marR="54864" marT="32004" marB="32004" anchor="t"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  <a:hlinkClick r:id="rId10"/>
                        </a:rPr>
                        <a:t>developers.openai.com/api/docs/deprecations</a:t>
                      </a:r>
                    </a:p>
                  </a:txBody>
                  <a:tcPr marL="54864" marR="54864" marT="32004" marB="32004" anchor="t"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2026‑09‑19</a:t>
                      </a:r>
                    </a:p>
                  </a:txBody>
                  <a:tcPr marL="54864" marR="54864" marT="32004" marB="32004" anchor="t"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S3‑26</a:t>
                      </a:r>
                    </a:p>
                  </a:txBody>
                  <a:tcPr marL="54864" marR="54864" marT="32004" marB="32004" anchor="t">
                    <a:solidFill>
                      <a:srgbClr val="F3F4F8"/>
                    </a:solidFill>
                  </a:tcPr>
                </a:tc>
              </a:tr>
              <a:tr h="225551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Narrative plan v001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06_Narrative_Plan_v001.md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2026‑09‑22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</a:rPr>
                        <a:t>E-01-S3</a:t>
                      </a:r>
                    </a:p>
                  </a:txBody>
                  <a:tcPr marL="54864" marR="54864" marT="32004" marB="32004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Microsoft Build 16:9 Template Light">
  <a:themeElements>
    <a:clrScheme name="Custom 80">
      <a:dk1>
        <a:srgbClr val="000000"/>
      </a:dk1>
      <a:lt1>
        <a:srgbClr val="FFFFFF"/>
      </a:lt1>
      <a:dk2>
        <a:srgbClr val="2A446F"/>
      </a:dk2>
      <a:lt2>
        <a:srgbClr val="D7D2CB"/>
      </a:lt2>
      <a:accent1>
        <a:srgbClr val="00A4EF"/>
      </a:accent1>
      <a:accent2>
        <a:srgbClr val="7FBA00"/>
      </a:accent2>
      <a:accent3>
        <a:srgbClr val="F25022"/>
      </a:accent3>
      <a:accent4>
        <a:srgbClr val="BF9474"/>
      </a:accent4>
      <a:accent5>
        <a:srgbClr val="FFB900"/>
      </a:accent5>
      <a:accent6>
        <a:srgbClr val="B1B3B3"/>
      </a:accent6>
      <a:hlink>
        <a:srgbClr val="0078D4"/>
      </a:hlink>
      <a:folHlink>
        <a:srgbClr val="8661C5"/>
      </a:folHlink>
    </a:clrScheme>
    <a:fontScheme name="Microsoft 2019 Brand Templates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solidFill>
              <a:srgbClr val="FFFFFF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Brown">
      <a:srgbClr val="E1D3C7"/>
    </a:custClr>
    <a:custClr name="Light Yellow">
      <a:srgbClr val="FFE399"/>
    </a:custClr>
    <a:custClr name="Light Orange">
      <a:srgbClr val="FFA38B"/>
    </a:custClr>
    <a:custClr name="Light Red">
      <a:srgbClr val="FFB3BB"/>
    </a:custClr>
    <a:custClr name="Light Magenta">
      <a:srgbClr val="D59ED7"/>
    </a:custClr>
    <a:custClr name="Light Purple">
      <a:srgbClr val="C5B4E3"/>
    </a:custClr>
    <a:custClr name="Light Blue">
      <a:srgbClr val="8DC8E8"/>
    </a:custClr>
    <a:custClr name="Light Teal">
      <a:srgbClr val="B9DCD2"/>
    </a:custClr>
    <a:custClr name="Light Green">
      <a:srgbClr val="D4EC8E"/>
    </a:custClr>
    <a:custClr name="Blue Black">
      <a:srgbClr val="091F2C"/>
    </a:custClr>
    <a:custClr name="Brown">
      <a:srgbClr val="BF9474"/>
    </a:custClr>
    <a:custClr name="Yellow">
      <a:srgbClr val="FFB900"/>
    </a:custClr>
    <a:custClr name="Orange">
      <a:srgbClr val="FF5C39"/>
    </a:custClr>
    <a:custClr name="Red">
      <a:srgbClr val="F4364C"/>
    </a:custClr>
    <a:custClr name="Magenta">
      <a:srgbClr val="C03BC4"/>
    </a:custClr>
    <a:custClr name="Purple">
      <a:srgbClr val="8661C5"/>
    </a:custClr>
    <a:custClr name="Blue">
      <a:srgbClr val="0078D4"/>
    </a:custClr>
    <a:custClr name="Teal">
      <a:srgbClr val="49C5B1"/>
    </a:custClr>
    <a:custClr name="Green">
      <a:srgbClr val="8DE971"/>
    </a:custClr>
    <a:custClr name="Rich Black">
      <a:srgbClr val="000000"/>
    </a:custClr>
    <a:custClr name="Dark Brown">
      <a:srgbClr val="5C4738"/>
    </a:custClr>
    <a:custClr name="Dark Yellow">
      <a:srgbClr val="7F5A1A"/>
    </a:custClr>
    <a:custClr name="Dark Orange">
      <a:srgbClr val="73391D"/>
    </a:custClr>
    <a:custClr name="Dark Red">
      <a:srgbClr val="73262F"/>
    </a:custClr>
    <a:custClr name="Dark Magenta">
      <a:srgbClr val="702573"/>
    </a:custClr>
    <a:custClr name="Dark Purple">
      <a:srgbClr val="463668"/>
    </a:custClr>
    <a:custClr name="Dark Blue">
      <a:srgbClr val="2A446F"/>
    </a:custClr>
    <a:custClr name="Dark Teal">
      <a:srgbClr val="225B62"/>
    </a:custClr>
    <a:custClr name="Dark Green">
      <a:srgbClr val="07641D"/>
    </a:custClr>
    <a:custClr name="Brown Black">
      <a:srgbClr val="291817"/>
    </a:custClr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Pure White">
      <a:srgbClr val="FFFFFF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</a:custClrLst>
  <a:extLst>
    <a:ext uri="{05A4C25C-085E-4340-85A3-A5531E510DB2}">
      <thm15:themeFamily xmlns:thm15="http://schemas.microsoft.com/office/thememl/2012/main" name="daenet PowerPoint template 2026.pptx" id="{7CDD124D-0DEC-400D-B519-1D8B2B93C33B}" vid="{3A48EF0A-65C2-467D-B8C8-0650CBE1A9E7}"/>
    </a:ext>
  </a:extLst>
</a:theme>
</file>

<file path=ppt/theme/theme2.xml><?xml version="1.0" encoding="utf-8"?>
<a:theme xmlns:a="http://schemas.openxmlformats.org/drawingml/2006/main" name="Microsoft Build 16:9 Template Dark">
  <a:themeElements>
    <a:clrScheme name="Custom 79">
      <a:dk1>
        <a:srgbClr val="000000"/>
      </a:dk1>
      <a:lt1>
        <a:srgbClr val="FFFFFF"/>
      </a:lt1>
      <a:dk2>
        <a:srgbClr val="091F2C"/>
      </a:dk2>
      <a:lt2>
        <a:srgbClr val="E8E6DF"/>
      </a:lt2>
      <a:accent1>
        <a:srgbClr val="00A4EF"/>
      </a:accent1>
      <a:accent2>
        <a:srgbClr val="7FBA00"/>
      </a:accent2>
      <a:accent3>
        <a:srgbClr val="F25022"/>
      </a:accent3>
      <a:accent4>
        <a:srgbClr val="E1D3C7"/>
      </a:accent4>
      <a:accent5>
        <a:srgbClr val="FFB900"/>
      </a:accent5>
      <a:accent6>
        <a:srgbClr val="D9D9D6"/>
      </a:accent6>
      <a:hlink>
        <a:srgbClr val="8DC8E8"/>
      </a:hlink>
      <a:folHlink>
        <a:srgbClr val="C5B4E3"/>
      </a:folHlink>
    </a:clrScheme>
    <a:fontScheme name="Microsoft 2019 Brand Templates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solidFill>
              <a:schemeClr val="bg1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Brown">
      <a:srgbClr val="E1D3C7"/>
    </a:custClr>
    <a:custClr name="Light Yellow">
      <a:srgbClr val="FFE399"/>
    </a:custClr>
    <a:custClr name="Light Orange">
      <a:srgbClr val="FFA38B"/>
    </a:custClr>
    <a:custClr name="Light Red">
      <a:srgbClr val="FFB3BB"/>
    </a:custClr>
    <a:custClr name="Light Magenta">
      <a:srgbClr val="D59ED7"/>
    </a:custClr>
    <a:custClr name="Light Purple">
      <a:srgbClr val="C5B4E3"/>
    </a:custClr>
    <a:custClr name="Light Blue">
      <a:srgbClr val="8DC8E8"/>
    </a:custClr>
    <a:custClr name="Light Teal">
      <a:srgbClr val="B9DCD2"/>
    </a:custClr>
    <a:custClr name="Light Green">
      <a:srgbClr val="D4EC8E"/>
    </a:custClr>
    <a:custClr name="Blue Black">
      <a:srgbClr val="091F2C"/>
    </a:custClr>
    <a:custClr name="Brown">
      <a:srgbClr val="BF9474"/>
    </a:custClr>
    <a:custClr name="Yellow">
      <a:srgbClr val="FFB900"/>
    </a:custClr>
    <a:custClr name="Orange">
      <a:srgbClr val="FF5C39"/>
    </a:custClr>
    <a:custClr name="Red">
      <a:srgbClr val="F4364C"/>
    </a:custClr>
    <a:custClr name="Magenta">
      <a:srgbClr val="C03BC4"/>
    </a:custClr>
    <a:custClr name="Purple">
      <a:srgbClr val="8661C5"/>
    </a:custClr>
    <a:custClr name="Blue">
      <a:srgbClr val="0078D4"/>
    </a:custClr>
    <a:custClr name="Teal">
      <a:srgbClr val="49C5B1"/>
    </a:custClr>
    <a:custClr name="Green">
      <a:srgbClr val="8DE971"/>
    </a:custClr>
    <a:custClr name="Rich Black">
      <a:srgbClr val="000000"/>
    </a:custClr>
    <a:custClr name="Dark Brown">
      <a:srgbClr val="5C4738"/>
    </a:custClr>
    <a:custClr name="Dark Yellow">
      <a:srgbClr val="7F5A1A"/>
    </a:custClr>
    <a:custClr name="Dark Orange">
      <a:srgbClr val="73391D"/>
    </a:custClr>
    <a:custClr name="Dark Red">
      <a:srgbClr val="73262F"/>
    </a:custClr>
    <a:custClr name="Dark Magenta">
      <a:srgbClr val="702573"/>
    </a:custClr>
    <a:custClr name="Dark Purple">
      <a:srgbClr val="463668"/>
    </a:custClr>
    <a:custClr name="Dark Blue">
      <a:srgbClr val="2A446F"/>
    </a:custClr>
    <a:custClr name="Dark Teal">
      <a:srgbClr val="225B62"/>
    </a:custClr>
    <a:custClr name="Dark Green">
      <a:srgbClr val="07641D"/>
    </a:custClr>
    <a:custClr name="Brown Black">
      <a:srgbClr val="291817"/>
    </a:custClr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Pure White">
      <a:srgbClr val="FFFFFF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</a:custClrLst>
  <a:extLst>
    <a:ext uri="{05A4C25C-085E-4340-85A3-A5531E510DB2}">
      <thm15:themeFamily xmlns:thm15="http://schemas.microsoft.com/office/thememl/2012/main" name="daenet PowerPoint template 2026.pptx" id="{7CDD124D-0DEC-400D-B519-1D8B2B93C33B}" vid="{33E41DF9-7505-4F09-833D-4DBC25FD03B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Light Orange">
      <a:srgbClr val="FF9349"/>
    </a:custClr>
    <a:custClr name="Light Yellow">
      <a:srgbClr val="FEF000"/>
    </a:custClr>
    <a:custClr name="Light Green">
      <a:srgbClr val="9BF00B"/>
    </a:custClr>
    <a:custClr name="Light Teal">
      <a:srgbClr val="30E5D0"/>
    </a:custClr>
    <a:custClr name="Light Blue">
      <a:srgbClr val="50E6FF"/>
    </a:custClr>
    <a:custClr name="Light Purple">
      <a:srgbClr val="D59DFF"/>
    </a:custClr>
    <a:custClr name="White">
      <a:srgbClr val="FFFFFF"/>
    </a:custClr>
    <a:custClr name="Extra Light Gray">
      <a:srgbClr val="F2F2F2"/>
    </a:custClr>
    <a:custClr name="Light Gray">
      <a:srgbClr val="E6E6E6"/>
    </a:custClr>
    <a:custClr name="Gray">
      <a:srgbClr val="D2D2D2"/>
    </a:custClr>
    <a:custClr name="Orange">
      <a:srgbClr val="D83B01"/>
    </a:custClr>
    <a:custClr name="Yellow">
      <a:srgbClr val="FFB900"/>
    </a:custClr>
    <a:custClr name="Green">
      <a:srgbClr val="107C10"/>
    </a:custClr>
    <a:custClr name="Teal">
      <a:srgbClr val="008575"/>
    </a:custClr>
    <a:custClr name="Blue">
      <a:srgbClr val="0078D4"/>
    </a:custClr>
    <a:custClr name="Purple">
      <a:srgbClr val="8661C5"/>
    </a:custClr>
    <a:custClr name="Mid Gray">
      <a:srgbClr val="737373"/>
    </a:custClr>
    <a:custClr name="Dark Gray">
      <a:srgbClr val="505050"/>
    </a:custClr>
    <a:custClr name="Extra Dark Gray">
      <a:srgbClr val="2F2F2F"/>
    </a:custClr>
    <a:custClr name="Rick Black">
      <a:srgbClr val="000000"/>
    </a:custClr>
    <a:custClr name="Dark Orange">
      <a:srgbClr val="6B2929"/>
    </a:custClr>
    <a:custClr name="Dark Yellow">
      <a:srgbClr val="6A4B16"/>
    </a:custClr>
    <a:custClr name="Dark Green">
      <a:srgbClr val="054B16"/>
    </a:custClr>
    <a:custClr name="Dark Teal">
      <a:srgbClr val="274B47"/>
    </a:custClr>
    <a:custClr name="Dark Blue">
      <a:srgbClr val="243A5E"/>
    </a:custClr>
    <a:custClr name="Dark Purple">
      <a:srgbClr val="3B2E58"/>
    </a:custClr>
  </a:custClr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Light Orange">
      <a:srgbClr val="FF9349"/>
    </a:custClr>
    <a:custClr name="Light Yellow">
      <a:srgbClr val="FEF000"/>
    </a:custClr>
    <a:custClr name="Light Green">
      <a:srgbClr val="9BF00B"/>
    </a:custClr>
    <a:custClr name="Light Teal">
      <a:srgbClr val="30E5D0"/>
    </a:custClr>
    <a:custClr name="Light Blue">
      <a:srgbClr val="50E6FF"/>
    </a:custClr>
    <a:custClr name="Light Purple">
      <a:srgbClr val="D59DFF"/>
    </a:custClr>
    <a:custClr name="White">
      <a:srgbClr val="FFFFFF"/>
    </a:custClr>
    <a:custClr name="Extra Light Gray">
      <a:srgbClr val="F2F2F2"/>
    </a:custClr>
    <a:custClr name="Light Gray">
      <a:srgbClr val="E6E6E6"/>
    </a:custClr>
    <a:custClr name="Gray">
      <a:srgbClr val="D2D2D2"/>
    </a:custClr>
    <a:custClr name="Orange">
      <a:srgbClr val="D83B01"/>
    </a:custClr>
    <a:custClr name="Yellow">
      <a:srgbClr val="FFB900"/>
    </a:custClr>
    <a:custClr name="Green">
      <a:srgbClr val="107C10"/>
    </a:custClr>
    <a:custClr name="Teal">
      <a:srgbClr val="008575"/>
    </a:custClr>
    <a:custClr name="Blue">
      <a:srgbClr val="0078D4"/>
    </a:custClr>
    <a:custClr name="Purple">
      <a:srgbClr val="8661C5"/>
    </a:custClr>
    <a:custClr name="Mid Gray">
      <a:srgbClr val="737373"/>
    </a:custClr>
    <a:custClr name="Dark Gray">
      <a:srgbClr val="505050"/>
    </a:custClr>
    <a:custClr name="Extra Dark Gray">
      <a:srgbClr val="2F2F2F"/>
    </a:custClr>
    <a:custClr name="Rick Black">
      <a:srgbClr val="000000"/>
    </a:custClr>
    <a:custClr name="Dark Orange">
      <a:srgbClr val="6B2929"/>
    </a:custClr>
    <a:custClr name="Dark Yellow">
      <a:srgbClr val="6A4B16"/>
    </a:custClr>
    <a:custClr name="Dark Green">
      <a:srgbClr val="054B16"/>
    </a:custClr>
    <a:custClr name="Dark Teal">
      <a:srgbClr val="274B47"/>
    </a:custClr>
    <a:custClr name="Dark Blue">
      <a:srgbClr val="243A5E"/>
    </a:custClr>
    <a:custClr name="Dark Purple">
      <a:srgbClr val="3B2E58"/>
    </a:custClr>
  </a:custClr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3" baseType="lpstr">
      <vt:lpstr>Arial</vt:lpstr>
      <vt:lpstr>Calibri</vt:lpstr>
      <vt:lpstr>Consolas</vt:lpstr>
      <vt:lpstr>Segoe Sans Display Semibold</vt:lpstr>
      <vt:lpstr>Segoe UI</vt:lpstr>
      <vt:lpstr>Segoe UI Semibold</vt:lpstr>
      <vt:lpstr>Wingdings</vt:lpstr>
      <vt:lpstr>Microsoft Build 16:9 Template Light</vt:lpstr>
      <vt:lpstr>Microsoft Build 16:9 Template Dark</vt:lpstr>
      <vt:lpstr>PowerPoint Presentation</vt:lpstr>
      <vt:lpstr>PowerPoint Presentation</vt:lpstr>
      <vt:lpstr>PowerPoint Presentation</vt:lpstr>
      <vt:lpstr>PowerPoint Presentation</vt:lpstr>
    </vt:vector>
  </TitlesOfParts>
  <Manager>&lt;Comms manager name here&gt;</Manager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Build 2026</dc:subject>
  <dc:creator>Damir Dobric</dc:creator>
  <cp:keywords>Build 2026</cp:keywords>
  <dc:description/>
  <cp:lastModifiedBy>Damir Dobric</cp:lastModifiedBy>
  <cp:revision>12</cp:revision>
  <cp:lastPrinted>2023-02-15T20:48:24Z</cp:lastPrinted>
  <dcterms:created xsi:type="dcterms:W3CDTF">2026-06-22T10:24:51Z</dcterms:created>
  <dcterms:modified xsi:type="dcterms:W3CDTF">2026-06-28T08:25:13Z</dcterms:modified>
  <cp:category>Build 2026</cp:category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0x010100431D58916F44B8489C8C473F8FFAAB9D</vt:lpwstr>
  </property>
  <property fmtid="{D5CDD505-2E9C-101B-9397-08002B2CF9AE}" pid="3" name="Product">
    <vt:lpwstr/>
  </property>
  <property fmtid="{D5CDD505-2E9C-101B-9397-08002B2CF9AE}" pid="4" name="Event1">
    <vt:lpwstr>622;#Unassigned|2c8af875-f38a-40b8-a0a9-056aed3fc8c0</vt:lpwstr>
  </property>
  <property fmtid="{D5CDD505-2E9C-101B-9397-08002B2CF9AE}" pid="5" name="Audience">
    <vt:lpwstr/>
  </property>
  <property fmtid="{D5CDD505-2E9C-101B-9397-08002B2CF9AE}" pid="6" name="Event Venue">
    <vt:lpwstr/>
  </property>
  <property fmtid="{D5CDD505-2E9C-101B-9397-08002B2CF9AE}" pid="7" name="Track">
    <vt:lpwstr/>
  </property>
  <property fmtid="{D5CDD505-2E9C-101B-9397-08002B2CF9AE}" pid="8" name="Event Location">
    <vt:lpwstr/>
  </property>
  <property fmtid="{D5CDD505-2E9C-101B-9397-08002B2CF9AE}" pid="9" name="Campaign">
    <vt:lpwstr/>
  </property>
  <property fmtid="{D5CDD505-2E9C-101B-9397-08002B2CF9AE}" pid="10" name="IsMyDocuments">
    <vt:bool>true</vt:bool>
  </property>
  <property fmtid="{D5CDD505-2E9C-101B-9397-08002B2CF9AE}" pid="17" name="Sensitivity">
    <vt:lpwstr>General</vt:lpwstr>
  </property>
  <property fmtid="{D5CDD505-2E9C-101B-9397-08002B2CF9AE}" pid="18" name="MediaServiceImageTags">
    <vt:lpwstr/>
  </property>
</Properties>
</file>